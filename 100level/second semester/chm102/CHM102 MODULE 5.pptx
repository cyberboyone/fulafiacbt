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7" r:id="rId2"/>
    <p:sldId id="258" r:id="rId3"/>
    <p:sldId id="259" r:id="rId4"/>
    <p:sldId id="399" r:id="rId5"/>
    <p:sldId id="386" r:id="rId6"/>
    <p:sldId id="391" r:id="rId7"/>
    <p:sldId id="398" r:id="rId8"/>
    <p:sldId id="432" r:id="rId9"/>
    <p:sldId id="431" r:id="rId10"/>
    <p:sldId id="344" r:id="rId11"/>
    <p:sldId id="401" r:id="rId12"/>
    <p:sldId id="426" r:id="rId13"/>
    <p:sldId id="396" r:id="rId14"/>
    <p:sldId id="394" r:id="rId15"/>
    <p:sldId id="403" r:id="rId16"/>
    <p:sldId id="419" r:id="rId17"/>
    <p:sldId id="405" r:id="rId18"/>
    <p:sldId id="408" r:id="rId19"/>
    <p:sldId id="407" r:id="rId20"/>
    <p:sldId id="410" r:id="rId21"/>
    <p:sldId id="412" r:id="rId22"/>
    <p:sldId id="413" r:id="rId23"/>
    <p:sldId id="417" r:id="rId24"/>
    <p:sldId id="363" r:id="rId25"/>
    <p:sldId id="420" r:id="rId26"/>
    <p:sldId id="424" r:id="rId27"/>
    <p:sldId id="425" r:id="rId28"/>
    <p:sldId id="373" r:id="rId29"/>
    <p:sldId id="374" r:id="rId30"/>
    <p:sldId id="376" r:id="rId31"/>
    <p:sldId id="336" r:id="rId32"/>
    <p:sldId id="379" r:id="rId33"/>
    <p:sldId id="380" r:id="rId34"/>
    <p:sldId id="383" r:id="rId35"/>
    <p:sldId id="346" r:id="rId36"/>
    <p:sldId id="436" r:id="rId37"/>
    <p:sldId id="350" r:id="rId38"/>
    <p:sldId id="435" r:id="rId39"/>
    <p:sldId id="427" r:id="rId40"/>
    <p:sldId id="352" r:id="rId41"/>
    <p:sldId id="437" r:id="rId42"/>
    <p:sldId id="353" r:id="rId43"/>
    <p:sldId id="354" r:id="rId44"/>
    <p:sldId id="355" r:id="rId45"/>
    <p:sldId id="356" r:id="rId46"/>
    <p:sldId id="330" r:id="rId47"/>
  </p:sldIdLst>
  <p:sldSz cx="9144000" cy="5143500" type="screen16x9"/>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411" autoAdjust="0"/>
    <p:restoredTop sz="94660" autoAdjust="0"/>
  </p:normalViewPr>
  <p:slideViewPr>
    <p:cSldViewPr>
      <p:cViewPr varScale="1">
        <p:scale>
          <a:sx n="84" d="100"/>
          <a:sy n="84" d="100"/>
        </p:scale>
        <p:origin x="940" y="64"/>
      </p:cViewPr>
      <p:guideLst>
        <p:guide orient="horz" pos="2160"/>
        <p:guide pos="2880"/>
        <p:guide orient="horz" pos="1620"/>
      </p:guideLst>
    </p:cSldViewPr>
  </p:slideViewPr>
  <p:outlineViewPr>
    <p:cViewPr>
      <p:scale>
        <a:sx n="33" d="100"/>
        <a:sy n="33" d="100"/>
      </p:scale>
      <p:origin x="216"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fld id="{4D7D863F-F110-4E3A-9041-B7717E53A9A4}" type="datetimeFigureOut">
              <a:rPr lang="en-US" smtClean="0"/>
              <a:pPr/>
              <a:t>7/28/2024</a:t>
            </a:fld>
            <a:endParaRPr lang="en-US"/>
          </a:p>
        </p:txBody>
      </p:sp>
      <p:sp>
        <p:nvSpPr>
          <p:cNvPr id="4" name="Slide Image Placeholder 3"/>
          <p:cNvSpPr>
            <a:spLocks noGrp="1" noRot="1" noChangeAspect="1"/>
          </p:cNvSpPr>
          <p:nvPr>
            <p:ph type="sldImg" idx="2"/>
          </p:nvPr>
        </p:nvSpPr>
        <p:spPr>
          <a:xfrm>
            <a:off x="2286000" y="514350"/>
            <a:ext cx="4572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06C22AC7-95BB-4AF6-BF79-B624EF44C642}" type="slidenum">
              <a:rPr lang="en-US" smtClean="0"/>
              <a:pPr/>
              <a:t>‹#›</a:t>
            </a:fld>
            <a:endParaRPr lang="en-US"/>
          </a:p>
        </p:txBody>
      </p:sp>
    </p:spTree>
    <p:extLst>
      <p:ext uri="{BB962C8B-B14F-4D97-AF65-F5344CB8AC3E}">
        <p14:creationId xmlns:p14="http://schemas.microsoft.com/office/powerpoint/2010/main" val="3863349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0" y="514350"/>
            <a:ext cx="4572000" cy="25717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3A971A8-62E3-47C4-873E-DAB442ADC6DF}" type="slidenum">
              <a:rPr lang="en-US" smtClean="0"/>
              <a:pPr/>
              <a:t>1</a:t>
            </a:fld>
            <a:endParaRPr lang="en-US"/>
          </a:p>
        </p:txBody>
      </p:sp>
    </p:spTree>
    <p:extLst>
      <p:ext uri="{BB962C8B-B14F-4D97-AF65-F5344CB8AC3E}">
        <p14:creationId xmlns:p14="http://schemas.microsoft.com/office/powerpoint/2010/main" val="8373121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6C22AC7-95BB-4AF6-BF79-B624EF44C642}" type="slidenum">
              <a:rPr lang="en-US" smtClean="0"/>
              <a:pPr/>
              <a:t>18</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6C22AC7-95BB-4AF6-BF79-B624EF44C642}" type="slidenum">
              <a:rPr lang="en-US" smtClean="0"/>
              <a:pPr/>
              <a:t>19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21DC81D-1486-48D3-A3E2-9E6DB1B4D673}" type="datetimeFigureOut">
              <a:rPr lang="en-US" smtClean="0"/>
              <a:pPr/>
              <a:t>7/28/2024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3100B1-508B-49E4-AAEA-044455E89A1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21DC81D-1486-48D3-A3E2-9E6DB1B4D673}" type="datetimeFigureOut">
              <a:rPr lang="en-US" smtClean="0"/>
              <a:pPr/>
              <a:t>7/28/2024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3100B1-508B-49E4-AAEA-044455E89A1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21DC81D-1486-48D3-A3E2-9E6DB1B4D673}" type="datetimeFigureOut">
              <a:rPr lang="en-US" smtClean="0"/>
              <a:pPr/>
              <a:t>7/28/2024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3100B1-508B-49E4-AAEA-044455E89A1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21DC81D-1486-48D3-A3E2-9E6DB1B4D673}" type="datetimeFigureOut">
              <a:rPr lang="en-US" smtClean="0"/>
              <a:pPr/>
              <a:t>7/28/2024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3100B1-508B-49E4-AAEA-044455E89A1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21DC81D-1486-48D3-A3E2-9E6DB1B4D673}" type="datetimeFigureOut">
              <a:rPr lang="en-US" smtClean="0"/>
              <a:pPr/>
              <a:t>7/28/2024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F3100B1-508B-49E4-AAEA-044455E89A1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21DC81D-1486-48D3-A3E2-9E6DB1B4D673}" type="datetimeFigureOut">
              <a:rPr lang="en-US" smtClean="0"/>
              <a:pPr/>
              <a:t>7/28/2024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F3100B1-508B-49E4-AAEA-044455E89A1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1DC81D-1486-48D3-A3E2-9E6DB1B4D673}" type="datetimeFigureOut">
              <a:rPr lang="en-US" smtClean="0"/>
              <a:pPr/>
              <a:t>7/28/2024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F3100B1-508B-49E4-AAEA-044455E89A1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21DC81D-1486-48D3-A3E2-9E6DB1B4D673}" type="datetimeFigureOut">
              <a:rPr lang="en-US" smtClean="0"/>
              <a:pPr/>
              <a:t>7/28/2024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3100B1-508B-49E4-AAEA-044455E89A1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21DC81D-1486-48D3-A3E2-9E6DB1B4D673}" type="datetimeFigureOut">
              <a:rPr lang="en-US" smtClean="0"/>
              <a:pPr/>
              <a:t>7/28/2024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3100B1-508B-49E4-AAEA-044455E89A1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21DC81D-1486-48D3-A3E2-9E6DB1B4D673}" type="datetimeFigureOut">
              <a:rPr lang="en-US" smtClean="0"/>
              <a:pPr/>
              <a:t>7/28/2024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3100B1-508B-49E4-AAEA-044455E89A1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21DC81D-1486-48D3-A3E2-9E6DB1B4D673}" type="datetimeFigureOut">
              <a:rPr lang="en-US" smtClean="0"/>
              <a:pPr/>
              <a:t>7/28/2024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3100B1-508B-49E4-AAEA-044455E89A1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221DC81D-1486-48D3-A3E2-9E6DB1B4D673}" type="datetimeFigureOut">
              <a:rPr lang="en-US" smtClean="0"/>
              <a:pPr/>
              <a:t>7/28/2024</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DF3100B1-508B-49E4-AAEA-044455E89A1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wmf"/><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5.jpe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6.png"/><Relationship Id="rId4" Type="http://schemas.openxmlformats.org/officeDocument/2006/relationships/image" Target="../media/image45.png"/></Relationships>
</file>

<file path=ppt/slides/_rels/slide2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3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70.png"/></Relationships>
</file>

<file path=ppt/slides/_rels/slide4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5.jpeg"/><Relationship Id="rId5" Type="http://schemas.openxmlformats.org/officeDocument/2006/relationships/image" Target="../media/image71.emf"/><Relationship Id="rId4" Type="http://schemas.openxmlformats.org/officeDocument/2006/relationships/oleObject" Target="../embeddings/oleObject1.bin"/></Relationships>
</file>

<file path=ppt/slides/_rels/slide4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5.jpeg"/><Relationship Id="rId5" Type="http://schemas.openxmlformats.org/officeDocument/2006/relationships/image" Target="../media/image73.emf"/><Relationship Id="rId4" Type="http://schemas.openxmlformats.org/officeDocument/2006/relationships/oleObject" Target="../embeddings/oleObject2.bin"/></Relationships>
</file>

<file path=ppt/slides/_rels/slide4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78.png"/><Relationship Id="rId7" Type="http://schemas.openxmlformats.org/officeDocument/2006/relationships/image" Target="../media/image80.png"/><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77.emf"/><Relationship Id="rId5" Type="http://schemas.openxmlformats.org/officeDocument/2006/relationships/oleObject" Target="../embeddings/oleObject3.bin"/><Relationship Id="rId4" Type="http://schemas.openxmlformats.org/officeDocument/2006/relationships/image" Target="../media/image79.png"/></Relationships>
</file>

<file path=ppt/slides/_rels/slide4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1" name="Picture 1"/>
          <p:cNvPicPr>
            <a:picLocks noChangeAspect="1" noChangeArrowheads="1"/>
          </p:cNvPicPr>
          <p:nvPr/>
        </p:nvPicPr>
        <p:blipFill>
          <a:blip r:embed="rId3"/>
          <a:srcRect/>
          <a:stretch>
            <a:fillRect/>
          </a:stretch>
        </p:blipFill>
        <p:spPr bwMode="auto">
          <a:xfrm>
            <a:off x="5669924" y="0"/>
            <a:ext cx="3474076" cy="1056132"/>
          </a:xfrm>
          <a:prstGeom prst="rect">
            <a:avLst/>
          </a:prstGeom>
          <a:noFill/>
          <a:ln w="9525">
            <a:noFill/>
            <a:miter lim="800000"/>
            <a:headEnd/>
            <a:tailEnd/>
          </a:ln>
          <a:effectLst/>
        </p:spPr>
      </p:pic>
      <p:pic>
        <p:nvPicPr>
          <p:cNvPr id="20" name="Picture 4"/>
          <p:cNvPicPr>
            <a:picLocks noChangeAspect="1" noChangeArrowheads="1"/>
          </p:cNvPicPr>
          <p:nvPr/>
        </p:nvPicPr>
        <p:blipFill>
          <a:blip r:embed="rId4" cstate="print"/>
          <a:srcRect/>
          <a:stretch>
            <a:fillRect/>
          </a:stretch>
        </p:blipFill>
        <p:spPr bwMode="auto">
          <a:xfrm>
            <a:off x="838200" y="26402"/>
            <a:ext cx="1828800" cy="1173748"/>
          </a:xfrm>
          <a:prstGeom prst="rect">
            <a:avLst/>
          </a:prstGeom>
          <a:noFill/>
          <a:ln w="9525">
            <a:noFill/>
            <a:miter lim="800000"/>
            <a:headEnd/>
            <a:tailEnd/>
          </a:ln>
        </p:spPr>
      </p:pic>
      <p:pic>
        <p:nvPicPr>
          <p:cNvPr id="24" name="Picture 23"/>
          <p:cNvPicPr>
            <a:picLocks noChangeAspect="1" noChangeArrowheads="1"/>
          </p:cNvPicPr>
          <p:nvPr/>
        </p:nvPicPr>
        <p:blipFill>
          <a:blip r:embed="rId5"/>
          <a:srcRect/>
          <a:stretch>
            <a:fillRect/>
          </a:stretch>
        </p:blipFill>
        <p:spPr bwMode="auto">
          <a:xfrm>
            <a:off x="990600" y="2647950"/>
            <a:ext cx="2438400" cy="1459706"/>
          </a:xfrm>
          <a:prstGeom prst="rect">
            <a:avLst/>
          </a:prstGeom>
          <a:noFill/>
          <a:ln w="12700">
            <a:noFill/>
            <a:miter lim="800000"/>
            <a:headEnd/>
            <a:tailEnd/>
          </a:ln>
        </p:spPr>
      </p:pic>
      <p:pic>
        <p:nvPicPr>
          <p:cNvPr id="51203" name="Picture 3"/>
          <p:cNvPicPr>
            <a:picLocks noChangeAspect="1" noChangeArrowheads="1"/>
          </p:cNvPicPr>
          <p:nvPr/>
        </p:nvPicPr>
        <p:blipFill>
          <a:blip r:embed="rId6" cstate="print"/>
          <a:srcRect/>
          <a:stretch>
            <a:fillRect/>
          </a:stretch>
        </p:blipFill>
        <p:spPr bwMode="auto">
          <a:xfrm>
            <a:off x="6858000" y="4390344"/>
            <a:ext cx="1981200" cy="712603"/>
          </a:xfrm>
          <a:prstGeom prst="rect">
            <a:avLst/>
          </a:prstGeom>
          <a:noFill/>
          <a:ln w="9525">
            <a:noFill/>
            <a:miter lim="800000"/>
            <a:headEnd/>
            <a:tailEnd/>
          </a:ln>
          <a:effectLst/>
        </p:spPr>
      </p:pic>
      <p:sp>
        <p:nvSpPr>
          <p:cNvPr id="12" name="Subtitle 2"/>
          <p:cNvSpPr txBox="1">
            <a:spLocks/>
          </p:cNvSpPr>
          <p:nvPr/>
        </p:nvSpPr>
        <p:spPr>
          <a:xfrm>
            <a:off x="1676400" y="3028950"/>
            <a:ext cx="6400800" cy="1828800"/>
          </a:xfrm>
          <a:prstGeom prst="rect">
            <a:avLst/>
          </a:prstGeom>
        </p:spPr>
        <p:txBody>
          <a:bodyPr vert="horz" lIns="91440" tIns="45720" rIns="91440" bIns="45720" rtlCol="0">
            <a:normAutofit fontScale="62500" lnSpcReduction="2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4600" b="1" i="0" u="none" strike="noStrike" kern="1200" cap="none" spc="0" normalizeH="0" baseline="0" noProof="0" dirty="0" smtClean="0">
                <a:ln>
                  <a:noFill/>
                </a:ln>
                <a:solidFill>
                  <a:srgbClr val="002060"/>
                </a:solidFill>
                <a:effectLst/>
                <a:uLnTx/>
                <a:uFillTx/>
                <a:latin typeface="+mn-lt"/>
                <a:ea typeface="+mn-ea"/>
                <a:cs typeface="+mn-cs"/>
              </a:rPr>
              <a:t>MODULE </a:t>
            </a:r>
            <a:r>
              <a:rPr lang="en-US" sz="4600" b="1" dirty="0" smtClean="0">
                <a:solidFill>
                  <a:srgbClr val="002060"/>
                </a:solidFill>
              </a:rPr>
              <a:t>5</a:t>
            </a:r>
            <a:endParaRPr lang="en-US" sz="4000" dirty="0" smtClean="0">
              <a:solidFill>
                <a:srgbClr val="002060"/>
              </a:solidFill>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5200" b="0" i="0" u="none" strike="noStrike" kern="1200" cap="none" spc="0" normalizeH="0" baseline="0" noProof="0" dirty="0" smtClean="0">
              <a:ln>
                <a:noFill/>
              </a:ln>
              <a:solidFill>
                <a:srgbClr val="002060"/>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5200" b="0" i="0" u="none" strike="noStrike" kern="1200" cap="none" spc="0" normalizeH="0" baseline="0" noProof="0" dirty="0" smtClean="0">
                <a:ln>
                  <a:noFill/>
                </a:ln>
                <a:solidFill>
                  <a:srgbClr val="002060"/>
                </a:solidFill>
                <a:effectLst/>
                <a:uLnTx/>
                <a:uFillTx/>
                <a:latin typeface="+mn-lt"/>
                <a:ea typeface="+mn-ea"/>
                <a:cs typeface="+mn-cs"/>
              </a:rPr>
              <a:t>C</a:t>
            </a:r>
            <a:r>
              <a:rPr kumimoji="0" lang="en-US" sz="3900" b="0" i="0" u="none" strike="noStrike" kern="1200" cap="none" spc="0" normalizeH="0" baseline="0" noProof="0" dirty="0" smtClean="0">
                <a:ln>
                  <a:noFill/>
                </a:ln>
                <a:solidFill>
                  <a:srgbClr val="002060"/>
                </a:solidFill>
                <a:effectLst/>
                <a:uLnTx/>
                <a:uFillTx/>
                <a:latin typeface="+mn-lt"/>
                <a:ea typeface="+mn-ea"/>
                <a:cs typeface="+mn-cs"/>
              </a:rPr>
              <a:t>HEMISTRY OF SOME</a:t>
            </a:r>
            <a:r>
              <a:rPr kumimoji="0" lang="en-US" sz="4800" b="0" i="0" u="none" strike="noStrike" kern="1200" cap="none" spc="0" normalizeH="0" baseline="0" noProof="0" dirty="0" smtClean="0">
                <a:ln>
                  <a:noFill/>
                </a:ln>
                <a:solidFill>
                  <a:srgbClr val="002060"/>
                </a:solidFill>
                <a:effectLst/>
                <a:uLnTx/>
                <a:uFillTx/>
                <a:latin typeface="+mn-lt"/>
                <a:ea typeface="+mn-ea"/>
                <a:cs typeface="+mn-cs"/>
              </a:rPr>
              <a:t> IMPOTANT ORGANIC COMPOUNDS</a:t>
            </a:r>
          </a:p>
        </p:txBody>
      </p:sp>
      <p:grpSp>
        <p:nvGrpSpPr>
          <p:cNvPr id="13" name="Group 12"/>
          <p:cNvGrpSpPr/>
          <p:nvPr/>
        </p:nvGrpSpPr>
        <p:grpSpPr>
          <a:xfrm>
            <a:off x="4506" y="0"/>
            <a:ext cx="914400" cy="5143500"/>
            <a:chOff x="0" y="168206"/>
            <a:chExt cx="914400" cy="6689794"/>
          </a:xfrm>
        </p:grpSpPr>
        <p:sp>
          <p:nvSpPr>
            <p:cNvPr id="14" name="Rectangle 13"/>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6" name="Picture 7" descr="logo"/>
            <p:cNvPicPr>
              <a:picLocks noChangeAspect="1" noChangeArrowheads="1"/>
            </p:cNvPicPr>
            <p:nvPr/>
          </p:nvPicPr>
          <p:blipFill>
            <a:blip r:embed="rId7" cstate="print"/>
            <a:srcRect l="25273" t="29860" r="41530" b="24966"/>
            <a:stretch>
              <a:fillRect/>
            </a:stretch>
          </p:blipFill>
          <p:spPr bwMode="auto">
            <a:xfrm>
              <a:off x="0" y="6035040"/>
              <a:ext cx="914400" cy="822960"/>
            </a:xfrm>
            <a:prstGeom prst="rect">
              <a:avLst/>
            </a:prstGeom>
            <a:noFill/>
            <a:ln w="9525">
              <a:noFill/>
              <a:miter lim="800000"/>
              <a:headEnd/>
              <a:tailEnd/>
            </a:ln>
          </p:spPr>
        </p:pic>
      </p:grpSp>
      <p:sp>
        <p:nvSpPr>
          <p:cNvPr id="18" name="Title 1"/>
          <p:cNvSpPr>
            <a:spLocks noGrp="1"/>
          </p:cNvSpPr>
          <p:nvPr>
            <p:ph type="ctrTitle"/>
          </p:nvPr>
        </p:nvSpPr>
        <p:spPr>
          <a:xfrm>
            <a:off x="685800" y="1371602"/>
            <a:ext cx="7772400" cy="1102519"/>
          </a:xfrm>
        </p:spPr>
        <p:txBody>
          <a:bodyPr>
            <a:normAutofit fontScale="90000"/>
          </a:bodyPr>
          <a:lstStyle/>
          <a:p>
            <a:r>
              <a:rPr lang="en-US" sz="6700" b="1" dirty="0" smtClean="0">
                <a:solidFill>
                  <a:schemeClr val="bg2">
                    <a:lumMod val="10000"/>
                  </a:schemeClr>
                </a:solidFill>
              </a:rPr>
              <a:t>C</a:t>
            </a:r>
            <a:r>
              <a:rPr lang="en-US" sz="6000" b="1" dirty="0" smtClean="0">
                <a:solidFill>
                  <a:schemeClr val="bg2">
                    <a:lumMod val="10000"/>
                  </a:schemeClr>
                </a:solidFill>
              </a:rPr>
              <a:t>H</a:t>
            </a:r>
            <a:r>
              <a:rPr lang="en-US" b="1" dirty="0" smtClean="0">
                <a:solidFill>
                  <a:schemeClr val="bg2">
                    <a:lumMod val="10000"/>
                  </a:schemeClr>
                </a:solidFill>
              </a:rPr>
              <a:t>M </a:t>
            </a:r>
            <a:r>
              <a:rPr lang="en-US" sz="5300" b="1" dirty="0" smtClean="0">
                <a:solidFill>
                  <a:schemeClr val="bg2">
                    <a:lumMod val="10000"/>
                  </a:schemeClr>
                </a:solidFill>
              </a:rPr>
              <a:t>1</a:t>
            </a:r>
            <a:r>
              <a:rPr lang="en-US" sz="6700" b="1" dirty="0" smtClean="0">
                <a:solidFill>
                  <a:schemeClr val="bg2">
                    <a:lumMod val="10000"/>
                  </a:schemeClr>
                </a:solidFill>
              </a:rPr>
              <a:t>0</a:t>
            </a:r>
            <a:r>
              <a:rPr lang="en-US" sz="7300" b="1" dirty="0" smtClean="0">
                <a:solidFill>
                  <a:schemeClr val="bg2">
                    <a:lumMod val="10000"/>
                  </a:schemeClr>
                </a:solidFill>
              </a:rPr>
              <a:t>2</a:t>
            </a:r>
            <a:r>
              <a:rPr lang="en-US" b="1" dirty="0" smtClean="0">
                <a:solidFill>
                  <a:schemeClr val="bg2">
                    <a:lumMod val="10000"/>
                  </a:schemeClr>
                </a:solidFill>
              </a:rPr>
              <a:t/>
            </a:r>
            <a:br>
              <a:rPr lang="en-US" b="1" dirty="0" smtClean="0">
                <a:solidFill>
                  <a:schemeClr val="bg2">
                    <a:lumMod val="10000"/>
                  </a:schemeClr>
                </a:solidFill>
              </a:rPr>
            </a:br>
            <a:r>
              <a:rPr lang="en-US" sz="6700" b="1" dirty="0" smtClean="0">
                <a:solidFill>
                  <a:schemeClr val="bg2">
                    <a:lumMod val="10000"/>
                  </a:schemeClr>
                </a:solidFill>
              </a:rPr>
              <a:t>G</a:t>
            </a:r>
            <a:r>
              <a:rPr lang="en-US" b="1" dirty="0" smtClean="0">
                <a:solidFill>
                  <a:schemeClr val="bg2">
                    <a:lumMod val="10000"/>
                  </a:schemeClr>
                </a:solidFill>
              </a:rPr>
              <a:t>ENERAL </a:t>
            </a:r>
            <a:r>
              <a:rPr lang="en-US" sz="6700" b="1" dirty="0" smtClean="0">
                <a:solidFill>
                  <a:schemeClr val="bg2">
                    <a:lumMod val="10000"/>
                  </a:schemeClr>
                </a:solidFill>
              </a:rPr>
              <a:t>C</a:t>
            </a:r>
            <a:r>
              <a:rPr lang="en-US" b="1" dirty="0" smtClean="0">
                <a:solidFill>
                  <a:schemeClr val="bg2">
                    <a:lumMod val="10000"/>
                  </a:schemeClr>
                </a:solidFill>
              </a:rPr>
              <a:t>HEMISTRY </a:t>
            </a:r>
            <a:r>
              <a:rPr lang="en-US" sz="5300" b="1" dirty="0" smtClean="0">
                <a:solidFill>
                  <a:schemeClr val="bg2">
                    <a:lumMod val="10000"/>
                  </a:schemeClr>
                </a:solidFill>
                <a:latin typeface="Algerian" pitchFamily="82" charset="0"/>
              </a:rPr>
              <a:t>II</a:t>
            </a:r>
            <a:r>
              <a:rPr lang="en-US" b="1" dirty="0" smtClean="0">
                <a:solidFill>
                  <a:schemeClr val="bg2">
                    <a:lumMod val="10000"/>
                  </a:schemeClr>
                </a:solidFill>
              </a:rPr>
              <a:t>  (2 UNITS)</a:t>
            </a:r>
            <a:endParaRPr lang="en-US" b="1" dirty="0">
              <a:solidFill>
                <a:schemeClr val="bg2">
                  <a:lumMod val="10000"/>
                </a:schemeClr>
              </a:solidFill>
            </a:endParaRPr>
          </a:p>
        </p:txBody>
      </p:sp>
      <p:pic>
        <p:nvPicPr>
          <p:cNvPr id="25601" name="Picture 1"/>
          <p:cNvPicPr>
            <a:picLocks noChangeAspect="1" noChangeArrowheads="1"/>
          </p:cNvPicPr>
          <p:nvPr/>
        </p:nvPicPr>
        <p:blipFill>
          <a:blip r:embed="rId8"/>
          <a:srcRect/>
          <a:stretch>
            <a:fillRect/>
          </a:stretch>
        </p:blipFill>
        <p:spPr bwMode="auto">
          <a:xfrm>
            <a:off x="7419975" y="2800350"/>
            <a:ext cx="1419225" cy="1219200"/>
          </a:xfrm>
          <a:prstGeom prst="rect">
            <a:avLst/>
          </a:prstGeom>
          <a:noFill/>
          <a:ln w="9525">
            <a:noFill/>
            <a:miter lim="800000"/>
            <a:headEnd/>
            <a:tailEnd/>
          </a:ln>
          <a:effectLst/>
        </p:spPr>
      </p:pic>
      <p:pic>
        <p:nvPicPr>
          <p:cNvPr id="25602" name="Picture 2"/>
          <p:cNvPicPr>
            <a:picLocks noChangeAspect="1" noChangeArrowheads="1"/>
          </p:cNvPicPr>
          <p:nvPr/>
        </p:nvPicPr>
        <p:blipFill>
          <a:blip r:embed="rId9"/>
          <a:srcRect/>
          <a:stretch>
            <a:fillRect/>
          </a:stretch>
        </p:blipFill>
        <p:spPr bwMode="auto">
          <a:xfrm>
            <a:off x="6324600" y="971550"/>
            <a:ext cx="1000125" cy="1066800"/>
          </a:xfrm>
          <a:prstGeom prst="rect">
            <a:avLst/>
          </a:prstGeom>
          <a:noFill/>
          <a:ln w="9525">
            <a:noFill/>
            <a:miter lim="800000"/>
            <a:headEnd/>
            <a:tailEnd/>
          </a:ln>
          <a:effectLst/>
        </p:spPr>
      </p:pic>
    </p:spTree>
  </p:cSld>
  <p:clrMapOvr>
    <a:masterClrMapping/>
  </p:clrMapOvr>
  <p:transition>
    <p:pull dir="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3001" y="1441489"/>
            <a:ext cx="7696199" cy="3340061"/>
          </a:xfrm>
        </p:spPr>
        <p:txBody>
          <a:bodyPr>
            <a:normAutofit/>
          </a:bodyPr>
          <a:lstStyle/>
          <a:p>
            <a:pPr>
              <a:buNone/>
            </a:pPr>
            <a:endParaRPr lang="en-US" sz="1800" dirty="0" smtClean="0"/>
          </a:p>
          <a:p>
            <a:pPr marL="514350" indent="-514350" algn="just">
              <a:buFont typeface="+mj-lt"/>
              <a:buAutoNum type="arabicPeriod"/>
            </a:pPr>
            <a:r>
              <a:rPr lang="en-US" sz="1800" dirty="0" smtClean="0"/>
              <a:t>To distinguish between various types of organic molecules.</a:t>
            </a:r>
          </a:p>
          <a:p>
            <a:pPr marL="514350" indent="-514350" algn="just">
              <a:buFont typeface="+mj-lt"/>
              <a:buAutoNum type="arabicPeriod"/>
            </a:pPr>
            <a:r>
              <a:rPr lang="en-US" sz="1800" dirty="0" smtClean="0"/>
              <a:t>To discuss the physical and chemical properties of aliphatic hydrocarbons.</a:t>
            </a:r>
          </a:p>
          <a:p>
            <a:pPr marL="514350" indent="-514350" algn="just">
              <a:buFont typeface="+mj-lt"/>
              <a:buAutoNum type="arabicPeriod"/>
            </a:pPr>
            <a:r>
              <a:rPr lang="en-US" sz="1800" dirty="0" smtClean="0"/>
              <a:t>To explain the classifications of carbon and hydrogen atoms respectively.</a:t>
            </a:r>
          </a:p>
          <a:p>
            <a:pPr marL="514350" indent="-514350" algn="just">
              <a:buFont typeface="+mj-lt"/>
              <a:buAutoNum type="arabicPeriod"/>
            </a:pPr>
            <a:r>
              <a:rPr lang="en-US" sz="1800" dirty="0" smtClean="0"/>
              <a:t>To distinguish between condensed-, expanded-, and line angle- structure.</a:t>
            </a:r>
          </a:p>
          <a:p>
            <a:pPr marL="514350" indent="-514350" algn="just">
              <a:buFont typeface="+mj-lt"/>
              <a:buAutoNum type="arabicPeriod"/>
            </a:pPr>
            <a:r>
              <a:rPr lang="en-US" sz="1800" dirty="0" smtClean="0"/>
              <a:t>To discuss the bonding characteristics of carbon atom in organic molecules.</a:t>
            </a:r>
          </a:p>
          <a:p>
            <a:pPr marL="514350" indent="-514350" algn="just">
              <a:buFont typeface="+mj-lt"/>
              <a:buAutoNum type="arabicPeriod"/>
            </a:pPr>
            <a:r>
              <a:rPr lang="en-US" sz="1800" dirty="0" smtClean="0"/>
              <a:t>To recognize various derivatives of carboxylic acids.</a:t>
            </a:r>
          </a:p>
          <a:p>
            <a:pPr marL="514350" indent="-514350" algn="just">
              <a:buFont typeface="+mj-lt"/>
              <a:buAutoNum type="arabicPeriod"/>
            </a:pPr>
            <a:endParaRPr lang="en-US" sz="1800" dirty="0" smtClean="0"/>
          </a:p>
          <a:p>
            <a:pPr marL="514350" indent="-514350">
              <a:buFont typeface="+mj-lt"/>
              <a:buAutoNum type="arabicPeriod"/>
            </a:pPr>
            <a:endParaRPr lang="en-US" sz="1800" dirty="0" smtClean="0">
              <a:solidFill>
                <a:srgbClr val="FF0000"/>
              </a:solidFill>
            </a:endParaRPr>
          </a:p>
        </p:txBody>
      </p:sp>
      <p:pic>
        <p:nvPicPr>
          <p:cNvPr id="4" name="Picture 3"/>
          <p:cNvPicPr>
            <a:picLocks noChangeAspect="1" noChangeArrowheads="1"/>
          </p:cNvPicPr>
          <p:nvPr/>
        </p:nvPicPr>
        <p:blipFill>
          <a:blip r:embed="rId2"/>
          <a:srcRect/>
          <a:stretch>
            <a:fillRect/>
          </a:stretch>
        </p:blipFill>
        <p:spPr bwMode="auto">
          <a:xfrm>
            <a:off x="7315201" y="250032"/>
            <a:ext cx="1828801" cy="1371601"/>
          </a:xfrm>
          <a:prstGeom prst="rect">
            <a:avLst/>
          </a:prstGeom>
          <a:noFill/>
          <a:ln w="9525">
            <a:noFill/>
            <a:miter lim="800000"/>
            <a:headEnd/>
            <a:tailEnd/>
          </a:ln>
          <a:effectLst/>
        </p:spPr>
      </p:pic>
      <p:sp>
        <p:nvSpPr>
          <p:cNvPr id="5" name="TextBox 4"/>
          <p:cNvSpPr txBox="1"/>
          <p:nvPr/>
        </p:nvSpPr>
        <p:spPr>
          <a:xfrm>
            <a:off x="1600200" y="666750"/>
            <a:ext cx="4565737" cy="584775"/>
          </a:xfrm>
          <a:prstGeom prst="rect">
            <a:avLst/>
          </a:prstGeom>
          <a:noFill/>
        </p:spPr>
        <p:txBody>
          <a:bodyPr wrap="square" rtlCol="0">
            <a:spAutoFit/>
          </a:bodyPr>
          <a:lstStyle/>
          <a:p>
            <a:r>
              <a:rPr lang="en-US" sz="3200" b="1" dirty="0" smtClean="0">
                <a:solidFill>
                  <a:schemeClr val="accent4">
                    <a:lumMod val="50000"/>
                  </a:schemeClr>
                </a:solidFill>
                <a:latin typeface="Times New Roman" panose="02020603050405020304" pitchFamily="18" charset="0"/>
                <a:cs typeface="Times New Roman" panose="02020603050405020304" pitchFamily="18" charset="0"/>
              </a:rPr>
              <a:t>OBJECTIVES</a:t>
            </a:r>
            <a:endParaRPr lang="en-US" sz="3200" b="1" dirty="0">
              <a:solidFill>
                <a:schemeClr val="accent4">
                  <a:lumMod val="50000"/>
                </a:schemeClr>
              </a:solidFill>
              <a:latin typeface="Times New Roman" panose="02020603050405020304" pitchFamily="18" charset="0"/>
              <a:cs typeface="Times New Roman" panose="02020603050405020304" pitchFamily="18" charset="0"/>
            </a:endParaRPr>
          </a:p>
        </p:txBody>
      </p:sp>
      <p:grpSp>
        <p:nvGrpSpPr>
          <p:cNvPr id="6" name="Group 5"/>
          <p:cNvGrpSpPr/>
          <p:nvPr/>
        </p:nvGrpSpPr>
        <p:grpSpPr>
          <a:xfrm>
            <a:off x="4506" y="0"/>
            <a:ext cx="914400" cy="5143500"/>
            <a:chOff x="0" y="168206"/>
            <a:chExt cx="914400" cy="6689794"/>
          </a:xfrm>
        </p:grpSpPr>
        <p:sp>
          <p:nvSpPr>
            <p:cNvPr id="7" name="Rectangle 6"/>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9" name="Picture 7" descr="logo"/>
            <p:cNvPicPr>
              <a:picLocks noChangeAspect="1" noChangeArrowheads="1"/>
            </p:cNvPicPr>
            <p:nvPr/>
          </p:nvPicPr>
          <p:blipFill>
            <a:blip r:embed="rId3"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4688" y="304799"/>
            <a:ext cx="4763112" cy="285751"/>
          </a:xfrm>
        </p:spPr>
        <p:txBody>
          <a:bodyPr>
            <a:normAutofit fontScale="90000"/>
          </a:bodyPr>
          <a:lstStyle/>
          <a:p>
            <a:r>
              <a:rPr lang="en-US" b="1" dirty="0" smtClean="0"/>
              <a:t>Keywords</a:t>
            </a:r>
            <a:endParaRPr lang="en-US" b="1" dirty="0"/>
          </a:p>
        </p:txBody>
      </p:sp>
      <p:sp>
        <p:nvSpPr>
          <p:cNvPr id="3" name="Content Placeholder 2"/>
          <p:cNvSpPr>
            <a:spLocks noGrp="1"/>
          </p:cNvSpPr>
          <p:nvPr>
            <p:ph idx="1"/>
          </p:nvPr>
        </p:nvSpPr>
        <p:spPr>
          <a:xfrm>
            <a:off x="1066800" y="895350"/>
            <a:ext cx="7620000" cy="3962400"/>
          </a:xfrm>
          <a:noFill/>
          <a:ln w="25400" cmpd="sng">
            <a:solidFill>
              <a:srgbClr val="C00000"/>
            </a:solidFill>
          </a:ln>
        </p:spPr>
        <p:txBody>
          <a:bodyPr>
            <a:noAutofit/>
          </a:bodyPr>
          <a:lstStyle/>
          <a:p>
            <a:pPr algn="just">
              <a:buFont typeface="Wingdings" pitchFamily="2" charset="2"/>
              <a:buChar char="q"/>
            </a:pPr>
            <a:r>
              <a:rPr lang="en-US" sz="1800" b="1" dirty="0" smtClean="0">
                <a:latin typeface="Times New Roman" pitchFamily="18" charset="0"/>
                <a:cs typeface="Times New Roman" pitchFamily="18" charset="0"/>
              </a:rPr>
              <a:t>Crude oil</a:t>
            </a:r>
            <a:r>
              <a:rPr lang="en-US" sz="1800" dirty="0" smtClean="0">
                <a:latin typeface="Times New Roman" pitchFamily="18" charset="0"/>
                <a:cs typeface="Times New Roman" pitchFamily="18" charset="0"/>
              </a:rPr>
              <a:t> → Crude oil refers to a mixture of hydrocarbons that exists in liquid phase in the natural underground reservoirs.</a:t>
            </a:r>
          </a:p>
          <a:p>
            <a:pPr algn="just">
              <a:buFont typeface="Wingdings" pitchFamily="2" charset="2"/>
              <a:buChar char="q"/>
            </a:pPr>
            <a:r>
              <a:rPr lang="en-US" sz="1800" b="1" dirty="0" smtClean="0">
                <a:latin typeface="Times New Roman" pitchFamily="18" charset="0"/>
                <a:cs typeface="Times New Roman" pitchFamily="18" charset="0"/>
              </a:rPr>
              <a:t>Inorganic compounds </a:t>
            </a:r>
            <a:r>
              <a:rPr lang="en-US" sz="1800" dirty="0" smtClean="0">
                <a:latin typeface="Times New Roman" pitchFamily="18" charset="0"/>
                <a:cs typeface="Times New Roman" pitchFamily="18" charset="0"/>
              </a:rPr>
              <a:t>→ Are those compounds other than hydrocarbons and their derivatives.</a:t>
            </a:r>
            <a:endParaRPr lang="en-US" sz="1800" dirty="0" smtClean="0">
              <a:solidFill>
                <a:srgbClr val="FF0000"/>
              </a:solidFill>
              <a:latin typeface="Times New Roman" pitchFamily="18" charset="0"/>
              <a:cs typeface="Times New Roman" pitchFamily="18" charset="0"/>
            </a:endParaRPr>
          </a:p>
          <a:p>
            <a:pPr algn="just">
              <a:buFont typeface="Wingdings" pitchFamily="2" charset="2"/>
              <a:buChar char="q"/>
            </a:pPr>
            <a:r>
              <a:rPr lang="en-US" sz="1800" b="1" dirty="0" smtClean="0">
                <a:latin typeface="Times New Roman" pitchFamily="18" charset="0"/>
                <a:cs typeface="Times New Roman" pitchFamily="18" charset="0"/>
              </a:rPr>
              <a:t>Covalent bond</a:t>
            </a:r>
            <a:r>
              <a:rPr lang="en-US" sz="1800" dirty="0" smtClean="0">
                <a:latin typeface="Times New Roman" pitchFamily="18" charset="0"/>
                <a:cs typeface="Times New Roman" pitchFamily="18" charset="0"/>
              </a:rPr>
              <a:t> → Covalent bond is a strong bond that involves the sharing  of electrons to form electron pairs between the two bonding atoms.</a:t>
            </a:r>
          </a:p>
          <a:p>
            <a:pPr algn="just">
              <a:buFont typeface="Wingdings" pitchFamily="2" charset="2"/>
              <a:buChar char="q"/>
            </a:pPr>
            <a:r>
              <a:rPr lang="en-US" sz="1800" b="1" dirty="0" smtClean="0">
                <a:latin typeface="Times New Roman" pitchFamily="18" charset="0"/>
                <a:cs typeface="Times New Roman" pitchFamily="18" charset="0"/>
              </a:rPr>
              <a:t>Successive members </a:t>
            </a:r>
            <a:r>
              <a:rPr lang="en-US" sz="1800" dirty="0" smtClean="0">
                <a:latin typeface="Times New Roman" pitchFamily="18" charset="0"/>
                <a:cs typeface="Times New Roman" pitchFamily="18" charset="0"/>
              </a:rPr>
              <a:t>→</a:t>
            </a:r>
            <a:r>
              <a:rPr lang="en-US" sz="1800" b="1" dirty="0" smtClean="0">
                <a:latin typeface="Times New Roman" pitchFamily="18" charset="0"/>
                <a:cs typeface="Times New Roman" pitchFamily="18" charset="0"/>
              </a:rPr>
              <a:t> </a:t>
            </a:r>
            <a:r>
              <a:rPr lang="en-US" sz="1800" dirty="0" smtClean="0">
                <a:latin typeface="Times New Roman" pitchFamily="18" charset="0"/>
                <a:cs typeface="Times New Roman" pitchFamily="18" charset="0"/>
              </a:rPr>
              <a:t>Successive</a:t>
            </a:r>
            <a:r>
              <a:rPr lang="en-US" sz="1800" b="1" dirty="0" smtClean="0">
                <a:latin typeface="Times New Roman" pitchFamily="18" charset="0"/>
                <a:cs typeface="Times New Roman" pitchFamily="18" charset="0"/>
              </a:rPr>
              <a:t> </a:t>
            </a:r>
            <a:r>
              <a:rPr lang="en-US" sz="1800" dirty="0" smtClean="0">
                <a:latin typeface="Times New Roman" pitchFamily="18" charset="0"/>
                <a:cs typeface="Times New Roman" pitchFamily="18" charset="0"/>
              </a:rPr>
              <a:t>member has one  carbon atoms (or -CH</a:t>
            </a:r>
            <a:r>
              <a:rPr lang="en-US" sz="1800" baseline="-25000" dirty="0" smtClean="0">
                <a:latin typeface="Times New Roman" pitchFamily="18" charset="0"/>
                <a:cs typeface="Times New Roman" pitchFamily="18" charset="0"/>
              </a:rPr>
              <a:t>2</a:t>
            </a:r>
            <a:r>
              <a:rPr lang="en-US" sz="1800" dirty="0" smtClean="0">
                <a:latin typeface="Times New Roman" pitchFamily="18" charset="0"/>
                <a:cs typeface="Times New Roman" pitchFamily="18" charset="0"/>
              </a:rPr>
              <a:t>- unit) than the preceding one (member). </a:t>
            </a:r>
          </a:p>
          <a:p>
            <a:pPr algn="just">
              <a:buFont typeface="Wingdings" pitchFamily="2" charset="2"/>
              <a:buChar char="q"/>
            </a:pPr>
            <a:r>
              <a:rPr lang="en-US" sz="1800" b="1" dirty="0" smtClean="0">
                <a:latin typeface="Times New Roman" pitchFamily="18" charset="0"/>
                <a:cs typeface="Times New Roman" pitchFamily="18" charset="0"/>
              </a:rPr>
              <a:t>Cracking </a:t>
            </a:r>
            <a:r>
              <a:rPr lang="en-US" sz="1800" dirty="0" smtClean="0">
                <a:latin typeface="Times New Roman" pitchFamily="18" charset="0"/>
                <a:cs typeface="Times New Roman" pitchFamily="18" charset="0"/>
              </a:rPr>
              <a:t>→</a:t>
            </a:r>
            <a:r>
              <a:rPr lang="en-US" sz="1800" b="1" dirty="0" smtClean="0">
                <a:latin typeface="Times New Roman" pitchFamily="18" charset="0"/>
                <a:cs typeface="Times New Roman" pitchFamily="18" charset="0"/>
              </a:rPr>
              <a:t> </a:t>
            </a:r>
            <a:r>
              <a:rPr lang="en-US" sz="1800" dirty="0" smtClean="0">
                <a:latin typeface="Times New Roman" pitchFamily="18" charset="0"/>
                <a:cs typeface="Times New Roman" pitchFamily="18" charset="0"/>
              </a:rPr>
              <a:t>A process by which means heavy hydrocarbons are broken down into lighter molecules using heat, pressure and catalyst.</a:t>
            </a:r>
          </a:p>
          <a:p>
            <a:pPr algn="just">
              <a:buFont typeface="Wingdings" pitchFamily="2" charset="2"/>
              <a:buChar char="q"/>
            </a:pPr>
            <a:r>
              <a:rPr lang="en-US" sz="1800" b="1" dirty="0" smtClean="0">
                <a:latin typeface="Times New Roman" pitchFamily="18" charset="0"/>
                <a:cs typeface="Times New Roman" pitchFamily="18" charset="0"/>
              </a:rPr>
              <a:t>Tetrahedral structure </a:t>
            </a:r>
            <a:r>
              <a:rPr lang="en-US" sz="1800" dirty="0" smtClean="0">
                <a:latin typeface="Times New Roman" pitchFamily="18" charset="0"/>
                <a:cs typeface="Times New Roman" pitchFamily="18" charset="0"/>
              </a:rPr>
              <a:t>→</a:t>
            </a:r>
            <a:r>
              <a:rPr lang="en-US" sz="1800" b="1" dirty="0" smtClean="0">
                <a:latin typeface="Times New Roman" pitchFamily="18" charset="0"/>
                <a:cs typeface="Times New Roman" pitchFamily="18" charset="0"/>
              </a:rPr>
              <a:t> </a:t>
            </a:r>
            <a:r>
              <a:rPr lang="en-US" sz="1800" i="1" dirty="0" smtClean="0">
                <a:latin typeface="Times New Roman" pitchFamily="18" charset="0"/>
                <a:cs typeface="Times New Roman" pitchFamily="18" charset="0"/>
              </a:rPr>
              <a:t>A kind of structure displaying a carbon atom with four attachments, and bond angles of approximately 109.5</a:t>
            </a:r>
            <a:r>
              <a:rPr lang="en-US" sz="1800" i="1" baseline="30000" dirty="0" smtClean="0">
                <a:latin typeface="Times New Roman" pitchFamily="18" charset="0"/>
                <a:cs typeface="Times New Roman" pitchFamily="18" charset="0"/>
              </a:rPr>
              <a:t>o</a:t>
            </a:r>
            <a:r>
              <a:rPr lang="en-US" sz="1800" i="1" dirty="0" smtClean="0">
                <a:latin typeface="Times New Roman" pitchFamily="18" charset="0"/>
                <a:cs typeface="Times New Roman" pitchFamily="18" charset="0"/>
              </a:rPr>
              <a:t>.</a:t>
            </a:r>
            <a:endParaRPr lang="en-US" sz="1800" b="1" dirty="0" smtClean="0">
              <a:latin typeface="Times New Roman" pitchFamily="18" charset="0"/>
              <a:cs typeface="Times New Roman" pitchFamily="18" charset="0"/>
            </a:endParaRPr>
          </a:p>
          <a:p>
            <a:pPr algn="just">
              <a:buNone/>
            </a:pPr>
            <a:endParaRPr lang="en-US" sz="1800" b="1" dirty="0" smtClean="0">
              <a:latin typeface="Times New Roman" pitchFamily="18" charset="0"/>
              <a:cs typeface="Times New Roman" pitchFamily="18" charset="0"/>
            </a:endParaRPr>
          </a:p>
        </p:txBody>
      </p:sp>
      <p:grpSp>
        <p:nvGrpSpPr>
          <p:cNvPr id="4" name="Group 3"/>
          <p:cNvGrpSpPr/>
          <p:nvPr/>
        </p:nvGrpSpPr>
        <p:grpSpPr>
          <a:xfrm>
            <a:off x="4506" y="0"/>
            <a:ext cx="914400" cy="5143500"/>
            <a:chOff x="0" y="168206"/>
            <a:chExt cx="914400" cy="6689794"/>
          </a:xfrm>
        </p:grpSpPr>
        <p:sp>
          <p:nvSpPr>
            <p:cNvPr id="5" name="Rectangle 4"/>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7" name="Picture 7" descr="logo"/>
            <p:cNvPicPr>
              <a:picLocks noChangeAspect="1" noChangeArrowheads="1"/>
            </p:cNvPicPr>
            <p:nvPr/>
          </p:nvPicPr>
          <p:blipFill>
            <a:blip r:embed="rId2"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3350"/>
            <a:ext cx="8229600" cy="857250"/>
          </a:xfrm>
        </p:spPr>
        <p:txBody>
          <a:bodyPr>
            <a:normAutofit/>
          </a:bodyPr>
          <a:lstStyle/>
          <a:p>
            <a:r>
              <a:rPr lang="en-US" sz="3600" b="1" dirty="0" smtClean="0">
                <a:latin typeface="Times New Roman" pitchFamily="18" charset="0"/>
                <a:cs typeface="Times New Roman" pitchFamily="18" charset="0"/>
              </a:rPr>
              <a:t>INTRODUCTION</a:t>
            </a:r>
            <a:endParaRPr lang="en-US" sz="3600" dirty="0"/>
          </a:p>
        </p:txBody>
      </p:sp>
      <p:sp>
        <p:nvSpPr>
          <p:cNvPr id="3" name="Content Placeholder 2"/>
          <p:cNvSpPr>
            <a:spLocks noGrp="1"/>
          </p:cNvSpPr>
          <p:nvPr>
            <p:ph idx="1"/>
          </p:nvPr>
        </p:nvSpPr>
        <p:spPr>
          <a:xfrm>
            <a:off x="381000" y="1047750"/>
            <a:ext cx="4800600" cy="3886200"/>
          </a:xfrm>
          <a:ln w="22225">
            <a:solidFill>
              <a:srgbClr val="C00000"/>
            </a:solidFill>
          </a:ln>
        </p:spPr>
        <p:txBody>
          <a:bodyPr>
            <a:noAutofit/>
          </a:bodyPr>
          <a:lstStyle/>
          <a:p>
            <a:pPr algn="just"/>
            <a:r>
              <a:rPr lang="en-US" sz="1600" dirty="0" smtClean="0"/>
              <a:t>Organic chemistry is the study of hydrocarbons (compounds of carbon and hydrogen) and their derivatives. Hence organic compounds could be defined as compounds of carbon and their derivatives. </a:t>
            </a:r>
          </a:p>
          <a:p>
            <a:pPr algn="just"/>
            <a:r>
              <a:rPr lang="en-US" sz="1600" dirty="0" smtClean="0"/>
              <a:t>However, some exceptions occur with certain compounds of carbon such as CO, CO</a:t>
            </a:r>
            <a:r>
              <a:rPr lang="en-US" sz="1600" baseline="-25000" dirty="0" smtClean="0"/>
              <a:t>2</a:t>
            </a:r>
            <a:r>
              <a:rPr lang="en-US" sz="1600" dirty="0" smtClean="0"/>
              <a:t>, Na</a:t>
            </a:r>
            <a:r>
              <a:rPr lang="en-US" sz="1600" baseline="-25000" dirty="0" smtClean="0"/>
              <a:t>2</a:t>
            </a:r>
            <a:r>
              <a:rPr lang="en-US" sz="1600" dirty="0" smtClean="0"/>
              <a:t>CO</a:t>
            </a:r>
            <a:r>
              <a:rPr lang="en-US" sz="1600" baseline="-25000" dirty="0" smtClean="0"/>
              <a:t>3</a:t>
            </a:r>
            <a:r>
              <a:rPr lang="en-US" sz="1600" dirty="0" smtClean="0"/>
              <a:t> etc., which are still presented as inorganic compounds. Even though, both  of them contain carbon. </a:t>
            </a:r>
          </a:p>
          <a:p>
            <a:pPr algn="just"/>
            <a:endParaRPr lang="en-US" sz="1600" dirty="0" smtClean="0"/>
          </a:p>
          <a:p>
            <a:pPr algn="just"/>
            <a:r>
              <a:rPr lang="en-US" sz="1600" dirty="0" smtClean="0"/>
              <a:t>Organic compounds are characterized by the presence of covalent bond between carbon and other elements like hydrogen (C-H), oxygen (C=O, C-O), nitrogen (C-N) as well as carbon itself (C-C), C=C or C≡C).</a:t>
            </a:r>
          </a:p>
          <a:p>
            <a:pPr algn="just"/>
            <a:endParaRPr lang="en-US" sz="1600" dirty="0"/>
          </a:p>
        </p:txBody>
      </p:sp>
      <p:pic>
        <p:nvPicPr>
          <p:cNvPr id="8" name="Picture 2" descr="C:\Users\user\Desktop\SLD\1\Alkane-alkene-and-alkynes-4-638.jpg"/>
          <p:cNvPicPr>
            <a:picLocks noChangeAspect="1" noChangeArrowheads="1"/>
          </p:cNvPicPr>
          <p:nvPr/>
        </p:nvPicPr>
        <p:blipFill>
          <a:blip r:embed="rId2"/>
          <a:srcRect/>
          <a:stretch>
            <a:fillRect/>
          </a:stretch>
        </p:blipFill>
        <p:spPr bwMode="auto">
          <a:xfrm>
            <a:off x="5257800" y="990600"/>
            <a:ext cx="3810000" cy="3943350"/>
          </a:xfrm>
          <a:prstGeom prst="rect">
            <a:avLst/>
          </a:prstGeom>
          <a:noFill/>
        </p:spPr>
      </p:pic>
      <p:sp>
        <p:nvSpPr>
          <p:cNvPr id="5" name="TextBox 4"/>
          <p:cNvSpPr txBox="1"/>
          <p:nvPr/>
        </p:nvSpPr>
        <p:spPr>
          <a:xfrm>
            <a:off x="5562600" y="4705350"/>
            <a:ext cx="3057568" cy="276999"/>
          </a:xfrm>
          <a:prstGeom prst="rect">
            <a:avLst/>
          </a:prstGeom>
          <a:noFill/>
        </p:spPr>
        <p:txBody>
          <a:bodyPr wrap="none" rtlCol="0">
            <a:spAutoFit/>
          </a:bodyPr>
          <a:lstStyle/>
          <a:p>
            <a:r>
              <a:rPr lang="en-US" sz="1200" b="1" dirty="0" smtClean="0"/>
              <a:t>Fig. 1.1</a:t>
            </a:r>
            <a:r>
              <a:rPr lang="en-US" sz="1200" dirty="0" smtClean="0"/>
              <a:t>: Classifications of Organic Compounds</a:t>
            </a:r>
            <a:endParaRPr lang="en-US" sz="12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latin typeface="Times New Roman" pitchFamily="18" charset="0"/>
                <a:cs typeface="Times New Roman" pitchFamily="18" charset="0"/>
              </a:rPr>
              <a:t>INTRODUCTION</a:t>
            </a:r>
            <a:endParaRPr lang="en-US" sz="3600" dirty="0"/>
          </a:p>
        </p:txBody>
      </p:sp>
      <p:sp>
        <p:nvSpPr>
          <p:cNvPr id="3" name="Content Placeholder 2"/>
          <p:cNvSpPr>
            <a:spLocks noGrp="1"/>
          </p:cNvSpPr>
          <p:nvPr>
            <p:ph idx="1"/>
          </p:nvPr>
        </p:nvSpPr>
        <p:spPr>
          <a:xfrm>
            <a:off x="1144027" y="848272"/>
            <a:ext cx="5257800" cy="4171950"/>
          </a:xfrm>
          <a:noFill/>
          <a:ln w="25400">
            <a:solidFill>
              <a:srgbClr val="C00000"/>
            </a:solidFill>
          </a:ln>
        </p:spPr>
        <p:txBody>
          <a:bodyPr>
            <a:noAutofit/>
          </a:bodyPr>
          <a:lstStyle/>
          <a:p>
            <a:pPr algn="just"/>
            <a:r>
              <a:rPr lang="en-US" sz="1600" dirty="0" smtClean="0">
                <a:solidFill>
                  <a:srgbClr val="080808"/>
                </a:solidFill>
              </a:rPr>
              <a:t>Organic compounds are basically sub-grouped into hydrocarbons and non hydrocarbons. </a:t>
            </a:r>
          </a:p>
          <a:p>
            <a:pPr marL="571500" indent="-571500" algn="just">
              <a:buFont typeface="+mj-lt"/>
              <a:buAutoNum type="arabicPeriod"/>
            </a:pPr>
            <a:r>
              <a:rPr lang="en-US" sz="1600" dirty="0" smtClean="0">
                <a:solidFill>
                  <a:srgbClr val="080808"/>
                </a:solidFill>
              </a:rPr>
              <a:t>Hydrocarbons: are those organic molecules that are made up of carbon and hydrogen only as constituent elements. e.g. alkanes, alkenes, alkynes and their cyclic derivatives as well as benzene etc.</a:t>
            </a:r>
          </a:p>
          <a:p>
            <a:pPr marL="571500" indent="-571500" algn="just">
              <a:buFont typeface="+mj-lt"/>
              <a:buAutoNum type="arabicPeriod"/>
            </a:pPr>
            <a:r>
              <a:rPr lang="en-US" sz="1600" dirty="0" smtClean="0">
                <a:solidFill>
                  <a:srgbClr val="080808"/>
                </a:solidFill>
              </a:rPr>
              <a:t>Non-hydrocarbons: these are also regarded as hydrocarbon derivatives and are those organic compounds containing one or more element  other than carbon and hydrogen (e.g. O, N, S or X like Cl, Br, F, etc.) within their chemical structures e.g. alcohols, amines, thiols and  alkyl halides.</a:t>
            </a:r>
          </a:p>
          <a:p>
            <a:pPr marL="571500" indent="-571500" algn="just">
              <a:buFont typeface="+mj-lt"/>
              <a:buAutoNum type="arabicPeriod"/>
            </a:pPr>
            <a:r>
              <a:rPr lang="en-US" sz="1600" dirty="0" smtClean="0">
                <a:solidFill>
                  <a:srgbClr val="080808"/>
                </a:solidFill>
              </a:rPr>
              <a:t>Saturated hydrocarbons contain carbon-carbon single bond (</a:t>
            </a:r>
            <a:r>
              <a:rPr lang="en-US" sz="1600" dirty="0" smtClean="0"/>
              <a:t>(C-C))</a:t>
            </a:r>
            <a:r>
              <a:rPr lang="en-US" sz="1600" dirty="0" smtClean="0">
                <a:solidFill>
                  <a:srgbClr val="080808"/>
                </a:solidFill>
              </a:rPr>
              <a:t> entirely while unsaturated ones are characterized by carbon-carbon multiple bond (</a:t>
            </a:r>
            <a:r>
              <a:rPr lang="en-US" sz="1600" dirty="0" smtClean="0"/>
              <a:t>C=C or C≡C).</a:t>
            </a:r>
            <a:endParaRPr lang="en-US" sz="1600" dirty="0" smtClean="0">
              <a:solidFill>
                <a:srgbClr val="080808"/>
              </a:solidFill>
            </a:endParaRPr>
          </a:p>
        </p:txBody>
      </p:sp>
      <p:sp>
        <p:nvSpPr>
          <p:cNvPr id="5" name="TextBox 4"/>
          <p:cNvSpPr txBox="1"/>
          <p:nvPr/>
        </p:nvSpPr>
        <p:spPr>
          <a:xfrm>
            <a:off x="6964424" y="848272"/>
            <a:ext cx="1514838" cy="369332"/>
          </a:xfrm>
          <a:prstGeom prst="rect">
            <a:avLst/>
          </a:prstGeom>
          <a:noFill/>
        </p:spPr>
        <p:txBody>
          <a:bodyPr wrap="none" rtlCol="0">
            <a:spAutoFit/>
          </a:bodyPr>
          <a:lstStyle/>
          <a:p>
            <a:r>
              <a:rPr lang="en-US" b="1" dirty="0" smtClean="0"/>
              <a:t>Hydrocarbons</a:t>
            </a:r>
            <a:endParaRPr lang="en-US" b="1" dirty="0"/>
          </a:p>
        </p:txBody>
      </p:sp>
      <p:sp>
        <p:nvSpPr>
          <p:cNvPr id="6" name="TextBox 5"/>
          <p:cNvSpPr txBox="1"/>
          <p:nvPr/>
        </p:nvSpPr>
        <p:spPr>
          <a:xfrm>
            <a:off x="6274043" y="2861737"/>
            <a:ext cx="2895600" cy="369332"/>
          </a:xfrm>
          <a:prstGeom prst="rect">
            <a:avLst/>
          </a:prstGeom>
          <a:noFill/>
        </p:spPr>
        <p:txBody>
          <a:bodyPr wrap="square" rtlCol="0">
            <a:spAutoFit/>
          </a:bodyPr>
          <a:lstStyle/>
          <a:p>
            <a:r>
              <a:rPr lang="en-US" b="1" dirty="0" smtClean="0"/>
              <a:t>Hydrocarbons   derivatives</a:t>
            </a:r>
            <a:endParaRPr lang="en-US" b="1" dirty="0"/>
          </a:p>
        </p:txBody>
      </p:sp>
      <p:pic>
        <p:nvPicPr>
          <p:cNvPr id="8" name="Picture 3"/>
          <p:cNvPicPr>
            <a:picLocks noChangeAspect="1" noChangeArrowheads="1"/>
          </p:cNvPicPr>
          <p:nvPr/>
        </p:nvPicPr>
        <p:blipFill>
          <a:blip r:embed="rId2">
            <a:duotone>
              <a:prstClr val="black"/>
              <a:schemeClr val="accent6">
                <a:tint val="45000"/>
                <a:satMod val="400000"/>
              </a:schemeClr>
            </a:duotone>
          </a:blip>
          <a:srcRect/>
          <a:stretch>
            <a:fillRect/>
          </a:stretch>
        </p:blipFill>
        <p:spPr bwMode="auto">
          <a:xfrm>
            <a:off x="6484620" y="3196779"/>
            <a:ext cx="2362200" cy="1709015"/>
          </a:xfrm>
          <a:prstGeom prst="rect">
            <a:avLst/>
          </a:prstGeom>
          <a:noFill/>
          <a:ln w="9525">
            <a:noFill/>
            <a:miter lim="800000"/>
            <a:headEnd/>
            <a:tailEnd/>
          </a:ln>
          <a:effectLst/>
        </p:spPr>
      </p:pic>
      <p:pic>
        <p:nvPicPr>
          <p:cNvPr id="2050" name="Picture 2"/>
          <p:cNvPicPr>
            <a:picLocks noChangeAspect="1" noChangeArrowheads="1"/>
          </p:cNvPicPr>
          <p:nvPr/>
        </p:nvPicPr>
        <p:blipFill>
          <a:blip r:embed="rId3">
            <a:duotone>
              <a:prstClr val="black"/>
              <a:schemeClr val="accent6">
                <a:tint val="45000"/>
                <a:satMod val="400000"/>
              </a:schemeClr>
            </a:duotone>
          </a:blip>
          <a:srcRect/>
          <a:stretch>
            <a:fillRect/>
          </a:stretch>
        </p:blipFill>
        <p:spPr bwMode="auto">
          <a:xfrm>
            <a:off x="6540743" y="1229272"/>
            <a:ext cx="2362200" cy="1651088"/>
          </a:xfrm>
          <a:prstGeom prst="rect">
            <a:avLst/>
          </a:prstGeom>
          <a:noFill/>
          <a:ln w="9525">
            <a:noFill/>
            <a:miter lim="800000"/>
            <a:headEnd/>
            <a:tailEnd/>
          </a:ln>
          <a:effectLst/>
        </p:spPr>
      </p:pic>
      <p:grpSp>
        <p:nvGrpSpPr>
          <p:cNvPr id="9" name="Group 8"/>
          <p:cNvGrpSpPr/>
          <p:nvPr/>
        </p:nvGrpSpPr>
        <p:grpSpPr>
          <a:xfrm>
            <a:off x="4506" y="0"/>
            <a:ext cx="914400" cy="5143500"/>
            <a:chOff x="0" y="168206"/>
            <a:chExt cx="914400" cy="6689794"/>
          </a:xfrm>
        </p:grpSpPr>
        <p:sp>
          <p:nvSpPr>
            <p:cNvPr id="10" name="Rectangle 9"/>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2" name="Picture 7" descr="logo"/>
            <p:cNvPicPr>
              <a:picLocks noChangeAspect="1" noChangeArrowheads="1"/>
            </p:cNvPicPr>
            <p:nvPr/>
          </p:nvPicPr>
          <p:blipFill>
            <a:blip r:embed="rId4"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latin typeface="Times New Roman" pitchFamily="18" charset="0"/>
                <a:cs typeface="Times New Roman" pitchFamily="18" charset="0"/>
              </a:rPr>
              <a:t>The Bonding Characteristics of Carbon Atom</a:t>
            </a:r>
            <a:endParaRPr lang="en-US" sz="2800" dirty="0" smtClean="0"/>
          </a:p>
        </p:txBody>
      </p:sp>
      <p:sp>
        <p:nvSpPr>
          <p:cNvPr id="3" name="Content Placeholder 2"/>
          <p:cNvSpPr>
            <a:spLocks noGrp="1"/>
          </p:cNvSpPr>
          <p:nvPr>
            <p:ph idx="1"/>
          </p:nvPr>
        </p:nvSpPr>
        <p:spPr>
          <a:xfrm>
            <a:off x="914400" y="1200151"/>
            <a:ext cx="5562600" cy="3394472"/>
          </a:xfrm>
          <a:noFill/>
          <a:ln w="28575">
            <a:solidFill>
              <a:srgbClr val="C00000"/>
            </a:solidFill>
          </a:ln>
        </p:spPr>
        <p:txBody>
          <a:bodyPr>
            <a:normAutofit fontScale="92500" lnSpcReduction="10000"/>
          </a:bodyPr>
          <a:lstStyle/>
          <a:p>
            <a:pPr algn="just"/>
            <a:r>
              <a:rPr lang="en-US" sz="2000" dirty="0" smtClean="0"/>
              <a:t>Carbon is always tetravalent in nature. In organic compounds, carbon can usually achieve this four-bond requirements in three different ways:</a:t>
            </a:r>
          </a:p>
          <a:p>
            <a:pPr marL="514350" indent="-514350" algn="just">
              <a:buFont typeface="+mj-lt"/>
              <a:buAutoNum type="romanUcPeriod"/>
            </a:pPr>
            <a:r>
              <a:rPr lang="en-US" sz="2000" dirty="0" smtClean="0"/>
              <a:t>Bonding to four other atoms through four single bonds as usually seen in saturated hydrocarbons.</a:t>
            </a:r>
          </a:p>
          <a:p>
            <a:pPr marL="514350" indent="-514350" algn="just">
              <a:buFont typeface="+mj-lt"/>
              <a:buAutoNum type="romanUcPeriod"/>
            </a:pPr>
            <a:r>
              <a:rPr lang="en-US" sz="2000" dirty="0" smtClean="0"/>
              <a:t>Bonding to three other atoms through two single bonds and one double bond (seen in unsaturated hydrocarbons).</a:t>
            </a:r>
          </a:p>
          <a:p>
            <a:pPr marL="514350" indent="-514350" algn="just">
              <a:buFont typeface="+mj-lt"/>
              <a:buAutoNum type="romanUcPeriod"/>
            </a:pPr>
            <a:r>
              <a:rPr lang="en-US" sz="2000" dirty="0" smtClean="0"/>
              <a:t>Bonding to two other atoms. This scenario requires the presence of two double bonds or a triple bond and a single bond (seen in unsaturated hydrocarbons).</a:t>
            </a:r>
          </a:p>
        </p:txBody>
      </p:sp>
      <p:pic>
        <p:nvPicPr>
          <p:cNvPr id="1027" name="Picture 3"/>
          <p:cNvPicPr>
            <a:picLocks noChangeAspect="1" noChangeArrowheads="1"/>
          </p:cNvPicPr>
          <p:nvPr/>
        </p:nvPicPr>
        <p:blipFill>
          <a:blip r:embed="rId2"/>
          <a:srcRect/>
          <a:stretch>
            <a:fillRect/>
          </a:stretch>
        </p:blipFill>
        <p:spPr bwMode="auto">
          <a:xfrm>
            <a:off x="6629400" y="2038350"/>
            <a:ext cx="923925" cy="1133475"/>
          </a:xfrm>
          <a:prstGeom prst="rect">
            <a:avLst/>
          </a:prstGeom>
          <a:noFill/>
          <a:ln w="9525">
            <a:noFill/>
            <a:miter lim="800000"/>
            <a:headEnd/>
            <a:tailEnd/>
          </a:ln>
          <a:effectLst/>
        </p:spPr>
      </p:pic>
      <p:pic>
        <p:nvPicPr>
          <p:cNvPr id="1028" name="Picture 4"/>
          <p:cNvPicPr>
            <a:picLocks noChangeAspect="1" noChangeArrowheads="1"/>
          </p:cNvPicPr>
          <p:nvPr/>
        </p:nvPicPr>
        <p:blipFill>
          <a:blip r:embed="rId3"/>
          <a:srcRect/>
          <a:stretch>
            <a:fillRect/>
          </a:stretch>
        </p:blipFill>
        <p:spPr bwMode="auto">
          <a:xfrm>
            <a:off x="7753350" y="2800350"/>
            <a:ext cx="1085850" cy="1009650"/>
          </a:xfrm>
          <a:prstGeom prst="rect">
            <a:avLst/>
          </a:prstGeom>
          <a:noFill/>
          <a:ln w="9525">
            <a:noFill/>
            <a:miter lim="800000"/>
            <a:headEnd/>
            <a:tailEnd/>
          </a:ln>
          <a:effectLst/>
        </p:spPr>
      </p:pic>
      <p:pic>
        <p:nvPicPr>
          <p:cNvPr id="1029" name="Picture 5"/>
          <p:cNvPicPr>
            <a:picLocks noChangeAspect="1" noChangeArrowheads="1"/>
          </p:cNvPicPr>
          <p:nvPr/>
        </p:nvPicPr>
        <p:blipFill>
          <a:blip r:embed="rId4"/>
          <a:srcRect/>
          <a:stretch>
            <a:fillRect/>
          </a:stretch>
        </p:blipFill>
        <p:spPr bwMode="auto">
          <a:xfrm>
            <a:off x="6553200" y="3962400"/>
            <a:ext cx="1809750" cy="361950"/>
          </a:xfrm>
          <a:prstGeom prst="rect">
            <a:avLst/>
          </a:prstGeom>
          <a:noFill/>
          <a:ln w="9525">
            <a:noFill/>
            <a:miter lim="800000"/>
            <a:headEnd/>
            <a:tailEnd/>
          </a:ln>
          <a:effectLst/>
        </p:spPr>
      </p:pic>
      <p:sp>
        <p:nvSpPr>
          <p:cNvPr id="18434" name="AutoShape 2" descr="Illustrated Glossary of Organic Chemistry - Tetrahedral carb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8435" name="Picture 3"/>
          <p:cNvPicPr>
            <a:picLocks noChangeAspect="1" noChangeArrowheads="1"/>
          </p:cNvPicPr>
          <p:nvPr/>
        </p:nvPicPr>
        <p:blipFill>
          <a:blip r:embed="rId5"/>
          <a:srcRect/>
          <a:stretch>
            <a:fillRect/>
          </a:stretch>
        </p:blipFill>
        <p:spPr bwMode="auto">
          <a:xfrm>
            <a:off x="7848600" y="895350"/>
            <a:ext cx="1009650" cy="1085850"/>
          </a:xfrm>
          <a:prstGeom prst="rect">
            <a:avLst/>
          </a:prstGeom>
          <a:noFill/>
          <a:ln w="9525">
            <a:noFill/>
            <a:miter lim="800000"/>
            <a:headEnd/>
            <a:tailEnd/>
          </a:ln>
          <a:effectLst/>
        </p:spPr>
      </p:pic>
      <p:pic>
        <p:nvPicPr>
          <p:cNvPr id="18436" name="Picture 4"/>
          <p:cNvPicPr>
            <a:picLocks noChangeAspect="1" noChangeArrowheads="1"/>
          </p:cNvPicPr>
          <p:nvPr/>
        </p:nvPicPr>
        <p:blipFill>
          <a:blip r:embed="rId6"/>
          <a:srcRect/>
          <a:stretch>
            <a:fillRect/>
          </a:stretch>
        </p:blipFill>
        <p:spPr bwMode="auto">
          <a:xfrm>
            <a:off x="6629400" y="971550"/>
            <a:ext cx="1076325" cy="1028700"/>
          </a:xfrm>
          <a:prstGeom prst="rect">
            <a:avLst/>
          </a:prstGeom>
          <a:noFill/>
          <a:ln w="9525">
            <a:noFill/>
            <a:miter lim="800000"/>
            <a:headEnd/>
            <a:tailEnd/>
          </a:ln>
          <a:effectLst/>
        </p:spPr>
      </p:pic>
      <p:grpSp>
        <p:nvGrpSpPr>
          <p:cNvPr id="10" name="Group 9"/>
          <p:cNvGrpSpPr/>
          <p:nvPr/>
        </p:nvGrpSpPr>
        <p:grpSpPr>
          <a:xfrm>
            <a:off x="4506" y="0"/>
            <a:ext cx="914400" cy="5143500"/>
            <a:chOff x="0" y="168206"/>
            <a:chExt cx="914400" cy="6689794"/>
          </a:xfrm>
        </p:grpSpPr>
        <p:sp>
          <p:nvSpPr>
            <p:cNvPr id="11" name="Rectangle 10"/>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3" name="Picture 7" descr="logo"/>
            <p:cNvPicPr>
              <a:picLocks noChangeAspect="1" noChangeArrowheads="1"/>
            </p:cNvPicPr>
            <p:nvPr/>
          </p:nvPicPr>
          <p:blipFill>
            <a:blip r:embed="rId7"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smtClean="0"/>
              <a:t>HOMOLOGOUS SERIES</a:t>
            </a:r>
            <a:br>
              <a:rPr lang="en-US" b="1" u="sng" dirty="0" smtClean="0"/>
            </a:br>
            <a:endParaRPr lang="en-US" dirty="0"/>
          </a:p>
        </p:txBody>
      </p:sp>
      <p:sp>
        <p:nvSpPr>
          <p:cNvPr id="3" name="Content Placeholder 2"/>
          <p:cNvSpPr>
            <a:spLocks noGrp="1"/>
          </p:cNvSpPr>
          <p:nvPr>
            <p:ph idx="1"/>
          </p:nvPr>
        </p:nvSpPr>
        <p:spPr>
          <a:xfrm>
            <a:off x="685800" y="666750"/>
            <a:ext cx="2971800" cy="2590800"/>
          </a:xfrm>
          <a:ln w="25400" cmpd="sng">
            <a:solidFill>
              <a:srgbClr val="C00000"/>
            </a:solidFill>
          </a:ln>
        </p:spPr>
        <p:txBody>
          <a:bodyPr>
            <a:noAutofit/>
          </a:bodyPr>
          <a:lstStyle/>
          <a:p>
            <a:pPr algn="just">
              <a:buNone/>
            </a:pPr>
            <a:r>
              <a:rPr lang="en-US" sz="1200" b="1" dirty="0" smtClean="0">
                <a:solidFill>
                  <a:srgbClr val="002060"/>
                </a:solidFill>
              </a:rPr>
              <a:t>Homologous series. Each particular homologous series represents </a:t>
            </a:r>
            <a:r>
              <a:rPr lang="en-US" sz="1200" dirty="0" smtClean="0">
                <a:solidFill>
                  <a:srgbClr val="002060"/>
                </a:solidFill>
              </a:rPr>
              <a:t>are family of organic compounds sharing: </a:t>
            </a:r>
          </a:p>
          <a:p>
            <a:pPr algn="just">
              <a:buFont typeface="Wingdings" pitchFamily="2" charset="2"/>
              <a:buChar char="v"/>
            </a:pPr>
            <a:r>
              <a:rPr lang="en-US" sz="1200" dirty="0" smtClean="0">
                <a:solidFill>
                  <a:srgbClr val="002060"/>
                </a:solidFill>
              </a:rPr>
              <a:t>Same functional group</a:t>
            </a:r>
          </a:p>
          <a:p>
            <a:pPr algn="just">
              <a:buFont typeface="Wingdings" pitchFamily="2" charset="2"/>
              <a:buChar char="v"/>
            </a:pPr>
            <a:r>
              <a:rPr lang="en-US" sz="1200" dirty="0" smtClean="0">
                <a:solidFill>
                  <a:srgbClr val="002060"/>
                </a:solidFill>
              </a:rPr>
              <a:t>Similar chemical properties</a:t>
            </a:r>
          </a:p>
          <a:p>
            <a:pPr algn="just">
              <a:buFont typeface="Wingdings" pitchFamily="2" charset="2"/>
              <a:buChar char="v"/>
            </a:pPr>
            <a:r>
              <a:rPr lang="en-US" sz="1200" dirty="0" smtClean="0">
                <a:solidFill>
                  <a:srgbClr val="002060"/>
                </a:solidFill>
              </a:rPr>
              <a:t>Same methods of preparation and </a:t>
            </a:r>
          </a:p>
          <a:p>
            <a:pPr algn="just">
              <a:buFont typeface="Wingdings" pitchFamily="2" charset="2"/>
              <a:buChar char="v"/>
            </a:pPr>
            <a:r>
              <a:rPr lang="en-US" sz="1200" dirty="0" smtClean="0">
                <a:solidFill>
                  <a:srgbClr val="002060"/>
                </a:solidFill>
              </a:rPr>
              <a:t>Exhibit gradual change in physical properties </a:t>
            </a:r>
          </a:p>
          <a:p>
            <a:pPr algn="just">
              <a:buNone/>
            </a:pPr>
            <a:r>
              <a:rPr lang="en-US" sz="1200" dirty="0" smtClean="0">
                <a:solidFill>
                  <a:srgbClr val="002060"/>
                </a:solidFill>
              </a:rPr>
              <a:t>Each of the successive members of every particular homologous series</a:t>
            </a:r>
          </a:p>
          <a:p>
            <a:pPr algn="just">
              <a:buNone/>
            </a:pPr>
            <a:r>
              <a:rPr lang="en-US" sz="1200" dirty="0" smtClean="0">
                <a:solidFill>
                  <a:srgbClr val="002060"/>
                </a:solidFill>
              </a:rPr>
              <a:t>e.g. alkanes differs  by -CH</a:t>
            </a:r>
            <a:r>
              <a:rPr lang="en-US" sz="1200" baseline="-25000" dirty="0" smtClean="0">
                <a:solidFill>
                  <a:srgbClr val="002060"/>
                </a:solidFill>
              </a:rPr>
              <a:t>2</a:t>
            </a:r>
            <a:r>
              <a:rPr lang="en-US" sz="1200" dirty="0" smtClean="0">
                <a:solidFill>
                  <a:srgbClr val="002060"/>
                </a:solidFill>
              </a:rPr>
              <a:t>- unit.  Examples are given below:</a:t>
            </a:r>
          </a:p>
          <a:p>
            <a:pPr algn="just">
              <a:buFont typeface="Wingdings" pitchFamily="2" charset="2"/>
              <a:buChar char="v"/>
            </a:pPr>
            <a:endParaRPr lang="en-US" sz="1200" dirty="0" smtClean="0">
              <a:solidFill>
                <a:srgbClr val="002060"/>
              </a:solidFill>
            </a:endParaRPr>
          </a:p>
          <a:p>
            <a:pPr algn="just">
              <a:buNone/>
            </a:pPr>
            <a:endParaRPr lang="en-US" sz="1200" dirty="0" smtClean="0">
              <a:solidFill>
                <a:srgbClr val="002060"/>
              </a:solidFill>
            </a:endParaRPr>
          </a:p>
        </p:txBody>
      </p:sp>
      <p:sp>
        <p:nvSpPr>
          <p:cNvPr id="5" name="Rectangle 4"/>
          <p:cNvSpPr/>
          <p:nvPr/>
        </p:nvSpPr>
        <p:spPr>
          <a:xfrm>
            <a:off x="3733800" y="666750"/>
            <a:ext cx="5181600" cy="738664"/>
          </a:xfrm>
          <a:prstGeom prst="rect">
            <a:avLst/>
          </a:prstGeom>
          <a:noFill/>
          <a:ln w="22225">
            <a:solidFill>
              <a:srgbClr val="C00000"/>
            </a:solidFill>
          </a:ln>
        </p:spPr>
        <p:txBody>
          <a:bodyPr wrap="square">
            <a:spAutoFit/>
          </a:bodyPr>
          <a:lstStyle/>
          <a:p>
            <a:pPr algn="just"/>
            <a:r>
              <a:rPr lang="en-US" sz="1400" b="1" dirty="0" smtClean="0"/>
              <a:t>Examples of homologous series include: alkenes, alkynes, alcohols, ethers, amines, alkyl halides, nitriles, aldehydes, ketones, carboxylic acids and carboxylic acid derivatives etc.  </a:t>
            </a:r>
          </a:p>
        </p:txBody>
      </p:sp>
      <p:pic>
        <p:nvPicPr>
          <p:cNvPr id="3074" name="Picture 2"/>
          <p:cNvPicPr>
            <a:picLocks noChangeAspect="1" noChangeArrowheads="1"/>
          </p:cNvPicPr>
          <p:nvPr/>
        </p:nvPicPr>
        <p:blipFill>
          <a:blip r:embed="rId2"/>
          <a:srcRect/>
          <a:stretch>
            <a:fillRect/>
          </a:stretch>
        </p:blipFill>
        <p:spPr bwMode="auto">
          <a:xfrm>
            <a:off x="914400" y="3333750"/>
            <a:ext cx="7472626" cy="1752600"/>
          </a:xfrm>
          <a:prstGeom prst="rect">
            <a:avLst/>
          </a:prstGeom>
          <a:noFill/>
          <a:ln w="9525">
            <a:noFill/>
            <a:miter lim="800000"/>
            <a:headEnd/>
            <a:tailEnd/>
          </a:ln>
          <a:effectLst/>
        </p:spPr>
      </p:pic>
      <p:grpSp>
        <p:nvGrpSpPr>
          <p:cNvPr id="8" name="Group 7"/>
          <p:cNvGrpSpPr/>
          <p:nvPr/>
        </p:nvGrpSpPr>
        <p:grpSpPr>
          <a:xfrm>
            <a:off x="3733800" y="1428750"/>
            <a:ext cx="5181600" cy="1676400"/>
            <a:chOff x="3733800" y="1428750"/>
            <a:chExt cx="5181600" cy="1676400"/>
          </a:xfrm>
        </p:grpSpPr>
        <p:sp>
          <p:nvSpPr>
            <p:cNvPr id="4" name="Rectangle 3"/>
            <p:cNvSpPr/>
            <p:nvPr/>
          </p:nvSpPr>
          <p:spPr>
            <a:xfrm>
              <a:off x="3733800" y="1720155"/>
              <a:ext cx="5181600" cy="1384995"/>
            </a:xfrm>
            <a:prstGeom prst="rect">
              <a:avLst/>
            </a:prstGeom>
            <a:ln w="28575">
              <a:solidFill>
                <a:srgbClr val="0070C0"/>
              </a:solidFill>
            </a:ln>
          </p:spPr>
          <p:txBody>
            <a:bodyPr wrap="square">
              <a:spAutoFit/>
            </a:bodyPr>
            <a:lstStyle/>
            <a:p>
              <a:pPr algn="just">
                <a:buNone/>
              </a:pPr>
              <a:r>
                <a:rPr lang="en-US" sz="1200" b="1" dirty="0" smtClean="0"/>
                <a:t>Order	      Members	               Chemical formula               Difference in </a:t>
              </a:r>
            </a:p>
            <a:p>
              <a:pPr algn="just">
                <a:buNone/>
              </a:pPr>
              <a:r>
                <a:rPr lang="en-US" sz="1200" b="1" dirty="0" smtClean="0"/>
                <a:t>				         Chemical Units</a:t>
              </a:r>
            </a:p>
            <a:p>
              <a:pPr algn="just">
                <a:buNone/>
              </a:pPr>
              <a:r>
                <a:rPr lang="en-US" sz="1200" dirty="0" smtClean="0"/>
                <a:t>First	      Methane		CH</a:t>
              </a:r>
              <a:r>
                <a:rPr lang="en-US" sz="1200" baseline="-25000" dirty="0" smtClean="0"/>
                <a:t>4</a:t>
              </a:r>
              <a:r>
                <a:rPr lang="en-US" sz="1200" dirty="0" smtClean="0"/>
                <a:t>		--</a:t>
              </a:r>
            </a:p>
            <a:p>
              <a:pPr algn="just">
                <a:buNone/>
              </a:pPr>
              <a:r>
                <a:rPr lang="en-US" sz="1200" dirty="0" smtClean="0"/>
                <a:t>Second	      Ethane  		CH</a:t>
              </a:r>
              <a:r>
                <a:rPr lang="en-US" sz="1200" baseline="-25000" dirty="0" smtClean="0"/>
                <a:t>3</a:t>
              </a:r>
              <a:r>
                <a:rPr lang="en-US" sz="1200" dirty="0" smtClean="0"/>
                <a:t>CH</a:t>
              </a:r>
              <a:r>
                <a:rPr lang="en-US" sz="1200" baseline="-25000" dirty="0" smtClean="0"/>
                <a:t>3		</a:t>
              </a:r>
              <a:r>
                <a:rPr lang="en-US" sz="1200" dirty="0" smtClean="0"/>
                <a:t>CH</a:t>
              </a:r>
              <a:r>
                <a:rPr lang="en-US" sz="1200" baseline="-25000" dirty="0" smtClean="0"/>
                <a:t>2</a:t>
              </a:r>
            </a:p>
            <a:p>
              <a:pPr algn="just">
                <a:buNone/>
              </a:pPr>
              <a:r>
                <a:rPr lang="en-US" sz="1200" dirty="0" smtClean="0"/>
                <a:t>Third	      Propane 		CH</a:t>
              </a:r>
              <a:r>
                <a:rPr lang="en-US" sz="1200" baseline="-25000" dirty="0" smtClean="0"/>
                <a:t>3</a:t>
              </a:r>
              <a:r>
                <a:rPr lang="en-US" sz="1200" dirty="0" smtClean="0"/>
                <a:t>CH</a:t>
              </a:r>
              <a:r>
                <a:rPr lang="en-US" sz="1200" baseline="-25000" dirty="0" smtClean="0"/>
                <a:t>2</a:t>
              </a:r>
              <a:r>
                <a:rPr lang="en-US" sz="1200" dirty="0" smtClean="0"/>
                <a:t>CH</a:t>
              </a:r>
              <a:r>
                <a:rPr lang="en-US" sz="1200" baseline="-25000" dirty="0" smtClean="0"/>
                <a:t>3		</a:t>
              </a:r>
              <a:r>
                <a:rPr lang="en-US" sz="1200" dirty="0" smtClean="0"/>
                <a:t>CH</a:t>
              </a:r>
              <a:r>
                <a:rPr lang="en-US" sz="1200" baseline="-25000" dirty="0" smtClean="0"/>
                <a:t>2</a:t>
              </a:r>
            </a:p>
            <a:p>
              <a:pPr algn="just">
                <a:buNone/>
              </a:pPr>
              <a:r>
                <a:rPr lang="en-US" sz="1200" dirty="0" smtClean="0"/>
                <a:t>Fourth	      Butane	                          CH</a:t>
              </a:r>
              <a:r>
                <a:rPr lang="en-US" sz="1200" baseline="-25000" dirty="0" smtClean="0"/>
                <a:t>3</a:t>
              </a:r>
              <a:r>
                <a:rPr lang="en-US" sz="1200" dirty="0" smtClean="0"/>
                <a:t>(CH</a:t>
              </a:r>
              <a:r>
                <a:rPr lang="en-US" sz="1200" baseline="-25000" dirty="0" smtClean="0"/>
                <a:t>2</a:t>
              </a:r>
              <a:r>
                <a:rPr lang="en-US" sz="1200" dirty="0" smtClean="0"/>
                <a:t>)</a:t>
              </a:r>
              <a:r>
                <a:rPr lang="en-US" sz="1200" baseline="-25000" dirty="0" smtClean="0"/>
                <a:t>2</a:t>
              </a:r>
              <a:r>
                <a:rPr lang="en-US" sz="1200" dirty="0" smtClean="0"/>
                <a:t>CH</a:t>
              </a:r>
              <a:r>
                <a:rPr lang="en-US" sz="1200" baseline="-25000" dirty="0" smtClean="0"/>
                <a:t>3		</a:t>
              </a:r>
              <a:r>
                <a:rPr lang="en-US" sz="1200" dirty="0" smtClean="0"/>
                <a:t>CH</a:t>
              </a:r>
              <a:r>
                <a:rPr lang="en-US" sz="1200" baseline="-25000" dirty="0" smtClean="0"/>
                <a:t>2</a:t>
              </a:r>
              <a:endParaRPr lang="en-US" sz="1200" dirty="0" smtClean="0"/>
            </a:p>
            <a:p>
              <a:pPr algn="just">
                <a:buNone/>
              </a:pPr>
              <a:r>
                <a:rPr lang="en-US" sz="1200" dirty="0" smtClean="0"/>
                <a:t>etc.</a:t>
              </a:r>
            </a:p>
          </p:txBody>
        </p:sp>
        <p:sp>
          <p:nvSpPr>
            <p:cNvPr id="7" name="TextBox 6"/>
            <p:cNvSpPr txBox="1"/>
            <p:nvPr/>
          </p:nvSpPr>
          <p:spPr>
            <a:xfrm>
              <a:off x="3733800" y="1428750"/>
              <a:ext cx="5181599" cy="276999"/>
            </a:xfrm>
            <a:prstGeom prst="rect">
              <a:avLst/>
            </a:prstGeom>
            <a:noFill/>
            <a:ln w="22225">
              <a:solidFill>
                <a:srgbClr val="002060"/>
              </a:solidFill>
            </a:ln>
          </p:spPr>
          <p:txBody>
            <a:bodyPr wrap="square" rtlCol="0">
              <a:spAutoFit/>
            </a:bodyPr>
            <a:lstStyle/>
            <a:p>
              <a:r>
                <a:rPr lang="en-US" sz="1200" b="1" dirty="0" smtClean="0"/>
                <a:t>Table 1.1</a:t>
              </a:r>
              <a:r>
                <a:rPr lang="en-US" sz="1200" dirty="0" smtClean="0"/>
                <a:t>: Alkane family ; displaying some members of unbranched alkanes</a:t>
              </a:r>
            </a:p>
          </p:txBody>
        </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05979"/>
            <a:ext cx="4191000" cy="857250"/>
          </a:xfrm>
        </p:spPr>
        <p:txBody>
          <a:bodyPr>
            <a:normAutofit fontScale="90000"/>
          </a:bodyPr>
          <a:lstStyle/>
          <a:p>
            <a:r>
              <a:rPr lang="en-US" dirty="0" smtClean="0"/>
              <a:t>Structural Formula</a:t>
            </a:r>
            <a:endParaRPr lang="en-US" dirty="0"/>
          </a:p>
        </p:txBody>
      </p:sp>
      <p:sp>
        <p:nvSpPr>
          <p:cNvPr id="3" name="Content Placeholder 2"/>
          <p:cNvSpPr>
            <a:spLocks noGrp="1"/>
          </p:cNvSpPr>
          <p:nvPr>
            <p:ph idx="1"/>
          </p:nvPr>
        </p:nvSpPr>
        <p:spPr>
          <a:xfrm>
            <a:off x="533400" y="895350"/>
            <a:ext cx="4419600" cy="4171950"/>
          </a:xfrm>
          <a:ln w="22225">
            <a:solidFill>
              <a:srgbClr val="C00000"/>
            </a:solidFill>
          </a:ln>
        </p:spPr>
        <p:txBody>
          <a:bodyPr>
            <a:noAutofit/>
          </a:bodyPr>
          <a:lstStyle/>
          <a:p>
            <a:pPr algn="just"/>
            <a:r>
              <a:rPr lang="en-US" sz="1400" b="1" dirty="0" smtClean="0"/>
              <a:t>Condensed Structure: </a:t>
            </a:r>
            <a:r>
              <a:rPr lang="en-US" sz="1400" dirty="0" smtClean="0"/>
              <a:t>is a structural formula that uses groupings of atoms, in  which central atoms and the atoms connected to them are displayed as a group, in order to convey molecular structural information. Bonds are either partially expressed or completely hidden.</a:t>
            </a:r>
          </a:p>
          <a:p>
            <a:pPr algn="just"/>
            <a:r>
              <a:rPr lang="en-US" sz="1400" b="1" dirty="0" smtClean="0"/>
              <a:t>Expanded Structure: </a:t>
            </a:r>
            <a:r>
              <a:rPr lang="en-US" sz="1400" dirty="0" smtClean="0"/>
              <a:t>is a formula that shows all atoms in a molecules and all bonds connecting the atoms together. </a:t>
            </a:r>
          </a:p>
          <a:p>
            <a:pPr algn="just"/>
            <a:r>
              <a:rPr lang="en-US" sz="1400" b="1" dirty="0" smtClean="0"/>
              <a:t>Line angle Structure: </a:t>
            </a:r>
            <a:r>
              <a:rPr lang="en-US" sz="1400" dirty="0" smtClean="0"/>
              <a:t>line angle formula as a more condensed  form of structural representation, uses the application of lines and angles to express structural formula. Each line end or an angle represent a carbon atom with all the valences satisfied by hydrogen atoms. Where other atom other than hydrogen (e.g. O, Cl and Br) or group of atoms such as –OH or –NO</a:t>
            </a:r>
            <a:r>
              <a:rPr lang="en-US" sz="1400" baseline="-25000" dirty="0" smtClean="0"/>
              <a:t>2</a:t>
            </a:r>
            <a:r>
              <a:rPr lang="en-US" sz="1400" dirty="0" smtClean="0"/>
              <a:t> is attached to carbon, such atoms or groups are clearly indicated. </a:t>
            </a:r>
            <a:endParaRPr lang="en-US" sz="1400" dirty="0"/>
          </a:p>
        </p:txBody>
      </p:sp>
      <p:pic>
        <p:nvPicPr>
          <p:cNvPr id="4103" name="Picture 7"/>
          <p:cNvPicPr>
            <a:picLocks noChangeAspect="1" noChangeArrowheads="1"/>
          </p:cNvPicPr>
          <p:nvPr/>
        </p:nvPicPr>
        <p:blipFill>
          <a:blip r:embed="rId2">
            <a:duotone>
              <a:prstClr val="black"/>
              <a:schemeClr val="accent4">
                <a:tint val="45000"/>
                <a:satMod val="400000"/>
              </a:schemeClr>
            </a:duotone>
          </a:blip>
          <a:srcRect/>
          <a:stretch>
            <a:fillRect/>
          </a:stretch>
        </p:blipFill>
        <p:spPr bwMode="auto">
          <a:xfrm>
            <a:off x="5048250" y="133350"/>
            <a:ext cx="3943350" cy="49149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05979"/>
            <a:ext cx="8229600" cy="857250"/>
          </a:xfrm>
        </p:spPr>
        <p:txBody>
          <a:bodyPr/>
          <a:lstStyle/>
          <a:p>
            <a:r>
              <a:rPr lang="en-US" dirty="0" smtClean="0"/>
              <a:t> Alkanes, Alkenes and Alkynes</a:t>
            </a:r>
            <a:endParaRPr lang="en-US" dirty="0"/>
          </a:p>
        </p:txBody>
      </p:sp>
      <p:sp>
        <p:nvSpPr>
          <p:cNvPr id="3" name="Content Placeholder 2"/>
          <p:cNvSpPr>
            <a:spLocks noGrp="1"/>
          </p:cNvSpPr>
          <p:nvPr>
            <p:ph idx="1"/>
          </p:nvPr>
        </p:nvSpPr>
        <p:spPr>
          <a:xfrm>
            <a:off x="1219200" y="1123950"/>
            <a:ext cx="7315200" cy="2362199"/>
          </a:xfrm>
          <a:noFill/>
          <a:ln w="15875">
            <a:solidFill>
              <a:srgbClr val="C00000"/>
            </a:solidFill>
          </a:ln>
        </p:spPr>
        <p:txBody>
          <a:bodyPr>
            <a:normAutofit fontScale="92500" lnSpcReduction="10000"/>
          </a:bodyPr>
          <a:lstStyle/>
          <a:p>
            <a:pPr algn="just">
              <a:buNone/>
            </a:pPr>
            <a:r>
              <a:rPr lang="en-US" sz="2400" dirty="0" smtClean="0"/>
              <a:t>	</a:t>
            </a:r>
            <a:r>
              <a:rPr lang="en-US" sz="2400" b="1" dirty="0" smtClean="0"/>
              <a:t>Functional group </a:t>
            </a:r>
            <a:r>
              <a:rPr lang="en-US" sz="2400" dirty="0" smtClean="0"/>
              <a:t>simply refers to an atom or a specific group of atoms serving as identity of any family of organic compounds. Functional groups are responsible for the chemical properties and many of the physical properties of members  constituting that particular family. The functional groups of alkanes, alkenes, and alkynes respectively, are represented below:</a:t>
            </a:r>
          </a:p>
        </p:txBody>
      </p:sp>
      <p:pic>
        <p:nvPicPr>
          <p:cNvPr id="6146" name="Picture 2"/>
          <p:cNvPicPr>
            <a:picLocks noChangeAspect="1" noChangeArrowheads="1"/>
          </p:cNvPicPr>
          <p:nvPr/>
        </p:nvPicPr>
        <p:blipFill>
          <a:blip r:embed="rId2">
            <a:duotone>
              <a:prstClr val="black"/>
              <a:schemeClr val="accent3">
                <a:tint val="45000"/>
                <a:satMod val="400000"/>
              </a:schemeClr>
            </a:duotone>
          </a:blip>
          <a:srcRect/>
          <a:stretch>
            <a:fillRect/>
          </a:stretch>
        </p:blipFill>
        <p:spPr bwMode="auto">
          <a:xfrm>
            <a:off x="1790700" y="3714750"/>
            <a:ext cx="6134100" cy="1143000"/>
          </a:xfrm>
          <a:prstGeom prst="rect">
            <a:avLst/>
          </a:prstGeom>
          <a:noFill/>
          <a:ln w="9525">
            <a:noFill/>
            <a:miter lim="800000"/>
            <a:headEnd/>
            <a:tailEnd/>
          </a:ln>
          <a:effectLst/>
        </p:spPr>
      </p:pic>
      <p:grpSp>
        <p:nvGrpSpPr>
          <p:cNvPr id="5" name="Group 4"/>
          <p:cNvGrpSpPr/>
          <p:nvPr/>
        </p:nvGrpSpPr>
        <p:grpSpPr>
          <a:xfrm>
            <a:off x="4506" y="0"/>
            <a:ext cx="914400" cy="5143500"/>
            <a:chOff x="0" y="168206"/>
            <a:chExt cx="914400" cy="6689794"/>
          </a:xfrm>
        </p:grpSpPr>
        <p:sp>
          <p:nvSpPr>
            <p:cNvPr id="6" name="Rectangle 5"/>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8" name="Picture 7" descr="logo"/>
            <p:cNvPicPr>
              <a:picLocks noChangeAspect="1" noChangeArrowheads="1"/>
            </p:cNvPicPr>
            <p:nvPr/>
          </p:nvPicPr>
          <p:blipFill>
            <a:blip r:embed="rId3"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 Alkanes, Alkenes and Alkynes</a:t>
            </a:r>
            <a:endParaRPr lang="en-US" dirty="0"/>
          </a:p>
        </p:txBody>
      </p:sp>
      <p:sp>
        <p:nvSpPr>
          <p:cNvPr id="3" name="Content Placeholder 2"/>
          <p:cNvSpPr>
            <a:spLocks noGrp="1"/>
          </p:cNvSpPr>
          <p:nvPr>
            <p:ph idx="1"/>
          </p:nvPr>
        </p:nvSpPr>
        <p:spPr>
          <a:xfrm>
            <a:off x="1026092" y="1276350"/>
            <a:ext cx="4495800" cy="3200400"/>
          </a:xfrm>
          <a:ln w="22225">
            <a:solidFill>
              <a:srgbClr val="C00000"/>
            </a:solidFill>
          </a:ln>
        </p:spPr>
        <p:txBody>
          <a:bodyPr>
            <a:normAutofit/>
          </a:bodyPr>
          <a:lstStyle/>
          <a:p>
            <a:pPr algn="just">
              <a:buNone/>
            </a:pPr>
            <a:r>
              <a:rPr lang="en-US" sz="1800" dirty="0" smtClean="0"/>
              <a:t>	Both alkanes, alkenes and alkynes are hydrocarbons; containing only carbon and hydrogen atoms as part of their constituent elements. Alkanes are saturated hydrocarbons containing carbon and hydrogen atoms linked to each other by single bonds. Alkenes and alkynes are unsaturated hydrocarbons containing at least one carbon-carbon double bond and a carbon-carbon triple bond respectively. </a:t>
            </a:r>
          </a:p>
        </p:txBody>
      </p:sp>
      <p:pic>
        <p:nvPicPr>
          <p:cNvPr id="16385" name="Picture 1"/>
          <p:cNvPicPr>
            <a:picLocks noChangeAspect="1" noChangeArrowheads="1"/>
          </p:cNvPicPr>
          <p:nvPr/>
        </p:nvPicPr>
        <p:blipFill>
          <a:blip r:embed="rId2">
            <a:duotone>
              <a:prstClr val="black"/>
              <a:schemeClr val="accent3">
                <a:tint val="45000"/>
                <a:satMod val="400000"/>
              </a:schemeClr>
            </a:duotone>
          </a:blip>
          <a:srcRect/>
          <a:stretch>
            <a:fillRect/>
          </a:stretch>
        </p:blipFill>
        <p:spPr bwMode="auto">
          <a:xfrm>
            <a:off x="5544752" y="1657350"/>
            <a:ext cx="3599248" cy="1914525"/>
          </a:xfrm>
          <a:prstGeom prst="rect">
            <a:avLst/>
          </a:prstGeom>
          <a:noFill/>
          <a:ln w="9525">
            <a:noFill/>
            <a:miter lim="800000"/>
            <a:headEnd/>
            <a:tailEnd/>
          </a:ln>
          <a:effectLst/>
        </p:spPr>
      </p:pic>
      <p:grpSp>
        <p:nvGrpSpPr>
          <p:cNvPr id="5" name="Group 4"/>
          <p:cNvGrpSpPr/>
          <p:nvPr/>
        </p:nvGrpSpPr>
        <p:grpSpPr>
          <a:xfrm>
            <a:off x="4506" y="0"/>
            <a:ext cx="914400" cy="5143500"/>
            <a:chOff x="0" y="168206"/>
            <a:chExt cx="914400" cy="6689794"/>
          </a:xfrm>
        </p:grpSpPr>
        <p:sp>
          <p:nvSpPr>
            <p:cNvPr id="6" name="Rectangle 5"/>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8" name="Picture 7" descr="logo"/>
            <p:cNvPicPr>
              <a:picLocks noChangeAspect="1" noChangeArrowheads="1"/>
            </p:cNvPicPr>
            <p:nvPr/>
          </p:nvPicPr>
          <p:blipFill>
            <a:blip r:embed="rId3"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Alicyclic Hydrocarbons</a:t>
            </a:r>
            <a:endParaRPr lang="en-US" dirty="0"/>
          </a:p>
        </p:txBody>
      </p:sp>
      <p:sp>
        <p:nvSpPr>
          <p:cNvPr id="3" name="Content Placeholder 2"/>
          <p:cNvSpPr>
            <a:spLocks noGrp="1"/>
          </p:cNvSpPr>
          <p:nvPr>
            <p:ph idx="1"/>
          </p:nvPr>
        </p:nvSpPr>
        <p:spPr>
          <a:xfrm>
            <a:off x="228600" y="1200150"/>
            <a:ext cx="4038600" cy="3200400"/>
          </a:xfrm>
          <a:ln w="22225">
            <a:solidFill>
              <a:srgbClr val="C00000"/>
            </a:solidFill>
          </a:ln>
        </p:spPr>
        <p:txBody>
          <a:bodyPr>
            <a:normAutofit lnSpcReduction="10000"/>
          </a:bodyPr>
          <a:lstStyle/>
          <a:p>
            <a:pPr algn="just">
              <a:buNone/>
            </a:pPr>
            <a:r>
              <a:rPr lang="en-US" sz="2000" dirty="0" smtClean="0"/>
              <a:t>	In the alicylic hydrocarbons, the carbon atoms are arranged in rings to yield cyclic structures. These compounds are also generally regarded as alicyclic or cyclic hydrocarbons.</a:t>
            </a:r>
          </a:p>
          <a:p>
            <a:pPr algn="just">
              <a:buNone/>
            </a:pPr>
            <a:endParaRPr lang="en-US" sz="2000" dirty="0" smtClean="0"/>
          </a:p>
          <a:p>
            <a:pPr algn="just">
              <a:buNone/>
            </a:pPr>
            <a:r>
              <a:rPr lang="en-US" sz="2000" dirty="0" smtClean="0"/>
              <a:t>	Examples of such families include: cycloalkanes, cycloalkenes and cycloalkynes respectively. </a:t>
            </a:r>
          </a:p>
        </p:txBody>
      </p:sp>
      <p:pic>
        <p:nvPicPr>
          <p:cNvPr id="3074" name="Picture 2"/>
          <p:cNvPicPr>
            <a:picLocks noChangeAspect="1" noChangeArrowheads="1"/>
          </p:cNvPicPr>
          <p:nvPr/>
        </p:nvPicPr>
        <p:blipFill>
          <a:blip r:embed="rId2">
            <a:duotone>
              <a:prstClr val="black"/>
              <a:schemeClr val="accent3">
                <a:tint val="45000"/>
                <a:satMod val="400000"/>
              </a:schemeClr>
            </a:duotone>
          </a:blip>
          <a:srcRect/>
          <a:stretch>
            <a:fillRect/>
          </a:stretch>
        </p:blipFill>
        <p:spPr bwMode="auto">
          <a:xfrm>
            <a:off x="4343400" y="1200150"/>
            <a:ext cx="4505325" cy="1647825"/>
          </a:xfrm>
          <a:prstGeom prst="rect">
            <a:avLst/>
          </a:prstGeom>
          <a:noFill/>
          <a:ln w="9525">
            <a:noFill/>
            <a:miter lim="800000"/>
            <a:headEnd/>
            <a:tailEnd/>
          </a:ln>
          <a:effectLst/>
        </p:spPr>
      </p:pic>
      <p:sp>
        <p:nvSpPr>
          <p:cNvPr id="5" name="Rectangle 4"/>
          <p:cNvSpPr/>
          <p:nvPr/>
        </p:nvSpPr>
        <p:spPr>
          <a:xfrm>
            <a:off x="4343400" y="2876550"/>
            <a:ext cx="4495800" cy="1200329"/>
          </a:xfrm>
          <a:prstGeom prst="rect">
            <a:avLst/>
          </a:prstGeom>
          <a:ln w="22225">
            <a:solidFill>
              <a:srgbClr val="002060"/>
            </a:solidFill>
          </a:ln>
        </p:spPr>
        <p:txBody>
          <a:bodyPr wrap="square">
            <a:spAutoFit/>
          </a:bodyPr>
          <a:lstStyle/>
          <a:p>
            <a:pPr algn="just"/>
            <a:r>
              <a:rPr lang="en-US" dirty="0" smtClean="0"/>
              <a:t>In fact, the hydrocarbons provide a backbone to which various functional groups may be attached to yield an enormous variety of organic compounds.</a:t>
            </a:r>
          </a:p>
        </p:txBody>
      </p:sp>
      <p:pic>
        <p:nvPicPr>
          <p:cNvPr id="7171" name="Picture 3"/>
          <p:cNvPicPr>
            <a:picLocks noChangeAspect="1" noChangeArrowheads="1"/>
          </p:cNvPicPr>
          <p:nvPr/>
        </p:nvPicPr>
        <p:blipFill>
          <a:blip r:embed="rId3">
            <a:duotone>
              <a:prstClr val="black"/>
              <a:schemeClr val="accent3">
                <a:tint val="45000"/>
                <a:satMod val="400000"/>
              </a:schemeClr>
            </a:duotone>
          </a:blip>
          <a:srcRect/>
          <a:stretch>
            <a:fillRect/>
          </a:stretch>
        </p:blipFill>
        <p:spPr bwMode="auto">
          <a:xfrm>
            <a:off x="4876800" y="4095750"/>
            <a:ext cx="3352800" cy="80604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Hybridization of Alkanes, Alkenes and Alkynes</a:t>
            </a:r>
            <a:endParaRPr lang="en-US" dirty="0"/>
          </a:p>
        </p:txBody>
      </p:sp>
      <p:sp>
        <p:nvSpPr>
          <p:cNvPr id="3" name="Content Placeholder 2"/>
          <p:cNvSpPr>
            <a:spLocks noGrp="1"/>
          </p:cNvSpPr>
          <p:nvPr>
            <p:ph idx="1"/>
          </p:nvPr>
        </p:nvSpPr>
        <p:spPr>
          <a:xfrm>
            <a:off x="685800" y="1200150"/>
            <a:ext cx="3429000" cy="1295400"/>
          </a:xfrm>
          <a:ln w="22225">
            <a:solidFill>
              <a:srgbClr val="C00000"/>
            </a:solidFill>
          </a:ln>
        </p:spPr>
        <p:txBody>
          <a:bodyPr>
            <a:noAutofit/>
          </a:bodyPr>
          <a:lstStyle/>
          <a:p>
            <a:pPr algn="just">
              <a:lnSpc>
                <a:spcPct val="170000"/>
              </a:lnSpc>
              <a:buFont typeface="Wingdings" pitchFamily="2" charset="2"/>
              <a:buChar char="ü"/>
            </a:pPr>
            <a:r>
              <a:rPr lang="en-US" sz="1400" b="1" dirty="0" smtClean="0">
                <a:solidFill>
                  <a:srgbClr val="002060"/>
                </a:solidFill>
              </a:rPr>
              <a:t>Alkanes→  Sp3 hybridized orbital </a:t>
            </a:r>
          </a:p>
          <a:p>
            <a:pPr algn="just">
              <a:lnSpc>
                <a:spcPct val="170000"/>
              </a:lnSpc>
              <a:buFont typeface="Wingdings" pitchFamily="2" charset="2"/>
              <a:buChar char="ü"/>
            </a:pPr>
            <a:r>
              <a:rPr lang="en-US" sz="1400" b="1" dirty="0" smtClean="0">
                <a:solidFill>
                  <a:srgbClr val="002060"/>
                </a:solidFill>
              </a:rPr>
              <a:t>Alkenes → sp2 hybridized orbital</a:t>
            </a:r>
          </a:p>
          <a:p>
            <a:pPr algn="just">
              <a:lnSpc>
                <a:spcPct val="170000"/>
              </a:lnSpc>
              <a:buFont typeface="Wingdings" pitchFamily="2" charset="2"/>
              <a:buChar char="ü"/>
            </a:pPr>
            <a:r>
              <a:rPr lang="en-US" sz="1400" b="1" dirty="0" smtClean="0">
                <a:solidFill>
                  <a:srgbClr val="002060"/>
                </a:solidFill>
              </a:rPr>
              <a:t>Alkynes →    sp hybridized orbital</a:t>
            </a:r>
            <a:endParaRPr lang="en-US" sz="1400" b="1" dirty="0">
              <a:solidFill>
                <a:srgbClr val="002060"/>
              </a:solidFill>
            </a:endParaRPr>
          </a:p>
        </p:txBody>
      </p:sp>
      <p:pic>
        <p:nvPicPr>
          <p:cNvPr id="46081" name="Picture 1"/>
          <p:cNvPicPr>
            <a:picLocks noChangeAspect="1" noChangeArrowheads="1"/>
          </p:cNvPicPr>
          <p:nvPr/>
        </p:nvPicPr>
        <p:blipFill>
          <a:blip r:embed="rId2"/>
          <a:srcRect/>
          <a:stretch>
            <a:fillRect/>
          </a:stretch>
        </p:blipFill>
        <p:spPr bwMode="auto">
          <a:xfrm>
            <a:off x="5943600" y="1123950"/>
            <a:ext cx="1600200" cy="1491000"/>
          </a:xfrm>
          <a:prstGeom prst="rect">
            <a:avLst/>
          </a:prstGeom>
          <a:noFill/>
          <a:ln w="9525">
            <a:noFill/>
            <a:miter lim="800000"/>
            <a:headEnd/>
            <a:tailEnd/>
          </a:ln>
          <a:effectLst/>
        </p:spPr>
      </p:pic>
      <p:pic>
        <p:nvPicPr>
          <p:cNvPr id="46082" name="Picture 2"/>
          <p:cNvPicPr>
            <a:picLocks noChangeAspect="1" noChangeArrowheads="1"/>
          </p:cNvPicPr>
          <p:nvPr/>
        </p:nvPicPr>
        <p:blipFill>
          <a:blip r:embed="rId3"/>
          <a:srcRect/>
          <a:stretch>
            <a:fillRect/>
          </a:stretch>
        </p:blipFill>
        <p:spPr bwMode="auto">
          <a:xfrm>
            <a:off x="7441802" y="2190750"/>
            <a:ext cx="1702198" cy="1455767"/>
          </a:xfrm>
          <a:prstGeom prst="rect">
            <a:avLst/>
          </a:prstGeom>
          <a:noFill/>
          <a:ln w="9525">
            <a:noFill/>
            <a:miter lim="800000"/>
            <a:headEnd/>
            <a:tailEnd/>
          </a:ln>
          <a:effectLst/>
        </p:spPr>
      </p:pic>
      <p:pic>
        <p:nvPicPr>
          <p:cNvPr id="46083" name="Picture 3"/>
          <p:cNvPicPr>
            <a:picLocks noChangeAspect="1" noChangeArrowheads="1"/>
          </p:cNvPicPr>
          <p:nvPr/>
        </p:nvPicPr>
        <p:blipFill>
          <a:blip r:embed="rId4"/>
          <a:srcRect/>
          <a:stretch>
            <a:fillRect/>
          </a:stretch>
        </p:blipFill>
        <p:spPr bwMode="auto">
          <a:xfrm>
            <a:off x="5958351" y="3662362"/>
            <a:ext cx="2042649" cy="1423988"/>
          </a:xfrm>
          <a:prstGeom prst="rect">
            <a:avLst/>
          </a:prstGeom>
          <a:noFill/>
          <a:ln w="9525">
            <a:noFill/>
            <a:miter lim="800000"/>
            <a:headEnd/>
            <a:tailEnd/>
          </a:ln>
          <a:effectLst/>
        </p:spPr>
      </p:pic>
      <p:pic>
        <p:nvPicPr>
          <p:cNvPr id="5" name="Picture 1"/>
          <p:cNvPicPr>
            <a:picLocks noChangeAspect="1" noChangeArrowheads="1"/>
          </p:cNvPicPr>
          <p:nvPr/>
        </p:nvPicPr>
        <p:blipFill>
          <a:blip r:embed="rId5"/>
          <a:srcRect/>
          <a:stretch>
            <a:fillRect/>
          </a:stretch>
        </p:blipFill>
        <p:spPr bwMode="auto">
          <a:xfrm>
            <a:off x="457200" y="2495550"/>
            <a:ext cx="5410200" cy="26003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w="15875">
            <a:solidFill>
              <a:srgbClr val="C00000"/>
            </a:solidFill>
          </a:ln>
        </p:spPr>
        <p:txBody>
          <a:bodyPr/>
          <a:lstStyle/>
          <a:p>
            <a:r>
              <a:rPr lang="en-US" altLang="en-US" b="1" dirty="0" smtClean="0"/>
              <a:t>Alkanes</a:t>
            </a:r>
            <a:endParaRPr lang="en-US" dirty="0"/>
          </a:p>
        </p:txBody>
      </p:sp>
      <p:pic>
        <p:nvPicPr>
          <p:cNvPr id="4098" name="Picture 2"/>
          <p:cNvPicPr>
            <a:picLocks noChangeAspect="1" noChangeArrowheads="1"/>
          </p:cNvPicPr>
          <p:nvPr/>
        </p:nvPicPr>
        <p:blipFill>
          <a:blip r:embed="rId2">
            <a:duotone>
              <a:prstClr val="black"/>
              <a:schemeClr val="accent6">
                <a:tint val="45000"/>
                <a:satMod val="400000"/>
              </a:schemeClr>
            </a:duotone>
          </a:blip>
          <a:srcRect/>
          <a:stretch>
            <a:fillRect/>
          </a:stretch>
        </p:blipFill>
        <p:spPr bwMode="auto">
          <a:xfrm>
            <a:off x="4572000" y="1352550"/>
            <a:ext cx="4572000" cy="3505200"/>
          </a:xfrm>
          <a:prstGeom prst="rect">
            <a:avLst/>
          </a:prstGeom>
          <a:noFill/>
          <a:ln w="9525">
            <a:noFill/>
            <a:miter lim="800000"/>
            <a:headEnd/>
            <a:tailEnd/>
          </a:ln>
          <a:effectLst/>
        </p:spPr>
      </p:pic>
      <p:sp>
        <p:nvSpPr>
          <p:cNvPr id="6" name="Content Placeholder 2"/>
          <p:cNvSpPr txBox="1">
            <a:spLocks/>
          </p:cNvSpPr>
          <p:nvPr/>
        </p:nvSpPr>
        <p:spPr>
          <a:xfrm>
            <a:off x="457200" y="1352550"/>
            <a:ext cx="4114800" cy="3505200"/>
          </a:xfrm>
          <a:prstGeom prst="rect">
            <a:avLst/>
          </a:prstGeom>
          <a:noFill/>
          <a:ln w="28575">
            <a:solidFill>
              <a:srgbClr val="C00000"/>
            </a:solidFill>
          </a:ln>
        </p:spPr>
        <p:txBody>
          <a:bodyPr vert="horz" lIns="91440" tIns="45720" rIns="91440" bIns="45720" rtlCol="0">
            <a:noAutofit/>
          </a:bodyPr>
          <a:lstStyle/>
          <a:p>
            <a:pPr marL="514350" marR="0" lvl="0" indent="-51435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smtClean="0">
                <a:ln>
                  <a:noFill/>
                </a:ln>
                <a:solidFill>
                  <a:schemeClr val="tx1"/>
                </a:solidFill>
                <a:effectLst/>
                <a:uLnTx/>
                <a:uFillTx/>
                <a:latin typeface="+mn-lt"/>
                <a:ea typeface="+mn-ea"/>
                <a:cs typeface="+mn-cs"/>
              </a:rPr>
              <a:t>	</a:t>
            </a:r>
            <a:r>
              <a:rPr kumimoji="0" lang="en-US" b="1" i="0" u="none" strike="noStrike" kern="1200" cap="none" spc="0" normalizeH="0" baseline="0" noProof="0" dirty="0" smtClean="0">
                <a:ln>
                  <a:noFill/>
                </a:ln>
                <a:solidFill>
                  <a:schemeClr val="tx1"/>
                </a:solidFill>
                <a:effectLst/>
                <a:uLnTx/>
                <a:uFillTx/>
                <a:latin typeface="+mn-lt"/>
                <a:ea typeface="+mn-ea"/>
                <a:cs typeface="+mn-cs"/>
              </a:rPr>
              <a:t>Definition: </a:t>
            </a:r>
            <a:r>
              <a:rPr kumimoji="0" lang="en-US" b="0" i="0" u="none" strike="noStrike" kern="1200" cap="none" spc="0" normalizeH="0" baseline="0" noProof="0" dirty="0" smtClean="0">
                <a:ln>
                  <a:noFill/>
                </a:ln>
                <a:solidFill>
                  <a:schemeClr val="tx1"/>
                </a:solidFill>
                <a:effectLst/>
                <a:uLnTx/>
                <a:uFillTx/>
                <a:latin typeface="+mn-lt"/>
                <a:ea typeface="+mn-ea"/>
                <a:cs typeface="+mn-cs"/>
              </a:rPr>
              <a:t>Alkanes (paraffins) are saturated aliphatic hydrocarbons with general formula, C</a:t>
            </a:r>
            <a:r>
              <a:rPr kumimoji="0" lang="en-US" b="0" i="0" u="none" strike="noStrike" kern="1200" cap="none" spc="0" normalizeH="0" baseline="-25000" noProof="0" dirty="0" smtClean="0">
                <a:ln>
                  <a:noFill/>
                </a:ln>
                <a:solidFill>
                  <a:schemeClr val="tx1"/>
                </a:solidFill>
                <a:effectLst/>
                <a:uLnTx/>
                <a:uFillTx/>
                <a:latin typeface="+mn-lt"/>
                <a:ea typeface="+mn-ea"/>
                <a:cs typeface="+mn-cs"/>
              </a:rPr>
              <a:t>n</a:t>
            </a:r>
            <a:r>
              <a:rPr kumimoji="0" lang="en-US" b="0" i="0" u="none" strike="noStrike" kern="1200" cap="none" spc="0" normalizeH="0" baseline="0" noProof="0" dirty="0" smtClean="0">
                <a:ln>
                  <a:noFill/>
                </a:ln>
                <a:solidFill>
                  <a:schemeClr val="tx1"/>
                </a:solidFill>
                <a:effectLst/>
                <a:uLnTx/>
                <a:uFillTx/>
                <a:latin typeface="+mn-lt"/>
                <a:ea typeface="+mn-ea"/>
                <a:cs typeface="+mn-cs"/>
              </a:rPr>
              <a:t>H</a:t>
            </a:r>
            <a:r>
              <a:rPr kumimoji="0" lang="en-US" b="0" i="0" u="none" strike="noStrike" kern="1200" cap="none" spc="0" normalizeH="0" baseline="-25000" noProof="0" dirty="0" smtClean="0">
                <a:ln>
                  <a:noFill/>
                </a:ln>
                <a:solidFill>
                  <a:schemeClr val="tx1"/>
                </a:solidFill>
                <a:effectLst/>
                <a:uLnTx/>
                <a:uFillTx/>
                <a:latin typeface="+mn-lt"/>
                <a:ea typeface="+mn-ea"/>
                <a:cs typeface="+mn-cs"/>
              </a:rPr>
              <a:t>2n+2 </a:t>
            </a:r>
            <a:r>
              <a:rPr kumimoji="0" lang="en-US" b="0" i="0" u="none" strike="noStrike" kern="1200" cap="none" spc="0" normalizeH="0" baseline="0" noProof="0" dirty="0" smtClean="0">
                <a:ln>
                  <a:noFill/>
                </a:ln>
                <a:solidFill>
                  <a:schemeClr val="tx1"/>
                </a:solidFill>
                <a:effectLst/>
                <a:uLnTx/>
                <a:uFillTx/>
                <a:latin typeface="+mn-lt"/>
                <a:ea typeface="+mn-ea"/>
                <a:cs typeface="+mn-cs"/>
              </a:rPr>
              <a:t>(where n represents the number of carbon atoms present). </a:t>
            </a:r>
          </a:p>
          <a:p>
            <a:pPr marL="514350" marR="0" lvl="0" indent="-51435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smtClean="0">
                <a:ln>
                  <a:noFill/>
                </a:ln>
                <a:solidFill>
                  <a:schemeClr val="tx1"/>
                </a:solidFill>
                <a:effectLst/>
                <a:uLnTx/>
                <a:uFillTx/>
                <a:latin typeface="+mn-lt"/>
                <a:ea typeface="+mn-ea"/>
                <a:cs typeface="+mn-cs"/>
              </a:rPr>
              <a:t>	They contain no multiple bond within their chemical structures. </a:t>
            </a:r>
          </a:p>
          <a:p>
            <a:pPr marL="514350" marR="0" lvl="0" indent="-51435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smtClean="0">
                <a:ln>
                  <a:noFill/>
                </a:ln>
                <a:solidFill>
                  <a:schemeClr val="tx1"/>
                </a:solidFill>
                <a:effectLst/>
                <a:uLnTx/>
                <a:uFillTx/>
                <a:latin typeface="+mn-lt"/>
                <a:ea typeface="+mn-ea"/>
                <a:cs typeface="+mn-cs"/>
              </a:rPr>
              <a:t>	Hence, alkanes are hydrocarbons that contain only carbon-carbon single bond with the rest of the valences being satisfied by hydrogen atoms. </a:t>
            </a:r>
          </a:p>
          <a:p>
            <a:pPr marL="514350" marR="0" lvl="0" indent="-51435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Nomenclature of Alkanes</a:t>
            </a:r>
            <a:endParaRPr lang="en-US" dirty="0"/>
          </a:p>
        </p:txBody>
      </p:sp>
      <p:pic>
        <p:nvPicPr>
          <p:cNvPr id="1026" name="Picture 2"/>
          <p:cNvPicPr>
            <a:picLocks noChangeAspect="1" noChangeArrowheads="1"/>
          </p:cNvPicPr>
          <p:nvPr/>
        </p:nvPicPr>
        <p:blipFill>
          <a:blip r:embed="rId2">
            <a:duotone>
              <a:prstClr val="black"/>
              <a:srgbClr val="D9C3A5">
                <a:tint val="50000"/>
                <a:satMod val="180000"/>
              </a:srgbClr>
            </a:duotone>
          </a:blip>
          <a:srcRect/>
          <a:stretch>
            <a:fillRect/>
          </a:stretch>
        </p:blipFill>
        <p:spPr bwMode="auto">
          <a:xfrm>
            <a:off x="1237968" y="1565910"/>
            <a:ext cx="7448832" cy="3124200"/>
          </a:xfrm>
          <a:prstGeom prst="rect">
            <a:avLst/>
          </a:prstGeom>
          <a:noFill/>
          <a:ln w="9525">
            <a:noFill/>
            <a:miter lim="800000"/>
            <a:headEnd/>
            <a:tailEnd/>
          </a:ln>
          <a:effectLst/>
        </p:spPr>
      </p:pic>
      <p:pic>
        <p:nvPicPr>
          <p:cNvPr id="44033" name="Picture 1"/>
          <p:cNvPicPr>
            <a:picLocks noChangeAspect="1" noChangeArrowheads="1"/>
          </p:cNvPicPr>
          <p:nvPr/>
        </p:nvPicPr>
        <p:blipFill>
          <a:blip r:embed="rId3"/>
          <a:srcRect/>
          <a:stretch>
            <a:fillRect/>
          </a:stretch>
        </p:blipFill>
        <p:spPr bwMode="auto">
          <a:xfrm>
            <a:off x="762000" y="1123950"/>
            <a:ext cx="7391400" cy="476250"/>
          </a:xfrm>
          <a:prstGeom prst="rect">
            <a:avLst/>
          </a:prstGeom>
          <a:noFill/>
          <a:ln w="9525">
            <a:noFill/>
            <a:miter lim="800000"/>
            <a:headEnd/>
            <a:tailEnd/>
          </a:ln>
          <a:effectLst/>
        </p:spPr>
      </p:pic>
      <p:grpSp>
        <p:nvGrpSpPr>
          <p:cNvPr id="5" name="Group 4"/>
          <p:cNvGrpSpPr/>
          <p:nvPr/>
        </p:nvGrpSpPr>
        <p:grpSpPr>
          <a:xfrm>
            <a:off x="4506" y="0"/>
            <a:ext cx="914400" cy="5143500"/>
            <a:chOff x="0" y="168206"/>
            <a:chExt cx="914400" cy="6689794"/>
          </a:xfrm>
        </p:grpSpPr>
        <p:sp>
          <p:nvSpPr>
            <p:cNvPr id="6" name="Rectangle 5"/>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8" name="Picture 7" descr="logo"/>
            <p:cNvPicPr>
              <a:picLocks noChangeAspect="1" noChangeArrowheads="1"/>
            </p:cNvPicPr>
            <p:nvPr/>
          </p:nvPicPr>
          <p:blipFill>
            <a:blip r:embed="rId4"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05979"/>
            <a:ext cx="8001000" cy="857250"/>
          </a:xfrm>
          <a:ln w="31750">
            <a:solidFill>
              <a:srgbClr val="002060"/>
            </a:solidFill>
          </a:ln>
        </p:spPr>
        <p:txBody>
          <a:bodyPr/>
          <a:lstStyle/>
          <a:p>
            <a:r>
              <a:rPr lang="en-US" dirty="0" smtClean="0"/>
              <a:t>Isomerism</a:t>
            </a:r>
            <a:endParaRPr lang="en-US" dirty="0"/>
          </a:p>
        </p:txBody>
      </p:sp>
      <p:sp>
        <p:nvSpPr>
          <p:cNvPr id="3" name="Content Placeholder 2"/>
          <p:cNvSpPr>
            <a:spLocks noGrp="1"/>
          </p:cNvSpPr>
          <p:nvPr>
            <p:ph idx="1"/>
          </p:nvPr>
        </p:nvSpPr>
        <p:spPr>
          <a:xfrm>
            <a:off x="914400" y="1123950"/>
            <a:ext cx="4495800" cy="2362200"/>
          </a:xfrm>
          <a:ln w="15875">
            <a:solidFill>
              <a:srgbClr val="C00000"/>
            </a:solidFill>
          </a:ln>
        </p:spPr>
        <p:txBody>
          <a:bodyPr>
            <a:noAutofit/>
          </a:bodyPr>
          <a:lstStyle/>
          <a:p>
            <a:pPr algn="just"/>
            <a:r>
              <a:rPr lang="en-US" sz="1400" dirty="0" smtClean="0">
                <a:solidFill>
                  <a:srgbClr val="002060"/>
                </a:solidFill>
              </a:rPr>
              <a:t>Isomers are defined as compounds with molecular formula but different structural formulae.  That is to say, isomers have same numbers and kinds of atoms but differ in the way atoms are arranged (spatial arrangements of atoms) in the respective isomers/molecules. Even though, isomers have the same molecular formula, they are still different compounds with different properties. </a:t>
            </a:r>
          </a:p>
          <a:p>
            <a:pPr algn="just"/>
            <a:r>
              <a:rPr lang="en-US" sz="1400" dirty="0" smtClean="0">
                <a:solidFill>
                  <a:srgbClr val="002060"/>
                </a:solidFill>
              </a:rPr>
              <a:t>Butane has 2 isomers, pentane has 3 isomers, hexane has 5, and heptane has 9 isomers etc.</a:t>
            </a:r>
          </a:p>
          <a:p>
            <a:pPr algn="just"/>
            <a:endParaRPr lang="en-US" sz="1400" dirty="0" smtClean="0">
              <a:solidFill>
                <a:srgbClr val="002060"/>
              </a:solidFill>
            </a:endParaRPr>
          </a:p>
          <a:p>
            <a:pPr algn="just">
              <a:buNone/>
            </a:pPr>
            <a:endParaRPr lang="en-US" sz="1400" dirty="0">
              <a:solidFill>
                <a:srgbClr val="002060"/>
              </a:solidFill>
            </a:endParaRPr>
          </a:p>
        </p:txBody>
      </p:sp>
      <p:pic>
        <p:nvPicPr>
          <p:cNvPr id="6147" name="Picture 3"/>
          <p:cNvPicPr>
            <a:picLocks noChangeAspect="1" noChangeArrowheads="1"/>
          </p:cNvPicPr>
          <p:nvPr/>
        </p:nvPicPr>
        <p:blipFill>
          <a:blip r:embed="rId2">
            <a:duotone>
              <a:prstClr val="black"/>
              <a:schemeClr val="accent3">
                <a:tint val="45000"/>
                <a:satMod val="400000"/>
              </a:schemeClr>
            </a:duotone>
          </a:blip>
          <a:srcRect/>
          <a:stretch>
            <a:fillRect/>
          </a:stretch>
        </p:blipFill>
        <p:spPr bwMode="auto">
          <a:xfrm>
            <a:off x="5715000" y="1123950"/>
            <a:ext cx="2971800" cy="2573791"/>
          </a:xfrm>
          <a:prstGeom prst="rect">
            <a:avLst/>
          </a:prstGeom>
          <a:noFill/>
          <a:ln w="9525">
            <a:noFill/>
            <a:miter lim="800000"/>
            <a:headEnd/>
            <a:tailEnd/>
          </a:ln>
          <a:effectLst/>
        </p:spPr>
      </p:pic>
      <p:sp>
        <p:nvSpPr>
          <p:cNvPr id="5" name="TextBox 4"/>
          <p:cNvSpPr txBox="1"/>
          <p:nvPr/>
        </p:nvSpPr>
        <p:spPr>
          <a:xfrm>
            <a:off x="6934200" y="1657350"/>
            <a:ext cx="1853392" cy="369332"/>
          </a:xfrm>
          <a:prstGeom prst="rect">
            <a:avLst/>
          </a:prstGeom>
          <a:noFill/>
        </p:spPr>
        <p:txBody>
          <a:bodyPr wrap="none" rtlCol="0">
            <a:spAutoFit/>
          </a:bodyPr>
          <a:lstStyle/>
          <a:p>
            <a:r>
              <a:rPr lang="en-US" sz="1100" dirty="0" smtClean="0"/>
              <a:t>Molecular formula:  </a:t>
            </a:r>
            <a:r>
              <a:rPr lang="en-US" dirty="0" smtClean="0"/>
              <a:t>C</a:t>
            </a:r>
            <a:r>
              <a:rPr lang="en-US" baseline="-25000" dirty="0" smtClean="0"/>
              <a:t>4</a:t>
            </a:r>
            <a:r>
              <a:rPr lang="en-US" dirty="0" smtClean="0"/>
              <a:t>H</a:t>
            </a:r>
            <a:r>
              <a:rPr lang="en-US" baseline="-25000" dirty="0" smtClean="0"/>
              <a:t>10</a:t>
            </a:r>
            <a:endParaRPr lang="en-US" baseline="-25000" dirty="0"/>
          </a:p>
        </p:txBody>
      </p:sp>
      <p:sp>
        <p:nvSpPr>
          <p:cNvPr id="6" name="TextBox 5"/>
          <p:cNvSpPr txBox="1"/>
          <p:nvPr/>
        </p:nvSpPr>
        <p:spPr>
          <a:xfrm>
            <a:off x="7017868" y="3076575"/>
            <a:ext cx="1821332" cy="369332"/>
          </a:xfrm>
          <a:prstGeom prst="rect">
            <a:avLst/>
          </a:prstGeom>
          <a:noFill/>
        </p:spPr>
        <p:txBody>
          <a:bodyPr wrap="none" rtlCol="0">
            <a:spAutoFit/>
          </a:bodyPr>
          <a:lstStyle/>
          <a:p>
            <a:r>
              <a:rPr lang="en-US" sz="1100" dirty="0" smtClean="0"/>
              <a:t>Molecular formula: </a:t>
            </a:r>
            <a:r>
              <a:rPr lang="en-US" dirty="0" smtClean="0"/>
              <a:t>C</a:t>
            </a:r>
            <a:r>
              <a:rPr lang="en-US" baseline="-25000" dirty="0" smtClean="0"/>
              <a:t>4</a:t>
            </a:r>
            <a:r>
              <a:rPr lang="en-US" dirty="0" smtClean="0"/>
              <a:t>H</a:t>
            </a:r>
            <a:r>
              <a:rPr lang="en-US" baseline="-25000" dirty="0" smtClean="0"/>
              <a:t>10</a:t>
            </a:r>
            <a:endParaRPr lang="en-US" baseline="-25000" dirty="0"/>
          </a:p>
        </p:txBody>
      </p:sp>
      <p:sp>
        <p:nvSpPr>
          <p:cNvPr id="7" name="Rectangle 6"/>
          <p:cNvSpPr/>
          <p:nvPr/>
        </p:nvSpPr>
        <p:spPr>
          <a:xfrm>
            <a:off x="914400" y="3638550"/>
            <a:ext cx="4495800" cy="1354217"/>
          </a:xfrm>
          <a:prstGeom prst="rect">
            <a:avLst/>
          </a:prstGeom>
          <a:ln w="22225">
            <a:solidFill>
              <a:srgbClr val="002060"/>
            </a:solidFill>
          </a:ln>
        </p:spPr>
        <p:txBody>
          <a:bodyPr wrap="square">
            <a:spAutoFit/>
          </a:bodyPr>
          <a:lstStyle/>
          <a:p>
            <a:r>
              <a:rPr lang="en-US" sz="1600" b="1" dirty="0" smtClean="0"/>
              <a:t>Isomers</a:t>
            </a:r>
          </a:p>
          <a:p>
            <a:pPr>
              <a:buFont typeface="Arial" pitchFamily="34" charset="0"/>
              <a:buChar char="•"/>
            </a:pPr>
            <a:r>
              <a:rPr lang="en-US" sz="1600" dirty="0" smtClean="0"/>
              <a:t>Same molecular formula</a:t>
            </a:r>
          </a:p>
          <a:p>
            <a:pPr>
              <a:buFont typeface="Arial" pitchFamily="34" charset="0"/>
              <a:buChar char="•"/>
            </a:pPr>
            <a:r>
              <a:rPr lang="en-US" sz="1600" dirty="0" smtClean="0"/>
              <a:t>Different Structural formulae </a:t>
            </a:r>
          </a:p>
          <a:p>
            <a:pPr>
              <a:buFont typeface="Arial" pitchFamily="34" charset="0"/>
              <a:buChar char="•"/>
            </a:pPr>
            <a:r>
              <a:rPr lang="en-US" sz="1600" dirty="0" smtClean="0"/>
              <a:t>Different properties and thus</a:t>
            </a:r>
          </a:p>
          <a:p>
            <a:pPr>
              <a:buFont typeface="Arial" pitchFamily="34" charset="0"/>
              <a:buChar char="•"/>
            </a:pPr>
            <a:r>
              <a:rPr lang="en-US" sz="1600" dirty="0" smtClean="0"/>
              <a:t>Different compounds</a:t>
            </a:r>
          </a:p>
        </p:txBody>
      </p:sp>
      <p:sp>
        <p:nvSpPr>
          <p:cNvPr id="8" name="Rectangle 7"/>
          <p:cNvSpPr/>
          <p:nvPr/>
        </p:nvSpPr>
        <p:spPr>
          <a:xfrm>
            <a:off x="5486400" y="3638550"/>
            <a:ext cx="3352800" cy="1323439"/>
          </a:xfrm>
          <a:prstGeom prst="rect">
            <a:avLst/>
          </a:prstGeom>
          <a:ln w="31750">
            <a:solidFill>
              <a:srgbClr val="C00000"/>
            </a:solidFill>
          </a:ln>
        </p:spPr>
        <p:txBody>
          <a:bodyPr wrap="square">
            <a:spAutoFit/>
          </a:bodyPr>
          <a:lstStyle/>
          <a:p>
            <a:pPr algn="just"/>
            <a:r>
              <a:rPr lang="en-US" sz="1600" dirty="0" smtClean="0"/>
              <a:t>For example, butane and isobutane are different compounds with different properties. They differ in both boiling points (Bp) and melting points (Mp) temperatures.</a:t>
            </a:r>
            <a:endParaRPr lang="en-US" sz="1600" dirty="0"/>
          </a:p>
        </p:txBody>
      </p:sp>
      <p:grpSp>
        <p:nvGrpSpPr>
          <p:cNvPr id="9" name="Group 8"/>
          <p:cNvGrpSpPr/>
          <p:nvPr/>
        </p:nvGrpSpPr>
        <p:grpSpPr>
          <a:xfrm>
            <a:off x="4506" y="0"/>
            <a:ext cx="914400" cy="5143500"/>
            <a:chOff x="0" y="168206"/>
            <a:chExt cx="914400" cy="6689794"/>
          </a:xfrm>
        </p:grpSpPr>
        <p:sp>
          <p:nvSpPr>
            <p:cNvPr id="10" name="Rectangle 9"/>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2" name="Picture 7" descr="logo"/>
            <p:cNvPicPr>
              <a:picLocks noChangeAspect="1" noChangeArrowheads="1"/>
            </p:cNvPicPr>
            <p:nvPr/>
          </p:nvPicPr>
          <p:blipFill>
            <a:blip r:embed="rId3"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Isomerisation </a:t>
            </a:r>
            <a:endParaRPr lang="en-US" dirty="0"/>
          </a:p>
        </p:txBody>
      </p:sp>
      <p:sp>
        <p:nvSpPr>
          <p:cNvPr id="3" name="Content Placeholder 2"/>
          <p:cNvSpPr>
            <a:spLocks noGrp="1"/>
          </p:cNvSpPr>
          <p:nvPr>
            <p:ph idx="1"/>
          </p:nvPr>
        </p:nvSpPr>
        <p:spPr>
          <a:xfrm>
            <a:off x="812525" y="1179314"/>
            <a:ext cx="4724400" cy="3394472"/>
          </a:xfrm>
          <a:ln w="25400">
            <a:solidFill>
              <a:srgbClr val="C00000"/>
            </a:solidFill>
          </a:ln>
        </p:spPr>
        <p:txBody>
          <a:bodyPr>
            <a:normAutofit fontScale="85000" lnSpcReduction="20000"/>
          </a:bodyPr>
          <a:lstStyle/>
          <a:p>
            <a:pPr algn="just"/>
            <a:r>
              <a:rPr lang="en-US" sz="2000" dirty="0" smtClean="0"/>
              <a:t>The molecular rearrangement of one compound into another compound or into more than one compound is called isomerisation. The straight chain alkanes are converted into branched chain isomers in the presence of aluminium chloride and hydrogen chloride.</a:t>
            </a:r>
          </a:p>
          <a:p>
            <a:pPr algn="just"/>
            <a:r>
              <a:rPr lang="en-US" sz="2000" dirty="0" smtClean="0"/>
              <a:t>Similarly, other less branched alkanes isomerise to more branched ones.</a:t>
            </a:r>
          </a:p>
          <a:p>
            <a:pPr algn="just"/>
            <a:endParaRPr lang="en-US" sz="2000" dirty="0" smtClean="0"/>
          </a:p>
          <a:p>
            <a:pPr algn="just"/>
            <a:r>
              <a:rPr lang="en-US" sz="2000" dirty="0" smtClean="0"/>
              <a:t>Isomerization is used to increase the branched chain content of lower alkanes produced by cracking; you have studied in subsec 2.2.4 that branched chain alkanes are more valuable than straight chain alkanes as motor fuel.</a:t>
            </a:r>
          </a:p>
          <a:p>
            <a:pPr algn="just"/>
            <a:endParaRPr lang="en-US" sz="2000" dirty="0"/>
          </a:p>
        </p:txBody>
      </p:sp>
      <p:pic>
        <p:nvPicPr>
          <p:cNvPr id="24578" name="Picture 2"/>
          <p:cNvPicPr>
            <a:picLocks noChangeAspect="1" noChangeArrowheads="1"/>
          </p:cNvPicPr>
          <p:nvPr/>
        </p:nvPicPr>
        <p:blipFill>
          <a:blip r:embed="rId2">
            <a:duotone>
              <a:prstClr val="black"/>
              <a:schemeClr val="accent3">
                <a:tint val="45000"/>
                <a:satMod val="400000"/>
              </a:schemeClr>
            </a:duotone>
          </a:blip>
          <a:srcRect/>
          <a:stretch>
            <a:fillRect/>
          </a:stretch>
        </p:blipFill>
        <p:spPr bwMode="auto">
          <a:xfrm>
            <a:off x="5536925" y="1276349"/>
            <a:ext cx="3607075" cy="990599"/>
          </a:xfrm>
          <a:prstGeom prst="rect">
            <a:avLst/>
          </a:prstGeom>
          <a:noFill/>
          <a:ln w="9525">
            <a:noFill/>
            <a:miter lim="800000"/>
            <a:headEnd/>
            <a:tailEnd/>
          </a:ln>
          <a:effectLst/>
        </p:spPr>
      </p:pic>
      <p:pic>
        <p:nvPicPr>
          <p:cNvPr id="5" name="Picture 2"/>
          <p:cNvPicPr>
            <a:picLocks noChangeAspect="1" noChangeArrowheads="1"/>
          </p:cNvPicPr>
          <p:nvPr/>
        </p:nvPicPr>
        <p:blipFill>
          <a:blip r:embed="rId3">
            <a:duotone>
              <a:prstClr val="black"/>
              <a:schemeClr val="accent3">
                <a:tint val="45000"/>
                <a:satMod val="400000"/>
              </a:schemeClr>
            </a:duotone>
          </a:blip>
          <a:srcRect/>
          <a:stretch>
            <a:fillRect/>
          </a:stretch>
        </p:blipFill>
        <p:spPr bwMode="auto">
          <a:xfrm>
            <a:off x="5536925" y="2876550"/>
            <a:ext cx="3607075" cy="1183571"/>
          </a:xfrm>
          <a:prstGeom prst="rect">
            <a:avLst/>
          </a:prstGeom>
          <a:noFill/>
          <a:ln w="9525">
            <a:noFill/>
            <a:miter lim="800000"/>
            <a:headEnd/>
            <a:tailEnd/>
          </a:ln>
          <a:effectLst/>
        </p:spPr>
      </p:pic>
      <p:grpSp>
        <p:nvGrpSpPr>
          <p:cNvPr id="6" name="Group 5"/>
          <p:cNvGrpSpPr/>
          <p:nvPr/>
        </p:nvGrpSpPr>
        <p:grpSpPr>
          <a:xfrm>
            <a:off x="4506" y="0"/>
            <a:ext cx="808019" cy="5143500"/>
            <a:chOff x="0" y="168206"/>
            <a:chExt cx="914400" cy="6689794"/>
          </a:xfrm>
        </p:grpSpPr>
        <p:sp>
          <p:nvSpPr>
            <p:cNvPr id="7" name="Rectangle 6"/>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9" name="Picture 7" descr="logo"/>
            <p:cNvPicPr>
              <a:picLocks noChangeAspect="1" noChangeArrowheads="1"/>
            </p:cNvPicPr>
            <p:nvPr/>
          </p:nvPicPr>
          <p:blipFill>
            <a:blip r:embed="rId4"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Classes of Carbon and Hydrogen Atoms</a:t>
            </a:r>
            <a:endParaRPr lang="en-US" dirty="0"/>
          </a:p>
        </p:txBody>
      </p:sp>
      <p:sp>
        <p:nvSpPr>
          <p:cNvPr id="3" name="Content Placeholder 2"/>
          <p:cNvSpPr>
            <a:spLocks noGrp="1"/>
          </p:cNvSpPr>
          <p:nvPr>
            <p:ph idx="1"/>
          </p:nvPr>
        </p:nvSpPr>
        <p:spPr>
          <a:xfrm>
            <a:off x="914400" y="1428750"/>
            <a:ext cx="5029200" cy="3165872"/>
          </a:xfrm>
        </p:spPr>
        <p:txBody>
          <a:bodyPr>
            <a:noAutofit/>
          </a:bodyPr>
          <a:lstStyle/>
          <a:p>
            <a:pPr algn="just"/>
            <a:r>
              <a:rPr lang="en-US" sz="1600" dirty="0" smtClean="0"/>
              <a:t>Primary carbon (1</a:t>
            </a:r>
            <a:r>
              <a:rPr lang="en-US" sz="1600" baseline="30000" dirty="0" smtClean="0"/>
              <a:t>0</a:t>
            </a:r>
            <a:r>
              <a:rPr lang="en-US" sz="1600" dirty="0" smtClean="0"/>
              <a:t>): Is the carbon atom that is bonded to only one other carbon. All the hydrogen atoms surrounding primary carbon are primary hydrogens.</a:t>
            </a:r>
          </a:p>
          <a:p>
            <a:pPr algn="just"/>
            <a:endParaRPr lang="en-US" sz="1600" dirty="0" smtClean="0"/>
          </a:p>
          <a:p>
            <a:pPr algn="just"/>
            <a:r>
              <a:rPr lang="en-US" sz="1600" dirty="0" smtClean="0"/>
              <a:t>Secondary carbon (2</a:t>
            </a:r>
            <a:r>
              <a:rPr lang="en-US" sz="1600" baseline="30000" dirty="0" smtClean="0"/>
              <a:t>0</a:t>
            </a:r>
            <a:r>
              <a:rPr lang="en-US" sz="1600" dirty="0" smtClean="0"/>
              <a:t>): Is the carbon atom that is bonded to only two other carbon atoms. All the hydrogen atoms attached to secondary carbon are called secondary hydrogen atoms.</a:t>
            </a:r>
          </a:p>
          <a:p>
            <a:pPr algn="just"/>
            <a:endParaRPr lang="en-US" sz="1600" dirty="0" smtClean="0"/>
          </a:p>
          <a:p>
            <a:pPr algn="just"/>
            <a:r>
              <a:rPr lang="en-US" sz="1600" dirty="0" smtClean="0"/>
              <a:t>Tertiary carbon (3</a:t>
            </a:r>
            <a:r>
              <a:rPr lang="en-US" sz="1600" baseline="30000" dirty="0" smtClean="0"/>
              <a:t>0</a:t>
            </a:r>
            <a:r>
              <a:rPr lang="en-US" sz="1600" dirty="0" smtClean="0"/>
              <a:t>): Is the carbon atom that is bonded to three other carbons. Each of the hydrogen atoms linked directly to tertiary carbon is also regarded as tertiary hydrogen atom.</a:t>
            </a:r>
          </a:p>
          <a:p>
            <a:pPr algn="just"/>
            <a:endParaRPr lang="en-US" sz="1600" dirty="0" smtClean="0"/>
          </a:p>
          <a:p>
            <a:pPr algn="just"/>
            <a:endParaRPr lang="en-US" sz="1600" dirty="0"/>
          </a:p>
        </p:txBody>
      </p:sp>
      <p:pic>
        <p:nvPicPr>
          <p:cNvPr id="8194" name="Picture 2"/>
          <p:cNvPicPr>
            <a:picLocks noChangeAspect="1" noChangeArrowheads="1"/>
          </p:cNvPicPr>
          <p:nvPr/>
        </p:nvPicPr>
        <p:blipFill>
          <a:blip r:embed="rId2"/>
          <a:srcRect/>
          <a:stretch>
            <a:fillRect/>
          </a:stretch>
        </p:blipFill>
        <p:spPr bwMode="auto">
          <a:xfrm>
            <a:off x="5943600" y="1962150"/>
            <a:ext cx="3162300" cy="1504950"/>
          </a:xfrm>
          <a:prstGeom prst="rect">
            <a:avLst/>
          </a:prstGeom>
          <a:noFill/>
          <a:ln w="9525">
            <a:noFill/>
            <a:miter lim="800000"/>
            <a:headEnd/>
            <a:tailEnd/>
          </a:ln>
          <a:effectLst/>
        </p:spPr>
      </p:pic>
      <p:grpSp>
        <p:nvGrpSpPr>
          <p:cNvPr id="5" name="Group 4"/>
          <p:cNvGrpSpPr/>
          <p:nvPr/>
        </p:nvGrpSpPr>
        <p:grpSpPr>
          <a:xfrm>
            <a:off x="4506" y="0"/>
            <a:ext cx="914400" cy="5143500"/>
            <a:chOff x="0" y="168206"/>
            <a:chExt cx="914400" cy="6689794"/>
          </a:xfrm>
        </p:grpSpPr>
        <p:sp>
          <p:nvSpPr>
            <p:cNvPr id="6" name="Rectangle 5"/>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8" name="Picture 7" descr="logo"/>
            <p:cNvPicPr>
              <a:picLocks noChangeAspect="1" noChangeArrowheads="1"/>
            </p:cNvPicPr>
            <p:nvPr/>
          </p:nvPicPr>
          <p:blipFill>
            <a:blip r:embed="rId3"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3350"/>
            <a:ext cx="8229600" cy="857250"/>
          </a:xfrm>
        </p:spPr>
        <p:txBody>
          <a:bodyPr/>
          <a:lstStyle/>
          <a:p>
            <a:r>
              <a:rPr lang="en-US" dirty="0" smtClean="0"/>
              <a:t>Alkyl Groups and Nomenclature </a:t>
            </a:r>
            <a:endParaRPr lang="en-US" dirty="0"/>
          </a:p>
        </p:txBody>
      </p:sp>
      <p:sp>
        <p:nvSpPr>
          <p:cNvPr id="3" name="Content Placeholder 2"/>
          <p:cNvSpPr>
            <a:spLocks noGrp="1"/>
          </p:cNvSpPr>
          <p:nvPr>
            <p:ph idx="1"/>
          </p:nvPr>
        </p:nvSpPr>
        <p:spPr>
          <a:xfrm>
            <a:off x="152400" y="1006078"/>
            <a:ext cx="3962400" cy="3394472"/>
          </a:xfrm>
        </p:spPr>
        <p:txBody>
          <a:bodyPr>
            <a:normAutofit fontScale="85000" lnSpcReduction="10000"/>
          </a:bodyPr>
          <a:lstStyle/>
          <a:p>
            <a:pPr algn="just"/>
            <a:r>
              <a:rPr lang="en-US" sz="1800" dirty="0" smtClean="0"/>
              <a:t>The alkyl groups, generally represented by R, are derived from alkanes by removing one hydrogen. Alkyl groups (R) are named by replacing the suffix –ane of the parent alkane with  -yl. </a:t>
            </a:r>
          </a:p>
          <a:p>
            <a:pPr algn="just"/>
            <a:endParaRPr lang="en-US" sz="1800" dirty="0" smtClean="0"/>
          </a:p>
          <a:p>
            <a:pPr algn="just"/>
            <a:endParaRPr lang="en-US" sz="1800" dirty="0" smtClean="0"/>
          </a:p>
          <a:p>
            <a:pPr algn="just"/>
            <a:r>
              <a:rPr lang="en-US" sz="1800" dirty="0" smtClean="0"/>
              <a:t>The simplest alkyl group is methyl group (CH</a:t>
            </a:r>
            <a:r>
              <a:rPr lang="en-US" sz="1800" baseline="-25000" dirty="0" smtClean="0"/>
              <a:t>3</a:t>
            </a:r>
            <a:r>
              <a:rPr lang="en-US" sz="1800" dirty="0" smtClean="0"/>
              <a:t>-) which is derived alkane, methane (CH</a:t>
            </a:r>
            <a:r>
              <a:rPr lang="en-US" sz="1800" baseline="-25000" dirty="0" smtClean="0"/>
              <a:t>4</a:t>
            </a:r>
            <a:r>
              <a:rPr lang="en-US" sz="1800" dirty="0" smtClean="0"/>
              <a:t>). Common alkyl groups are listed in </a:t>
            </a:r>
            <a:r>
              <a:rPr lang="en-US" sz="1800" dirty="0" smtClean="0">
                <a:solidFill>
                  <a:srgbClr val="FF0000"/>
                </a:solidFill>
              </a:rPr>
              <a:t>Table 1.7, </a:t>
            </a:r>
            <a:r>
              <a:rPr lang="en-US" sz="1800" dirty="0" smtClean="0"/>
              <a:t>Similarly, aryl groups denoted by </a:t>
            </a:r>
            <a:r>
              <a:rPr lang="en-US" sz="1800" dirty="0" err="1" smtClean="0"/>
              <a:t>Ar</a:t>
            </a:r>
            <a:r>
              <a:rPr lang="en-US" sz="1800" dirty="0" smtClean="0"/>
              <a:t>, are obtained from benzene and its derivatives by removing one hydrogen. The simplest aryl group is phenyl group (C</a:t>
            </a:r>
            <a:r>
              <a:rPr lang="en-US" sz="1800" baseline="-25000" dirty="0" smtClean="0"/>
              <a:t>6</a:t>
            </a:r>
            <a:r>
              <a:rPr lang="en-US" sz="1800" dirty="0" smtClean="0"/>
              <a:t>H</a:t>
            </a:r>
            <a:r>
              <a:rPr lang="en-US" sz="1800" baseline="-25000" dirty="0" smtClean="0"/>
              <a:t>5</a:t>
            </a:r>
            <a:r>
              <a:rPr lang="en-US" sz="1800" dirty="0" smtClean="0"/>
              <a:t>- and is abbreviated as Ph. </a:t>
            </a:r>
            <a:endParaRPr lang="en-US" sz="1800" dirty="0"/>
          </a:p>
        </p:txBody>
      </p:sp>
      <p:pic>
        <p:nvPicPr>
          <p:cNvPr id="9219" name="Picture 3"/>
          <p:cNvPicPr>
            <a:picLocks noChangeAspect="1" noChangeArrowheads="1"/>
          </p:cNvPicPr>
          <p:nvPr/>
        </p:nvPicPr>
        <p:blipFill>
          <a:blip r:embed="rId3"/>
          <a:srcRect/>
          <a:stretch>
            <a:fillRect/>
          </a:stretch>
        </p:blipFill>
        <p:spPr bwMode="auto">
          <a:xfrm>
            <a:off x="609601" y="2114550"/>
            <a:ext cx="3505199" cy="361950"/>
          </a:xfrm>
          <a:prstGeom prst="rect">
            <a:avLst/>
          </a:prstGeom>
          <a:noFill/>
          <a:ln w="9525">
            <a:noFill/>
            <a:miter lim="800000"/>
            <a:headEnd/>
            <a:tailEnd/>
          </a:ln>
          <a:effectLst/>
        </p:spPr>
      </p:pic>
      <p:pic>
        <p:nvPicPr>
          <p:cNvPr id="9220" name="Picture 4"/>
          <p:cNvPicPr>
            <a:picLocks noChangeAspect="1" noChangeArrowheads="1"/>
          </p:cNvPicPr>
          <p:nvPr/>
        </p:nvPicPr>
        <p:blipFill>
          <a:blip r:embed="rId4"/>
          <a:srcRect/>
          <a:stretch>
            <a:fillRect/>
          </a:stretch>
        </p:blipFill>
        <p:spPr bwMode="auto">
          <a:xfrm>
            <a:off x="4191000" y="971550"/>
            <a:ext cx="4772025" cy="847725"/>
          </a:xfrm>
          <a:prstGeom prst="rect">
            <a:avLst/>
          </a:prstGeom>
          <a:noFill/>
          <a:ln w="9525">
            <a:noFill/>
            <a:miter lim="800000"/>
            <a:headEnd/>
            <a:tailEnd/>
          </a:ln>
          <a:effectLst/>
        </p:spPr>
      </p:pic>
      <p:pic>
        <p:nvPicPr>
          <p:cNvPr id="9222" name="Picture 6"/>
          <p:cNvPicPr>
            <a:picLocks noChangeAspect="1" noChangeArrowheads="1"/>
          </p:cNvPicPr>
          <p:nvPr/>
        </p:nvPicPr>
        <p:blipFill>
          <a:blip r:embed="rId5"/>
          <a:srcRect/>
          <a:stretch>
            <a:fillRect/>
          </a:stretch>
        </p:blipFill>
        <p:spPr bwMode="auto">
          <a:xfrm>
            <a:off x="4343400" y="1885950"/>
            <a:ext cx="4314825" cy="923925"/>
          </a:xfrm>
          <a:prstGeom prst="rect">
            <a:avLst/>
          </a:prstGeom>
          <a:noFill/>
          <a:ln w="9525">
            <a:noFill/>
            <a:miter lim="800000"/>
            <a:headEnd/>
            <a:tailEnd/>
          </a:ln>
          <a:effectLst/>
        </p:spPr>
      </p:pic>
      <p:pic>
        <p:nvPicPr>
          <p:cNvPr id="9" name="Picture 5"/>
          <p:cNvPicPr>
            <a:picLocks noChangeAspect="1" noChangeArrowheads="1"/>
          </p:cNvPicPr>
          <p:nvPr/>
        </p:nvPicPr>
        <p:blipFill>
          <a:blip r:embed="rId6"/>
          <a:srcRect/>
          <a:stretch>
            <a:fillRect/>
          </a:stretch>
        </p:blipFill>
        <p:spPr bwMode="auto">
          <a:xfrm>
            <a:off x="4071199" y="3105150"/>
            <a:ext cx="5072801" cy="2009775"/>
          </a:xfrm>
          <a:prstGeom prst="rect">
            <a:avLst/>
          </a:prstGeom>
          <a:noFill/>
          <a:ln w="9525">
            <a:noFill/>
            <a:miter lim="800000"/>
            <a:headEnd/>
            <a:tailEnd/>
          </a:ln>
          <a:effectLst/>
        </p:spPr>
      </p:pic>
      <p:pic>
        <p:nvPicPr>
          <p:cNvPr id="8" name="Picture 2"/>
          <p:cNvPicPr>
            <a:picLocks noChangeAspect="1" noChangeArrowheads="1"/>
          </p:cNvPicPr>
          <p:nvPr/>
        </p:nvPicPr>
        <p:blipFill>
          <a:blip r:embed="rId7"/>
          <a:srcRect/>
          <a:stretch>
            <a:fillRect/>
          </a:stretch>
        </p:blipFill>
        <p:spPr bwMode="auto">
          <a:xfrm>
            <a:off x="1676400" y="4305300"/>
            <a:ext cx="866775" cy="704850"/>
          </a:xfrm>
          <a:prstGeom prst="rect">
            <a:avLst/>
          </a:prstGeom>
          <a:noFill/>
          <a:ln w="9525">
            <a:noFill/>
            <a:miter lim="800000"/>
            <a:headEnd/>
            <a:tailEnd/>
          </a:ln>
          <a:effectLst/>
        </p:spPr>
      </p:pic>
      <p:sp>
        <p:nvSpPr>
          <p:cNvPr id="10" name="TextBox 9"/>
          <p:cNvSpPr txBox="1"/>
          <p:nvPr/>
        </p:nvSpPr>
        <p:spPr>
          <a:xfrm>
            <a:off x="4114800" y="2876550"/>
            <a:ext cx="5105400" cy="276999"/>
          </a:xfrm>
          <a:prstGeom prst="rect">
            <a:avLst/>
          </a:prstGeom>
          <a:noFill/>
          <a:ln w="22225">
            <a:solidFill>
              <a:srgbClr val="0070C0"/>
            </a:solidFill>
          </a:ln>
        </p:spPr>
        <p:txBody>
          <a:bodyPr wrap="square" rtlCol="0">
            <a:spAutoFit/>
          </a:bodyPr>
          <a:lstStyle/>
          <a:p>
            <a:r>
              <a:rPr lang="en-US" sz="1200" b="1" dirty="0" smtClean="0"/>
              <a:t>Table 1.4</a:t>
            </a:r>
            <a:r>
              <a:rPr lang="en-US" sz="1200" dirty="0" smtClean="0"/>
              <a:t>: Examples of alkyl groups derived from unbranched alkanes</a:t>
            </a:r>
            <a:endParaRPr lang="en-US" sz="12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89" name="Picture 1"/>
          <p:cNvPicPr>
            <a:picLocks noChangeAspect="1" noChangeArrowheads="1"/>
          </p:cNvPicPr>
          <p:nvPr/>
        </p:nvPicPr>
        <p:blipFill>
          <a:blip r:embed="rId3"/>
          <a:srcRect/>
          <a:stretch>
            <a:fillRect/>
          </a:stretch>
        </p:blipFill>
        <p:spPr bwMode="auto">
          <a:xfrm>
            <a:off x="985838" y="271463"/>
            <a:ext cx="7172325" cy="4600575"/>
          </a:xfrm>
          <a:prstGeom prst="rect">
            <a:avLst/>
          </a:prstGeom>
          <a:noFill/>
          <a:ln w="9525">
            <a:noFill/>
            <a:miter lim="800000"/>
            <a:headEnd/>
            <a:tailEnd/>
          </a:ln>
          <a:effectLst/>
        </p:spPr>
      </p:pic>
      <p:grpSp>
        <p:nvGrpSpPr>
          <p:cNvPr id="3" name="Group 2"/>
          <p:cNvGrpSpPr/>
          <p:nvPr/>
        </p:nvGrpSpPr>
        <p:grpSpPr>
          <a:xfrm>
            <a:off x="4506" y="0"/>
            <a:ext cx="909894" cy="5143500"/>
            <a:chOff x="0" y="168206"/>
            <a:chExt cx="914400" cy="6689794"/>
          </a:xfrm>
        </p:grpSpPr>
        <p:sp>
          <p:nvSpPr>
            <p:cNvPr id="4" name="Rectangle 3"/>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6" name="Picture 7" descr="logo"/>
            <p:cNvPicPr>
              <a:picLocks noChangeAspect="1" noChangeArrowheads="1"/>
            </p:cNvPicPr>
            <p:nvPr/>
          </p:nvPicPr>
          <p:blipFill>
            <a:blip r:embed="rId4"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Physical Properties of Alkanes</a:t>
            </a:r>
            <a:endParaRPr lang="en-US" dirty="0"/>
          </a:p>
        </p:txBody>
      </p:sp>
      <p:sp>
        <p:nvSpPr>
          <p:cNvPr id="3" name="Content Placeholder 2"/>
          <p:cNvSpPr>
            <a:spLocks noGrp="1"/>
          </p:cNvSpPr>
          <p:nvPr>
            <p:ph idx="1"/>
          </p:nvPr>
        </p:nvSpPr>
        <p:spPr>
          <a:xfrm>
            <a:off x="1066800" y="1352549"/>
            <a:ext cx="7848600" cy="3242073"/>
          </a:xfrm>
          <a:ln w="22225">
            <a:solidFill>
              <a:srgbClr val="C00000"/>
            </a:solidFill>
          </a:ln>
        </p:spPr>
        <p:txBody>
          <a:bodyPr>
            <a:normAutofit fontScale="55000" lnSpcReduction="20000"/>
          </a:bodyPr>
          <a:lstStyle/>
          <a:p>
            <a:pPr marL="514350" indent="-514350" algn="just">
              <a:buAutoNum type="arabicPeriod"/>
            </a:pPr>
            <a:r>
              <a:rPr lang="en-US" b="1" dirty="0" smtClean="0"/>
              <a:t>Phase/state</a:t>
            </a:r>
            <a:r>
              <a:rPr lang="en-US" dirty="0" smtClean="0"/>
              <a:t>: </a:t>
            </a:r>
          </a:p>
          <a:p>
            <a:pPr marL="514350" indent="-514350" algn="just">
              <a:buNone/>
            </a:pPr>
            <a:r>
              <a:rPr lang="en-US" dirty="0" smtClean="0"/>
              <a:t>	At room temperature (25 </a:t>
            </a:r>
            <a:r>
              <a:rPr lang="en-US" baseline="30000" dirty="0" smtClean="0"/>
              <a:t>0</a:t>
            </a:r>
            <a:r>
              <a:rPr lang="en-US" dirty="0" smtClean="0"/>
              <a:t>C) and 1 atmospheric pressure (1atm): 	</a:t>
            </a:r>
          </a:p>
          <a:p>
            <a:pPr marL="514350" indent="-514350" algn="just">
              <a:buNone/>
            </a:pPr>
            <a:r>
              <a:rPr lang="en-US" dirty="0" smtClean="0"/>
              <a:t>		-C1 to C4 (the first 4 members of the unbranched alkanes) are gases</a:t>
            </a:r>
          </a:p>
          <a:p>
            <a:pPr marL="514350" indent="-514350" algn="just">
              <a:buNone/>
            </a:pPr>
            <a:r>
              <a:rPr lang="en-US" dirty="0" smtClean="0"/>
              <a:t>		-C5 to C17 are liquids</a:t>
            </a:r>
          </a:p>
          <a:p>
            <a:pPr marL="514350" indent="-514350" algn="just">
              <a:buNone/>
            </a:pPr>
            <a:r>
              <a:rPr lang="en-US" dirty="0" smtClean="0"/>
              <a:t>		-C18 and higher alkanes are wax-like solids</a:t>
            </a:r>
          </a:p>
          <a:p>
            <a:pPr marL="514350" indent="-514350" algn="just">
              <a:buFont typeface="+mj-lt"/>
              <a:buAutoNum type="arabicParenR"/>
            </a:pPr>
            <a:endParaRPr lang="en-US" dirty="0" smtClean="0"/>
          </a:p>
          <a:p>
            <a:pPr marL="514350" indent="-514350" algn="just">
              <a:buAutoNum type="arabicPeriod" startAt="2"/>
            </a:pPr>
            <a:r>
              <a:rPr lang="en-US" b="1" dirty="0" smtClean="0"/>
              <a:t>Solubility: </a:t>
            </a:r>
          </a:p>
          <a:p>
            <a:pPr marL="514350" indent="-514350" algn="just">
              <a:buNone/>
            </a:pPr>
            <a:r>
              <a:rPr lang="en-US" dirty="0" smtClean="0"/>
              <a:t>	Alkanes are nonpolar molecules with their solubility obeying the critical saying that ‘like dissolves like”.</a:t>
            </a:r>
          </a:p>
          <a:p>
            <a:pPr marL="514350" indent="-514350" algn="just">
              <a:buNone/>
            </a:pPr>
            <a:r>
              <a:rPr lang="en-US" dirty="0" smtClean="0"/>
              <a:t>	Alkanes are soluble in nonpolar solvents such as tetrachloromethane CCl</a:t>
            </a:r>
            <a:r>
              <a:rPr lang="en-US" baseline="-25000" dirty="0" smtClean="0"/>
              <a:t>4</a:t>
            </a:r>
            <a:r>
              <a:rPr lang="en-US" dirty="0" smtClean="0"/>
              <a:t> and benzene.</a:t>
            </a:r>
          </a:p>
          <a:p>
            <a:pPr marL="514350" indent="-514350" algn="just">
              <a:buNone/>
            </a:pPr>
            <a:r>
              <a:rPr lang="en-US" dirty="0" smtClean="0"/>
              <a:t>	Alkenes are insoluble in polar solvents such as water</a:t>
            </a:r>
          </a:p>
        </p:txBody>
      </p:sp>
      <p:grpSp>
        <p:nvGrpSpPr>
          <p:cNvPr id="4" name="Group 3"/>
          <p:cNvGrpSpPr/>
          <p:nvPr/>
        </p:nvGrpSpPr>
        <p:grpSpPr>
          <a:xfrm>
            <a:off x="4506" y="0"/>
            <a:ext cx="757494" cy="5143500"/>
            <a:chOff x="0" y="168206"/>
            <a:chExt cx="914400" cy="6689794"/>
          </a:xfrm>
        </p:grpSpPr>
        <p:sp>
          <p:nvSpPr>
            <p:cNvPr id="5" name="Rectangle 4"/>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7" name="Picture 7" descr="logo"/>
            <p:cNvPicPr>
              <a:picLocks noChangeAspect="1" noChangeArrowheads="1"/>
            </p:cNvPicPr>
            <p:nvPr/>
          </p:nvPicPr>
          <p:blipFill>
            <a:blip r:embed="rId2"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971550"/>
            <a:ext cx="4343400" cy="3810000"/>
          </a:xfrm>
          <a:ln w="22225">
            <a:solidFill>
              <a:srgbClr val="C00000"/>
            </a:solidFill>
          </a:ln>
        </p:spPr>
        <p:txBody>
          <a:bodyPr>
            <a:noAutofit/>
          </a:bodyPr>
          <a:lstStyle/>
          <a:p>
            <a:pPr marL="514350" indent="-514350" algn="just">
              <a:buNone/>
            </a:pPr>
            <a:r>
              <a:rPr lang="en-US" sz="1600" b="1" dirty="0" smtClean="0"/>
              <a:t>3.	Boiling Point:</a:t>
            </a:r>
          </a:p>
          <a:p>
            <a:pPr marL="514350" indent="-514350" algn="just">
              <a:buNone/>
            </a:pPr>
            <a:r>
              <a:rPr lang="en-US" sz="1600" dirty="0" smtClean="0"/>
              <a:t>Boiling point increases with the increase in the molecular weight (number of carbon atoms) and decreases with branching (among isomeric alkanes).</a:t>
            </a:r>
          </a:p>
          <a:p>
            <a:pPr marL="514350" indent="-514350" algn="just">
              <a:buNone/>
            </a:pPr>
            <a:r>
              <a:rPr lang="en-US" sz="1600" dirty="0" smtClean="0"/>
              <a:t>As the molecular weight becomes higher, the forces of attraction between individual molecules becomes stronger and as a result more energy  is required to break such intermolecular forces leading to higher boiling point temperature.</a:t>
            </a:r>
          </a:p>
          <a:p>
            <a:pPr marL="514350" indent="-514350" algn="just">
              <a:buNone/>
            </a:pPr>
            <a:r>
              <a:rPr lang="en-US" sz="1600" dirty="0" smtClean="0"/>
              <a:t>Cycloalkanes have higher boiling points than the corresponding unbranched alkanes. </a:t>
            </a:r>
          </a:p>
          <a:p>
            <a:pPr marL="514350" indent="-514350" algn="just"/>
            <a:endParaRPr lang="en-US" sz="1600" dirty="0" smtClean="0"/>
          </a:p>
        </p:txBody>
      </p:sp>
      <p:graphicFrame>
        <p:nvGraphicFramePr>
          <p:cNvPr id="4" name="Table 3"/>
          <p:cNvGraphicFramePr>
            <a:graphicFrameLocks noGrp="1"/>
          </p:cNvGraphicFramePr>
          <p:nvPr/>
        </p:nvGraphicFramePr>
        <p:xfrm>
          <a:off x="5181600" y="958254"/>
          <a:ext cx="3505200" cy="2177024"/>
        </p:xfrm>
        <a:graphic>
          <a:graphicData uri="http://schemas.openxmlformats.org/drawingml/2006/table">
            <a:tbl>
              <a:tblPr firstRow="1" bandRow="1">
                <a:tableStyleId>{7DF18680-E054-41AD-8BC1-D1AEF772440D}</a:tableStyleId>
              </a:tblPr>
              <a:tblGrid>
                <a:gridCol w="838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tblGrid>
              <a:tr h="303623">
                <a:tc grid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smtClean="0"/>
                        <a:t>Table 1.6:</a:t>
                      </a:r>
                      <a:r>
                        <a:rPr lang="en-US" sz="1200" b="1" baseline="0" dirty="0" smtClean="0"/>
                        <a:t> Boiling points of </a:t>
                      </a:r>
                      <a:r>
                        <a:rPr lang="en-US" sz="1200" dirty="0" smtClean="0"/>
                        <a:t>unbranched alkanes</a:t>
                      </a:r>
                    </a:p>
                  </a:txBody>
                  <a:tcPr/>
                </a:tc>
                <a:tc hMerge="1">
                  <a:txBody>
                    <a:bodyPr/>
                    <a:lstStyle/>
                    <a:p>
                      <a:endParaRPr lang="en-US" sz="1200" dirty="0"/>
                    </a:p>
                  </a:txBody>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txBody>
                  <a:tcPr/>
                </a:tc>
                <a:extLst>
                  <a:ext uri="{0D108BD9-81ED-4DB2-BD59-A6C34878D82A}">
                    <a16:rowId xmlns:a16="http://schemas.microsoft.com/office/drawing/2014/main" val="10000"/>
                  </a:ext>
                </a:extLst>
              </a:tr>
              <a:tr h="303623">
                <a:tc>
                  <a:txBody>
                    <a:bodyPr/>
                    <a:lstStyle/>
                    <a:p>
                      <a:r>
                        <a:rPr lang="en-US" sz="1200" dirty="0" smtClean="0"/>
                        <a:t>Alkane</a:t>
                      </a:r>
                      <a:endParaRPr lang="en-US" sz="1200" dirty="0"/>
                    </a:p>
                  </a:txBody>
                  <a:tcPr/>
                </a:tc>
                <a:tc>
                  <a:txBody>
                    <a:bodyPr/>
                    <a:lstStyle/>
                    <a:p>
                      <a:r>
                        <a:rPr lang="en-US" sz="1200" dirty="0" smtClean="0"/>
                        <a:t>Structure</a:t>
                      </a:r>
                      <a:endParaRPr 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Boiling Point (</a:t>
                      </a:r>
                      <a:r>
                        <a:rPr lang="en-US" sz="1200" baseline="30000" dirty="0" smtClean="0"/>
                        <a:t>0</a:t>
                      </a:r>
                      <a:r>
                        <a:rPr lang="en-US" sz="1200" dirty="0" smtClean="0"/>
                        <a:t>C)</a:t>
                      </a:r>
                    </a:p>
                  </a:txBody>
                  <a:tcPr/>
                </a:tc>
                <a:extLst>
                  <a:ext uri="{0D108BD9-81ED-4DB2-BD59-A6C34878D82A}">
                    <a16:rowId xmlns:a16="http://schemas.microsoft.com/office/drawing/2014/main" val="10001"/>
                  </a:ext>
                </a:extLst>
              </a:tr>
              <a:tr h="303623">
                <a:tc>
                  <a:txBody>
                    <a:bodyPr/>
                    <a:lstStyle/>
                    <a:p>
                      <a:r>
                        <a:rPr lang="en-US" sz="1200" dirty="0" smtClean="0"/>
                        <a:t>Methane</a:t>
                      </a:r>
                      <a:endParaRPr lang="en-US" sz="1200" dirty="0"/>
                    </a:p>
                  </a:txBody>
                  <a:tcPr/>
                </a:tc>
                <a:tc>
                  <a:txBody>
                    <a:bodyPr/>
                    <a:lstStyle/>
                    <a:p>
                      <a:r>
                        <a:rPr lang="en-US" sz="1200" dirty="0" smtClean="0"/>
                        <a:t>CH</a:t>
                      </a:r>
                      <a:r>
                        <a:rPr lang="en-US" sz="1200" baseline="-25000" dirty="0" smtClean="0"/>
                        <a:t>4</a:t>
                      </a:r>
                      <a:endParaRPr lang="en-US" sz="1200" baseline="-25000" dirty="0"/>
                    </a:p>
                  </a:txBody>
                  <a:tcPr/>
                </a:tc>
                <a:tc>
                  <a:txBody>
                    <a:bodyPr/>
                    <a:lstStyle/>
                    <a:p>
                      <a:r>
                        <a:rPr lang="en-US" sz="1200" dirty="0" smtClean="0"/>
                        <a:t>-161.5</a:t>
                      </a:r>
                      <a:endParaRPr lang="en-US" sz="1200" dirty="0"/>
                    </a:p>
                  </a:txBody>
                  <a:tcPr/>
                </a:tc>
                <a:extLst>
                  <a:ext uri="{0D108BD9-81ED-4DB2-BD59-A6C34878D82A}">
                    <a16:rowId xmlns:a16="http://schemas.microsoft.com/office/drawing/2014/main" val="10002"/>
                  </a:ext>
                </a:extLst>
              </a:tr>
              <a:tr h="244192">
                <a:tc>
                  <a:txBody>
                    <a:bodyPr/>
                    <a:lstStyle/>
                    <a:p>
                      <a:r>
                        <a:rPr lang="en-US" sz="1200" dirty="0" smtClean="0"/>
                        <a:t>Ethane</a:t>
                      </a:r>
                      <a:endParaRPr lang="en-US" sz="1200" dirty="0"/>
                    </a:p>
                  </a:txBody>
                  <a:tcPr/>
                </a:tc>
                <a:tc>
                  <a:txBody>
                    <a:bodyPr/>
                    <a:lstStyle/>
                    <a:p>
                      <a:r>
                        <a:rPr lang="en-US" sz="1200" dirty="0" smtClean="0"/>
                        <a:t>CH</a:t>
                      </a:r>
                      <a:r>
                        <a:rPr lang="en-US" sz="1200" baseline="-25000" dirty="0" smtClean="0"/>
                        <a:t>3</a:t>
                      </a:r>
                      <a:r>
                        <a:rPr lang="en-US" sz="1200" dirty="0" smtClean="0"/>
                        <a:t>CH</a:t>
                      </a:r>
                      <a:r>
                        <a:rPr lang="en-US" sz="1200" baseline="-25000" dirty="0" smtClean="0"/>
                        <a:t>3</a:t>
                      </a:r>
                      <a:endParaRPr lang="en-US" sz="1200" baseline="-25000" dirty="0"/>
                    </a:p>
                  </a:txBody>
                  <a:tcPr/>
                </a:tc>
                <a:tc>
                  <a:txBody>
                    <a:bodyPr/>
                    <a:lstStyle/>
                    <a:p>
                      <a:r>
                        <a:rPr lang="en-US" sz="1200" dirty="0" smtClean="0"/>
                        <a:t>-88.6</a:t>
                      </a:r>
                      <a:endParaRPr lang="en-US" sz="1200" dirty="0"/>
                    </a:p>
                  </a:txBody>
                  <a:tcPr/>
                </a:tc>
                <a:extLst>
                  <a:ext uri="{0D108BD9-81ED-4DB2-BD59-A6C34878D82A}">
                    <a16:rowId xmlns:a16="http://schemas.microsoft.com/office/drawing/2014/main" val="10003"/>
                  </a:ext>
                </a:extLst>
              </a:tr>
              <a:tr h="303623">
                <a:tc>
                  <a:txBody>
                    <a:bodyPr/>
                    <a:lstStyle/>
                    <a:p>
                      <a:r>
                        <a:rPr lang="en-US" sz="1200" dirty="0" smtClean="0"/>
                        <a:t>Propane</a:t>
                      </a:r>
                      <a:endParaRPr lang="en-US" sz="1200" dirty="0"/>
                    </a:p>
                  </a:txBody>
                  <a:tcPr/>
                </a:tc>
                <a:tc>
                  <a:txBody>
                    <a:bodyPr/>
                    <a:lstStyle/>
                    <a:p>
                      <a:r>
                        <a:rPr lang="en-US" sz="1200" dirty="0" smtClean="0"/>
                        <a:t>CH</a:t>
                      </a:r>
                      <a:r>
                        <a:rPr lang="en-US" sz="1200" baseline="-25000" dirty="0" smtClean="0"/>
                        <a:t>3</a:t>
                      </a:r>
                      <a:r>
                        <a:rPr lang="en-US" sz="1200" dirty="0" smtClean="0"/>
                        <a:t>CH</a:t>
                      </a:r>
                      <a:r>
                        <a:rPr lang="en-US" sz="1200" baseline="-25000" dirty="0" smtClean="0"/>
                        <a:t>2</a:t>
                      </a:r>
                      <a:r>
                        <a:rPr lang="en-US" sz="1200" dirty="0" smtClean="0"/>
                        <a:t>CH</a:t>
                      </a:r>
                      <a:r>
                        <a:rPr lang="en-US" sz="1200" baseline="-25000" dirty="0" smtClean="0"/>
                        <a:t>3</a:t>
                      </a:r>
                      <a:endParaRPr lang="en-US" sz="1200" baseline="-25000" dirty="0"/>
                    </a:p>
                  </a:txBody>
                  <a:tcPr/>
                </a:tc>
                <a:tc>
                  <a:txBody>
                    <a:bodyPr/>
                    <a:lstStyle/>
                    <a:p>
                      <a:r>
                        <a:rPr lang="en-US" sz="1200" dirty="0" smtClean="0"/>
                        <a:t>-42.1</a:t>
                      </a:r>
                      <a:endParaRPr lang="en-US" sz="1200" dirty="0"/>
                    </a:p>
                  </a:txBody>
                  <a:tcPr/>
                </a:tc>
                <a:extLst>
                  <a:ext uri="{0D108BD9-81ED-4DB2-BD59-A6C34878D82A}">
                    <a16:rowId xmlns:a16="http://schemas.microsoft.com/office/drawing/2014/main" val="10004"/>
                  </a:ext>
                </a:extLst>
              </a:tr>
              <a:tr h="303623">
                <a:tc>
                  <a:txBody>
                    <a:bodyPr/>
                    <a:lstStyle/>
                    <a:p>
                      <a:r>
                        <a:rPr lang="en-US" sz="1200" dirty="0" smtClean="0"/>
                        <a:t>Butane</a:t>
                      </a:r>
                      <a:endParaRPr lang="en-US" sz="1200" dirty="0"/>
                    </a:p>
                  </a:txBody>
                  <a:tcPr/>
                </a:tc>
                <a:tc>
                  <a:txBody>
                    <a:bodyPr/>
                    <a:lstStyle/>
                    <a:p>
                      <a:r>
                        <a:rPr lang="en-US" sz="1200" dirty="0" smtClean="0"/>
                        <a:t>CH</a:t>
                      </a:r>
                      <a:r>
                        <a:rPr lang="en-US" sz="1200" baseline="-25000" dirty="0" smtClean="0"/>
                        <a:t>3</a:t>
                      </a:r>
                      <a:r>
                        <a:rPr lang="en-US" sz="1200" dirty="0" smtClean="0"/>
                        <a:t>(CH</a:t>
                      </a:r>
                      <a:r>
                        <a:rPr lang="en-US" sz="1200" baseline="-25000" dirty="0" smtClean="0"/>
                        <a:t>2</a:t>
                      </a:r>
                      <a:r>
                        <a:rPr lang="en-US" sz="1200" dirty="0" smtClean="0"/>
                        <a:t>)</a:t>
                      </a:r>
                      <a:r>
                        <a:rPr lang="en-US" sz="1200" baseline="-25000" dirty="0" smtClean="0"/>
                        <a:t>2</a:t>
                      </a:r>
                      <a:r>
                        <a:rPr lang="en-US" sz="1200" dirty="0" smtClean="0"/>
                        <a:t>CH</a:t>
                      </a:r>
                      <a:r>
                        <a:rPr lang="en-US" sz="1200" baseline="-25000" dirty="0" smtClean="0"/>
                        <a:t>3</a:t>
                      </a:r>
                      <a:endParaRPr lang="en-US" sz="1200" baseline="-25000" dirty="0"/>
                    </a:p>
                  </a:txBody>
                  <a:tcPr/>
                </a:tc>
                <a:tc>
                  <a:txBody>
                    <a:bodyPr/>
                    <a:lstStyle/>
                    <a:p>
                      <a:r>
                        <a:rPr lang="en-US" sz="1200" dirty="0" smtClean="0"/>
                        <a:t>-0.5</a:t>
                      </a:r>
                      <a:endParaRPr lang="en-US" sz="1200" dirty="0"/>
                    </a:p>
                  </a:txBody>
                  <a:tcPr/>
                </a:tc>
                <a:extLst>
                  <a:ext uri="{0D108BD9-81ED-4DB2-BD59-A6C34878D82A}">
                    <a16:rowId xmlns:a16="http://schemas.microsoft.com/office/drawing/2014/main" val="10005"/>
                  </a:ext>
                </a:extLst>
              </a:tr>
              <a:tr h="384589">
                <a:tc>
                  <a:txBody>
                    <a:bodyPr/>
                    <a:lstStyle/>
                    <a:p>
                      <a:r>
                        <a:rPr lang="en-US" sz="1200" dirty="0" smtClean="0"/>
                        <a:t>Pentane</a:t>
                      </a:r>
                      <a:endParaRPr 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CH</a:t>
                      </a:r>
                      <a:r>
                        <a:rPr lang="en-US" sz="1200" baseline="-25000" dirty="0" smtClean="0"/>
                        <a:t>3</a:t>
                      </a:r>
                      <a:r>
                        <a:rPr lang="en-US" sz="1200" dirty="0" smtClean="0"/>
                        <a:t>(CH</a:t>
                      </a:r>
                      <a:r>
                        <a:rPr lang="en-US" sz="1200" baseline="-25000" dirty="0" smtClean="0"/>
                        <a:t>2</a:t>
                      </a:r>
                      <a:r>
                        <a:rPr lang="en-US" sz="1200" dirty="0" smtClean="0"/>
                        <a:t>)</a:t>
                      </a:r>
                      <a:r>
                        <a:rPr lang="en-US" sz="1200" baseline="-25000" dirty="0" smtClean="0"/>
                        <a:t>3</a:t>
                      </a:r>
                      <a:r>
                        <a:rPr lang="en-US" sz="1200" dirty="0" smtClean="0"/>
                        <a:t>CH</a:t>
                      </a:r>
                      <a:r>
                        <a:rPr lang="en-US" sz="1200" baseline="-25000" dirty="0" smtClean="0"/>
                        <a:t>3</a:t>
                      </a:r>
                    </a:p>
                  </a:txBody>
                  <a:tcPr/>
                </a:tc>
                <a:tc>
                  <a:txBody>
                    <a:bodyPr/>
                    <a:lstStyle/>
                    <a:p>
                      <a:r>
                        <a:rPr lang="en-US" sz="1200" dirty="0" smtClean="0"/>
                        <a:t>36.1</a:t>
                      </a:r>
                      <a:endParaRPr lang="en-US" sz="1200" dirty="0"/>
                    </a:p>
                  </a:txBody>
                  <a:tcPr/>
                </a:tc>
                <a:extLst>
                  <a:ext uri="{0D108BD9-81ED-4DB2-BD59-A6C34878D82A}">
                    <a16:rowId xmlns:a16="http://schemas.microsoft.com/office/drawing/2014/main" val="10006"/>
                  </a:ext>
                </a:extLst>
              </a:tr>
            </a:tbl>
          </a:graphicData>
        </a:graphic>
      </p:graphicFrame>
      <p:pic>
        <p:nvPicPr>
          <p:cNvPr id="5122" name="Picture 2"/>
          <p:cNvPicPr>
            <a:picLocks noChangeAspect="1" noChangeArrowheads="1"/>
          </p:cNvPicPr>
          <p:nvPr/>
        </p:nvPicPr>
        <p:blipFill>
          <a:blip r:embed="rId2">
            <a:duotone>
              <a:prstClr val="black"/>
              <a:schemeClr val="accent3">
                <a:tint val="45000"/>
                <a:satMod val="400000"/>
              </a:schemeClr>
            </a:duotone>
          </a:blip>
          <a:srcRect/>
          <a:stretch>
            <a:fillRect/>
          </a:stretch>
        </p:blipFill>
        <p:spPr bwMode="auto">
          <a:xfrm>
            <a:off x="4915580" y="3084094"/>
            <a:ext cx="4076020" cy="2002255"/>
          </a:xfrm>
          <a:prstGeom prst="rect">
            <a:avLst/>
          </a:prstGeom>
          <a:noFill/>
          <a:ln w="9525">
            <a:noFill/>
            <a:miter lim="800000"/>
            <a:headEnd/>
            <a:tailEnd/>
          </a:ln>
          <a:effectLst/>
        </p:spPr>
      </p:pic>
      <p:sp>
        <p:nvSpPr>
          <p:cNvPr id="5" name="Title 1"/>
          <p:cNvSpPr>
            <a:spLocks noGrp="1"/>
          </p:cNvSpPr>
          <p:nvPr>
            <p:ph type="title"/>
          </p:nvPr>
        </p:nvSpPr>
        <p:spPr>
          <a:xfrm>
            <a:off x="457200" y="205979"/>
            <a:ext cx="8229600" cy="857250"/>
          </a:xfrm>
        </p:spPr>
        <p:txBody>
          <a:bodyPr/>
          <a:lstStyle/>
          <a:p>
            <a:r>
              <a:rPr lang="en-US" dirty="0" smtClean="0"/>
              <a:t> Physical Properties of Alkanes</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9550"/>
            <a:ext cx="8229600" cy="857250"/>
          </a:xfrm>
        </p:spPr>
        <p:txBody>
          <a:bodyPr/>
          <a:lstStyle/>
          <a:p>
            <a:r>
              <a:rPr lang="en-US" dirty="0" smtClean="0"/>
              <a:t> Physical Properties of Alkanes</a:t>
            </a:r>
            <a:endParaRPr lang="en-US" dirty="0"/>
          </a:p>
        </p:txBody>
      </p:sp>
      <p:sp>
        <p:nvSpPr>
          <p:cNvPr id="3" name="Content Placeholder 2"/>
          <p:cNvSpPr>
            <a:spLocks noGrp="1"/>
          </p:cNvSpPr>
          <p:nvPr>
            <p:ph idx="1"/>
          </p:nvPr>
        </p:nvSpPr>
        <p:spPr>
          <a:xfrm>
            <a:off x="381000" y="1047750"/>
            <a:ext cx="4953000" cy="3733800"/>
          </a:xfrm>
          <a:noFill/>
          <a:ln w="28575">
            <a:solidFill>
              <a:srgbClr val="C00000"/>
            </a:solidFill>
          </a:ln>
        </p:spPr>
        <p:txBody>
          <a:bodyPr>
            <a:noAutofit/>
          </a:bodyPr>
          <a:lstStyle/>
          <a:p>
            <a:pPr marL="514350" indent="-514350" algn="just">
              <a:buNone/>
            </a:pPr>
            <a:r>
              <a:rPr lang="en-US" sz="1600" dirty="0" smtClean="0"/>
              <a:t> 4.	</a:t>
            </a:r>
            <a:r>
              <a:rPr lang="en-US" sz="1600" b="1" dirty="0" smtClean="0"/>
              <a:t>Melting Point</a:t>
            </a:r>
          </a:p>
          <a:p>
            <a:pPr algn="just">
              <a:buFont typeface="Wingdings" pitchFamily="2" charset="2"/>
              <a:buChar char="q"/>
            </a:pPr>
            <a:r>
              <a:rPr lang="en-US" sz="1600" dirty="0" smtClean="0"/>
              <a:t>Unsmooth/irregular increase in boiling point</a:t>
            </a:r>
          </a:p>
          <a:p>
            <a:pPr algn="just">
              <a:buFont typeface="Wingdings" pitchFamily="2" charset="2"/>
              <a:buChar char="q"/>
            </a:pPr>
            <a:r>
              <a:rPr lang="en-US" sz="1600" dirty="0" smtClean="0"/>
              <a:t>Molecules with an odd number of carbon atoms have lower melting point than those with an even number of carbon atoms. </a:t>
            </a:r>
          </a:p>
          <a:p>
            <a:pPr algn="just">
              <a:buFont typeface="Wingdings" pitchFamily="2" charset="2"/>
              <a:buChar char="q"/>
            </a:pPr>
            <a:r>
              <a:rPr lang="en-US" sz="1600" dirty="0" smtClean="0"/>
              <a:t>It happens because alkanes with even number of carbon atoms have their atoms in their molecules well organized/compacted than what is seen in those with odd number of carbon atoms. </a:t>
            </a:r>
          </a:p>
          <a:p>
            <a:pPr algn="just">
              <a:buFont typeface="Wingdings" pitchFamily="2" charset="2"/>
              <a:buChar char="q"/>
            </a:pPr>
            <a:r>
              <a:rPr lang="en-US" sz="1600" dirty="0" smtClean="0"/>
              <a:t>This is reflected in the lower melting points of alkanes with odd number of carbon atoms. </a:t>
            </a:r>
          </a:p>
          <a:p>
            <a:pPr algn="just">
              <a:buFont typeface="Wingdings" pitchFamily="2" charset="2"/>
              <a:buChar char="q"/>
            </a:pPr>
            <a:r>
              <a:rPr lang="en-US" sz="1600" dirty="0" smtClean="0"/>
              <a:t>Separate curves for the alkanes with even number of carbons and odd those with number of carbons, indicate smooth increase in melting point each.</a:t>
            </a:r>
          </a:p>
        </p:txBody>
      </p:sp>
      <p:pic>
        <p:nvPicPr>
          <p:cNvPr id="7" name="Picture 2"/>
          <p:cNvPicPr>
            <a:picLocks noChangeAspect="1" noChangeArrowheads="1"/>
          </p:cNvPicPr>
          <p:nvPr/>
        </p:nvPicPr>
        <p:blipFill>
          <a:blip r:embed="rId2">
            <a:lum contrast="30000"/>
          </a:blip>
          <a:srcRect/>
          <a:stretch>
            <a:fillRect/>
          </a:stretch>
        </p:blipFill>
        <p:spPr bwMode="auto">
          <a:xfrm>
            <a:off x="5486400" y="1814512"/>
            <a:ext cx="3490911" cy="3271838"/>
          </a:xfrm>
          <a:prstGeom prst="rect">
            <a:avLst/>
          </a:prstGeom>
          <a:noFill/>
          <a:ln w="9525">
            <a:noFill/>
            <a:miter lim="800000"/>
            <a:headEnd/>
            <a:tailEnd/>
          </a:ln>
          <a:effectLst/>
        </p:spPr>
      </p:pic>
      <p:sp>
        <p:nvSpPr>
          <p:cNvPr id="9" name="TextBox 8"/>
          <p:cNvSpPr txBox="1"/>
          <p:nvPr/>
        </p:nvSpPr>
        <p:spPr>
          <a:xfrm>
            <a:off x="5410200" y="1047750"/>
            <a:ext cx="3581400" cy="830997"/>
          </a:xfrm>
          <a:prstGeom prst="rect">
            <a:avLst/>
          </a:prstGeom>
          <a:noFill/>
          <a:ln w="9525">
            <a:solidFill>
              <a:srgbClr val="002060"/>
            </a:solidFill>
          </a:ln>
        </p:spPr>
        <p:txBody>
          <a:bodyPr wrap="square" rtlCol="0">
            <a:spAutoFit/>
          </a:bodyPr>
          <a:lstStyle/>
          <a:p>
            <a:pPr algn="just"/>
            <a:r>
              <a:rPr lang="en-US" sz="1200" dirty="0" smtClean="0"/>
              <a:t>Example of alkanes with Even number of carbons include:  ethane    butane,  hexane etc. </a:t>
            </a:r>
          </a:p>
          <a:p>
            <a:pPr algn="just"/>
            <a:r>
              <a:rPr lang="en-US" sz="1200" dirty="0" smtClean="0"/>
              <a:t>Example of alkanes with odd number of carbons are propane,   pentane,   heptane etc.</a:t>
            </a:r>
            <a:endParaRPr lang="en-US" sz="12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Physical Properties of Alkanes</a:t>
            </a:r>
            <a:endParaRPr lang="en-US" dirty="0"/>
          </a:p>
        </p:txBody>
      </p:sp>
      <p:sp>
        <p:nvSpPr>
          <p:cNvPr id="3" name="Content Placeholder 2"/>
          <p:cNvSpPr>
            <a:spLocks noGrp="1"/>
          </p:cNvSpPr>
          <p:nvPr>
            <p:ph idx="1"/>
          </p:nvPr>
        </p:nvSpPr>
        <p:spPr>
          <a:xfrm>
            <a:off x="762000" y="1200150"/>
            <a:ext cx="4876800" cy="2819400"/>
          </a:xfrm>
          <a:ln w="22225">
            <a:solidFill>
              <a:srgbClr val="C00000"/>
            </a:solidFill>
          </a:ln>
        </p:spPr>
        <p:txBody>
          <a:bodyPr>
            <a:noAutofit/>
          </a:bodyPr>
          <a:lstStyle/>
          <a:p>
            <a:pPr algn="just"/>
            <a:r>
              <a:rPr lang="en-US" sz="1800" dirty="0" smtClean="0"/>
              <a:t>There is alternation as one progresses from an unbranched alkane with an even number of carbon atoms to the next one with odd number of carbon atoms. For example, propane (mp= -188 </a:t>
            </a:r>
            <a:r>
              <a:rPr lang="en-US" sz="1800" baseline="30000" dirty="0" smtClean="0"/>
              <a:t>0</a:t>
            </a:r>
            <a:r>
              <a:rPr lang="en-US" sz="1800" dirty="0" smtClean="0"/>
              <a:t>C) melts lower than ethane (mp= -172 </a:t>
            </a:r>
            <a:r>
              <a:rPr lang="en-US" sz="1800" baseline="30000" dirty="0" smtClean="0"/>
              <a:t>0</a:t>
            </a:r>
            <a:r>
              <a:rPr lang="en-US" sz="1800" dirty="0" smtClean="0"/>
              <a:t>C) and even lower than methane (mp= -183 </a:t>
            </a:r>
            <a:r>
              <a:rPr lang="en-US" sz="1800" baseline="30000" dirty="0" smtClean="0"/>
              <a:t>0</a:t>
            </a:r>
            <a:r>
              <a:rPr lang="en-US" sz="1800" dirty="0" smtClean="0"/>
              <a:t>C). Butane (mp= -138 </a:t>
            </a:r>
            <a:r>
              <a:rPr lang="en-US" sz="1800" baseline="30000" dirty="0" smtClean="0"/>
              <a:t>0</a:t>
            </a:r>
            <a:r>
              <a:rPr lang="en-US" sz="1800" dirty="0" smtClean="0"/>
              <a:t>C) melts at 53 </a:t>
            </a:r>
            <a:r>
              <a:rPr lang="en-US" sz="1800" baseline="30000" dirty="0" smtClean="0"/>
              <a:t>0</a:t>
            </a:r>
            <a:r>
              <a:rPr lang="en-US" sz="1800" dirty="0" smtClean="0"/>
              <a:t>C higher than propane (mp= -188 </a:t>
            </a:r>
            <a:r>
              <a:rPr lang="en-US" sz="1800" baseline="30000" dirty="0" smtClean="0"/>
              <a:t>0</a:t>
            </a:r>
            <a:r>
              <a:rPr lang="en-US" sz="1800" dirty="0" smtClean="0"/>
              <a:t>C) and 5 </a:t>
            </a:r>
            <a:r>
              <a:rPr lang="en-US" sz="1800" baseline="30000" dirty="0" smtClean="0"/>
              <a:t>0</a:t>
            </a:r>
            <a:r>
              <a:rPr lang="en-US" sz="1800" dirty="0" smtClean="0"/>
              <a:t>C lower than pentane (mp= -130 </a:t>
            </a:r>
            <a:r>
              <a:rPr lang="en-US" sz="1800" baseline="30000" dirty="0" smtClean="0"/>
              <a:t>0</a:t>
            </a:r>
            <a:r>
              <a:rPr lang="en-US" sz="1800" dirty="0" smtClean="0"/>
              <a:t>C).</a:t>
            </a:r>
          </a:p>
        </p:txBody>
      </p:sp>
      <p:graphicFrame>
        <p:nvGraphicFramePr>
          <p:cNvPr id="4" name="Table 3"/>
          <p:cNvGraphicFramePr>
            <a:graphicFrameLocks noGrp="1"/>
          </p:cNvGraphicFramePr>
          <p:nvPr/>
        </p:nvGraphicFramePr>
        <p:xfrm>
          <a:off x="5715000" y="1493289"/>
          <a:ext cx="3276600" cy="2553436"/>
        </p:xfrm>
        <a:graphic>
          <a:graphicData uri="http://schemas.openxmlformats.org/drawingml/2006/table">
            <a:tbl>
              <a:tblPr firstRow="1" bandRow="1">
                <a:tableStyleId>{7DF18680-E054-41AD-8BC1-D1AEF772440D}</a:tableStyleId>
              </a:tblPr>
              <a:tblGrid>
                <a:gridCol w="762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408175">
                <a:tc grid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smtClean="0"/>
                        <a:t>Table 1.7:</a:t>
                      </a:r>
                      <a:r>
                        <a:rPr lang="en-US" sz="1200" b="1" baseline="0" dirty="0" smtClean="0"/>
                        <a:t> Melting points of </a:t>
                      </a:r>
                      <a:r>
                        <a:rPr lang="en-US" sz="1200" dirty="0" smtClean="0"/>
                        <a:t>unbranched alkanes</a:t>
                      </a:r>
                    </a:p>
                  </a:txBody>
                  <a:tcPr/>
                </a:tc>
                <a:tc hMerge="1">
                  <a:txBody>
                    <a:bodyPr/>
                    <a:lstStyle/>
                    <a:p>
                      <a:endParaRPr lang="en-US" sz="1200" dirty="0"/>
                    </a:p>
                  </a:txBody>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txBody>
                  <a:tcPr/>
                </a:tc>
                <a:extLst>
                  <a:ext uri="{0D108BD9-81ED-4DB2-BD59-A6C34878D82A}">
                    <a16:rowId xmlns:a16="http://schemas.microsoft.com/office/drawing/2014/main" val="10000"/>
                  </a:ext>
                </a:extLst>
              </a:tr>
              <a:tr h="408175">
                <a:tc>
                  <a:txBody>
                    <a:bodyPr/>
                    <a:lstStyle/>
                    <a:p>
                      <a:r>
                        <a:rPr lang="en-US" sz="1200" dirty="0" smtClean="0"/>
                        <a:t>Alkane+</a:t>
                      </a:r>
                      <a:endParaRPr lang="en-US" sz="1200" dirty="0"/>
                    </a:p>
                  </a:txBody>
                  <a:tcPr/>
                </a:tc>
                <a:tc>
                  <a:txBody>
                    <a:bodyPr/>
                    <a:lstStyle/>
                    <a:p>
                      <a:r>
                        <a:rPr lang="en-US" sz="1200" dirty="0" smtClean="0"/>
                        <a:t>Structure</a:t>
                      </a:r>
                      <a:endParaRPr 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Melting Point (</a:t>
                      </a:r>
                      <a:r>
                        <a:rPr lang="en-US" sz="1200" baseline="30000" dirty="0" smtClean="0"/>
                        <a:t>0</a:t>
                      </a:r>
                      <a:r>
                        <a:rPr lang="en-US" sz="1200" dirty="0" smtClean="0"/>
                        <a:t>C)</a:t>
                      </a:r>
                    </a:p>
                  </a:txBody>
                  <a:tcPr/>
                </a:tc>
                <a:extLst>
                  <a:ext uri="{0D108BD9-81ED-4DB2-BD59-A6C34878D82A}">
                    <a16:rowId xmlns:a16="http://schemas.microsoft.com/office/drawing/2014/main" val="10001"/>
                  </a:ext>
                </a:extLst>
              </a:tr>
              <a:tr h="341312">
                <a:tc>
                  <a:txBody>
                    <a:bodyPr/>
                    <a:lstStyle/>
                    <a:p>
                      <a:r>
                        <a:rPr lang="en-US" sz="1200" dirty="0" smtClean="0"/>
                        <a:t>Methane</a:t>
                      </a:r>
                      <a:endParaRPr lang="en-US" sz="1200" dirty="0"/>
                    </a:p>
                  </a:txBody>
                  <a:tcPr/>
                </a:tc>
                <a:tc>
                  <a:txBody>
                    <a:bodyPr/>
                    <a:lstStyle/>
                    <a:p>
                      <a:r>
                        <a:rPr lang="en-US" sz="1200" dirty="0" smtClean="0"/>
                        <a:t>CH</a:t>
                      </a:r>
                      <a:r>
                        <a:rPr lang="en-US" sz="1200" baseline="-25000" dirty="0" smtClean="0"/>
                        <a:t>4</a:t>
                      </a:r>
                      <a:endParaRPr lang="en-US" sz="1200" baseline="-25000" dirty="0"/>
                    </a:p>
                  </a:txBody>
                  <a:tcPr/>
                </a:tc>
                <a:tc>
                  <a:txBody>
                    <a:bodyPr/>
                    <a:lstStyle/>
                    <a:p>
                      <a:r>
                        <a:rPr lang="en-US" sz="1200" dirty="0" smtClean="0"/>
                        <a:t>-183</a:t>
                      </a:r>
                      <a:endParaRPr lang="en-US" sz="1200" dirty="0"/>
                    </a:p>
                  </a:txBody>
                  <a:tcPr/>
                </a:tc>
                <a:extLst>
                  <a:ext uri="{0D108BD9-81ED-4DB2-BD59-A6C34878D82A}">
                    <a16:rowId xmlns:a16="http://schemas.microsoft.com/office/drawing/2014/main" val="10002"/>
                  </a:ext>
                </a:extLst>
              </a:tr>
              <a:tr h="262657">
                <a:tc>
                  <a:txBody>
                    <a:bodyPr/>
                    <a:lstStyle/>
                    <a:p>
                      <a:r>
                        <a:rPr lang="en-US" sz="1200" dirty="0" smtClean="0"/>
                        <a:t>Ethane</a:t>
                      </a:r>
                      <a:endParaRPr lang="en-US" sz="1200" dirty="0"/>
                    </a:p>
                  </a:txBody>
                  <a:tcPr/>
                </a:tc>
                <a:tc>
                  <a:txBody>
                    <a:bodyPr/>
                    <a:lstStyle/>
                    <a:p>
                      <a:r>
                        <a:rPr lang="en-US" sz="1200" dirty="0" smtClean="0"/>
                        <a:t>CH</a:t>
                      </a:r>
                      <a:r>
                        <a:rPr lang="en-US" sz="1200" baseline="-25000" dirty="0" smtClean="0"/>
                        <a:t>3</a:t>
                      </a:r>
                      <a:r>
                        <a:rPr lang="en-US" sz="1200" dirty="0" smtClean="0"/>
                        <a:t>CH</a:t>
                      </a:r>
                      <a:r>
                        <a:rPr lang="en-US" sz="1200" baseline="-25000" dirty="0" smtClean="0"/>
                        <a:t>3</a:t>
                      </a:r>
                      <a:endParaRPr lang="en-US" sz="1200" baseline="-25000" dirty="0"/>
                    </a:p>
                  </a:txBody>
                  <a:tcPr/>
                </a:tc>
                <a:tc>
                  <a:txBody>
                    <a:bodyPr/>
                    <a:lstStyle/>
                    <a:p>
                      <a:r>
                        <a:rPr lang="en-US" sz="1200" dirty="0" smtClean="0"/>
                        <a:t>-172</a:t>
                      </a:r>
                      <a:endParaRPr lang="en-US" sz="1200" dirty="0"/>
                    </a:p>
                  </a:txBody>
                  <a:tcPr/>
                </a:tc>
                <a:extLst>
                  <a:ext uri="{0D108BD9-81ED-4DB2-BD59-A6C34878D82A}">
                    <a16:rowId xmlns:a16="http://schemas.microsoft.com/office/drawing/2014/main" val="10003"/>
                  </a:ext>
                </a:extLst>
              </a:tr>
              <a:tr h="341312">
                <a:tc>
                  <a:txBody>
                    <a:bodyPr/>
                    <a:lstStyle/>
                    <a:p>
                      <a:r>
                        <a:rPr lang="en-US" sz="1200" dirty="0" smtClean="0"/>
                        <a:t>Propane</a:t>
                      </a:r>
                      <a:endParaRPr lang="en-US" sz="1200" dirty="0"/>
                    </a:p>
                  </a:txBody>
                  <a:tcPr/>
                </a:tc>
                <a:tc>
                  <a:txBody>
                    <a:bodyPr/>
                    <a:lstStyle/>
                    <a:p>
                      <a:r>
                        <a:rPr lang="en-US" sz="1200" dirty="0" smtClean="0"/>
                        <a:t>CH</a:t>
                      </a:r>
                      <a:r>
                        <a:rPr lang="en-US" sz="1200" baseline="-25000" dirty="0" smtClean="0"/>
                        <a:t>3</a:t>
                      </a:r>
                      <a:r>
                        <a:rPr lang="en-US" sz="1200" dirty="0" smtClean="0"/>
                        <a:t>CH</a:t>
                      </a:r>
                      <a:r>
                        <a:rPr lang="en-US" sz="1200" baseline="-25000" dirty="0" smtClean="0"/>
                        <a:t>2</a:t>
                      </a:r>
                      <a:r>
                        <a:rPr lang="en-US" sz="1200" dirty="0" smtClean="0"/>
                        <a:t>CH</a:t>
                      </a:r>
                      <a:r>
                        <a:rPr lang="en-US" sz="1200" baseline="-25000" dirty="0" smtClean="0"/>
                        <a:t>3</a:t>
                      </a:r>
                      <a:endParaRPr lang="en-US" sz="1200" baseline="-25000" dirty="0"/>
                    </a:p>
                  </a:txBody>
                  <a:tcPr/>
                </a:tc>
                <a:tc>
                  <a:txBody>
                    <a:bodyPr/>
                    <a:lstStyle/>
                    <a:p>
                      <a:r>
                        <a:rPr lang="en-US" sz="1200" dirty="0" smtClean="0"/>
                        <a:t>-188</a:t>
                      </a:r>
                      <a:endParaRPr lang="en-US" sz="1200" dirty="0"/>
                    </a:p>
                  </a:txBody>
                  <a:tcPr/>
                </a:tc>
                <a:extLst>
                  <a:ext uri="{0D108BD9-81ED-4DB2-BD59-A6C34878D82A}">
                    <a16:rowId xmlns:a16="http://schemas.microsoft.com/office/drawing/2014/main" val="10004"/>
                  </a:ext>
                </a:extLst>
              </a:tr>
              <a:tr h="341312">
                <a:tc>
                  <a:txBody>
                    <a:bodyPr/>
                    <a:lstStyle/>
                    <a:p>
                      <a:r>
                        <a:rPr lang="en-US" sz="1200" dirty="0" smtClean="0"/>
                        <a:t>Butane</a:t>
                      </a:r>
                      <a:endParaRPr lang="en-US" sz="1200" dirty="0"/>
                    </a:p>
                  </a:txBody>
                  <a:tcPr/>
                </a:tc>
                <a:tc>
                  <a:txBody>
                    <a:bodyPr/>
                    <a:lstStyle/>
                    <a:p>
                      <a:r>
                        <a:rPr lang="en-US" sz="1200" dirty="0" smtClean="0"/>
                        <a:t>CH</a:t>
                      </a:r>
                      <a:r>
                        <a:rPr lang="en-US" sz="1200" baseline="-25000" dirty="0" smtClean="0"/>
                        <a:t>3</a:t>
                      </a:r>
                      <a:r>
                        <a:rPr lang="en-US" sz="1200" dirty="0" smtClean="0"/>
                        <a:t>(CH</a:t>
                      </a:r>
                      <a:r>
                        <a:rPr lang="en-US" sz="1200" baseline="-25000" dirty="0" smtClean="0"/>
                        <a:t>2</a:t>
                      </a:r>
                      <a:r>
                        <a:rPr lang="en-US" sz="1200" dirty="0" smtClean="0"/>
                        <a:t>)</a:t>
                      </a:r>
                      <a:r>
                        <a:rPr lang="en-US" sz="1200" baseline="-25000" dirty="0" smtClean="0"/>
                        <a:t>2</a:t>
                      </a:r>
                      <a:r>
                        <a:rPr lang="en-US" sz="1200" dirty="0" smtClean="0"/>
                        <a:t>CH</a:t>
                      </a:r>
                      <a:r>
                        <a:rPr lang="en-US" sz="1200" baseline="-25000" dirty="0" smtClean="0"/>
                        <a:t>3</a:t>
                      </a:r>
                      <a:endParaRPr lang="en-US" sz="1200" baseline="-25000" dirty="0"/>
                    </a:p>
                  </a:txBody>
                  <a:tcPr/>
                </a:tc>
                <a:tc>
                  <a:txBody>
                    <a:bodyPr/>
                    <a:lstStyle/>
                    <a:p>
                      <a:r>
                        <a:rPr lang="en-US" sz="1200" dirty="0" smtClean="0"/>
                        <a:t>-138</a:t>
                      </a:r>
                      <a:endParaRPr lang="en-US" sz="1200" dirty="0"/>
                    </a:p>
                  </a:txBody>
                  <a:tcPr/>
                </a:tc>
                <a:extLst>
                  <a:ext uri="{0D108BD9-81ED-4DB2-BD59-A6C34878D82A}">
                    <a16:rowId xmlns:a16="http://schemas.microsoft.com/office/drawing/2014/main" val="10005"/>
                  </a:ext>
                </a:extLst>
              </a:tr>
              <a:tr h="438830">
                <a:tc>
                  <a:txBody>
                    <a:bodyPr/>
                    <a:lstStyle/>
                    <a:p>
                      <a:r>
                        <a:rPr lang="en-US" sz="1200" dirty="0" smtClean="0"/>
                        <a:t>Pentane</a:t>
                      </a:r>
                      <a:endParaRPr 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CH</a:t>
                      </a:r>
                      <a:r>
                        <a:rPr lang="en-US" sz="1200" baseline="-25000" dirty="0" smtClean="0"/>
                        <a:t>3</a:t>
                      </a:r>
                      <a:r>
                        <a:rPr lang="en-US" sz="1200" dirty="0" smtClean="0"/>
                        <a:t>(CH</a:t>
                      </a:r>
                      <a:r>
                        <a:rPr lang="en-US" sz="1200" baseline="-25000" dirty="0" smtClean="0"/>
                        <a:t>2</a:t>
                      </a:r>
                      <a:r>
                        <a:rPr lang="en-US" sz="1200" dirty="0" smtClean="0"/>
                        <a:t>)</a:t>
                      </a:r>
                      <a:r>
                        <a:rPr lang="en-US" sz="1200" baseline="-25000" dirty="0" smtClean="0"/>
                        <a:t>3</a:t>
                      </a:r>
                      <a:r>
                        <a:rPr lang="en-US" sz="1200" dirty="0" smtClean="0"/>
                        <a:t>CH</a:t>
                      </a:r>
                      <a:r>
                        <a:rPr lang="en-US" sz="1200" baseline="-25000" dirty="0" smtClean="0"/>
                        <a:t>3</a:t>
                      </a:r>
                    </a:p>
                    <a:p>
                      <a:endParaRPr lang="en-US" sz="1200" baseline="-25000" dirty="0"/>
                    </a:p>
                  </a:txBody>
                  <a:tcPr/>
                </a:tc>
                <a:tc>
                  <a:txBody>
                    <a:bodyPr/>
                    <a:lstStyle/>
                    <a:p>
                      <a:r>
                        <a:rPr lang="en-US" sz="1200" dirty="0" smtClean="0"/>
                        <a:t>-130</a:t>
                      </a:r>
                      <a:endParaRPr lang="en-US" sz="1200" dirty="0"/>
                    </a:p>
                  </a:txBody>
                  <a:tcPr/>
                </a:tc>
                <a:extLst>
                  <a:ext uri="{0D108BD9-81ED-4DB2-BD59-A6C34878D82A}">
                    <a16:rowId xmlns:a16="http://schemas.microsoft.com/office/drawing/2014/main" val="10006"/>
                  </a:ext>
                </a:extLst>
              </a:tr>
            </a:tbl>
          </a:graphicData>
        </a:graphic>
      </p:graphicFrame>
      <p:sp>
        <p:nvSpPr>
          <p:cNvPr id="5" name="Rectangle 4"/>
          <p:cNvSpPr/>
          <p:nvPr/>
        </p:nvSpPr>
        <p:spPr>
          <a:xfrm>
            <a:off x="762000" y="4135219"/>
            <a:ext cx="8153400" cy="646331"/>
          </a:xfrm>
          <a:prstGeom prst="rect">
            <a:avLst/>
          </a:prstGeom>
          <a:ln w="15875">
            <a:solidFill>
              <a:srgbClr val="002060"/>
            </a:solidFill>
          </a:ln>
        </p:spPr>
        <p:txBody>
          <a:bodyPr wrap="square">
            <a:spAutoFit/>
          </a:bodyPr>
          <a:lstStyle/>
          <a:p>
            <a:pPr algn="just">
              <a:buNone/>
            </a:pPr>
            <a:r>
              <a:rPr lang="en-US" dirty="0" smtClean="0"/>
              <a:t>5.	</a:t>
            </a:r>
            <a:r>
              <a:rPr lang="en-US" b="1" dirty="0" smtClean="0"/>
              <a:t>Density:</a:t>
            </a:r>
          </a:p>
          <a:p>
            <a:pPr algn="just">
              <a:buNone/>
            </a:pPr>
            <a:r>
              <a:rPr lang="en-US" dirty="0" smtClean="0"/>
              <a:t>The maximum density of alkane is about 0.8, thus, all alkanes are lighter than water.</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Preparation of Alkanes</a:t>
            </a:r>
            <a:endParaRPr lang="en-US" dirty="0"/>
          </a:p>
        </p:txBody>
      </p:sp>
      <p:sp>
        <p:nvSpPr>
          <p:cNvPr id="3" name="Content Placeholder 2"/>
          <p:cNvSpPr>
            <a:spLocks noGrp="1"/>
          </p:cNvSpPr>
          <p:nvPr>
            <p:ph idx="1"/>
          </p:nvPr>
        </p:nvSpPr>
        <p:spPr>
          <a:xfrm>
            <a:off x="914400" y="1047750"/>
            <a:ext cx="3505200" cy="3810000"/>
          </a:xfrm>
          <a:ln w="25400">
            <a:solidFill>
              <a:srgbClr val="C00000"/>
            </a:solidFill>
          </a:ln>
        </p:spPr>
        <p:txBody>
          <a:bodyPr>
            <a:noAutofit/>
          </a:bodyPr>
          <a:lstStyle/>
          <a:p>
            <a:pPr algn="just"/>
            <a:r>
              <a:rPr lang="en-US" sz="2000" dirty="0" smtClean="0"/>
              <a:t>Alkanes are generally obtained from natural sources: petroleum and natural gas. However, synthetic methods are more practical when a pure alkane is required. Alkanes can be prepared from: (a) alkenes or a alkynes, (b) alkyl halides, and (c) carboxylic acids.</a:t>
            </a:r>
            <a:endParaRPr lang="en-US" sz="2000" dirty="0"/>
          </a:p>
        </p:txBody>
      </p:sp>
      <p:pic>
        <p:nvPicPr>
          <p:cNvPr id="13314" name="Picture 2"/>
          <p:cNvPicPr>
            <a:picLocks noChangeAspect="1" noChangeArrowheads="1"/>
          </p:cNvPicPr>
          <p:nvPr/>
        </p:nvPicPr>
        <p:blipFill>
          <a:blip r:embed="rId2">
            <a:duotone>
              <a:prstClr val="black"/>
              <a:schemeClr val="accent4">
                <a:tint val="45000"/>
                <a:satMod val="400000"/>
              </a:schemeClr>
            </a:duotone>
          </a:blip>
          <a:srcRect/>
          <a:stretch>
            <a:fillRect/>
          </a:stretch>
        </p:blipFill>
        <p:spPr bwMode="auto">
          <a:xfrm>
            <a:off x="4572000" y="971550"/>
            <a:ext cx="4419600" cy="3922520"/>
          </a:xfrm>
          <a:prstGeom prst="rect">
            <a:avLst/>
          </a:prstGeom>
          <a:noFill/>
          <a:ln w="9525">
            <a:noFill/>
            <a:miter lim="800000"/>
            <a:headEnd/>
            <a:tailEnd/>
          </a:ln>
          <a:effectLst/>
        </p:spPr>
      </p:pic>
      <p:grpSp>
        <p:nvGrpSpPr>
          <p:cNvPr id="5" name="Group 4"/>
          <p:cNvGrpSpPr/>
          <p:nvPr/>
        </p:nvGrpSpPr>
        <p:grpSpPr>
          <a:xfrm>
            <a:off x="4506" y="0"/>
            <a:ext cx="757494" cy="5143500"/>
            <a:chOff x="0" y="168206"/>
            <a:chExt cx="914400" cy="6689794"/>
          </a:xfrm>
        </p:grpSpPr>
        <p:sp>
          <p:nvSpPr>
            <p:cNvPr id="6" name="Rectangle 5"/>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8" name="Picture 7" descr="logo"/>
            <p:cNvPicPr>
              <a:picLocks noChangeAspect="1" noChangeArrowheads="1"/>
            </p:cNvPicPr>
            <p:nvPr/>
          </p:nvPicPr>
          <p:blipFill>
            <a:blip r:embed="rId3"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3350"/>
            <a:ext cx="3962400" cy="994171"/>
          </a:xfrm>
          <a:ln w="22225">
            <a:solidFill>
              <a:srgbClr val="C00000"/>
            </a:solidFill>
          </a:ln>
        </p:spPr>
        <p:txBody>
          <a:bodyPr>
            <a:normAutofit fontScale="90000"/>
          </a:bodyPr>
          <a:lstStyle/>
          <a:p>
            <a:r>
              <a:rPr lang="en-US" dirty="0" smtClean="0"/>
              <a:t>Reactions of Alkanes</a:t>
            </a:r>
            <a:endParaRPr lang="en-US" dirty="0"/>
          </a:p>
        </p:txBody>
      </p:sp>
      <p:sp>
        <p:nvSpPr>
          <p:cNvPr id="3" name="Content Placeholder 2"/>
          <p:cNvSpPr>
            <a:spLocks noGrp="1"/>
          </p:cNvSpPr>
          <p:nvPr>
            <p:ph idx="1"/>
          </p:nvPr>
        </p:nvSpPr>
        <p:spPr>
          <a:xfrm>
            <a:off x="762000" y="1200150"/>
            <a:ext cx="4038600" cy="3470672"/>
          </a:xfrm>
        </p:spPr>
        <p:txBody>
          <a:bodyPr>
            <a:normAutofit/>
          </a:bodyPr>
          <a:lstStyle/>
          <a:p>
            <a:pPr algn="just">
              <a:buNone/>
            </a:pPr>
            <a:r>
              <a:rPr lang="en-US" sz="1400" dirty="0" smtClean="0"/>
              <a:t>Alkanes are also known as paraffins. The name paraffin comes from two Latins words, “Paraum and affinis”, which mean “little affinity”. This name was suggested because these hydrocarbons were apparently unreactive. However, under certain conditions, alkanes can undergo the following reactions:</a:t>
            </a:r>
          </a:p>
          <a:p>
            <a:pPr algn="just">
              <a:buNone/>
            </a:pPr>
            <a:r>
              <a:rPr lang="en-US" sz="1400" b="1" dirty="0" smtClean="0"/>
              <a:t>Sulfonation reaction</a:t>
            </a:r>
          </a:p>
          <a:p>
            <a:pPr algn="just">
              <a:buNone/>
            </a:pPr>
            <a:endParaRPr lang="en-US" sz="1400" b="1" dirty="0" smtClean="0"/>
          </a:p>
          <a:p>
            <a:pPr algn="just">
              <a:buNone/>
            </a:pPr>
            <a:endParaRPr lang="en-US" sz="1400" b="1" dirty="0" smtClean="0"/>
          </a:p>
          <a:p>
            <a:pPr algn="just">
              <a:buNone/>
            </a:pPr>
            <a:endParaRPr lang="en-US" sz="1400" b="1" dirty="0" smtClean="0"/>
          </a:p>
          <a:p>
            <a:pPr algn="just">
              <a:buNone/>
            </a:pPr>
            <a:r>
              <a:rPr lang="en-US" sz="1400" b="1" dirty="0" smtClean="0"/>
              <a:t>Combustion/Oxidation</a:t>
            </a:r>
            <a:r>
              <a:rPr lang="en-US" sz="1400" dirty="0" smtClean="0"/>
              <a:t> leads to different products with KMnO</a:t>
            </a:r>
            <a:r>
              <a:rPr lang="en-US" sz="1400" baseline="-25000" dirty="0" smtClean="0"/>
              <a:t>4</a:t>
            </a:r>
            <a:r>
              <a:rPr lang="en-US" sz="1400" dirty="0" smtClean="0"/>
              <a:t> as oxidizing agent we get alcohol.  </a:t>
            </a:r>
          </a:p>
        </p:txBody>
      </p:sp>
      <p:pic>
        <p:nvPicPr>
          <p:cNvPr id="4" name="Picture 2"/>
          <p:cNvPicPr>
            <a:picLocks noChangeAspect="1" noChangeArrowheads="1"/>
          </p:cNvPicPr>
          <p:nvPr/>
        </p:nvPicPr>
        <p:blipFill>
          <a:blip r:embed="rId2">
            <a:duotone>
              <a:prstClr val="black"/>
              <a:schemeClr val="accent3">
                <a:tint val="45000"/>
                <a:satMod val="400000"/>
              </a:schemeClr>
            </a:duotone>
          </a:blip>
          <a:srcRect/>
          <a:stretch>
            <a:fillRect/>
          </a:stretch>
        </p:blipFill>
        <p:spPr bwMode="auto">
          <a:xfrm>
            <a:off x="4914497" y="76200"/>
            <a:ext cx="4077103" cy="3943350"/>
          </a:xfrm>
          <a:prstGeom prst="rect">
            <a:avLst/>
          </a:prstGeom>
          <a:noFill/>
          <a:ln w="9525">
            <a:noFill/>
            <a:miter lim="800000"/>
            <a:headEnd/>
            <a:tailEnd/>
          </a:ln>
          <a:effectLst/>
        </p:spPr>
      </p:pic>
      <p:pic>
        <p:nvPicPr>
          <p:cNvPr id="15362" name="Picture 2"/>
          <p:cNvPicPr>
            <a:picLocks noChangeAspect="1" noChangeArrowheads="1"/>
          </p:cNvPicPr>
          <p:nvPr/>
        </p:nvPicPr>
        <p:blipFill>
          <a:blip r:embed="rId3">
            <a:duotone>
              <a:prstClr val="black"/>
              <a:schemeClr val="accent3">
                <a:tint val="45000"/>
                <a:satMod val="400000"/>
              </a:schemeClr>
            </a:duotone>
          </a:blip>
          <a:srcRect/>
          <a:stretch>
            <a:fillRect/>
          </a:stretch>
        </p:blipFill>
        <p:spPr bwMode="auto">
          <a:xfrm>
            <a:off x="990600" y="3067050"/>
            <a:ext cx="3657599" cy="647700"/>
          </a:xfrm>
          <a:prstGeom prst="rect">
            <a:avLst/>
          </a:prstGeom>
          <a:noFill/>
          <a:ln w="9525">
            <a:noFill/>
            <a:miter lim="800000"/>
            <a:headEnd/>
            <a:tailEnd/>
          </a:ln>
          <a:effectLst/>
        </p:spPr>
      </p:pic>
      <p:pic>
        <p:nvPicPr>
          <p:cNvPr id="15363" name="Picture 3"/>
          <p:cNvPicPr>
            <a:picLocks noChangeAspect="1" noChangeArrowheads="1"/>
          </p:cNvPicPr>
          <p:nvPr/>
        </p:nvPicPr>
        <p:blipFill>
          <a:blip r:embed="rId4">
            <a:duotone>
              <a:prstClr val="black"/>
              <a:schemeClr val="accent3">
                <a:tint val="45000"/>
                <a:satMod val="400000"/>
              </a:schemeClr>
            </a:duotone>
          </a:blip>
          <a:srcRect/>
          <a:stretch>
            <a:fillRect/>
          </a:stretch>
        </p:blipFill>
        <p:spPr bwMode="auto">
          <a:xfrm>
            <a:off x="1219200" y="4324350"/>
            <a:ext cx="3228975" cy="742950"/>
          </a:xfrm>
          <a:prstGeom prst="rect">
            <a:avLst/>
          </a:prstGeom>
          <a:noFill/>
          <a:ln w="9525">
            <a:noFill/>
            <a:miter lim="800000"/>
            <a:headEnd/>
            <a:tailEnd/>
          </a:ln>
          <a:effectLst/>
        </p:spPr>
      </p:pic>
      <p:pic>
        <p:nvPicPr>
          <p:cNvPr id="15364" name="Picture 4"/>
          <p:cNvPicPr>
            <a:picLocks noChangeAspect="1" noChangeArrowheads="1"/>
          </p:cNvPicPr>
          <p:nvPr/>
        </p:nvPicPr>
        <p:blipFill>
          <a:blip r:embed="rId5">
            <a:duotone>
              <a:prstClr val="black"/>
              <a:schemeClr val="accent3">
                <a:tint val="45000"/>
                <a:satMod val="400000"/>
              </a:schemeClr>
            </a:duotone>
          </a:blip>
          <a:srcRect/>
          <a:stretch>
            <a:fillRect/>
          </a:stretch>
        </p:blipFill>
        <p:spPr bwMode="auto">
          <a:xfrm>
            <a:off x="5105400" y="4638675"/>
            <a:ext cx="3733800" cy="447675"/>
          </a:xfrm>
          <a:prstGeom prst="rect">
            <a:avLst/>
          </a:prstGeom>
          <a:noFill/>
          <a:ln w="9525">
            <a:noFill/>
            <a:miter lim="800000"/>
            <a:headEnd/>
            <a:tailEnd/>
          </a:ln>
          <a:effectLst/>
        </p:spPr>
      </p:pic>
      <p:sp>
        <p:nvSpPr>
          <p:cNvPr id="8" name="Rectangle 7"/>
          <p:cNvSpPr/>
          <p:nvPr/>
        </p:nvSpPr>
        <p:spPr>
          <a:xfrm>
            <a:off x="5257800" y="3953530"/>
            <a:ext cx="3657600" cy="738664"/>
          </a:xfrm>
          <a:prstGeom prst="rect">
            <a:avLst/>
          </a:prstGeom>
        </p:spPr>
        <p:txBody>
          <a:bodyPr wrap="square">
            <a:spAutoFit/>
          </a:bodyPr>
          <a:lstStyle/>
          <a:p>
            <a:pPr algn="just">
              <a:buNone/>
            </a:pPr>
            <a:r>
              <a:rPr lang="en-US" sz="1400" dirty="0" smtClean="0"/>
              <a:t>The general formula for combustion or oxidation reaction to produce CO</a:t>
            </a:r>
            <a:r>
              <a:rPr lang="en-US" sz="1400" baseline="-25000" dirty="0" smtClean="0"/>
              <a:t>2</a:t>
            </a:r>
            <a:r>
              <a:rPr lang="en-US" sz="1400" dirty="0" smtClean="0"/>
              <a:t> and water is given below:</a:t>
            </a:r>
            <a:endParaRPr lang="en-US" sz="1400" b="1" dirty="0" smtClean="0"/>
          </a:p>
        </p:txBody>
      </p:sp>
      <p:grpSp>
        <p:nvGrpSpPr>
          <p:cNvPr id="9" name="Group 8"/>
          <p:cNvGrpSpPr/>
          <p:nvPr/>
        </p:nvGrpSpPr>
        <p:grpSpPr>
          <a:xfrm>
            <a:off x="4506" y="0"/>
            <a:ext cx="757494" cy="5143500"/>
            <a:chOff x="0" y="168206"/>
            <a:chExt cx="914400" cy="6689794"/>
          </a:xfrm>
        </p:grpSpPr>
        <p:sp>
          <p:nvSpPr>
            <p:cNvPr id="10" name="Rectangle 9"/>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2" name="Picture 7" descr="logo"/>
            <p:cNvPicPr>
              <a:picLocks noChangeAspect="1" noChangeArrowheads="1"/>
            </p:cNvPicPr>
            <p:nvPr/>
          </p:nvPicPr>
          <p:blipFill>
            <a:blip r:embed="rId6"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3350"/>
            <a:ext cx="8229600" cy="857250"/>
          </a:xfrm>
          <a:noFill/>
          <a:ln w="25400">
            <a:solidFill>
              <a:srgbClr val="C00000"/>
            </a:solidFill>
          </a:ln>
        </p:spPr>
        <p:txBody>
          <a:bodyPr/>
          <a:lstStyle/>
          <a:p>
            <a:r>
              <a:rPr lang="en-US" dirty="0" smtClean="0"/>
              <a:t>Reactions of Alkanes</a:t>
            </a:r>
            <a:endParaRPr lang="en-US" dirty="0"/>
          </a:p>
        </p:txBody>
      </p:sp>
      <p:sp>
        <p:nvSpPr>
          <p:cNvPr id="3" name="Content Placeholder 2"/>
          <p:cNvSpPr>
            <a:spLocks noGrp="1"/>
          </p:cNvSpPr>
          <p:nvPr>
            <p:ph idx="1"/>
          </p:nvPr>
        </p:nvSpPr>
        <p:spPr>
          <a:xfrm>
            <a:off x="457200" y="971550"/>
            <a:ext cx="8229600" cy="3394472"/>
          </a:xfrm>
        </p:spPr>
        <p:txBody>
          <a:bodyPr>
            <a:normAutofit fontScale="77500" lnSpcReduction="20000"/>
          </a:bodyPr>
          <a:lstStyle/>
          <a:p>
            <a:pPr algn="just">
              <a:buFont typeface="Wingdings" pitchFamily="2" charset="2"/>
              <a:buChar char="q"/>
            </a:pPr>
            <a:r>
              <a:rPr lang="en-US" sz="2400" b="1" dirty="0" smtClean="0"/>
              <a:t>Combustion</a:t>
            </a:r>
          </a:p>
          <a:p>
            <a:pPr algn="just"/>
            <a:r>
              <a:rPr lang="en-US" sz="2400" dirty="0" smtClean="0"/>
              <a:t>When ignited in the presence of excess oxygen/air, alkanes are oxidized into carbon dioxide and water and heat is liberated (160 kcal of heat is liberated for each methyl group).</a:t>
            </a:r>
          </a:p>
          <a:p>
            <a:pPr algn="just"/>
            <a:endParaRPr lang="en-US" sz="2400" dirty="0" smtClean="0"/>
          </a:p>
          <a:p>
            <a:pPr algn="just"/>
            <a:endParaRPr lang="en-US" sz="2400" dirty="0" smtClean="0"/>
          </a:p>
          <a:p>
            <a:pPr algn="just"/>
            <a:endParaRPr lang="en-US" sz="2400" dirty="0" smtClean="0"/>
          </a:p>
          <a:p>
            <a:pPr algn="just"/>
            <a:endParaRPr lang="en-US" sz="2400" dirty="0" smtClean="0"/>
          </a:p>
          <a:p>
            <a:pPr algn="just">
              <a:buNone/>
            </a:pPr>
            <a:endParaRPr lang="en-US" sz="2400" dirty="0" smtClean="0"/>
          </a:p>
          <a:p>
            <a:pPr algn="just"/>
            <a:endParaRPr lang="en-US" sz="2400" dirty="0" smtClean="0"/>
          </a:p>
          <a:p>
            <a:pPr algn="just"/>
            <a:r>
              <a:rPr lang="en-US" sz="2400" dirty="0" smtClean="0"/>
              <a:t>Incomplete combustion of alkenes yields poisonous carbon monoxide (CO) or carbon. Both of which contribute to air pollution.</a:t>
            </a:r>
            <a:endParaRPr lang="en-US" sz="2400" dirty="0"/>
          </a:p>
        </p:txBody>
      </p:sp>
      <p:pic>
        <p:nvPicPr>
          <p:cNvPr id="20483" name="Picture 3"/>
          <p:cNvPicPr>
            <a:picLocks noChangeAspect="1" noChangeArrowheads="1"/>
          </p:cNvPicPr>
          <p:nvPr/>
        </p:nvPicPr>
        <p:blipFill>
          <a:blip r:embed="rId2">
            <a:duotone>
              <a:prstClr val="black"/>
              <a:schemeClr val="accent6">
                <a:tint val="45000"/>
                <a:satMod val="400000"/>
              </a:schemeClr>
            </a:duotone>
          </a:blip>
          <a:srcRect/>
          <a:stretch>
            <a:fillRect/>
          </a:stretch>
        </p:blipFill>
        <p:spPr bwMode="auto">
          <a:xfrm>
            <a:off x="2438400" y="2038350"/>
            <a:ext cx="4286250" cy="1600200"/>
          </a:xfrm>
          <a:prstGeom prst="rect">
            <a:avLst/>
          </a:prstGeom>
          <a:noFill/>
          <a:ln w="9525">
            <a:noFill/>
            <a:miter lim="800000"/>
            <a:headEnd/>
            <a:tailEnd/>
          </a:ln>
          <a:effectLst/>
        </p:spPr>
      </p:pic>
      <p:pic>
        <p:nvPicPr>
          <p:cNvPr id="21506" name="Picture 2"/>
          <p:cNvPicPr>
            <a:picLocks noChangeAspect="1" noChangeArrowheads="1"/>
          </p:cNvPicPr>
          <p:nvPr/>
        </p:nvPicPr>
        <p:blipFill>
          <a:blip r:embed="rId3">
            <a:duotone>
              <a:prstClr val="black"/>
              <a:schemeClr val="accent6">
                <a:tint val="45000"/>
                <a:satMod val="400000"/>
              </a:schemeClr>
            </a:duotone>
          </a:blip>
          <a:srcRect/>
          <a:stretch>
            <a:fillRect/>
          </a:stretch>
        </p:blipFill>
        <p:spPr bwMode="auto">
          <a:xfrm>
            <a:off x="2905125" y="4248150"/>
            <a:ext cx="3571875" cy="8953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Alkenes</a:t>
            </a:r>
            <a:endParaRPr lang="en-US" dirty="0"/>
          </a:p>
        </p:txBody>
      </p:sp>
      <p:sp>
        <p:nvSpPr>
          <p:cNvPr id="3" name="Content Placeholder 2"/>
          <p:cNvSpPr>
            <a:spLocks noGrp="1"/>
          </p:cNvSpPr>
          <p:nvPr>
            <p:ph idx="1"/>
          </p:nvPr>
        </p:nvSpPr>
        <p:spPr>
          <a:xfrm>
            <a:off x="685800" y="1200151"/>
            <a:ext cx="8229600" cy="3394472"/>
          </a:xfrm>
          <a:ln w="22225">
            <a:solidFill>
              <a:srgbClr val="C00000"/>
            </a:solidFill>
          </a:ln>
          <a:effectLst>
            <a:innerShdw blurRad="63500" dist="50800" dir="18900000">
              <a:prstClr val="black">
                <a:alpha val="50000"/>
              </a:prstClr>
            </a:innerShdw>
          </a:effectLst>
        </p:spPr>
        <p:txBody>
          <a:bodyPr>
            <a:normAutofit fontScale="70000" lnSpcReduction="20000"/>
          </a:bodyPr>
          <a:lstStyle/>
          <a:p>
            <a:pPr algn="just"/>
            <a:r>
              <a:rPr lang="en-US" dirty="0" smtClean="0"/>
              <a:t>Alkenes, also called olefins, are acyclic unsaturated hydrocarbons which contain one or more carbon-carbon double bond(s). Alkene family has the general formula C</a:t>
            </a:r>
            <a:r>
              <a:rPr lang="en-US" baseline="-25000" dirty="0" smtClean="0"/>
              <a:t>n</a:t>
            </a:r>
            <a:r>
              <a:rPr lang="en-US" dirty="0" smtClean="0"/>
              <a:t>H</a:t>
            </a:r>
            <a:r>
              <a:rPr lang="en-US" baseline="-25000" dirty="0" smtClean="0"/>
              <a:t>2n</a:t>
            </a:r>
            <a:r>
              <a:rPr lang="en-US" dirty="0" smtClean="0"/>
              <a:t>. Thus the simplest member of alkene family is ethene with the molecular formula C</a:t>
            </a:r>
            <a:r>
              <a:rPr lang="en-US" baseline="-25000" dirty="0" smtClean="0"/>
              <a:t>2</a:t>
            </a:r>
            <a:r>
              <a:rPr lang="en-US" dirty="0" smtClean="0"/>
              <a:t>H</a:t>
            </a:r>
            <a:r>
              <a:rPr lang="en-US" baseline="-25000" dirty="0" smtClean="0"/>
              <a:t>4 </a:t>
            </a:r>
            <a:r>
              <a:rPr lang="en-US" dirty="0" smtClean="0"/>
              <a:t>and structural formula of CH</a:t>
            </a:r>
            <a:r>
              <a:rPr lang="en-US" baseline="-25000" dirty="0" smtClean="0"/>
              <a:t>2</a:t>
            </a:r>
            <a:r>
              <a:rPr lang="en-US" dirty="0" smtClean="0"/>
              <a:t>=CH</a:t>
            </a:r>
            <a:r>
              <a:rPr lang="en-US" baseline="-25000" dirty="0" smtClean="0"/>
              <a:t>2</a:t>
            </a:r>
            <a:r>
              <a:rPr lang="en-US" dirty="0" smtClean="0"/>
              <a:t>. The next member contains three carbon atoms and has molecular formula C</a:t>
            </a:r>
            <a:r>
              <a:rPr lang="en-US" baseline="-25000" dirty="0" smtClean="0"/>
              <a:t>3</a:t>
            </a:r>
            <a:r>
              <a:rPr lang="en-US" dirty="0" smtClean="0"/>
              <a:t>H</a:t>
            </a:r>
            <a:r>
              <a:rPr lang="en-US" baseline="-25000" dirty="0" smtClean="0"/>
              <a:t>6</a:t>
            </a:r>
            <a:r>
              <a:rPr lang="en-US" dirty="0" smtClean="0"/>
              <a:t>. While the structural formula is CH</a:t>
            </a:r>
            <a:r>
              <a:rPr lang="en-US" baseline="-25000" dirty="0" smtClean="0"/>
              <a:t>2</a:t>
            </a:r>
            <a:r>
              <a:rPr lang="en-US" dirty="0" smtClean="0"/>
              <a:t>=CH-CH</a:t>
            </a:r>
            <a:r>
              <a:rPr lang="en-US" baseline="-25000" dirty="0" smtClean="0"/>
              <a:t>3</a:t>
            </a:r>
            <a:r>
              <a:rPr lang="en-US" dirty="0" smtClean="0"/>
              <a:t>. Cycloalkenes are cyclic derivatives of alkenes and are called alicyclic</a:t>
            </a:r>
            <a:r>
              <a:rPr lang="en-US" dirty="0" smtClean="0">
                <a:solidFill>
                  <a:srgbClr val="C00000"/>
                </a:solidFill>
              </a:rPr>
              <a:t> </a:t>
            </a:r>
            <a:r>
              <a:rPr lang="en-US" dirty="0" smtClean="0"/>
              <a:t>alkenes.</a:t>
            </a:r>
          </a:p>
          <a:p>
            <a:pPr algn="just"/>
            <a:r>
              <a:rPr lang="en-US" dirty="0" smtClean="0"/>
              <a:t>Alkenes are often obtained as plant products or as in petroleum products. Many alkenes are biologically active compounds. For example, ethene induces ripening in fruit.</a:t>
            </a:r>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Physical Properties</a:t>
            </a:r>
            <a:endParaRPr lang="en-US" dirty="0"/>
          </a:p>
        </p:txBody>
      </p:sp>
      <p:sp>
        <p:nvSpPr>
          <p:cNvPr id="3" name="Content Placeholder 2"/>
          <p:cNvSpPr>
            <a:spLocks noGrp="1"/>
          </p:cNvSpPr>
          <p:nvPr>
            <p:ph idx="1"/>
          </p:nvPr>
        </p:nvSpPr>
        <p:spPr>
          <a:xfrm>
            <a:off x="304800" y="1200150"/>
            <a:ext cx="3810000" cy="3394472"/>
          </a:xfrm>
          <a:ln w="22225">
            <a:solidFill>
              <a:srgbClr val="C00000"/>
            </a:solidFill>
          </a:ln>
        </p:spPr>
        <p:txBody>
          <a:bodyPr>
            <a:normAutofit fontScale="40000" lnSpcReduction="20000"/>
          </a:bodyPr>
          <a:lstStyle/>
          <a:p>
            <a:pPr algn="just"/>
            <a:r>
              <a:rPr lang="en-US" dirty="0" smtClean="0"/>
              <a:t>Physical Properties In general, the physical properties of alkenes are similar to those of the corresponding alkanes. </a:t>
            </a:r>
          </a:p>
          <a:p>
            <a:pPr algn="just"/>
            <a:r>
              <a:rPr lang="en-US" dirty="0" smtClean="0"/>
              <a:t>Like alkanes, the boiling points of a homologous series of alkenes increase 20-30K per additional CH</a:t>
            </a:r>
            <a:r>
              <a:rPr lang="en-US" baseline="-25000" dirty="0" smtClean="0"/>
              <a:t>2</a:t>
            </a:r>
            <a:r>
              <a:rPr lang="en-US" dirty="0" smtClean="0"/>
              <a:t> group except for the very few homologues. </a:t>
            </a:r>
          </a:p>
          <a:p>
            <a:pPr algn="just"/>
            <a:r>
              <a:rPr lang="en-US" dirty="0" smtClean="0"/>
              <a:t>Like alkanes, branching in an alkene also lowers the boiling point. </a:t>
            </a:r>
          </a:p>
          <a:p>
            <a:pPr algn="just"/>
            <a:r>
              <a:rPr lang="en-US" dirty="0" smtClean="0"/>
              <a:t>Lower alkenes, from ethane to butane, are colourless gases, higher ones, from C5 - C15, are liquids and the rest are solids at room temperature. </a:t>
            </a:r>
          </a:p>
          <a:p>
            <a:pPr algn="just"/>
            <a:r>
              <a:rPr lang="en-US" dirty="0" smtClean="0"/>
              <a:t>Alkenes are completely soluble in nonpolar solvents but slightly more soluble in water than the corresponding alkanes because the π - electrons are attracted to the partially positive hydrogen of the water molecules.</a:t>
            </a:r>
            <a:endParaRPr lang="en-US" dirty="0"/>
          </a:p>
        </p:txBody>
      </p:sp>
      <p:pic>
        <p:nvPicPr>
          <p:cNvPr id="4" name="Picture 2"/>
          <p:cNvPicPr>
            <a:picLocks noChangeAspect="1" noChangeArrowheads="1"/>
          </p:cNvPicPr>
          <p:nvPr/>
        </p:nvPicPr>
        <p:blipFill>
          <a:blip r:embed="rId2"/>
          <a:srcRect/>
          <a:stretch>
            <a:fillRect/>
          </a:stretch>
        </p:blipFill>
        <p:spPr bwMode="auto">
          <a:xfrm>
            <a:off x="4191000" y="971550"/>
            <a:ext cx="4876800" cy="3906444"/>
          </a:xfrm>
          <a:prstGeom prst="rect">
            <a:avLst/>
          </a:prstGeom>
          <a:noFill/>
          <a:ln w="9525">
            <a:noFill/>
            <a:miter lim="800000"/>
            <a:headEnd/>
            <a:tailEnd/>
          </a:ln>
          <a:effectLst/>
        </p:spPr>
      </p:pic>
      <p:sp>
        <p:nvSpPr>
          <p:cNvPr id="5" name="TextBox 4"/>
          <p:cNvSpPr txBox="1"/>
          <p:nvPr/>
        </p:nvSpPr>
        <p:spPr>
          <a:xfrm>
            <a:off x="4191000" y="4705350"/>
            <a:ext cx="4953000" cy="276999"/>
          </a:xfrm>
          <a:prstGeom prst="rect">
            <a:avLst/>
          </a:prstGeom>
          <a:noFill/>
        </p:spPr>
        <p:txBody>
          <a:bodyPr wrap="square" rtlCol="0">
            <a:spAutoFit/>
          </a:bodyPr>
          <a:lstStyle/>
          <a:p>
            <a:r>
              <a:rPr lang="en-US" sz="1200" b="1" dirty="0" smtClean="0"/>
              <a:t>Fig. 1.6</a:t>
            </a:r>
            <a:r>
              <a:rPr lang="en-US" sz="1200" dirty="0" smtClean="0"/>
              <a:t>: Physical properties of alkenes</a:t>
            </a:r>
            <a:endParaRPr lang="en-US" sz="1200"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Preparation of Alkenes</a:t>
            </a:r>
            <a:endParaRPr lang="en-US" dirty="0"/>
          </a:p>
        </p:txBody>
      </p:sp>
      <p:pic>
        <p:nvPicPr>
          <p:cNvPr id="28674" name="Picture 2"/>
          <p:cNvPicPr>
            <a:picLocks noChangeAspect="1" noChangeArrowheads="1"/>
          </p:cNvPicPr>
          <p:nvPr/>
        </p:nvPicPr>
        <p:blipFill>
          <a:blip r:embed="rId2">
            <a:duotone>
              <a:prstClr val="black"/>
              <a:schemeClr val="accent3">
                <a:tint val="45000"/>
                <a:satMod val="400000"/>
              </a:schemeClr>
            </a:duotone>
          </a:blip>
          <a:srcRect/>
          <a:stretch>
            <a:fillRect/>
          </a:stretch>
        </p:blipFill>
        <p:spPr bwMode="auto">
          <a:xfrm>
            <a:off x="1371600" y="4019550"/>
            <a:ext cx="3429000" cy="1017507"/>
          </a:xfrm>
          <a:prstGeom prst="rect">
            <a:avLst/>
          </a:prstGeom>
          <a:noFill/>
          <a:ln w="9525">
            <a:noFill/>
            <a:miter lim="800000"/>
            <a:headEnd/>
            <a:tailEnd/>
          </a:ln>
          <a:effectLst/>
        </p:spPr>
      </p:pic>
      <p:sp>
        <p:nvSpPr>
          <p:cNvPr id="6" name="Content Placeholder 2"/>
          <p:cNvSpPr txBox="1">
            <a:spLocks/>
          </p:cNvSpPr>
          <p:nvPr/>
        </p:nvSpPr>
        <p:spPr>
          <a:xfrm>
            <a:off x="990600" y="929878"/>
            <a:ext cx="3962400" cy="3089672"/>
          </a:xfrm>
          <a:prstGeom prst="rect">
            <a:avLst/>
          </a:prstGeom>
          <a:ln w="22225">
            <a:solidFill>
              <a:srgbClr val="C00000"/>
            </a:solidFill>
          </a:ln>
        </p:spPr>
        <p:txBody>
          <a:bodyPr vert="horz" lIns="91440" tIns="45720" rIns="91440" bIns="45720" rtlCol="0">
            <a:normAutofit lnSpcReduction="10000"/>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latin typeface="+mn-lt"/>
                <a:ea typeface="+mn-ea"/>
                <a:cs typeface="+mn-cs"/>
              </a:rPr>
              <a:t>Synthetically, alkenes are prepared by introducing a double bond in saturated hydrocarbons through elimination of atoms or groups from two adjacent carbon atoms. The result is the formation of a double bond between these two carbon atoms.</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latin typeface="+mn-lt"/>
                <a:ea typeface="+mn-ea"/>
                <a:cs typeface="+mn-cs"/>
              </a:rPr>
              <a:t>Alkenes can be prepared from alkyl halides, alcohol and ketones and through cleavage reactions. X</a:t>
            </a:r>
            <a:endParaRPr kumimoji="0" lang="en-US" b="0" i="0" u="none" strike="noStrike" kern="1200" cap="none" spc="0" normalizeH="0" baseline="0" noProof="0" dirty="0">
              <a:ln>
                <a:noFill/>
              </a:ln>
              <a:solidFill>
                <a:schemeClr val="tx1"/>
              </a:solidFill>
              <a:effectLst/>
              <a:uLnTx/>
              <a:uFillTx/>
              <a:latin typeface="+mn-lt"/>
              <a:ea typeface="+mn-ea"/>
              <a:cs typeface="+mn-cs"/>
            </a:endParaRPr>
          </a:p>
        </p:txBody>
      </p:sp>
      <p:pic>
        <p:nvPicPr>
          <p:cNvPr id="7" name="Picture 2"/>
          <p:cNvPicPr>
            <a:picLocks noChangeAspect="1" noChangeArrowheads="1"/>
          </p:cNvPicPr>
          <p:nvPr/>
        </p:nvPicPr>
        <p:blipFill>
          <a:blip r:embed="rId3">
            <a:duotone>
              <a:prstClr val="black"/>
              <a:schemeClr val="accent3">
                <a:tint val="45000"/>
                <a:satMod val="400000"/>
              </a:schemeClr>
            </a:duotone>
          </a:blip>
          <a:srcRect/>
          <a:stretch>
            <a:fillRect/>
          </a:stretch>
        </p:blipFill>
        <p:spPr bwMode="auto">
          <a:xfrm>
            <a:off x="5105400" y="971550"/>
            <a:ext cx="3269532" cy="35000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458200" cy="857250"/>
          </a:xfrm>
          <a:ln w="22225">
            <a:solidFill>
              <a:srgbClr val="C00000"/>
            </a:solidFill>
          </a:ln>
        </p:spPr>
        <p:txBody>
          <a:bodyPr/>
          <a:lstStyle/>
          <a:p>
            <a:r>
              <a:rPr lang="en-US" dirty="0" smtClean="0"/>
              <a:t>Reactions of Alkenes</a:t>
            </a:r>
            <a:endParaRPr lang="en-US" dirty="0"/>
          </a:p>
        </p:txBody>
      </p:sp>
      <p:pic>
        <p:nvPicPr>
          <p:cNvPr id="1026" name="Picture 2"/>
          <p:cNvPicPr>
            <a:picLocks noChangeAspect="1" noChangeArrowheads="1"/>
          </p:cNvPicPr>
          <p:nvPr/>
        </p:nvPicPr>
        <p:blipFill>
          <a:blip r:embed="rId2">
            <a:duotone>
              <a:prstClr val="black"/>
              <a:schemeClr val="accent3">
                <a:tint val="45000"/>
                <a:satMod val="400000"/>
              </a:schemeClr>
            </a:duotone>
          </a:blip>
          <a:stretch>
            <a:fillRect/>
          </a:stretch>
        </p:blipFill>
        <p:spPr bwMode="auto">
          <a:xfrm>
            <a:off x="533400" y="1171575"/>
            <a:ext cx="4114800" cy="3838575"/>
          </a:xfrm>
          <a:prstGeom prst="rect">
            <a:avLst/>
          </a:prstGeom>
          <a:noFill/>
          <a:ln>
            <a:noFill/>
          </a:ln>
        </p:spPr>
      </p:pic>
      <p:pic>
        <p:nvPicPr>
          <p:cNvPr id="4" name="Picture 2"/>
          <p:cNvPicPr>
            <a:picLocks noChangeAspect="1" noChangeArrowheads="1"/>
          </p:cNvPicPr>
          <p:nvPr/>
        </p:nvPicPr>
        <p:blipFill>
          <a:blip r:embed="rId3">
            <a:duotone>
              <a:prstClr val="black"/>
              <a:schemeClr val="accent6">
                <a:tint val="45000"/>
                <a:satMod val="400000"/>
              </a:schemeClr>
            </a:duotone>
          </a:blip>
          <a:stretch>
            <a:fillRect/>
          </a:stretch>
        </p:blipFill>
        <p:spPr bwMode="auto">
          <a:xfrm>
            <a:off x="4724400" y="1200150"/>
            <a:ext cx="4191000" cy="3810000"/>
          </a:xfrm>
          <a:prstGeom prst="rect">
            <a:avLst/>
          </a:prstGeom>
          <a:noFill/>
          <a:ln>
            <a:noFill/>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Alkynes</a:t>
            </a:r>
            <a:endParaRPr lang="en-US" dirty="0"/>
          </a:p>
        </p:txBody>
      </p:sp>
      <p:sp>
        <p:nvSpPr>
          <p:cNvPr id="3" name="Content Placeholder 2"/>
          <p:cNvSpPr>
            <a:spLocks noGrp="1"/>
          </p:cNvSpPr>
          <p:nvPr>
            <p:ph idx="1"/>
          </p:nvPr>
        </p:nvSpPr>
        <p:spPr>
          <a:xfrm>
            <a:off x="838200" y="1123950"/>
            <a:ext cx="4114800" cy="3733800"/>
          </a:xfrm>
          <a:ln w="22225">
            <a:solidFill>
              <a:srgbClr val="C00000"/>
            </a:solidFill>
          </a:ln>
        </p:spPr>
        <p:txBody>
          <a:bodyPr>
            <a:noAutofit/>
          </a:bodyPr>
          <a:lstStyle/>
          <a:p>
            <a:pPr algn="just"/>
            <a:r>
              <a:rPr lang="en-US" sz="1400" dirty="0" smtClean="0"/>
              <a:t>Alkynes are hydrocarbons which contain carbon-carbon triple bond with general formula C</a:t>
            </a:r>
            <a:r>
              <a:rPr lang="en-US" sz="1400" baseline="-25000" dirty="0" smtClean="0"/>
              <a:t>n</a:t>
            </a:r>
            <a:r>
              <a:rPr lang="en-US" sz="1400" dirty="0" smtClean="0"/>
              <a:t>H</a:t>
            </a:r>
            <a:r>
              <a:rPr lang="en-US" sz="1400" baseline="-25000" dirty="0" smtClean="0"/>
              <a:t>2n-2</a:t>
            </a:r>
            <a:r>
              <a:rPr lang="en-US" sz="1400" dirty="0" smtClean="0"/>
              <a:t>. </a:t>
            </a:r>
          </a:p>
          <a:p>
            <a:pPr algn="just"/>
            <a:r>
              <a:rPr lang="en-US" sz="1400" dirty="0" smtClean="0"/>
              <a:t>Ethyne, CH ≡ CH, the simplest alkyne, was burnt in the miners’ lamps before electric lamps were developed. It is used in oxyacetylene torches for cutting and welding metals. It is extensively used as a fuel gas. In industry, it is the starting material for the preparation of many important chemicals, e.g., ethanoic acid, chloroethene (vinyl chloride), propanone, butanol, ethanol, etc. </a:t>
            </a:r>
          </a:p>
          <a:p>
            <a:pPr algn="just"/>
            <a:r>
              <a:rPr lang="en-US" sz="1400" dirty="0" smtClean="0"/>
              <a:t>A large number of naturally occurring compounds containing triple bonds have been isolated from plant kingdom. For example, a </a:t>
            </a:r>
            <a:r>
              <a:rPr lang="en-US" sz="1400" dirty="0" err="1" smtClean="0"/>
              <a:t>triyne</a:t>
            </a:r>
            <a:r>
              <a:rPr lang="en-US" sz="1400" dirty="0" smtClean="0"/>
              <a:t> from safflower has considerable activity against nematodes and evidently forms part of the plant’s chemical defiance against infestation.   </a:t>
            </a:r>
            <a:endParaRPr lang="en-US" sz="1400" dirty="0"/>
          </a:p>
        </p:txBody>
      </p:sp>
      <p:pic>
        <p:nvPicPr>
          <p:cNvPr id="5" name="Picture 2"/>
          <p:cNvPicPr>
            <a:picLocks noChangeAspect="1" noChangeArrowheads="1"/>
          </p:cNvPicPr>
          <p:nvPr/>
        </p:nvPicPr>
        <p:blipFill>
          <a:blip r:embed="rId2">
            <a:duotone>
              <a:prstClr val="black"/>
              <a:schemeClr val="accent3">
                <a:tint val="45000"/>
                <a:satMod val="400000"/>
              </a:schemeClr>
            </a:duotone>
          </a:blip>
          <a:srcRect/>
          <a:stretch>
            <a:fillRect/>
          </a:stretch>
        </p:blipFill>
        <p:spPr bwMode="auto">
          <a:xfrm>
            <a:off x="5029200" y="2571750"/>
            <a:ext cx="3969482" cy="6667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Physical Properties</a:t>
            </a:r>
            <a:endParaRPr lang="en-US" dirty="0"/>
          </a:p>
        </p:txBody>
      </p:sp>
      <p:sp>
        <p:nvSpPr>
          <p:cNvPr id="3" name="Content Placeholder 2"/>
          <p:cNvSpPr>
            <a:spLocks noGrp="1"/>
          </p:cNvSpPr>
          <p:nvPr>
            <p:ph idx="1"/>
          </p:nvPr>
        </p:nvSpPr>
        <p:spPr>
          <a:xfrm>
            <a:off x="838200" y="971550"/>
            <a:ext cx="8229600" cy="4114800"/>
          </a:xfrm>
          <a:ln w="22225">
            <a:solidFill>
              <a:srgbClr val="C00000"/>
            </a:solidFill>
          </a:ln>
        </p:spPr>
        <p:txBody>
          <a:bodyPr>
            <a:noAutofit/>
          </a:bodyPr>
          <a:lstStyle/>
          <a:p>
            <a:pPr algn="just">
              <a:buNone/>
            </a:pPr>
            <a:r>
              <a:rPr lang="en-US" sz="1600" dirty="0" smtClean="0"/>
              <a:t>The physical properties of alkynes are similar to those of corresponding alkenes.</a:t>
            </a:r>
          </a:p>
          <a:p>
            <a:pPr algn="just">
              <a:buFont typeface="Wingdings" pitchFamily="2" charset="2"/>
              <a:buChar char="q"/>
            </a:pPr>
            <a:r>
              <a:rPr lang="en-US" sz="1600" dirty="0" smtClean="0"/>
              <a:t>They are all colourless and odourless (except ethyne)</a:t>
            </a:r>
          </a:p>
          <a:p>
            <a:pPr algn="just">
              <a:buFont typeface="Wingdings" pitchFamily="2" charset="2"/>
              <a:buChar char="q"/>
            </a:pPr>
            <a:r>
              <a:rPr lang="en-US" sz="1600" dirty="0" smtClean="0"/>
              <a:t>The first three members (C2 to C4), i.e., ethyne, propyne and 1-butyne, are gases at room temperature; the next eight members (C5 to C C12) are liquids and the higher members (C13 or greater) are solids. </a:t>
            </a:r>
          </a:p>
          <a:p>
            <a:pPr algn="just">
              <a:buFont typeface="Wingdings" pitchFamily="2" charset="2"/>
              <a:buChar char="q"/>
            </a:pPr>
            <a:r>
              <a:rPr lang="en-US" sz="1600" dirty="0" smtClean="0"/>
              <a:t>The physical constants like melting points, boiling points and densities increase gradually with the increase in molecular weight. </a:t>
            </a:r>
          </a:p>
          <a:p>
            <a:pPr algn="just">
              <a:buFont typeface="Wingdings" pitchFamily="2" charset="2"/>
              <a:buChar char="q"/>
            </a:pPr>
            <a:r>
              <a:rPr lang="en-US" sz="1600" dirty="0" smtClean="0"/>
              <a:t>Alkynes have slightly higher boiling points than the corresponding alkenes and alkanes. </a:t>
            </a:r>
          </a:p>
          <a:p>
            <a:pPr algn="just">
              <a:buFont typeface="Wingdings" pitchFamily="2" charset="2"/>
              <a:buChar char="q"/>
            </a:pPr>
            <a:r>
              <a:rPr lang="en-US" sz="1600" dirty="0" smtClean="0"/>
              <a:t>Terminal alkynes have lower boiling points than the isomeric internal alkynes and can be separated by careful fractional distillation. </a:t>
            </a:r>
          </a:p>
          <a:p>
            <a:pPr algn="just">
              <a:buFont typeface="Wingdings" pitchFamily="2" charset="2"/>
              <a:buChar char="q"/>
            </a:pPr>
            <a:r>
              <a:rPr lang="en-US" sz="1600" dirty="0" smtClean="0"/>
              <a:t>Alkynes share with alkanes and alkenes the properties of low density and low water solubility. They are nonpolar and dissolve readily in typical organic solvents, such as diethyl ether, chlorinated hydrocarbons, etc</a:t>
            </a:r>
          </a:p>
          <a:p>
            <a:pPr algn="just">
              <a:buNone/>
            </a:pPr>
            <a:r>
              <a:rPr lang="en-US" sz="1600" b="1" dirty="0" smtClean="0"/>
              <a:t>	Note: </a:t>
            </a:r>
            <a:r>
              <a:rPr lang="en-US" sz="1600" dirty="0" smtClean="0"/>
              <a:t>The increase in boiling point with increase in molecular weight is due to increased London forces.</a:t>
            </a:r>
            <a:endParaRPr lang="en-US" sz="16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Preparation </a:t>
            </a:r>
            <a:endParaRPr lang="en-US" dirty="0"/>
          </a:p>
        </p:txBody>
      </p:sp>
      <p:sp>
        <p:nvSpPr>
          <p:cNvPr id="3" name="Content Placeholder 2"/>
          <p:cNvSpPr>
            <a:spLocks noGrp="1"/>
          </p:cNvSpPr>
          <p:nvPr>
            <p:ph idx="1"/>
          </p:nvPr>
        </p:nvSpPr>
        <p:spPr>
          <a:xfrm>
            <a:off x="381000" y="1276350"/>
            <a:ext cx="3733800" cy="3394472"/>
          </a:xfrm>
          <a:ln w="22225">
            <a:solidFill>
              <a:srgbClr val="C00000"/>
            </a:solidFill>
          </a:ln>
        </p:spPr>
        <p:txBody>
          <a:bodyPr>
            <a:normAutofit fontScale="92500" lnSpcReduction="10000"/>
          </a:bodyPr>
          <a:lstStyle/>
          <a:p>
            <a:pPr algn="just"/>
            <a:r>
              <a:rPr lang="en-US" sz="2000" dirty="0" smtClean="0"/>
              <a:t>Organic synthesis makes use of two major reaction types: one is functional group transformation and the other is carbon-carbon bond forming reaction. Both these strategies are applied to the preparation of alkynes. In this unit, we shall discuss how alkynes are prepared by elimination reactions and by adding alkyl group(s) to the smaller ethyne unit. </a:t>
            </a:r>
            <a:endParaRPr lang="en-US" sz="2000" dirty="0"/>
          </a:p>
        </p:txBody>
      </p:sp>
      <p:pic>
        <p:nvPicPr>
          <p:cNvPr id="4" name="Picture 2"/>
          <p:cNvPicPr>
            <a:picLocks noChangeAspect="1" noChangeArrowheads="1"/>
          </p:cNvPicPr>
          <p:nvPr/>
        </p:nvPicPr>
        <p:blipFill>
          <a:blip r:embed="rId2">
            <a:duotone>
              <a:prstClr val="black"/>
              <a:schemeClr val="accent3">
                <a:tint val="45000"/>
                <a:satMod val="400000"/>
              </a:schemeClr>
            </a:duotone>
          </a:blip>
          <a:srcRect/>
          <a:stretch>
            <a:fillRect/>
          </a:stretch>
        </p:blipFill>
        <p:spPr bwMode="auto">
          <a:xfrm>
            <a:off x="4267200" y="1581150"/>
            <a:ext cx="4164943" cy="29622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971550"/>
            <a:ext cx="4267200" cy="1143000"/>
          </a:xfrm>
          <a:ln w="34925">
            <a:solidFill>
              <a:srgbClr val="002060"/>
            </a:solidFill>
          </a:ln>
        </p:spPr>
        <p:txBody>
          <a:bodyPr>
            <a:normAutofit fontScale="90000"/>
          </a:bodyPr>
          <a:lstStyle/>
          <a:p>
            <a:r>
              <a:rPr lang="en-US" dirty="0" smtClean="0"/>
              <a:t>Reactions of Alkynes </a:t>
            </a:r>
            <a:endParaRPr lang="en-US" dirty="0"/>
          </a:p>
        </p:txBody>
      </p:sp>
      <p:sp>
        <p:nvSpPr>
          <p:cNvPr id="3" name="Content Placeholder 2"/>
          <p:cNvSpPr>
            <a:spLocks noGrp="1"/>
          </p:cNvSpPr>
          <p:nvPr>
            <p:ph idx="1"/>
          </p:nvPr>
        </p:nvSpPr>
        <p:spPr>
          <a:xfrm>
            <a:off x="1371600" y="2495550"/>
            <a:ext cx="4267200" cy="1600200"/>
          </a:xfrm>
          <a:ln w="22225">
            <a:solidFill>
              <a:srgbClr val="C00000"/>
            </a:solidFill>
          </a:ln>
        </p:spPr>
        <p:txBody>
          <a:bodyPr>
            <a:normAutofit lnSpcReduction="10000"/>
          </a:bodyPr>
          <a:lstStyle/>
          <a:p>
            <a:pPr algn="just"/>
            <a:r>
              <a:rPr lang="en-US" sz="1800" dirty="0" smtClean="0"/>
              <a:t>Due to the presence of loosely held π electrons, alkynes undergo reactions similar to those of alkenes. Characteristic reactions of alkynes include electrophilic additions, reduction and oxidation</a:t>
            </a:r>
            <a:endParaRPr lang="en-US" sz="1800" dirty="0"/>
          </a:p>
        </p:txBody>
      </p:sp>
      <p:pic>
        <p:nvPicPr>
          <p:cNvPr id="4" name="Picture 2"/>
          <p:cNvPicPr>
            <a:picLocks noChangeAspect="1" noChangeArrowheads="1"/>
          </p:cNvPicPr>
          <p:nvPr/>
        </p:nvPicPr>
        <p:blipFill>
          <a:blip r:embed="rId2">
            <a:duotone>
              <a:prstClr val="black"/>
              <a:schemeClr val="accent3">
                <a:tint val="45000"/>
                <a:satMod val="400000"/>
              </a:schemeClr>
            </a:duotone>
          </a:blip>
          <a:srcRect/>
          <a:stretch>
            <a:fillRect/>
          </a:stretch>
        </p:blipFill>
        <p:spPr bwMode="auto">
          <a:xfrm>
            <a:off x="5867400" y="949036"/>
            <a:ext cx="2667000" cy="406111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Hydrocarbon Derivatives</a:t>
            </a:r>
            <a:endParaRPr lang="en-US" dirty="0"/>
          </a:p>
        </p:txBody>
      </p:sp>
      <p:sp>
        <p:nvSpPr>
          <p:cNvPr id="3" name="Content Placeholder 2"/>
          <p:cNvSpPr>
            <a:spLocks noGrp="1"/>
          </p:cNvSpPr>
          <p:nvPr>
            <p:ph idx="1"/>
          </p:nvPr>
        </p:nvSpPr>
        <p:spPr>
          <a:xfrm>
            <a:off x="685800" y="1123950"/>
            <a:ext cx="5715000" cy="1676400"/>
          </a:xfrm>
          <a:ln w="22225">
            <a:solidFill>
              <a:srgbClr val="C00000"/>
            </a:solidFill>
          </a:ln>
        </p:spPr>
        <p:txBody>
          <a:bodyPr>
            <a:normAutofit fontScale="85000" lnSpcReduction="20000"/>
          </a:bodyPr>
          <a:lstStyle/>
          <a:p>
            <a:pPr algn="just"/>
            <a:r>
              <a:rPr lang="en-US" sz="1600" dirty="0" smtClean="0"/>
              <a:t>Alcohols, ethers, amines, alkyl halides, nitriles, aldehydes, ketones, carboxylic acids and derivatives are examples of hydrocarbon derivatives. Let us now study about the structural features of some classes of aliphatic compounds. The compounds in which the carbon and oxygen atoms are linked by a single bond can be classified as alcohols or ethers, depending upon the number of alkyl groups attached to oxygen. In alcohols, oxygen is linked to only one alkyl group and one hydrogen; but in ethers, oxygen has two alkyl groups attached to it.  </a:t>
            </a:r>
            <a:endParaRPr lang="en-US" sz="1600" dirty="0"/>
          </a:p>
        </p:txBody>
      </p:sp>
      <p:pic>
        <p:nvPicPr>
          <p:cNvPr id="7172" name="Picture 4"/>
          <p:cNvPicPr>
            <a:picLocks noChangeAspect="1" noChangeArrowheads="1"/>
          </p:cNvPicPr>
          <p:nvPr/>
        </p:nvPicPr>
        <p:blipFill>
          <a:blip r:embed="rId2"/>
          <a:srcRect/>
          <a:stretch>
            <a:fillRect/>
          </a:stretch>
        </p:blipFill>
        <p:spPr bwMode="auto">
          <a:xfrm>
            <a:off x="4572000" y="4324350"/>
            <a:ext cx="705803" cy="323850"/>
          </a:xfrm>
          <a:prstGeom prst="rect">
            <a:avLst/>
          </a:prstGeom>
          <a:noFill/>
          <a:ln w="9525">
            <a:noFill/>
            <a:miter lim="800000"/>
            <a:headEnd/>
            <a:tailEnd/>
          </a:ln>
          <a:effectLst/>
        </p:spPr>
      </p:pic>
      <p:pic>
        <p:nvPicPr>
          <p:cNvPr id="5" name="Picture 30"/>
          <p:cNvPicPr>
            <a:picLocks noChangeAspect="1" noChangeArrowheads="1"/>
          </p:cNvPicPr>
          <p:nvPr/>
        </p:nvPicPr>
        <p:blipFill>
          <a:blip r:embed="rId3">
            <a:duotone>
              <a:prstClr val="black"/>
              <a:schemeClr val="accent6">
                <a:tint val="45000"/>
                <a:satMod val="400000"/>
              </a:schemeClr>
            </a:duotone>
          </a:blip>
          <a:srcRect/>
          <a:stretch>
            <a:fillRect/>
          </a:stretch>
        </p:blipFill>
        <p:spPr bwMode="auto">
          <a:xfrm>
            <a:off x="4434559" y="3105150"/>
            <a:ext cx="4709441" cy="1828800"/>
          </a:xfrm>
          <a:prstGeom prst="rect">
            <a:avLst/>
          </a:prstGeom>
          <a:noFill/>
          <a:ln w="9525">
            <a:noFill/>
            <a:miter lim="800000"/>
            <a:headEnd/>
            <a:tailEnd/>
          </a:ln>
        </p:spPr>
      </p:pic>
      <p:sp>
        <p:nvSpPr>
          <p:cNvPr id="6" name="Rectangle 5"/>
          <p:cNvSpPr/>
          <p:nvPr/>
        </p:nvSpPr>
        <p:spPr>
          <a:xfrm>
            <a:off x="685800" y="2952750"/>
            <a:ext cx="3733800" cy="2031325"/>
          </a:xfrm>
          <a:prstGeom prst="rect">
            <a:avLst/>
          </a:prstGeom>
          <a:ln w="22225">
            <a:solidFill>
              <a:srgbClr val="C00000"/>
            </a:solidFill>
          </a:ln>
        </p:spPr>
        <p:txBody>
          <a:bodyPr wrap="square">
            <a:spAutoFit/>
          </a:bodyPr>
          <a:lstStyle/>
          <a:p>
            <a:pPr algn="just"/>
            <a:r>
              <a:rPr lang="en-US" sz="1400" dirty="0" smtClean="0"/>
              <a:t>The compounds containing carbon and oxygen linked by a double bond (i.e C = O, which is called carbonyl group, can be classified as aldehydes or ketones, depending on whether the number of alkyl groups attached to carbonyl carbon is one or two, respectively. If instead of an alkyl group, one hydroxyl (-OH) group is attached to the carbonyl group, a class of compounds known as carboxylic acids. </a:t>
            </a:r>
            <a:endParaRPr lang="en-US" sz="1400" dirty="0"/>
          </a:p>
        </p:txBody>
      </p:sp>
      <p:pic>
        <p:nvPicPr>
          <p:cNvPr id="2050" name="Picture 2"/>
          <p:cNvPicPr>
            <a:picLocks noChangeAspect="1" noChangeArrowheads="1"/>
          </p:cNvPicPr>
          <p:nvPr/>
        </p:nvPicPr>
        <p:blipFill>
          <a:blip r:embed="rId4">
            <a:duotone>
              <a:prstClr val="black"/>
              <a:schemeClr val="accent6">
                <a:tint val="45000"/>
                <a:satMod val="400000"/>
              </a:schemeClr>
            </a:duotone>
          </a:blip>
          <a:stretch>
            <a:fillRect/>
          </a:stretch>
        </p:blipFill>
        <p:spPr bwMode="auto">
          <a:xfrm>
            <a:off x="6705600" y="1428750"/>
            <a:ext cx="2047875" cy="1019175"/>
          </a:xfrm>
          <a:prstGeom prst="rect">
            <a:avLst/>
          </a:prstGeom>
          <a:noFill/>
          <a:ln>
            <a:noFill/>
          </a:ln>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Hydrocarbon Derivatives</a:t>
            </a:r>
            <a:endParaRPr lang="en-US" dirty="0"/>
          </a:p>
        </p:txBody>
      </p:sp>
      <p:sp>
        <p:nvSpPr>
          <p:cNvPr id="3" name="Content Placeholder 2"/>
          <p:cNvSpPr>
            <a:spLocks noGrp="1"/>
          </p:cNvSpPr>
          <p:nvPr>
            <p:ph idx="1"/>
          </p:nvPr>
        </p:nvSpPr>
        <p:spPr>
          <a:xfrm>
            <a:off x="533400" y="1047750"/>
            <a:ext cx="4572000" cy="3657600"/>
          </a:xfrm>
        </p:spPr>
        <p:txBody>
          <a:bodyPr>
            <a:noAutofit/>
          </a:bodyPr>
          <a:lstStyle/>
          <a:p>
            <a:pPr algn="just"/>
            <a:r>
              <a:rPr lang="en-US" sz="1400" b="1" dirty="0" smtClean="0"/>
              <a:t>Alcohols, Ethers, Amines, Nitriles, Alkyl Halides</a:t>
            </a:r>
          </a:p>
          <a:p>
            <a:pPr algn="just">
              <a:buNone/>
            </a:pPr>
            <a:r>
              <a:rPr lang="en-US" sz="1400" dirty="0" smtClean="0"/>
              <a:t>	These functional groups are considerably more polar due to the greater difference in electronegativities between the bonding atoms. Stronger intermolecular forces are present in these functional groups due to the dipole-dipole interactions. Additionally, alcohols and amines are capable of forming hydrogen bonding, which further increases boiling points. </a:t>
            </a:r>
            <a:r>
              <a:rPr lang="en-US" sz="1400" b="1" dirty="0" smtClean="0"/>
              <a:t>Alcohols </a:t>
            </a:r>
            <a:r>
              <a:rPr lang="en-US" sz="1400" dirty="0" smtClean="0"/>
              <a:t>R-OH contain carbon bonded to the hydroxyl group -OH. </a:t>
            </a:r>
          </a:p>
          <a:p>
            <a:pPr algn="just"/>
            <a:r>
              <a:rPr lang="en-US" sz="1400" b="1" dirty="0" smtClean="0"/>
              <a:t>Aldehydes, Ketones, Carboxylic Acids, and Carboxylic Acid derivatives</a:t>
            </a:r>
          </a:p>
          <a:p>
            <a:pPr algn="just">
              <a:buNone/>
            </a:pPr>
            <a:r>
              <a:rPr lang="en-US" sz="1400" dirty="0" smtClean="0"/>
              <a:t>	The C=O group is referred to as the carbonyl group. The C=O bond is strongly polarized towards oxygen and the carbon bears a partial positive charge. Carbonyls are found in aldehydes, ketones, esters, and carboxylic acids.</a:t>
            </a:r>
          </a:p>
          <a:p>
            <a:pPr algn="just">
              <a:buNone/>
            </a:pPr>
            <a:endParaRPr lang="en-US" sz="1400" dirty="0" smtClean="0"/>
          </a:p>
          <a:p>
            <a:pPr algn="just"/>
            <a:endParaRPr lang="en-US" sz="1400" dirty="0"/>
          </a:p>
        </p:txBody>
      </p:sp>
      <p:pic>
        <p:nvPicPr>
          <p:cNvPr id="70658" name="Picture 29"/>
          <p:cNvPicPr>
            <a:picLocks noChangeAspect="1" noChangeArrowheads="1"/>
          </p:cNvPicPr>
          <p:nvPr/>
        </p:nvPicPr>
        <p:blipFill>
          <a:blip r:embed="rId2"/>
          <a:srcRect/>
          <a:stretch>
            <a:fillRect/>
          </a:stretch>
        </p:blipFill>
        <p:spPr bwMode="auto">
          <a:xfrm>
            <a:off x="5410200" y="3514020"/>
            <a:ext cx="2971800" cy="1572330"/>
          </a:xfrm>
          <a:prstGeom prst="rect">
            <a:avLst/>
          </a:prstGeom>
          <a:noFill/>
          <a:ln w="9525">
            <a:noFill/>
            <a:miter lim="800000"/>
            <a:headEnd/>
            <a:tailEnd/>
          </a:ln>
        </p:spPr>
      </p:pic>
      <p:pic>
        <p:nvPicPr>
          <p:cNvPr id="70660" name="Picture 4"/>
          <p:cNvPicPr>
            <a:picLocks noChangeAspect="1" noChangeArrowheads="1"/>
          </p:cNvPicPr>
          <p:nvPr/>
        </p:nvPicPr>
        <p:blipFill>
          <a:blip r:embed="rId3">
            <a:duotone>
              <a:prstClr val="black"/>
              <a:schemeClr val="accent2">
                <a:tint val="45000"/>
                <a:satMod val="400000"/>
              </a:schemeClr>
            </a:duotone>
          </a:blip>
          <a:srcRect/>
          <a:stretch>
            <a:fillRect/>
          </a:stretch>
        </p:blipFill>
        <p:spPr bwMode="auto">
          <a:xfrm>
            <a:off x="5105400" y="971550"/>
            <a:ext cx="3807720" cy="2281418"/>
          </a:xfrm>
          <a:prstGeom prst="rect">
            <a:avLst/>
          </a:prstGeom>
          <a:noFill/>
          <a:ln w="9525">
            <a:noFill/>
            <a:miter lim="800000"/>
            <a:headEnd/>
            <a:tailEnd/>
          </a:ln>
          <a:effectLst/>
        </p:spPr>
      </p:pic>
      <p:sp>
        <p:nvSpPr>
          <p:cNvPr id="6" name="TextBox 5"/>
          <p:cNvSpPr txBox="1"/>
          <p:nvPr/>
        </p:nvSpPr>
        <p:spPr>
          <a:xfrm>
            <a:off x="5105400" y="3181350"/>
            <a:ext cx="3795026" cy="276999"/>
          </a:xfrm>
          <a:prstGeom prst="rect">
            <a:avLst/>
          </a:prstGeom>
          <a:noFill/>
        </p:spPr>
        <p:txBody>
          <a:bodyPr wrap="square" rtlCol="0">
            <a:spAutoFit/>
          </a:bodyPr>
          <a:lstStyle/>
          <a:p>
            <a:r>
              <a:rPr lang="en-US" sz="1200" b="1" dirty="0" smtClean="0"/>
              <a:t>Fig. 1.7</a:t>
            </a:r>
            <a:r>
              <a:rPr lang="en-US" sz="1200" dirty="0" smtClean="0"/>
              <a:t>: Hydrogen bonding in (a) ammonia (b) ethanol</a:t>
            </a:r>
            <a:endParaRPr lang="en-US" sz="120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smtClean="0"/>
              <a:t>Alcohols</a:t>
            </a:r>
            <a:endParaRPr lang="en-US" u="sng" dirty="0"/>
          </a:p>
        </p:txBody>
      </p:sp>
      <p:pic>
        <p:nvPicPr>
          <p:cNvPr id="11266" name="Picture 2"/>
          <p:cNvPicPr>
            <a:picLocks noChangeAspect="1" noChangeArrowheads="1"/>
          </p:cNvPicPr>
          <p:nvPr/>
        </p:nvPicPr>
        <p:blipFill>
          <a:blip r:embed="rId2">
            <a:duotone>
              <a:prstClr val="black"/>
              <a:schemeClr val="accent6">
                <a:tint val="45000"/>
                <a:satMod val="400000"/>
              </a:schemeClr>
            </a:duotone>
          </a:blip>
          <a:srcRect/>
          <a:stretch>
            <a:fillRect/>
          </a:stretch>
        </p:blipFill>
        <p:spPr bwMode="auto">
          <a:xfrm>
            <a:off x="1352550" y="4248150"/>
            <a:ext cx="3600450" cy="847725"/>
          </a:xfrm>
          <a:prstGeom prst="rect">
            <a:avLst/>
          </a:prstGeom>
          <a:noFill/>
          <a:ln w="9525">
            <a:noFill/>
            <a:miter lim="800000"/>
            <a:headEnd/>
            <a:tailEnd/>
          </a:ln>
          <a:effectLst/>
        </p:spPr>
      </p:pic>
      <p:pic>
        <p:nvPicPr>
          <p:cNvPr id="11268" name="Picture 4"/>
          <p:cNvPicPr>
            <a:picLocks noChangeAspect="1" noChangeArrowheads="1"/>
          </p:cNvPicPr>
          <p:nvPr/>
        </p:nvPicPr>
        <p:blipFill>
          <a:blip r:embed="rId3">
            <a:duotone>
              <a:prstClr val="black"/>
              <a:schemeClr val="accent6">
                <a:tint val="45000"/>
                <a:satMod val="400000"/>
              </a:schemeClr>
            </a:duotone>
          </a:blip>
          <a:srcRect/>
          <a:stretch>
            <a:fillRect/>
          </a:stretch>
        </p:blipFill>
        <p:spPr bwMode="auto">
          <a:xfrm>
            <a:off x="5676900" y="3790950"/>
            <a:ext cx="3238500" cy="1257300"/>
          </a:xfrm>
          <a:prstGeom prst="rect">
            <a:avLst/>
          </a:prstGeom>
          <a:noFill/>
          <a:ln w="9525">
            <a:noFill/>
            <a:miter lim="800000"/>
            <a:headEnd/>
            <a:tailEnd/>
          </a:ln>
          <a:effectLst/>
        </p:spPr>
      </p:pic>
      <p:sp>
        <p:nvSpPr>
          <p:cNvPr id="8" name="Content Placeholder 2"/>
          <p:cNvSpPr txBox="1">
            <a:spLocks/>
          </p:cNvSpPr>
          <p:nvPr/>
        </p:nvSpPr>
        <p:spPr>
          <a:xfrm>
            <a:off x="5334000" y="1047750"/>
            <a:ext cx="3733800" cy="2743200"/>
          </a:xfrm>
          <a:prstGeom prst="rect">
            <a:avLst/>
          </a:prstGeom>
        </p:spPr>
        <p:txBody>
          <a:bodyPr vert="horz" lIns="91440" tIns="45720" rIns="91440" bIns="45720" rtlCol="0">
            <a:noAutofit/>
          </a:bodyPr>
          <a:lstStyle/>
          <a:p>
            <a:pPr marL="342900" marR="0" lvl="0" indent="-342900" algn="just" defTabSz="914400" rtl="0" eaLnBrk="1" fontAlgn="auto" latinLnBrk="0" hangingPunct="1">
              <a:lnSpc>
                <a:spcPct val="100000"/>
              </a:lnSpc>
              <a:spcBef>
                <a:spcPct val="20000"/>
              </a:spcBef>
              <a:spcAft>
                <a:spcPts val="0"/>
              </a:spcAft>
              <a:buClrTx/>
              <a:buSzTx/>
              <a:tabLst/>
              <a:defRPr/>
            </a:pPr>
            <a:r>
              <a:rPr lang="en-US" sz="1600" b="1" dirty="0" smtClean="0"/>
              <a:t>Physical Properties of Alcohols</a:t>
            </a:r>
          </a:p>
          <a:p>
            <a:pPr marL="342900" marR="0" lvl="0" indent="-342900" algn="just" defTabSz="914400" rtl="0" eaLnBrk="1" fontAlgn="auto" latinLnBrk="0" hangingPunct="1">
              <a:lnSpc>
                <a:spcPct val="100000"/>
              </a:lnSpc>
              <a:spcBef>
                <a:spcPct val="20000"/>
              </a:spcBef>
              <a:spcAft>
                <a:spcPts val="0"/>
              </a:spcAft>
              <a:buClrTx/>
              <a:buSzTx/>
              <a:buFont typeface="+mj-lt"/>
              <a:buAutoNum type="arabicPeriod"/>
              <a:tabLst/>
              <a:defRPr/>
            </a:pPr>
            <a:r>
              <a:rPr lang="en-US" sz="1600" dirty="0" smtClean="0"/>
              <a:t>Lower members are liquids at room temperature.</a:t>
            </a:r>
          </a:p>
          <a:p>
            <a:pPr marL="342900" marR="0" lvl="0" indent="-342900" algn="just" defTabSz="914400" rtl="0" eaLnBrk="1" fontAlgn="auto" latinLnBrk="0" hangingPunct="1">
              <a:lnSpc>
                <a:spcPct val="100000"/>
              </a:lnSpc>
              <a:spcBef>
                <a:spcPct val="20000"/>
              </a:spcBef>
              <a:spcAft>
                <a:spcPts val="0"/>
              </a:spcAft>
              <a:buClrTx/>
              <a:buSzTx/>
              <a:buFont typeface="+mj-lt"/>
              <a:buAutoNum type="arabicPeriod"/>
              <a:tabLst/>
              <a:defRPr/>
            </a:pPr>
            <a:r>
              <a:rPr lang="en-US" sz="1600" dirty="0" smtClean="0"/>
              <a:t>Higher members (from C12) are waxy solids.</a:t>
            </a:r>
          </a:p>
          <a:p>
            <a:pPr marL="342900" marR="0" lvl="0" indent="-342900" algn="just" defTabSz="914400" rtl="0" eaLnBrk="1" fontAlgn="auto" latinLnBrk="0" hangingPunct="1">
              <a:lnSpc>
                <a:spcPct val="100000"/>
              </a:lnSpc>
              <a:spcBef>
                <a:spcPct val="20000"/>
              </a:spcBef>
              <a:spcAft>
                <a:spcPts val="0"/>
              </a:spcAft>
              <a:buClrTx/>
              <a:buSzTx/>
              <a:buFont typeface="+mj-lt"/>
              <a:buAutoNum type="arabicPeriod"/>
              <a:tabLst/>
              <a:defRPr/>
            </a:pPr>
            <a:r>
              <a:rPr lang="en-US" sz="1600" dirty="0" smtClean="0"/>
              <a:t>Short chain alcohols are water soluble due to improved polarity.</a:t>
            </a:r>
          </a:p>
          <a:p>
            <a:pPr marL="342900" marR="0" lvl="0" indent="-342900" algn="just" defTabSz="914400" rtl="0" eaLnBrk="1" fontAlgn="auto" latinLnBrk="0" hangingPunct="1">
              <a:lnSpc>
                <a:spcPct val="100000"/>
              </a:lnSpc>
              <a:spcBef>
                <a:spcPct val="20000"/>
              </a:spcBef>
              <a:spcAft>
                <a:spcPts val="0"/>
              </a:spcAft>
              <a:buClrTx/>
              <a:buSzTx/>
              <a:buFont typeface="+mj-lt"/>
              <a:buAutoNum type="arabicPeriod"/>
              <a:tabLst/>
              <a:defRPr/>
            </a:pPr>
            <a:r>
              <a:rPr lang="en-US" sz="1600" dirty="0" smtClean="0"/>
              <a:t>The longer the hydrophobic alkane chain in alcohols, the  lower the solubility in water.</a:t>
            </a:r>
          </a:p>
        </p:txBody>
      </p:sp>
      <p:sp>
        <p:nvSpPr>
          <p:cNvPr id="10" name="Content Placeholder 2"/>
          <p:cNvSpPr txBox="1">
            <a:spLocks/>
          </p:cNvSpPr>
          <p:nvPr/>
        </p:nvSpPr>
        <p:spPr>
          <a:xfrm>
            <a:off x="914400" y="1276350"/>
            <a:ext cx="4267200" cy="2895600"/>
          </a:xfrm>
          <a:prstGeom prst="rect">
            <a:avLst/>
          </a:prstGeom>
          <a:ln w="22225">
            <a:solidFill>
              <a:srgbClr val="C00000"/>
            </a:solidFill>
          </a:ln>
        </p:spPr>
        <p:txBody>
          <a:bodyPr vert="horz" lIns="91440" tIns="45720" rIns="91440" bIns="45720" rtlCol="0">
            <a:no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1400" b="1" i="0" u="none" strike="noStrike" kern="1200" cap="none" spc="0" normalizeH="0" baseline="0" noProof="0" dirty="0" smtClean="0">
                <a:ln>
                  <a:noFill/>
                </a:ln>
                <a:solidFill>
                  <a:schemeClr val="tx1"/>
                </a:solidFill>
                <a:effectLst/>
                <a:uLnTx/>
                <a:uFillTx/>
                <a:latin typeface="+mn-lt"/>
                <a:ea typeface="+mn-ea"/>
                <a:cs typeface="+mn-cs"/>
              </a:rPr>
              <a:t>Alcohols: </a:t>
            </a:r>
            <a:r>
              <a:rPr kumimoji="0" lang="en-US" sz="1400" b="0" i="0" u="none" strike="noStrike" kern="1200" cap="none" spc="0" normalizeH="0" baseline="0" noProof="0" dirty="0" smtClean="0">
                <a:ln>
                  <a:noFill/>
                </a:ln>
                <a:solidFill>
                  <a:schemeClr val="tx1"/>
                </a:solidFill>
                <a:effectLst/>
                <a:uLnTx/>
                <a:uFillTx/>
                <a:latin typeface="+mn-lt"/>
                <a:ea typeface="+mn-ea"/>
                <a:cs typeface="+mn-cs"/>
              </a:rPr>
              <a:t>Alcohols are the compounds having hydroxyl (-OH) group attached to the alkyl chain. and these compounds are much weaker organic acids, with p</a:t>
            </a:r>
            <a:r>
              <a:rPr kumimoji="0" lang="en-US" sz="1400" b="0" i="0" u="none" strike="noStrike" kern="1200" cap="none" spc="0" normalizeH="0" baseline="30000" noProof="0" dirty="0" smtClean="0">
                <a:ln>
                  <a:noFill/>
                </a:ln>
                <a:solidFill>
                  <a:schemeClr val="tx1"/>
                </a:solidFill>
                <a:effectLst/>
                <a:uLnTx/>
                <a:uFillTx/>
                <a:latin typeface="+mn-lt"/>
                <a:ea typeface="+mn-ea"/>
                <a:cs typeface="+mn-cs"/>
              </a:rPr>
              <a:t>K</a:t>
            </a:r>
            <a:r>
              <a:rPr kumimoji="0" lang="en-US" sz="1400" b="0" i="0" u="none" strike="noStrike" kern="1200" cap="none" spc="0" normalizeH="0" baseline="0" noProof="0" dirty="0" smtClean="0">
                <a:ln>
                  <a:noFill/>
                </a:ln>
                <a:solidFill>
                  <a:schemeClr val="tx1"/>
                </a:solidFill>
                <a:effectLst/>
                <a:uLnTx/>
                <a:uFillTx/>
                <a:latin typeface="+mn-lt"/>
                <a:ea typeface="+mn-ea"/>
                <a:cs typeface="+mn-cs"/>
              </a:rPr>
              <a:t>a values close to 16 (which is a high value). Methanol and ethanol are examples of alcohols. </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1400" b="0" i="0" u="none" strike="noStrike" kern="1200" cap="none" spc="0" normalizeH="0" baseline="0" noProof="0" dirty="0" smtClean="0">
                <a:ln>
                  <a:noFill/>
                </a:ln>
                <a:solidFill>
                  <a:schemeClr val="tx1"/>
                </a:solidFill>
                <a:effectLst/>
                <a:uLnTx/>
                <a:uFillTx/>
                <a:latin typeface="+mn-lt"/>
                <a:ea typeface="+mn-ea"/>
                <a:cs typeface="+mn-cs"/>
              </a:rPr>
              <a:t>Alcohols: Alcohols are the compounds having hydroxyl (-OH) group attached to the alkyl chain.</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1400" b="0" i="0" u="none" strike="noStrike" kern="1200" cap="none" spc="0" normalizeH="0" baseline="0" noProof="0" dirty="0" smtClean="0">
                <a:ln>
                  <a:noFill/>
                </a:ln>
                <a:solidFill>
                  <a:schemeClr val="tx1"/>
                </a:solidFill>
                <a:effectLst/>
                <a:uLnTx/>
                <a:uFillTx/>
                <a:latin typeface="+mn-lt"/>
                <a:ea typeface="+mn-ea"/>
                <a:cs typeface="+mn-cs"/>
              </a:rPr>
              <a:t>The common names of the alcohols are written by specifying the alkyl group followed by the word alcohol e.g. methyl alcohol, CH</a:t>
            </a:r>
            <a:r>
              <a:rPr kumimoji="0" lang="en-US" sz="1400" b="0" i="0" u="none" strike="noStrike" kern="1200" cap="none" spc="0" normalizeH="0" baseline="-25000" noProof="0" dirty="0" smtClean="0">
                <a:ln>
                  <a:noFill/>
                </a:ln>
                <a:solidFill>
                  <a:schemeClr val="tx1"/>
                </a:solidFill>
                <a:effectLst/>
                <a:uLnTx/>
                <a:uFillTx/>
                <a:latin typeface="+mn-lt"/>
                <a:ea typeface="+mn-ea"/>
                <a:cs typeface="+mn-cs"/>
              </a:rPr>
              <a:t>4</a:t>
            </a:r>
            <a:r>
              <a:rPr kumimoji="0" lang="en-US" sz="1400" b="0" i="0" u="none" strike="noStrike" kern="1200" cap="none" spc="0" normalizeH="0" baseline="0" noProof="0" dirty="0" smtClean="0">
                <a:ln>
                  <a:noFill/>
                </a:ln>
                <a:solidFill>
                  <a:schemeClr val="tx1"/>
                </a:solidFill>
                <a:effectLst/>
                <a:uLnTx/>
                <a:uFillTx/>
                <a:latin typeface="+mn-lt"/>
                <a:ea typeface="+mn-ea"/>
                <a:cs typeface="+mn-cs"/>
              </a:rPr>
              <a:t>OH.</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Preparation of Alcohols</a:t>
            </a:r>
            <a:r>
              <a:rPr lang="en-US" dirty="0" smtClean="0"/>
              <a:t/>
            </a:r>
            <a:br>
              <a:rPr lang="en-US" dirty="0" smtClean="0"/>
            </a:br>
            <a:endParaRPr lang="en-US" dirty="0"/>
          </a:p>
        </p:txBody>
      </p:sp>
      <p:sp>
        <p:nvSpPr>
          <p:cNvPr id="3" name="Content Placeholder 2"/>
          <p:cNvSpPr>
            <a:spLocks noGrp="1"/>
          </p:cNvSpPr>
          <p:nvPr>
            <p:ph idx="1"/>
          </p:nvPr>
        </p:nvSpPr>
        <p:spPr>
          <a:xfrm>
            <a:off x="990600" y="685800"/>
            <a:ext cx="4495800" cy="4552950"/>
          </a:xfrm>
        </p:spPr>
        <p:txBody>
          <a:bodyPr>
            <a:normAutofit/>
          </a:bodyPr>
          <a:lstStyle/>
          <a:p>
            <a:pPr algn="just">
              <a:buNone/>
            </a:pPr>
            <a:r>
              <a:rPr lang="en-US" sz="1400" dirty="0" smtClean="0"/>
              <a:t>There exist various methods for the preparation of alcohols. The  followings are some of the most common or general methods of preparation of alcohols:</a:t>
            </a:r>
          </a:p>
          <a:p>
            <a:pPr algn="just">
              <a:buNone/>
            </a:pPr>
            <a:r>
              <a:rPr lang="en-US" sz="1400" b="1" dirty="0" smtClean="0"/>
              <a:t>1. Hydration of Alkenes</a:t>
            </a:r>
          </a:p>
          <a:p>
            <a:pPr algn="just">
              <a:buNone/>
            </a:pPr>
            <a:r>
              <a:rPr lang="en-US" sz="1400" dirty="0" smtClean="0"/>
              <a:t>	Direct hydration takes place by net addition of water. It might occur under acid catalyzed condition.</a:t>
            </a:r>
          </a:p>
          <a:p>
            <a:pPr algn="just">
              <a:buNone/>
            </a:pPr>
            <a:endParaRPr lang="en-US" sz="1400" dirty="0" smtClean="0"/>
          </a:p>
          <a:p>
            <a:pPr algn="just">
              <a:buNone/>
            </a:pPr>
            <a:endParaRPr lang="en-US" sz="1400" dirty="0" smtClean="0"/>
          </a:p>
          <a:p>
            <a:pPr algn="just">
              <a:buNone/>
            </a:pPr>
            <a:endParaRPr lang="en-US" sz="1400" dirty="0" smtClean="0"/>
          </a:p>
          <a:p>
            <a:pPr algn="just"/>
            <a:endParaRPr lang="en-US" sz="1400" dirty="0" smtClean="0"/>
          </a:p>
          <a:p>
            <a:pPr algn="just"/>
            <a:endParaRPr lang="en-US" sz="1400" dirty="0"/>
          </a:p>
        </p:txBody>
      </p:sp>
      <p:pic>
        <p:nvPicPr>
          <p:cNvPr id="4" name="Picture 3"/>
          <p:cNvPicPr/>
          <p:nvPr/>
        </p:nvPicPr>
        <p:blipFill>
          <a:blip r:embed="rId2">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bwMode="auto">
          <a:xfrm>
            <a:off x="6171806" y="1657350"/>
            <a:ext cx="2819794" cy="647619"/>
          </a:xfrm>
          <a:prstGeom prst="rect">
            <a:avLst/>
          </a:prstGeom>
          <a:noFill/>
          <a:ln>
            <a:noFill/>
          </a:ln>
        </p:spPr>
      </p:pic>
      <p:pic>
        <p:nvPicPr>
          <p:cNvPr id="5" name="Picture 4"/>
          <p:cNvPicPr/>
          <p:nvPr/>
        </p:nvPicPr>
        <p:blipFill>
          <a:blip r:embed="rId3">
            <a:duotone>
              <a:prstClr val="black"/>
              <a:schemeClr val="accent6">
                <a:tint val="45000"/>
                <a:satMod val="400000"/>
              </a:schemeClr>
            </a:duotone>
          </a:blip>
          <a:srcRect/>
          <a:stretch>
            <a:fillRect/>
          </a:stretch>
        </p:blipFill>
        <p:spPr bwMode="auto">
          <a:xfrm>
            <a:off x="1600200" y="3486150"/>
            <a:ext cx="5943600" cy="1544320"/>
          </a:xfrm>
          <a:prstGeom prst="rect">
            <a:avLst/>
          </a:prstGeom>
          <a:noFill/>
          <a:ln w="9525">
            <a:noFill/>
            <a:miter lim="800000"/>
            <a:headEnd/>
            <a:tailEnd/>
          </a:ln>
        </p:spPr>
      </p:pic>
      <p:sp>
        <p:nvSpPr>
          <p:cNvPr id="6" name="Rectangle 5"/>
          <p:cNvSpPr/>
          <p:nvPr/>
        </p:nvSpPr>
        <p:spPr>
          <a:xfrm>
            <a:off x="990600" y="2266950"/>
            <a:ext cx="8153400" cy="1169551"/>
          </a:xfrm>
          <a:prstGeom prst="rect">
            <a:avLst/>
          </a:prstGeom>
        </p:spPr>
        <p:txBody>
          <a:bodyPr wrap="square">
            <a:spAutoFit/>
          </a:bodyPr>
          <a:lstStyle/>
          <a:p>
            <a:pPr algn="just">
              <a:buNone/>
            </a:pPr>
            <a:r>
              <a:rPr lang="en-US" sz="1400" dirty="0" smtClean="0"/>
              <a:t>2. </a:t>
            </a:r>
            <a:r>
              <a:rPr lang="en-US" sz="1400" b="1" dirty="0" smtClean="0"/>
              <a:t>Grignard Synthesis</a:t>
            </a:r>
          </a:p>
          <a:p>
            <a:pPr algn="just">
              <a:buNone/>
            </a:pPr>
            <a:r>
              <a:rPr lang="en-US" sz="1400" dirty="0" smtClean="0"/>
              <a:t>	All three types of alcohol (primary, secondary and tertiary) can be prepared from the Grignard reagents by interaction with suitable carbonyl compounds. The reaction of the Grignard reagent with formaldehyde leads to primary alcohols, while that with aldehydes other than formaldehyde yields secondary alcohols and that with ketones gives tertiary alcohols.</a:t>
            </a:r>
          </a:p>
        </p:txBody>
      </p:sp>
      <p:sp>
        <p:nvSpPr>
          <p:cNvPr id="7" name="Right Arrow 6"/>
          <p:cNvSpPr/>
          <p:nvPr/>
        </p:nvSpPr>
        <p:spPr>
          <a:xfrm>
            <a:off x="5486400" y="1962150"/>
            <a:ext cx="304800" cy="179832"/>
          </a:xfrm>
          <a:prstGeom prst="rightArrow">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05979"/>
            <a:ext cx="8001000" cy="857250"/>
          </a:xfrm>
          <a:ln w="25400">
            <a:solidFill>
              <a:srgbClr val="002060"/>
            </a:solidFill>
          </a:ln>
        </p:spPr>
        <p:txBody>
          <a:bodyPr/>
          <a:lstStyle/>
          <a:p>
            <a:r>
              <a:rPr lang="en-US" dirty="0" smtClean="0"/>
              <a:t>Classification of Alcohols</a:t>
            </a:r>
            <a:endParaRPr lang="en-US" dirty="0"/>
          </a:p>
        </p:txBody>
      </p:sp>
      <p:sp>
        <p:nvSpPr>
          <p:cNvPr id="3" name="Content Placeholder 2"/>
          <p:cNvSpPr>
            <a:spLocks noGrp="1"/>
          </p:cNvSpPr>
          <p:nvPr>
            <p:ph idx="1"/>
          </p:nvPr>
        </p:nvSpPr>
        <p:spPr>
          <a:xfrm>
            <a:off x="914400" y="1310878"/>
            <a:ext cx="3962400" cy="3394472"/>
          </a:xfrm>
          <a:ln w="22225">
            <a:solidFill>
              <a:srgbClr val="C00000"/>
            </a:solidFill>
          </a:ln>
        </p:spPr>
        <p:txBody>
          <a:bodyPr>
            <a:normAutofit fontScale="70000" lnSpcReduction="20000"/>
          </a:bodyPr>
          <a:lstStyle/>
          <a:p>
            <a:pPr algn="just"/>
            <a:r>
              <a:rPr lang="en-US" sz="2000" dirty="0" smtClean="0">
                <a:latin typeface="Times New Roman" pitchFamily="18" charset="0"/>
                <a:cs typeface="Times New Roman" pitchFamily="18" charset="0"/>
              </a:rPr>
              <a:t>Alcohols are classified into three groups: primary, secondary, and tertiary, depending upon where the OH group is attached to the molecule. </a:t>
            </a:r>
          </a:p>
          <a:p>
            <a:pPr algn="just">
              <a:buFont typeface="Wingdings" pitchFamily="2" charset="2"/>
              <a:buChar char="q"/>
            </a:pPr>
            <a:r>
              <a:rPr lang="en-US" sz="2000" dirty="0" smtClean="0">
                <a:latin typeface="Times New Roman" pitchFamily="18" charset="0"/>
                <a:cs typeface="Times New Roman" pitchFamily="18" charset="0"/>
              </a:rPr>
              <a:t>If the OH group occurred on a terminal (primary) carbon atom, it is a primary alcohol and the carbon is termed as a primary carbon. </a:t>
            </a:r>
          </a:p>
          <a:p>
            <a:pPr algn="just">
              <a:buFont typeface="Wingdings" pitchFamily="2" charset="2"/>
              <a:buChar char="q"/>
            </a:pPr>
            <a:r>
              <a:rPr lang="en-US" sz="2000" dirty="0" smtClean="0">
                <a:latin typeface="Times New Roman" pitchFamily="18" charset="0"/>
                <a:cs typeface="Times New Roman" pitchFamily="18" charset="0"/>
              </a:rPr>
              <a:t>If the OH group is attached to a carbon atom that is joined to two other carbon atoms, it is a secondary alcohol, and the carbon atom to which it is attached is a secondary carbon atom. </a:t>
            </a:r>
          </a:p>
          <a:p>
            <a:pPr algn="just">
              <a:buFont typeface="Wingdings" pitchFamily="2" charset="2"/>
              <a:buChar char="q"/>
            </a:pPr>
            <a:r>
              <a:rPr lang="en-US" sz="2000" dirty="0" smtClean="0">
                <a:latin typeface="Times New Roman" pitchFamily="18" charset="0"/>
                <a:cs typeface="Times New Roman" pitchFamily="18" charset="0"/>
              </a:rPr>
              <a:t>If the OH group is attached to a carbon atom that is joined to three other carbon atoms, it is a tertiary alcohol, and the carbon atom to which it is attached is a tertiary carbon atom.</a:t>
            </a:r>
          </a:p>
          <a:p>
            <a:pPr algn="just"/>
            <a:endParaRPr lang="en-US" sz="2000" dirty="0" smtClean="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p:txBody>
      </p:sp>
      <p:pic>
        <p:nvPicPr>
          <p:cNvPr id="4" name="Picture 3"/>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4953000" y="2495550"/>
            <a:ext cx="4038600" cy="990600"/>
          </a:xfrm>
          <a:prstGeom prst="rect">
            <a:avLst/>
          </a:prstGeom>
          <a:noFill/>
          <a:ln>
            <a:noFill/>
          </a:ln>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Ethers</a:t>
            </a:r>
            <a:endParaRPr lang="en-US" dirty="0"/>
          </a:p>
        </p:txBody>
      </p:sp>
      <p:sp>
        <p:nvSpPr>
          <p:cNvPr id="3" name="Content Placeholder 2"/>
          <p:cNvSpPr>
            <a:spLocks noGrp="1"/>
          </p:cNvSpPr>
          <p:nvPr>
            <p:ph idx="1"/>
          </p:nvPr>
        </p:nvSpPr>
        <p:spPr>
          <a:xfrm>
            <a:off x="914400" y="1200150"/>
            <a:ext cx="5791200" cy="3200399"/>
          </a:xfrm>
          <a:ln w="22225">
            <a:solidFill>
              <a:srgbClr val="C00000"/>
            </a:solidFill>
          </a:ln>
        </p:spPr>
        <p:txBody>
          <a:bodyPr>
            <a:normAutofit fontScale="85000" lnSpcReduction="20000"/>
          </a:bodyPr>
          <a:lstStyle/>
          <a:p>
            <a:pPr algn="just"/>
            <a:r>
              <a:rPr lang="en-US" sz="2000" dirty="0" smtClean="0"/>
              <a:t>Ethers (R-O-R’) cannot serve as hydrogen-bond donors, so their boiling points are lower than those of alcohols of equivalent molecular weight, but higher than those of hydrocarbons due to greater dipole-dipole forces. </a:t>
            </a:r>
          </a:p>
          <a:p>
            <a:pPr algn="just"/>
            <a:endParaRPr lang="en-US" sz="2000" dirty="0" smtClean="0"/>
          </a:p>
          <a:p>
            <a:pPr algn="just"/>
            <a:r>
              <a:rPr lang="en-US" sz="2000" dirty="0" smtClean="0"/>
              <a:t>The common names for ethers are derived by naming the two alkyl groups in alphabetical order followed by the word ether. This is illustrated in the examples given below: CH</a:t>
            </a:r>
            <a:r>
              <a:rPr lang="en-US" sz="2000" baseline="-25000" dirty="0" smtClean="0"/>
              <a:t>3</a:t>
            </a:r>
            <a:r>
              <a:rPr lang="en-US" sz="2000" dirty="0" smtClean="0"/>
              <a:t>OCH</a:t>
            </a:r>
            <a:r>
              <a:rPr lang="en-US" sz="2000" baseline="-25000" dirty="0" smtClean="0"/>
              <a:t>3</a:t>
            </a:r>
            <a:r>
              <a:rPr lang="en-US" sz="2000" dirty="0" smtClean="0"/>
              <a:t> (dimethyl ether) CH</a:t>
            </a:r>
            <a:r>
              <a:rPr lang="en-US" sz="2000" baseline="-25000" dirty="0" smtClean="0"/>
              <a:t>3</a:t>
            </a:r>
            <a:r>
              <a:rPr lang="en-US" sz="2000" dirty="0" smtClean="0"/>
              <a:t>OCH</a:t>
            </a:r>
            <a:r>
              <a:rPr lang="en-US" sz="2000" baseline="-25000" dirty="0" smtClean="0"/>
              <a:t>2</a:t>
            </a:r>
            <a:r>
              <a:rPr lang="en-US" sz="2000" dirty="0" smtClean="0"/>
              <a:t>CH</a:t>
            </a:r>
            <a:r>
              <a:rPr lang="en-US" sz="2000" baseline="-25000" dirty="0" smtClean="0"/>
              <a:t>3</a:t>
            </a:r>
            <a:r>
              <a:rPr lang="en-US" sz="2000" dirty="0" smtClean="0"/>
              <a:t> (ethyl methyl ether). In the IUPAC system, ethers are named as alkoxyalkanes. The larger of the two alkyl groups is chosen as the hydrocarbon chain. For example, the compound, CH</a:t>
            </a:r>
            <a:r>
              <a:rPr lang="en-US" sz="2000" baseline="-25000" dirty="0" smtClean="0"/>
              <a:t>3</a:t>
            </a:r>
            <a:r>
              <a:rPr lang="en-US" sz="2000" dirty="0" smtClean="0"/>
              <a:t>OCH</a:t>
            </a:r>
            <a:r>
              <a:rPr lang="en-US" sz="2000" baseline="-25000" dirty="0" smtClean="0"/>
              <a:t>2</a:t>
            </a:r>
            <a:r>
              <a:rPr lang="en-US" sz="2000" dirty="0" smtClean="0"/>
              <a:t>CH</a:t>
            </a:r>
            <a:r>
              <a:rPr lang="en-US" sz="2000" baseline="-25000" dirty="0" smtClean="0"/>
              <a:t>3</a:t>
            </a:r>
            <a:r>
              <a:rPr lang="en-US" sz="2000" dirty="0" smtClean="0"/>
              <a:t> is named as </a:t>
            </a:r>
            <a:r>
              <a:rPr lang="en-US" sz="2000" b="1" dirty="0" smtClean="0"/>
              <a:t>1-methoxyethane</a:t>
            </a:r>
            <a:r>
              <a:rPr lang="en-US" sz="2000" dirty="0" smtClean="0"/>
              <a:t> and not as ethoxymethane. Similarly, the compound</a:t>
            </a:r>
            <a:endParaRPr lang="en-US" sz="2000" dirty="0"/>
          </a:p>
        </p:txBody>
      </p:sp>
      <p:pic>
        <p:nvPicPr>
          <p:cNvPr id="13314" name="Picture 2"/>
          <p:cNvPicPr>
            <a:picLocks noChangeAspect="1" noChangeArrowheads="1"/>
          </p:cNvPicPr>
          <p:nvPr/>
        </p:nvPicPr>
        <p:blipFill>
          <a:blip r:embed="rId2">
            <a:duotone>
              <a:prstClr val="black"/>
              <a:schemeClr val="accent5">
                <a:tint val="45000"/>
                <a:satMod val="400000"/>
              </a:schemeClr>
            </a:duotone>
          </a:blip>
          <a:srcRect/>
          <a:stretch>
            <a:fillRect/>
          </a:stretch>
        </p:blipFill>
        <p:spPr bwMode="auto">
          <a:xfrm>
            <a:off x="6858000" y="2266950"/>
            <a:ext cx="2133600" cy="95209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14400" y="205979"/>
            <a:ext cx="8001000" cy="857250"/>
          </a:xfrm>
          <a:ln w="25400">
            <a:solidFill>
              <a:srgbClr val="002060"/>
            </a:solidFill>
          </a:ln>
        </p:spPr>
        <p:txBody>
          <a:bodyPr/>
          <a:lstStyle/>
          <a:p>
            <a:r>
              <a:rPr lang="en-US" dirty="0" smtClean="0"/>
              <a:t>Amine and its Classification</a:t>
            </a:r>
            <a:endParaRPr lang="en-US" dirty="0"/>
          </a:p>
        </p:txBody>
      </p:sp>
      <p:sp>
        <p:nvSpPr>
          <p:cNvPr id="5" name="Content Placeholder 2"/>
          <p:cNvSpPr>
            <a:spLocks noGrp="1"/>
          </p:cNvSpPr>
          <p:nvPr>
            <p:ph idx="1"/>
          </p:nvPr>
        </p:nvSpPr>
        <p:spPr>
          <a:xfrm>
            <a:off x="914400" y="1310878"/>
            <a:ext cx="3962400" cy="3394472"/>
          </a:xfrm>
          <a:ln w="22225">
            <a:solidFill>
              <a:srgbClr val="C00000"/>
            </a:solidFill>
          </a:ln>
        </p:spPr>
        <p:txBody>
          <a:bodyPr>
            <a:normAutofit fontScale="85000" lnSpcReduction="10000"/>
          </a:bodyPr>
          <a:lstStyle/>
          <a:p>
            <a:pPr algn="just"/>
            <a:r>
              <a:rPr lang="en-US" sz="1600" b="1" dirty="0" smtClean="0"/>
              <a:t>Amines</a:t>
            </a:r>
            <a:r>
              <a:rPr lang="en-US" sz="1600" dirty="0" smtClean="0"/>
              <a:t> contain the functional group -NH</a:t>
            </a:r>
            <a:r>
              <a:rPr lang="en-US" sz="1600" baseline="-25000" dirty="0" smtClean="0"/>
              <a:t>2</a:t>
            </a:r>
            <a:r>
              <a:rPr lang="en-US" sz="1600" dirty="0" smtClean="0"/>
              <a:t>, -NHR, or NR</a:t>
            </a:r>
            <a:r>
              <a:rPr lang="en-US" sz="1600" baseline="-25000" dirty="0" smtClean="0"/>
              <a:t>2</a:t>
            </a:r>
            <a:r>
              <a:rPr lang="en-US" sz="1600" dirty="0" smtClean="0"/>
              <a:t> where R is a hydrocarbon Amine substituents are known as </a:t>
            </a:r>
            <a:r>
              <a:rPr lang="en-US" sz="1600" b="1" dirty="0" smtClean="0"/>
              <a:t>amino</a:t>
            </a:r>
            <a:r>
              <a:rPr lang="en-US" sz="1600" dirty="0" smtClean="0"/>
              <a:t> groups. </a:t>
            </a:r>
          </a:p>
          <a:p>
            <a:pPr algn="just"/>
            <a:r>
              <a:rPr lang="en-US" sz="1600" dirty="0" smtClean="0"/>
              <a:t>Amines with N-H bonds are capable of hydrogen bonding, which leads to higher boiling points and water solubility.</a:t>
            </a:r>
          </a:p>
          <a:p>
            <a:pPr algn="just"/>
            <a:r>
              <a:rPr lang="en-US" sz="1600" dirty="0" smtClean="0"/>
              <a:t>The lone pair on the nitrogen can act as a base. </a:t>
            </a:r>
          </a:p>
          <a:p>
            <a:pPr algn="just"/>
            <a:endParaRPr lang="en-US" sz="1600" b="1" dirty="0" smtClean="0"/>
          </a:p>
          <a:p>
            <a:pPr algn="just"/>
            <a:r>
              <a:rPr lang="en-US" sz="1600" b="1" dirty="0" smtClean="0"/>
              <a:t>Amine </a:t>
            </a:r>
            <a:r>
              <a:rPr lang="en-US" sz="1600" dirty="0" smtClean="0"/>
              <a:t>is the organic derivative of ammonia, NH</a:t>
            </a:r>
            <a:r>
              <a:rPr lang="en-US" sz="1600" baseline="-25000" dirty="0" smtClean="0"/>
              <a:t>3</a:t>
            </a:r>
            <a:r>
              <a:rPr lang="en-US" sz="1600" dirty="0" smtClean="0"/>
              <a:t>. </a:t>
            </a:r>
          </a:p>
          <a:p>
            <a:pPr algn="just"/>
            <a:r>
              <a:rPr lang="en-US" sz="1600" dirty="0" smtClean="0"/>
              <a:t>When the hydrogen atom(s) in NH</a:t>
            </a:r>
            <a:r>
              <a:rPr lang="en-US" sz="1600" baseline="-25000" dirty="0" smtClean="0"/>
              <a:t>3</a:t>
            </a:r>
            <a:r>
              <a:rPr lang="en-US" sz="1600" dirty="0" smtClean="0"/>
              <a:t> is replaced with R groups, it produces amine. Amine can be primary (1°), secondary (2°) or tertiary (3°) depending on how many R groups are connected with nitrogen. Amines can also be associated with certain common names.</a:t>
            </a:r>
          </a:p>
          <a:p>
            <a:pPr algn="just"/>
            <a:endParaRPr lang="en-US" sz="2000" dirty="0" smtClean="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p:txBody>
      </p:sp>
      <p:pic>
        <p:nvPicPr>
          <p:cNvPr id="71683" name="Picture 3"/>
          <p:cNvPicPr>
            <a:picLocks noChangeAspect="1" noChangeArrowheads="1"/>
          </p:cNvPicPr>
          <p:nvPr/>
        </p:nvPicPr>
        <p:blipFill>
          <a:blip r:embed="rId2">
            <a:duotone>
              <a:prstClr val="black"/>
              <a:schemeClr val="accent6">
                <a:tint val="45000"/>
                <a:satMod val="400000"/>
              </a:schemeClr>
            </a:duotone>
          </a:blip>
          <a:stretch>
            <a:fillRect/>
          </a:stretch>
        </p:blipFill>
        <p:spPr bwMode="auto">
          <a:xfrm>
            <a:off x="6477000" y="2392507"/>
            <a:ext cx="1028700" cy="865043"/>
          </a:xfrm>
          <a:prstGeom prst="rect">
            <a:avLst/>
          </a:prstGeom>
          <a:noFill/>
          <a:ln>
            <a:noFill/>
          </a:ln>
        </p:spPr>
      </p:pic>
      <p:pic>
        <p:nvPicPr>
          <p:cNvPr id="71684" name="Picture 4"/>
          <p:cNvPicPr>
            <a:picLocks noChangeAspect="1" noChangeArrowheads="1"/>
          </p:cNvPicPr>
          <p:nvPr/>
        </p:nvPicPr>
        <p:blipFill>
          <a:blip r:embed="rId3">
            <a:duotone>
              <a:prstClr val="black"/>
              <a:schemeClr val="accent6">
                <a:tint val="45000"/>
                <a:satMod val="400000"/>
              </a:schemeClr>
            </a:duotone>
          </a:blip>
          <a:srcRect/>
          <a:stretch>
            <a:fillRect/>
          </a:stretch>
        </p:blipFill>
        <p:spPr bwMode="auto">
          <a:xfrm>
            <a:off x="4933950" y="3333750"/>
            <a:ext cx="4133850" cy="1143753"/>
          </a:xfrm>
          <a:prstGeom prst="rect">
            <a:avLst/>
          </a:prstGeom>
          <a:noFill/>
          <a:ln w="9525">
            <a:noFill/>
            <a:miter lim="800000"/>
            <a:headEnd/>
            <a:tailEnd/>
          </a:ln>
          <a:effectLst/>
        </p:spPr>
      </p:pic>
      <p:pic>
        <p:nvPicPr>
          <p:cNvPr id="10" name="Picture 2"/>
          <p:cNvPicPr>
            <a:picLocks noChangeAspect="1" noChangeArrowheads="1"/>
          </p:cNvPicPr>
          <p:nvPr/>
        </p:nvPicPr>
        <p:blipFill>
          <a:blip r:embed="rId4">
            <a:duotone>
              <a:prstClr val="black"/>
              <a:schemeClr val="accent3">
                <a:tint val="45000"/>
                <a:satMod val="400000"/>
              </a:schemeClr>
            </a:duotone>
          </a:blip>
          <a:stretch>
            <a:fillRect/>
          </a:stretch>
        </p:blipFill>
        <p:spPr bwMode="auto">
          <a:xfrm>
            <a:off x="5029200" y="1276350"/>
            <a:ext cx="3819525" cy="1038225"/>
          </a:xfrm>
          <a:prstGeom prst="rect">
            <a:avLst/>
          </a:prstGeom>
          <a:noFill/>
          <a:ln>
            <a:noFill/>
          </a:ln>
        </p:spPr>
      </p:pic>
      <p:grpSp>
        <p:nvGrpSpPr>
          <p:cNvPr id="7" name="Group 6"/>
          <p:cNvGrpSpPr/>
          <p:nvPr/>
        </p:nvGrpSpPr>
        <p:grpSpPr>
          <a:xfrm>
            <a:off x="4506" y="0"/>
            <a:ext cx="852744" cy="5143500"/>
            <a:chOff x="0" y="168206"/>
            <a:chExt cx="914400" cy="6689794"/>
          </a:xfrm>
        </p:grpSpPr>
        <p:sp>
          <p:nvSpPr>
            <p:cNvPr id="8" name="Rectangle 7"/>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1" name="Picture 7" descr="logo"/>
            <p:cNvPicPr>
              <a:picLocks noChangeAspect="1" noChangeArrowheads="1"/>
            </p:cNvPicPr>
            <p:nvPr/>
          </p:nvPicPr>
          <p:blipFill>
            <a:blip r:embed="rId5"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Aldehydes</a:t>
            </a:r>
            <a:endParaRPr lang="en-US" dirty="0"/>
          </a:p>
        </p:txBody>
      </p:sp>
      <p:sp>
        <p:nvSpPr>
          <p:cNvPr id="3" name="Content Placeholder 2"/>
          <p:cNvSpPr>
            <a:spLocks noGrp="1"/>
          </p:cNvSpPr>
          <p:nvPr>
            <p:ph idx="1"/>
          </p:nvPr>
        </p:nvSpPr>
        <p:spPr>
          <a:xfrm>
            <a:off x="1143000" y="971549"/>
            <a:ext cx="5486400" cy="2666999"/>
          </a:xfrm>
          <a:ln w="22225">
            <a:solidFill>
              <a:srgbClr val="C00000"/>
            </a:solidFill>
          </a:ln>
        </p:spPr>
        <p:txBody>
          <a:bodyPr>
            <a:normAutofit fontScale="85000" lnSpcReduction="20000"/>
          </a:bodyPr>
          <a:lstStyle/>
          <a:p>
            <a:pPr algn="just"/>
            <a:r>
              <a:rPr lang="en-US" sz="2000" dirty="0" smtClean="0"/>
              <a:t>RCHO) have Carbon atom of the C=O directly bonded to carbon and to H atom. Formaldehyde, acetaldehyde, and benzaldehyde are common examples. They have polar covalent bonding but are not hydrogen bond donors. </a:t>
            </a:r>
          </a:p>
          <a:p>
            <a:pPr algn="just"/>
            <a:r>
              <a:rPr lang="en-US" sz="2000" dirty="0" smtClean="0"/>
              <a:t>Lower members of this class are commonly named after the acids that they form on oxidation. For example, HCHO, formaldehyde is named so because it forms formic acid (HCOOH) on oxidation. In the IUPAC system of nomenclature, they are named as alkanals e.g. ethanal for CH</a:t>
            </a:r>
            <a:r>
              <a:rPr lang="en-US" sz="2000" baseline="-25000" dirty="0" smtClean="0"/>
              <a:t>3</a:t>
            </a:r>
            <a:r>
              <a:rPr lang="en-US" sz="2000" dirty="0" smtClean="0"/>
              <a:t>CHO.</a:t>
            </a:r>
            <a:endParaRPr lang="en-US" sz="2000" dirty="0"/>
          </a:p>
        </p:txBody>
      </p:sp>
      <p:pic>
        <p:nvPicPr>
          <p:cNvPr id="14338" name="Picture 2"/>
          <p:cNvPicPr>
            <a:picLocks noChangeAspect="1" noChangeArrowheads="1"/>
          </p:cNvPicPr>
          <p:nvPr/>
        </p:nvPicPr>
        <p:blipFill>
          <a:blip r:embed="rId3"/>
          <a:srcRect/>
          <a:stretch>
            <a:fillRect/>
          </a:stretch>
        </p:blipFill>
        <p:spPr bwMode="auto">
          <a:xfrm>
            <a:off x="6792691" y="1652587"/>
            <a:ext cx="1916969" cy="1304925"/>
          </a:xfrm>
          <a:prstGeom prst="rect">
            <a:avLst/>
          </a:prstGeom>
          <a:noFill/>
          <a:ln w="9525">
            <a:noFill/>
            <a:miter lim="800000"/>
            <a:headEnd/>
            <a:tailEnd/>
          </a:ln>
          <a:effectLst/>
        </p:spPr>
      </p:pic>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313" name="Object 1"/>
          <p:cNvGraphicFramePr>
            <a:graphicFrameLocks noChangeAspect="1"/>
          </p:cNvGraphicFramePr>
          <p:nvPr>
            <p:extLst>
              <p:ext uri="{D42A27DB-BD31-4B8C-83A1-F6EECF244321}">
                <p14:modId xmlns:p14="http://schemas.microsoft.com/office/powerpoint/2010/main" val="2367171443"/>
              </p:ext>
            </p:extLst>
          </p:nvPr>
        </p:nvGraphicFramePr>
        <p:xfrm>
          <a:off x="2209800" y="3783171"/>
          <a:ext cx="3733800" cy="1241894"/>
        </p:xfrm>
        <a:graphic>
          <a:graphicData uri="http://schemas.openxmlformats.org/presentationml/2006/ole">
            <mc:AlternateContent xmlns:mc="http://schemas.openxmlformats.org/markup-compatibility/2006">
              <mc:Choice xmlns:v="urn:schemas-microsoft-com:vml" Requires="v">
                <p:oleObj spid="_x0000_s13316" r:id="rId4" imgW="4118760" imgH="1361880" progId="">
                  <p:embed/>
                </p:oleObj>
              </mc:Choice>
              <mc:Fallback>
                <p:oleObj r:id="rId4" imgW="4118760" imgH="1361880" progId="">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9800" y="3783171"/>
                        <a:ext cx="3733800" cy="12418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7" name="Group 6"/>
          <p:cNvGrpSpPr/>
          <p:nvPr/>
        </p:nvGrpSpPr>
        <p:grpSpPr>
          <a:xfrm>
            <a:off x="4506" y="0"/>
            <a:ext cx="914400" cy="5143500"/>
            <a:chOff x="0" y="168206"/>
            <a:chExt cx="914400" cy="6689794"/>
          </a:xfrm>
        </p:grpSpPr>
        <p:sp>
          <p:nvSpPr>
            <p:cNvPr id="8" name="Rectangle 7"/>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7" descr="logo"/>
            <p:cNvPicPr>
              <a:picLocks noChangeAspect="1" noChangeArrowheads="1"/>
            </p:cNvPicPr>
            <p:nvPr/>
          </p:nvPicPr>
          <p:blipFill>
            <a:blip r:embed="rId6"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Ketones</a:t>
            </a:r>
            <a:endParaRPr lang="en-US" dirty="0"/>
          </a:p>
        </p:txBody>
      </p:sp>
      <p:sp>
        <p:nvSpPr>
          <p:cNvPr id="3" name="Content Placeholder 2"/>
          <p:cNvSpPr>
            <a:spLocks noGrp="1"/>
          </p:cNvSpPr>
          <p:nvPr>
            <p:ph idx="1"/>
          </p:nvPr>
        </p:nvSpPr>
        <p:spPr>
          <a:xfrm>
            <a:off x="1066800" y="1261587"/>
            <a:ext cx="5029200" cy="2666999"/>
          </a:xfrm>
          <a:ln w="22225">
            <a:solidFill>
              <a:srgbClr val="C00000"/>
            </a:solidFill>
          </a:ln>
        </p:spPr>
        <p:txBody>
          <a:bodyPr>
            <a:normAutofit/>
          </a:bodyPr>
          <a:lstStyle/>
          <a:p>
            <a:pPr algn="just"/>
            <a:r>
              <a:rPr lang="en-US" sz="2000" b="1" dirty="0" smtClean="0"/>
              <a:t>Ketones</a:t>
            </a:r>
            <a:r>
              <a:rPr lang="en-US" sz="2000" dirty="0" smtClean="0"/>
              <a:t> (RC(O)R’) have carbon of the C=O bonded to two other carbons. Acetone or Dimethyl ketone (or 2-propanone) is a nail polish remover. The common names for ketones are written similar to ethers, i.e. the two alkyl groups are written alphabetically followed by the word ketone. For example, the compound,</a:t>
            </a:r>
            <a:endParaRPr lang="en-US" sz="2000" dirty="0"/>
          </a:p>
        </p:txBody>
      </p:sp>
      <p:pic>
        <p:nvPicPr>
          <p:cNvPr id="15362" name="Picture 2"/>
          <p:cNvPicPr>
            <a:picLocks noChangeAspect="1" noChangeArrowheads="1"/>
          </p:cNvPicPr>
          <p:nvPr/>
        </p:nvPicPr>
        <p:blipFill>
          <a:blip r:embed="rId3"/>
          <a:srcRect/>
          <a:stretch>
            <a:fillRect/>
          </a:stretch>
        </p:blipFill>
        <p:spPr bwMode="auto">
          <a:xfrm>
            <a:off x="6324600" y="2724150"/>
            <a:ext cx="2712720" cy="914400"/>
          </a:xfrm>
          <a:prstGeom prst="rect">
            <a:avLst/>
          </a:prstGeom>
          <a:noFill/>
          <a:ln w="9525">
            <a:noFill/>
            <a:miter lim="800000"/>
            <a:headEnd/>
            <a:tailEnd/>
          </a:ln>
          <a:effectLst/>
        </p:spPr>
      </p:pic>
      <p:sp>
        <p:nvSpPr>
          <p:cNvPr id="1229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2289" name="Object 1"/>
          <p:cNvGraphicFramePr>
            <a:graphicFrameLocks noChangeAspect="1"/>
          </p:cNvGraphicFramePr>
          <p:nvPr>
            <p:extLst>
              <p:ext uri="{D42A27DB-BD31-4B8C-83A1-F6EECF244321}">
                <p14:modId xmlns:p14="http://schemas.microsoft.com/office/powerpoint/2010/main" val="1992167745"/>
              </p:ext>
            </p:extLst>
          </p:nvPr>
        </p:nvGraphicFramePr>
        <p:xfrm>
          <a:off x="7004685" y="1242537"/>
          <a:ext cx="1047750" cy="1019175"/>
        </p:xfrm>
        <a:graphic>
          <a:graphicData uri="http://schemas.openxmlformats.org/presentationml/2006/ole">
            <mc:AlternateContent xmlns:mc="http://schemas.openxmlformats.org/markup-compatibility/2006">
              <mc:Choice xmlns:v="urn:schemas-microsoft-com:vml" Requires="v">
                <p:oleObj spid="_x0000_s12292" r:id="rId4" imgW="985320" imgH="951480" progId="">
                  <p:embed/>
                </p:oleObj>
              </mc:Choice>
              <mc:Fallback>
                <p:oleObj r:id="rId4" imgW="985320" imgH="951480" progId="">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04685" y="1242537"/>
                        <a:ext cx="1047750" cy="1019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7" name="Group 6"/>
          <p:cNvGrpSpPr/>
          <p:nvPr/>
        </p:nvGrpSpPr>
        <p:grpSpPr>
          <a:xfrm>
            <a:off x="4506" y="0"/>
            <a:ext cx="833694" cy="5143500"/>
            <a:chOff x="0" y="168206"/>
            <a:chExt cx="914400" cy="6689794"/>
          </a:xfrm>
        </p:grpSpPr>
        <p:sp>
          <p:nvSpPr>
            <p:cNvPr id="8" name="Rectangle 7"/>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7" descr="logo"/>
            <p:cNvPicPr>
              <a:picLocks noChangeAspect="1" noChangeArrowheads="1"/>
            </p:cNvPicPr>
            <p:nvPr/>
          </p:nvPicPr>
          <p:blipFill>
            <a:blip r:embed="rId6"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05979"/>
            <a:ext cx="8305800" cy="857250"/>
          </a:xfrm>
        </p:spPr>
        <p:txBody>
          <a:bodyPr/>
          <a:lstStyle/>
          <a:p>
            <a:r>
              <a:rPr lang="en-US" dirty="0" smtClean="0"/>
              <a:t>Carboxylic acids</a:t>
            </a:r>
            <a:endParaRPr lang="en-US" dirty="0"/>
          </a:p>
        </p:txBody>
      </p:sp>
      <p:pic>
        <p:nvPicPr>
          <p:cNvPr id="11265" name="Picture 33"/>
          <p:cNvPicPr>
            <a:picLocks noChangeAspect="1" noChangeArrowheads="1"/>
          </p:cNvPicPr>
          <p:nvPr/>
        </p:nvPicPr>
        <p:blipFill>
          <a:blip r:embed="rId2"/>
          <a:srcRect/>
          <a:stretch>
            <a:fillRect/>
          </a:stretch>
        </p:blipFill>
        <p:spPr bwMode="auto">
          <a:xfrm>
            <a:off x="1600200" y="3843338"/>
            <a:ext cx="2392362" cy="1319212"/>
          </a:xfrm>
          <a:prstGeom prst="rect">
            <a:avLst/>
          </a:prstGeom>
          <a:noFill/>
          <a:ln w="9525">
            <a:noFill/>
            <a:miter lim="800000"/>
            <a:headEnd/>
            <a:tailEnd/>
          </a:ln>
        </p:spPr>
      </p:pic>
      <p:pic>
        <p:nvPicPr>
          <p:cNvPr id="11266" name="Picture 2"/>
          <p:cNvPicPr>
            <a:picLocks noChangeAspect="1" noChangeArrowheads="1"/>
          </p:cNvPicPr>
          <p:nvPr/>
        </p:nvPicPr>
        <p:blipFill>
          <a:blip r:embed="rId3">
            <a:duotone>
              <a:prstClr val="black"/>
              <a:schemeClr val="accent6">
                <a:tint val="45000"/>
                <a:satMod val="400000"/>
              </a:schemeClr>
            </a:duotone>
          </a:blip>
          <a:srcRect/>
          <a:stretch>
            <a:fillRect/>
          </a:stretch>
        </p:blipFill>
        <p:spPr bwMode="auto">
          <a:xfrm>
            <a:off x="5029200" y="2419350"/>
            <a:ext cx="3962400" cy="1965921"/>
          </a:xfrm>
          <a:prstGeom prst="rect">
            <a:avLst/>
          </a:prstGeom>
          <a:noFill/>
          <a:ln w="9525">
            <a:noFill/>
            <a:miter lim="800000"/>
            <a:headEnd/>
            <a:tailEnd/>
          </a:ln>
          <a:effectLst/>
        </p:spPr>
      </p:pic>
      <p:sp>
        <p:nvSpPr>
          <p:cNvPr id="8" name="Rectangle 7"/>
          <p:cNvSpPr/>
          <p:nvPr/>
        </p:nvSpPr>
        <p:spPr>
          <a:xfrm>
            <a:off x="5029200" y="1047750"/>
            <a:ext cx="3810000" cy="1200329"/>
          </a:xfrm>
          <a:prstGeom prst="rect">
            <a:avLst/>
          </a:prstGeom>
        </p:spPr>
        <p:txBody>
          <a:bodyPr wrap="square">
            <a:spAutoFit/>
          </a:bodyPr>
          <a:lstStyle/>
          <a:p>
            <a:pPr algn="just"/>
            <a:r>
              <a:rPr lang="en-US" dirty="0" smtClean="0"/>
              <a:t>Nowhere else in organic chemistry, the common names are so prevalent as they are among carboxylic acids. Some examples are listed in Table 1.8.</a:t>
            </a:r>
            <a:endParaRPr lang="en-US" dirty="0"/>
          </a:p>
        </p:txBody>
      </p:sp>
      <p:sp>
        <p:nvSpPr>
          <p:cNvPr id="9" name="Content Placeholder 2"/>
          <p:cNvSpPr txBox="1">
            <a:spLocks/>
          </p:cNvSpPr>
          <p:nvPr/>
        </p:nvSpPr>
        <p:spPr>
          <a:xfrm>
            <a:off x="609600" y="1082278"/>
            <a:ext cx="4343400" cy="2937272"/>
          </a:xfrm>
          <a:prstGeom prst="rect">
            <a:avLst/>
          </a:prstGeom>
          <a:ln w="22225">
            <a:solidFill>
              <a:srgbClr val="C00000"/>
            </a:solidFill>
          </a:ln>
        </p:spPr>
        <p:txBody>
          <a:bodyPr vert="horz" lIns="91440" tIns="45720" rIns="91440" bIns="45720" rtlCol="0">
            <a:normAutofit fontScale="77500" lnSpcReduction="20000"/>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1" i="0" u="none" strike="noStrike" kern="1200" cap="none" spc="0" normalizeH="0" baseline="0" noProof="0" dirty="0" smtClean="0">
                <a:ln>
                  <a:noFill/>
                </a:ln>
                <a:solidFill>
                  <a:schemeClr val="tx1"/>
                </a:solidFill>
                <a:effectLst/>
                <a:uLnTx/>
                <a:uFillTx/>
                <a:latin typeface="+mn-lt"/>
                <a:ea typeface="+mn-ea"/>
                <a:cs typeface="+mn-cs"/>
              </a:rPr>
              <a:t>Carboxylic Acids </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(RCOOH) have a carbonyl carbon bonded to –OH and to an alkyl group from the other side. Acetic acid (vinegar) and formic acid are the simplest carboxylic acids. Other short-chain acids like butanoic and pentanoic acids are notorious for their locker-room smells (or worse). </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The hydroxyl group participates in hydrogen bonding; as a result, carboxylic acids have higher boiling points. Despite the name, carboxylic acids tend to be relatively weak acids and can only partially dissociate in water (as compared to strong acids such as HCl and H</a:t>
            </a:r>
            <a:r>
              <a:rPr kumimoji="0" lang="en-US" sz="2000" b="0" i="0" u="none" strike="noStrike" kern="1200" cap="none" spc="0" normalizeH="0" baseline="-25000" noProof="0" dirty="0" smtClean="0">
                <a:ln>
                  <a:noFill/>
                </a:ln>
                <a:solidFill>
                  <a:schemeClr val="tx1"/>
                </a:solidFill>
                <a:effectLst/>
                <a:uLnTx/>
                <a:uFillTx/>
                <a:latin typeface="+mn-lt"/>
                <a:ea typeface="+mn-ea"/>
                <a:cs typeface="+mn-cs"/>
              </a:rPr>
              <a:t>2</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SO</a:t>
            </a:r>
            <a:r>
              <a:rPr kumimoji="0" lang="en-US" sz="2000" b="0" i="0" u="none" strike="noStrike" kern="1200" cap="none" spc="0" normalizeH="0" baseline="-25000" noProof="0" dirty="0" smtClean="0">
                <a:ln>
                  <a:noFill/>
                </a:ln>
                <a:solidFill>
                  <a:schemeClr val="tx1"/>
                </a:solidFill>
                <a:effectLst/>
                <a:uLnTx/>
                <a:uFillTx/>
                <a:latin typeface="+mn-lt"/>
                <a:ea typeface="+mn-ea"/>
                <a:cs typeface="+mn-cs"/>
              </a:rPr>
              <a:t>4</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Carboxylic Acid Derivatives</a:t>
            </a:r>
            <a:endParaRPr lang="en-US" dirty="0"/>
          </a:p>
        </p:txBody>
      </p:sp>
      <p:sp>
        <p:nvSpPr>
          <p:cNvPr id="3" name="Content Placeholder 2"/>
          <p:cNvSpPr>
            <a:spLocks noGrp="1"/>
          </p:cNvSpPr>
          <p:nvPr>
            <p:ph idx="1"/>
          </p:nvPr>
        </p:nvSpPr>
        <p:spPr>
          <a:xfrm>
            <a:off x="457200" y="929878"/>
            <a:ext cx="4876800" cy="4213622"/>
          </a:xfrm>
          <a:noFill/>
          <a:ln w="22225">
            <a:solidFill>
              <a:srgbClr val="C00000"/>
            </a:solidFill>
          </a:ln>
        </p:spPr>
        <p:txBody>
          <a:bodyPr>
            <a:noAutofit/>
          </a:bodyPr>
          <a:lstStyle/>
          <a:p>
            <a:pPr algn="just"/>
            <a:r>
              <a:rPr lang="en-US" sz="1400" dirty="0" smtClean="0"/>
              <a:t>There are actually quite a few important functional groups containing carbonyls. These functional groups are all considered to be derived from carboxylic acids, as they can be obtained through replacement of OH with various groups. </a:t>
            </a:r>
          </a:p>
          <a:p>
            <a:pPr algn="just"/>
            <a:r>
              <a:rPr lang="en-US" sz="1400" dirty="0" smtClean="0"/>
              <a:t>Carboxylic acid derivatives include: </a:t>
            </a:r>
            <a:r>
              <a:rPr lang="en-US" sz="1400" b="1" dirty="0" smtClean="0"/>
              <a:t>ester, Amides, Acid Halides, Anhydrides, Nitriles.</a:t>
            </a:r>
          </a:p>
          <a:p>
            <a:pPr algn="just"/>
            <a:r>
              <a:rPr lang="en-US" sz="1400" dirty="0" smtClean="0"/>
              <a:t>In ester the O-H bond of carboxylic acid is replaced with an O-R group.</a:t>
            </a:r>
          </a:p>
          <a:p>
            <a:pPr algn="just"/>
            <a:r>
              <a:rPr lang="en-US" sz="1400" dirty="0" smtClean="0"/>
              <a:t>In </a:t>
            </a:r>
            <a:r>
              <a:rPr lang="en-US" sz="1400" b="1" dirty="0" smtClean="0"/>
              <a:t>amides</a:t>
            </a:r>
            <a:r>
              <a:rPr lang="en-US" sz="1400" dirty="0" smtClean="0"/>
              <a:t> the O-H bond of carboxylic acid is replaced with an –NH</a:t>
            </a:r>
            <a:r>
              <a:rPr lang="en-US" sz="1400" baseline="-25000" dirty="0" smtClean="0"/>
              <a:t>2</a:t>
            </a:r>
            <a:r>
              <a:rPr lang="en-US" sz="1400" dirty="0" smtClean="0"/>
              <a:t>, -NHR, or -NR</a:t>
            </a:r>
            <a:r>
              <a:rPr lang="en-US" sz="1400" baseline="-25000" dirty="0" smtClean="0"/>
              <a:t>2</a:t>
            </a:r>
            <a:r>
              <a:rPr lang="en-US" sz="1400" dirty="0" smtClean="0"/>
              <a:t> group.</a:t>
            </a:r>
          </a:p>
          <a:p>
            <a:pPr algn="just"/>
            <a:r>
              <a:rPr lang="en-US" sz="1400" dirty="0" smtClean="0"/>
              <a:t>In </a:t>
            </a:r>
            <a:r>
              <a:rPr lang="en-US" sz="1400" b="1" dirty="0" smtClean="0"/>
              <a:t>acid halides </a:t>
            </a:r>
            <a:r>
              <a:rPr lang="en-US" sz="1400" dirty="0" smtClean="0"/>
              <a:t>the O-H bond of carboxylic acid is replaced with an X group (F, Cl, Br, I).</a:t>
            </a:r>
          </a:p>
          <a:p>
            <a:pPr algn="just"/>
            <a:r>
              <a:rPr lang="en-US" sz="1400" b="1" dirty="0" smtClean="0"/>
              <a:t>Anhydrides </a:t>
            </a:r>
            <a:r>
              <a:rPr lang="en-US" sz="1400" dirty="0" smtClean="0"/>
              <a:t>contain an oxygen flanked between two carbonyls. Distinct from esters.</a:t>
            </a:r>
          </a:p>
          <a:p>
            <a:pPr algn="just"/>
            <a:r>
              <a:rPr lang="en-US" sz="1400" b="1" i="1" dirty="0" smtClean="0"/>
              <a:t>Nitriles</a:t>
            </a:r>
            <a:r>
              <a:rPr lang="en-US" sz="1400" i="1" dirty="0" smtClean="0"/>
              <a:t> might not appear to be related to carboxylic acids at first glance, but they can actually be converted into amides through hydration.</a:t>
            </a:r>
            <a:endParaRPr lang="en-US" sz="1400" dirty="0" smtClean="0"/>
          </a:p>
          <a:p>
            <a:pPr algn="just"/>
            <a:endParaRPr lang="en-US" sz="1400" dirty="0"/>
          </a:p>
        </p:txBody>
      </p:sp>
      <p:pic>
        <p:nvPicPr>
          <p:cNvPr id="10242" name="Picture 35"/>
          <p:cNvPicPr>
            <a:picLocks noChangeAspect="1" noChangeArrowheads="1"/>
          </p:cNvPicPr>
          <p:nvPr/>
        </p:nvPicPr>
        <p:blipFill>
          <a:blip r:embed="rId3"/>
          <a:srcRect/>
          <a:stretch>
            <a:fillRect/>
          </a:stretch>
        </p:blipFill>
        <p:spPr bwMode="auto">
          <a:xfrm>
            <a:off x="5867400" y="971550"/>
            <a:ext cx="2592387" cy="1231900"/>
          </a:xfrm>
          <a:prstGeom prst="rect">
            <a:avLst/>
          </a:prstGeom>
          <a:noFill/>
          <a:ln w="9525">
            <a:noFill/>
            <a:miter lim="800000"/>
            <a:headEnd/>
            <a:tailEnd/>
          </a:ln>
        </p:spPr>
      </p:pic>
      <p:pic>
        <p:nvPicPr>
          <p:cNvPr id="10243" name="Picture 37"/>
          <p:cNvPicPr>
            <a:picLocks noChangeAspect="1" noChangeArrowheads="1"/>
          </p:cNvPicPr>
          <p:nvPr/>
        </p:nvPicPr>
        <p:blipFill>
          <a:blip r:embed="rId4"/>
          <a:srcRect/>
          <a:stretch>
            <a:fillRect/>
          </a:stretch>
        </p:blipFill>
        <p:spPr bwMode="auto">
          <a:xfrm>
            <a:off x="5562600" y="2266950"/>
            <a:ext cx="3441700" cy="1249362"/>
          </a:xfrm>
          <a:prstGeom prst="rect">
            <a:avLst/>
          </a:prstGeom>
          <a:noFill/>
          <a:ln w="9525">
            <a:noFill/>
            <a:miter lim="800000"/>
            <a:headEnd/>
            <a:tailEnd/>
          </a:ln>
        </p:spPr>
      </p:pic>
      <p:sp>
        <p:nvSpPr>
          <p:cNvPr id="10245"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0244" name="Object 4"/>
          <p:cNvGraphicFramePr>
            <a:graphicFrameLocks noChangeAspect="1"/>
          </p:cNvGraphicFramePr>
          <p:nvPr/>
        </p:nvGraphicFramePr>
        <p:xfrm>
          <a:off x="5638800" y="3257550"/>
          <a:ext cx="752475" cy="1019175"/>
        </p:xfrm>
        <a:graphic>
          <a:graphicData uri="http://schemas.openxmlformats.org/presentationml/2006/ole">
            <mc:AlternateContent xmlns:mc="http://schemas.openxmlformats.org/markup-compatibility/2006">
              <mc:Choice xmlns:v="urn:schemas-microsoft-com:vml" Requires="v">
                <p:oleObj spid="_x0000_s10247" r:id="rId5" imgW="709560" imgH="951480" progId="">
                  <p:embed/>
                </p:oleObj>
              </mc:Choice>
              <mc:Fallback>
                <p:oleObj r:id="rId5" imgW="709560" imgH="951480" progId="">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38800" y="3257550"/>
                        <a:ext cx="752475" cy="1019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0246" name="Picture 36"/>
          <p:cNvPicPr>
            <a:picLocks noChangeAspect="1" noChangeArrowheads="1"/>
          </p:cNvPicPr>
          <p:nvPr/>
        </p:nvPicPr>
        <p:blipFill>
          <a:blip r:embed="rId7"/>
          <a:srcRect/>
          <a:stretch>
            <a:fillRect/>
          </a:stretch>
        </p:blipFill>
        <p:spPr bwMode="auto">
          <a:xfrm>
            <a:off x="7086600" y="3790950"/>
            <a:ext cx="1541463" cy="1073150"/>
          </a:xfrm>
          <a:prstGeom prst="rect">
            <a:avLst/>
          </a:prstGeom>
          <a:noFill/>
          <a:ln w="9525">
            <a:noFill/>
            <a:miter lim="800000"/>
            <a:headEnd/>
            <a:tailEnd/>
          </a:ln>
        </p:spPr>
      </p:pic>
      <p:sp>
        <p:nvSpPr>
          <p:cNvPr id="1024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250" name="Picture 10"/>
          <p:cNvPicPr>
            <a:picLocks noChangeAspect="1" noChangeArrowheads="1"/>
          </p:cNvPicPr>
          <p:nvPr/>
        </p:nvPicPr>
        <p:blipFill>
          <a:blip r:embed="rId8"/>
          <a:srcRect/>
          <a:stretch>
            <a:fillRect/>
          </a:stretch>
        </p:blipFill>
        <p:spPr bwMode="auto">
          <a:xfrm>
            <a:off x="5562600" y="4552950"/>
            <a:ext cx="923925" cy="409575"/>
          </a:xfrm>
          <a:prstGeom prst="rect">
            <a:avLst/>
          </a:prstGeom>
          <a:noFill/>
          <a:ln w="9525">
            <a:noFill/>
            <a:miter lim="800000"/>
            <a:headEnd/>
            <a:tailEnd/>
          </a:ln>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9200" y="819150"/>
            <a:ext cx="7391400" cy="3680222"/>
          </a:xfrm>
        </p:spPr>
        <p:style>
          <a:lnRef idx="2">
            <a:schemeClr val="accent1"/>
          </a:lnRef>
          <a:fillRef idx="1">
            <a:schemeClr val="lt1"/>
          </a:fillRef>
          <a:effectRef idx="0">
            <a:schemeClr val="accent1"/>
          </a:effectRef>
          <a:fontRef idx="minor">
            <a:schemeClr val="dk1"/>
          </a:fontRef>
        </p:style>
        <p:txBody>
          <a:bodyPr>
            <a:normAutofit/>
          </a:bodyPr>
          <a:lstStyle/>
          <a:p>
            <a:pPr algn="ctr">
              <a:buNone/>
            </a:pPr>
            <a:r>
              <a:rPr lang="en-US" sz="8800" b="1" dirty="0" smtClean="0">
                <a:ln w="31550" cmpd="sng">
                  <a:gradFill>
                    <a:gsLst>
                      <a:gs pos="25000">
                        <a:schemeClr val="accent1">
                          <a:shade val="25000"/>
                          <a:satMod val="190000"/>
                        </a:schemeClr>
                      </a:gs>
                      <a:gs pos="80000">
                        <a:schemeClr val="accent1">
                          <a:tint val="75000"/>
                          <a:satMod val="190000"/>
                        </a:schemeClr>
                      </a:gs>
                    </a:gsLst>
                    <a:lin ang="5400000"/>
                  </a:gradFill>
                  <a:prstDash val="solid"/>
                </a:ln>
                <a:solidFill>
                  <a:srgbClr val="FFFFFF"/>
                </a:solidFill>
                <a:effectLst>
                  <a:outerShdw blurRad="41275" dist="12700" dir="12000000" algn="tl" rotWithShape="0">
                    <a:srgbClr val="000000">
                      <a:alpha val="40000"/>
                    </a:srgbClr>
                  </a:outerShdw>
                </a:effectLst>
                <a:latin typeface="Times New Roman" pitchFamily="18" charset="0"/>
                <a:cs typeface="Times New Roman" pitchFamily="18" charset="0"/>
              </a:rPr>
              <a:t/>
            </a:r>
            <a:br>
              <a:rPr lang="en-US" sz="8800" b="1" dirty="0" smtClean="0">
                <a:ln w="31550" cmpd="sng">
                  <a:gradFill>
                    <a:gsLst>
                      <a:gs pos="25000">
                        <a:schemeClr val="accent1">
                          <a:shade val="25000"/>
                          <a:satMod val="190000"/>
                        </a:schemeClr>
                      </a:gs>
                      <a:gs pos="80000">
                        <a:schemeClr val="accent1">
                          <a:tint val="75000"/>
                          <a:satMod val="190000"/>
                        </a:schemeClr>
                      </a:gs>
                    </a:gsLst>
                    <a:lin ang="5400000"/>
                  </a:gradFill>
                  <a:prstDash val="solid"/>
                </a:ln>
                <a:solidFill>
                  <a:srgbClr val="FFFFFF"/>
                </a:solidFill>
                <a:effectLst>
                  <a:outerShdw blurRad="41275" dist="12700" dir="12000000" algn="tl" rotWithShape="0">
                    <a:srgbClr val="000000">
                      <a:alpha val="40000"/>
                    </a:srgbClr>
                  </a:outerShdw>
                </a:effectLst>
                <a:latin typeface="Times New Roman" pitchFamily="18" charset="0"/>
                <a:cs typeface="Times New Roman" pitchFamily="18" charset="0"/>
              </a:rPr>
            </a:br>
            <a:r>
              <a:rPr lang="en-US" sz="8800" b="1" dirty="0" smtClean="0">
                <a:ln w="31550" cmpd="sng">
                  <a:gradFill>
                    <a:gsLst>
                      <a:gs pos="25000">
                        <a:schemeClr val="accent1">
                          <a:shade val="25000"/>
                          <a:satMod val="190000"/>
                        </a:schemeClr>
                      </a:gs>
                      <a:gs pos="80000">
                        <a:schemeClr val="accent1">
                          <a:tint val="75000"/>
                          <a:satMod val="190000"/>
                        </a:schemeClr>
                      </a:gs>
                    </a:gsLst>
                    <a:lin ang="5400000"/>
                  </a:gradFill>
                  <a:prstDash val="solid"/>
                </a:ln>
                <a:solidFill>
                  <a:srgbClr val="FFFFFF"/>
                </a:solidFill>
                <a:effectLst>
                  <a:outerShdw blurRad="41275" dist="12700" dir="12000000" algn="tl" rotWithShape="0">
                    <a:srgbClr val="000000">
                      <a:alpha val="40000"/>
                    </a:srgbClr>
                  </a:outerShdw>
                </a:effectLst>
                <a:latin typeface="Times New Roman" pitchFamily="18" charset="0"/>
                <a:cs typeface="Times New Roman" pitchFamily="18" charset="0"/>
              </a:rPr>
              <a:t>Thank You</a:t>
            </a:r>
            <a:endParaRPr lang="en-US" sz="8800" b="1"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rgbClr val="FFFFFF"/>
              </a:solidFill>
              <a:effectLst>
                <a:outerShdw blurRad="41275" dist="12700" dir="12000000" algn="tl" rotWithShape="0">
                  <a:srgbClr val="000000">
                    <a:alpha val="40000"/>
                  </a:srgbClr>
                </a:outerShdw>
              </a:effectLst>
              <a:latin typeface="Times New Roman" pitchFamily="18" charset="0"/>
              <a:cs typeface="Times New Roman" pitchFamily="18" charset="0"/>
            </a:endParaRPr>
          </a:p>
        </p:txBody>
      </p:sp>
      <p:grpSp>
        <p:nvGrpSpPr>
          <p:cNvPr id="4" name="Group 3"/>
          <p:cNvGrpSpPr/>
          <p:nvPr/>
        </p:nvGrpSpPr>
        <p:grpSpPr>
          <a:xfrm>
            <a:off x="4506" y="0"/>
            <a:ext cx="914400" cy="5143500"/>
            <a:chOff x="0" y="168206"/>
            <a:chExt cx="914400" cy="6689794"/>
          </a:xfrm>
        </p:grpSpPr>
        <p:sp>
          <p:nvSpPr>
            <p:cNvPr id="5" name="Rectangle 4"/>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7" name="Picture 7" descr="logo"/>
            <p:cNvPicPr>
              <a:picLocks noChangeAspect="1" noChangeArrowheads="1"/>
            </p:cNvPicPr>
            <p:nvPr/>
          </p:nvPicPr>
          <p:blipFill>
            <a:blip r:embed="rId2"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2998</TotalTime>
  <Words>4487</Words>
  <Application>Microsoft Office PowerPoint</Application>
  <PresentationFormat>On-screen Show (16:9)</PresentationFormat>
  <Paragraphs>286</Paragraphs>
  <Slides>46</Slides>
  <Notes>3</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0</vt:i4>
      </vt:variant>
      <vt:variant>
        <vt:lpstr>Slide Titles</vt:lpstr>
      </vt:variant>
      <vt:variant>
        <vt:i4>46</vt:i4>
      </vt:variant>
    </vt:vector>
  </HeadingPairs>
  <TitlesOfParts>
    <vt:vector size="52" baseType="lpstr">
      <vt:lpstr>Algerian</vt:lpstr>
      <vt:lpstr>Arial</vt:lpstr>
      <vt:lpstr>Calibri</vt:lpstr>
      <vt:lpstr>Times New Roman</vt:lpstr>
      <vt:lpstr>Wingdings</vt:lpstr>
      <vt:lpstr>Office Theme</vt:lpstr>
      <vt:lpstr>CHM 102 GENERAL CHEMISTRY II  (2 UNITS)</vt:lpstr>
      <vt:lpstr>PowerPoint Presentation</vt:lpstr>
      <vt:lpstr>Keywords</vt:lpstr>
      <vt:lpstr>INTRODUCTION</vt:lpstr>
      <vt:lpstr>INTRODUCTION</vt:lpstr>
      <vt:lpstr>The Bonding Characteristics of Carbon Atom</vt:lpstr>
      <vt:lpstr>HOMOLOGOUS SERIES </vt:lpstr>
      <vt:lpstr>Structural Formula</vt:lpstr>
      <vt:lpstr> Alkanes, Alkenes and Alkynes</vt:lpstr>
      <vt:lpstr> Alkanes, Alkenes and Alkynes</vt:lpstr>
      <vt:lpstr>Alicyclic Hydrocarbons</vt:lpstr>
      <vt:lpstr>Hybridization of Alkanes, Alkenes and Alkynes</vt:lpstr>
      <vt:lpstr>Alkanes</vt:lpstr>
      <vt:lpstr>Nomenclature of Alkanes</vt:lpstr>
      <vt:lpstr>Isomerism</vt:lpstr>
      <vt:lpstr>Isomerisation </vt:lpstr>
      <vt:lpstr>Classes of Carbon and Hydrogen Atoms</vt:lpstr>
      <vt:lpstr>Alkyl Groups and Nomenclature </vt:lpstr>
      <vt:lpstr>PowerPoint Presentation</vt:lpstr>
      <vt:lpstr>Physical Properties of Alkanes</vt:lpstr>
      <vt:lpstr> Physical Properties of Alkanes</vt:lpstr>
      <vt:lpstr> Physical Properties of Alkanes</vt:lpstr>
      <vt:lpstr> Physical Properties of Alkanes</vt:lpstr>
      <vt:lpstr>Preparation of Alkanes</vt:lpstr>
      <vt:lpstr>Reactions of Alkanes</vt:lpstr>
      <vt:lpstr>Reactions of Alkanes</vt:lpstr>
      <vt:lpstr>Alkenes</vt:lpstr>
      <vt:lpstr>Physical Properties</vt:lpstr>
      <vt:lpstr>Preparation of Alkenes</vt:lpstr>
      <vt:lpstr>Reactions of Alkenes</vt:lpstr>
      <vt:lpstr>Alkynes</vt:lpstr>
      <vt:lpstr>Physical Properties</vt:lpstr>
      <vt:lpstr>Preparation </vt:lpstr>
      <vt:lpstr>Reactions of Alkynes </vt:lpstr>
      <vt:lpstr>Hydrocarbon Derivatives</vt:lpstr>
      <vt:lpstr>Hydrocarbon Derivatives</vt:lpstr>
      <vt:lpstr>Alcohols</vt:lpstr>
      <vt:lpstr>Preparation of Alcohols </vt:lpstr>
      <vt:lpstr>Classification of Alcohols</vt:lpstr>
      <vt:lpstr>Ethers</vt:lpstr>
      <vt:lpstr>Amine and its Classification</vt:lpstr>
      <vt:lpstr>Aldehydes</vt:lpstr>
      <vt:lpstr>Ketones</vt:lpstr>
      <vt:lpstr>Carboxylic acids</vt:lpstr>
      <vt:lpstr>Carboxylic Acid Derivatives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CHM 122 INTRODUCTORY ORGANIC CHEMISTRY  (2 UNITS)</dc:title>
  <dc:creator>user</dc:creator>
  <cp:lastModifiedBy>User</cp:lastModifiedBy>
  <cp:revision>544</cp:revision>
  <dcterms:created xsi:type="dcterms:W3CDTF">2023-10-22T20:52:26Z</dcterms:created>
  <dcterms:modified xsi:type="dcterms:W3CDTF">2024-07-28T10:03:00Z</dcterms:modified>
</cp:coreProperties>
</file>