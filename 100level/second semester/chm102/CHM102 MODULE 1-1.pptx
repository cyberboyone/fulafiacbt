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70" r:id="rId3"/>
    <p:sldId id="260" r:id="rId4"/>
    <p:sldId id="262" r:id="rId5"/>
    <p:sldId id="261" r:id="rId6"/>
    <p:sldId id="264" r:id="rId7"/>
    <p:sldId id="263" r:id="rId8"/>
    <p:sldId id="265" r:id="rId9"/>
    <p:sldId id="266" r:id="rId10"/>
    <p:sldId id="268" r:id="rId11"/>
    <p:sldId id="271" r:id="rId12"/>
    <p:sldId id="269" r:id="rId13"/>
    <p:sldId id="267"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1"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F057BD0-7BA3-49E9-A070-1EDF6E2D77F0}" type="datetimeFigureOut">
              <a:rPr lang="en-US" smtClean="0"/>
              <a:t>7/10/2024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859299-BCB5-46A5-A228-8653C1B0A19E}" type="slidenum">
              <a:rPr lang="en-US" smtClean="0"/>
              <a:t>‹#›</a:t>
            </a:fld>
            <a:endParaRPr lang="en-US"/>
          </a:p>
        </p:txBody>
      </p:sp>
    </p:spTree>
    <p:extLst>
      <p:ext uri="{BB962C8B-B14F-4D97-AF65-F5344CB8AC3E}">
        <p14:creationId xmlns:p14="http://schemas.microsoft.com/office/powerpoint/2010/main" val="3666705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F057BD0-7BA3-49E9-A070-1EDF6E2D77F0}" type="datetimeFigureOut">
              <a:rPr lang="en-US" smtClean="0"/>
              <a:t>7/10/2024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859299-BCB5-46A5-A228-8653C1B0A19E}" type="slidenum">
              <a:rPr lang="en-US" smtClean="0"/>
              <a:t>‹#›</a:t>
            </a:fld>
            <a:endParaRPr lang="en-US"/>
          </a:p>
        </p:txBody>
      </p:sp>
    </p:spTree>
    <p:extLst>
      <p:ext uri="{BB962C8B-B14F-4D97-AF65-F5344CB8AC3E}">
        <p14:creationId xmlns:p14="http://schemas.microsoft.com/office/powerpoint/2010/main" val="687623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F057BD0-7BA3-49E9-A070-1EDF6E2D77F0}" type="datetimeFigureOut">
              <a:rPr lang="en-US" smtClean="0"/>
              <a:t>7/10/2024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859299-BCB5-46A5-A228-8653C1B0A19E}" type="slidenum">
              <a:rPr lang="en-US" smtClean="0"/>
              <a:t>‹#›</a:t>
            </a:fld>
            <a:endParaRPr lang="en-US"/>
          </a:p>
        </p:txBody>
      </p:sp>
    </p:spTree>
    <p:extLst>
      <p:ext uri="{BB962C8B-B14F-4D97-AF65-F5344CB8AC3E}">
        <p14:creationId xmlns:p14="http://schemas.microsoft.com/office/powerpoint/2010/main" val="403622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F057BD0-7BA3-49E9-A070-1EDF6E2D77F0}" type="datetimeFigureOut">
              <a:rPr lang="en-US" smtClean="0"/>
              <a:t>7/10/2024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859299-BCB5-46A5-A228-8653C1B0A19E}" type="slidenum">
              <a:rPr lang="en-US" smtClean="0"/>
              <a:t>‹#›</a:t>
            </a:fld>
            <a:endParaRPr lang="en-US"/>
          </a:p>
        </p:txBody>
      </p:sp>
    </p:spTree>
    <p:extLst>
      <p:ext uri="{BB962C8B-B14F-4D97-AF65-F5344CB8AC3E}">
        <p14:creationId xmlns:p14="http://schemas.microsoft.com/office/powerpoint/2010/main" val="588811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F057BD0-7BA3-49E9-A070-1EDF6E2D77F0}" type="datetimeFigureOut">
              <a:rPr lang="en-US" smtClean="0"/>
              <a:t>7/10/2024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C859299-BCB5-46A5-A228-8653C1B0A19E}" type="slidenum">
              <a:rPr lang="en-US" smtClean="0"/>
              <a:t>‹#›</a:t>
            </a:fld>
            <a:endParaRPr lang="en-US"/>
          </a:p>
        </p:txBody>
      </p:sp>
    </p:spTree>
    <p:extLst>
      <p:ext uri="{BB962C8B-B14F-4D97-AF65-F5344CB8AC3E}">
        <p14:creationId xmlns:p14="http://schemas.microsoft.com/office/powerpoint/2010/main" val="3459165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F057BD0-7BA3-49E9-A070-1EDF6E2D77F0}" type="datetimeFigureOut">
              <a:rPr lang="en-US" smtClean="0"/>
              <a:t>7/10/2024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C859299-BCB5-46A5-A228-8653C1B0A19E}" type="slidenum">
              <a:rPr lang="en-US" smtClean="0"/>
              <a:t>‹#›</a:t>
            </a:fld>
            <a:endParaRPr lang="en-US"/>
          </a:p>
        </p:txBody>
      </p:sp>
    </p:spTree>
    <p:extLst>
      <p:ext uri="{BB962C8B-B14F-4D97-AF65-F5344CB8AC3E}">
        <p14:creationId xmlns:p14="http://schemas.microsoft.com/office/powerpoint/2010/main" val="2446042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057BD0-7BA3-49E9-A070-1EDF6E2D77F0}" type="datetimeFigureOut">
              <a:rPr lang="en-US" smtClean="0"/>
              <a:t>7/10/2024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C859299-BCB5-46A5-A228-8653C1B0A19E}" type="slidenum">
              <a:rPr lang="en-US" smtClean="0"/>
              <a:t>‹#›</a:t>
            </a:fld>
            <a:endParaRPr lang="en-US"/>
          </a:p>
        </p:txBody>
      </p:sp>
    </p:spTree>
    <p:extLst>
      <p:ext uri="{BB962C8B-B14F-4D97-AF65-F5344CB8AC3E}">
        <p14:creationId xmlns:p14="http://schemas.microsoft.com/office/powerpoint/2010/main" val="229575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F057BD0-7BA3-49E9-A070-1EDF6E2D77F0}" type="datetimeFigureOut">
              <a:rPr lang="en-US" smtClean="0"/>
              <a:t>7/10/2024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859299-BCB5-46A5-A228-8653C1B0A19E}" type="slidenum">
              <a:rPr lang="en-US" smtClean="0"/>
              <a:t>‹#›</a:t>
            </a:fld>
            <a:endParaRPr lang="en-US"/>
          </a:p>
        </p:txBody>
      </p:sp>
    </p:spTree>
    <p:extLst>
      <p:ext uri="{BB962C8B-B14F-4D97-AF65-F5344CB8AC3E}">
        <p14:creationId xmlns:p14="http://schemas.microsoft.com/office/powerpoint/2010/main" val="3887634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F057BD0-7BA3-49E9-A070-1EDF6E2D77F0}" type="datetimeFigureOut">
              <a:rPr lang="en-US" smtClean="0"/>
              <a:t>7/10/2024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859299-BCB5-46A5-A228-8653C1B0A19E}" type="slidenum">
              <a:rPr lang="en-US" smtClean="0"/>
              <a:t>‹#›</a:t>
            </a:fld>
            <a:endParaRPr lang="en-US"/>
          </a:p>
        </p:txBody>
      </p:sp>
    </p:spTree>
    <p:extLst>
      <p:ext uri="{BB962C8B-B14F-4D97-AF65-F5344CB8AC3E}">
        <p14:creationId xmlns:p14="http://schemas.microsoft.com/office/powerpoint/2010/main" val="84815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F057BD0-7BA3-49E9-A070-1EDF6E2D77F0}" type="datetimeFigureOut">
              <a:rPr lang="en-US" smtClean="0"/>
              <a:t>7/10/2024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859299-BCB5-46A5-A228-8653C1B0A19E}" type="slidenum">
              <a:rPr lang="en-US" smtClean="0"/>
              <a:t>‹#›</a:t>
            </a:fld>
            <a:endParaRPr lang="en-US"/>
          </a:p>
        </p:txBody>
      </p:sp>
    </p:spTree>
    <p:extLst>
      <p:ext uri="{BB962C8B-B14F-4D97-AF65-F5344CB8AC3E}">
        <p14:creationId xmlns:p14="http://schemas.microsoft.com/office/powerpoint/2010/main" val="1326072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F057BD0-7BA3-49E9-A070-1EDF6E2D77F0}" type="datetimeFigureOut">
              <a:rPr lang="en-US" smtClean="0"/>
              <a:t>7/10/2024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859299-BCB5-46A5-A228-8653C1B0A19E}" type="slidenum">
              <a:rPr lang="en-US" smtClean="0"/>
              <a:t>‹#›</a:t>
            </a:fld>
            <a:endParaRPr lang="en-US"/>
          </a:p>
        </p:txBody>
      </p:sp>
    </p:spTree>
    <p:extLst>
      <p:ext uri="{BB962C8B-B14F-4D97-AF65-F5344CB8AC3E}">
        <p14:creationId xmlns:p14="http://schemas.microsoft.com/office/powerpoint/2010/main" val="2622001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057BD0-7BA3-49E9-A070-1EDF6E2D77F0}" type="datetimeFigureOut">
              <a:rPr lang="en-US" smtClean="0"/>
              <a:t>7/10/2024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859299-BCB5-46A5-A228-8653C1B0A19E}" type="slidenum">
              <a:rPr lang="en-US" smtClean="0"/>
              <a:t>‹#›</a:t>
            </a:fld>
            <a:endParaRPr lang="en-US"/>
          </a:p>
        </p:txBody>
      </p:sp>
    </p:spTree>
    <p:extLst>
      <p:ext uri="{BB962C8B-B14F-4D97-AF65-F5344CB8AC3E}">
        <p14:creationId xmlns:p14="http://schemas.microsoft.com/office/powerpoint/2010/main" val="37768433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9754" y="1590173"/>
            <a:ext cx="11201642" cy="4524315"/>
          </a:xfrm>
          <a:prstGeom prst="rect">
            <a:avLst/>
          </a:prstGeom>
        </p:spPr>
        <p:txBody>
          <a:bodyPr wrap="square">
            <a:spAutoFit/>
          </a:bodyPr>
          <a:lstStyle/>
          <a:p>
            <a:r>
              <a:rPr lang="en-GB" sz="3200" b="1" dirty="0" smtClean="0">
                <a:solidFill>
                  <a:schemeClr val="accent4">
                    <a:lumMod val="50000"/>
                  </a:schemeClr>
                </a:solidFill>
                <a:latin typeface="Times New Roman" panose="02020603050405020304" pitchFamily="18" charset="0"/>
                <a:cs typeface="Times New Roman" panose="02020603050405020304" pitchFamily="18" charset="0"/>
              </a:rPr>
              <a:t>Course code: CHM102</a:t>
            </a:r>
          </a:p>
          <a:p>
            <a:r>
              <a:rPr lang="en-GB" sz="3200" b="1" dirty="0" smtClean="0">
                <a:solidFill>
                  <a:schemeClr val="accent4">
                    <a:lumMod val="50000"/>
                  </a:schemeClr>
                </a:solidFill>
                <a:latin typeface="Times New Roman" panose="02020603050405020304" pitchFamily="18" charset="0"/>
                <a:cs typeface="Times New Roman" panose="02020603050405020304" pitchFamily="18" charset="0"/>
              </a:rPr>
              <a:t>Course Title: General Chemistry II</a:t>
            </a:r>
          </a:p>
          <a:p>
            <a:r>
              <a:rPr lang="en-GB" sz="3200" b="1" dirty="0" smtClean="0">
                <a:solidFill>
                  <a:schemeClr val="accent4">
                    <a:lumMod val="50000"/>
                  </a:schemeClr>
                </a:solidFill>
                <a:latin typeface="Times New Roman" panose="02020603050405020304" pitchFamily="18" charset="0"/>
                <a:cs typeface="Times New Roman" panose="02020603050405020304" pitchFamily="18" charset="0"/>
              </a:rPr>
              <a:t>Course Unit: (2 Units</a:t>
            </a:r>
            <a:r>
              <a:rPr lang="en-GB" sz="3200" b="1" dirty="0" smtClean="0">
                <a:solidFill>
                  <a:schemeClr val="accent4">
                    <a:lumMod val="50000"/>
                  </a:schemeClr>
                </a:solidFill>
                <a:latin typeface="Times New Roman" panose="02020603050405020304" pitchFamily="18" charset="0"/>
                <a:cs typeface="Times New Roman" panose="02020603050405020304" pitchFamily="18" charset="0"/>
              </a:rPr>
              <a:t>)</a:t>
            </a:r>
          </a:p>
          <a:p>
            <a:endParaRPr lang="en-GB" sz="3200" b="1" dirty="0" smtClean="0">
              <a:solidFill>
                <a:schemeClr val="accent4">
                  <a:lumMod val="50000"/>
                </a:schemeClr>
              </a:solidFill>
              <a:latin typeface="Times New Roman" panose="02020603050405020304" pitchFamily="18" charset="0"/>
              <a:cs typeface="Times New Roman" panose="02020603050405020304" pitchFamily="18" charset="0"/>
            </a:endParaRPr>
          </a:p>
          <a:p>
            <a:pPr algn="just"/>
            <a:r>
              <a:rPr lang="en-GB" sz="3200" b="1" dirty="0" smtClean="0">
                <a:solidFill>
                  <a:schemeClr val="accent4">
                    <a:lumMod val="50000"/>
                  </a:schemeClr>
                </a:solidFill>
                <a:latin typeface="Times New Roman" panose="02020603050405020304" pitchFamily="18" charset="0"/>
                <a:cs typeface="Times New Roman" panose="02020603050405020304" pitchFamily="18" charset="0"/>
              </a:rPr>
              <a:t>Module 1: </a:t>
            </a:r>
            <a:r>
              <a:rPr lang="en-US" sz="3200" b="1" dirty="0">
                <a:solidFill>
                  <a:schemeClr val="accent4">
                    <a:lumMod val="50000"/>
                  </a:schemeClr>
                </a:solidFill>
                <a:latin typeface="Times New Roman" panose="02020603050405020304" pitchFamily="18" charset="0"/>
                <a:cs typeface="Times New Roman" panose="02020603050405020304" pitchFamily="18" charset="0"/>
              </a:rPr>
              <a:t>Historical survey of the development and importance of organic </a:t>
            </a:r>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chemistry,</a:t>
            </a:r>
            <a:r>
              <a:rPr lang="en-US" sz="3200" b="1" dirty="0">
                <a:solidFill>
                  <a:schemeClr val="accent4">
                    <a:lumMod val="50000"/>
                  </a:schemeClr>
                </a:solidFill>
                <a:latin typeface="Times New Roman" panose="02020603050405020304" pitchFamily="18" charset="0"/>
                <a:cs typeface="Times New Roman" panose="02020603050405020304" pitchFamily="18" charset="0"/>
              </a:rPr>
              <a:t> Fullerenes as fourth allotrope of </a:t>
            </a:r>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carbon, Nano structures, Uses </a:t>
            </a:r>
            <a:r>
              <a:rPr lang="en-US" sz="3200" b="1" dirty="0">
                <a:solidFill>
                  <a:schemeClr val="accent4">
                    <a:lumMod val="50000"/>
                  </a:schemeClr>
                </a:solidFill>
                <a:latin typeface="Times New Roman" panose="02020603050405020304" pitchFamily="18" charset="0"/>
                <a:cs typeface="Times New Roman" panose="02020603050405020304" pitchFamily="18" charset="0"/>
              </a:rPr>
              <a:t>as </a:t>
            </a:r>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nanotubes and Nano </a:t>
            </a:r>
            <a:r>
              <a:rPr lang="en-US" sz="3200" b="1" dirty="0">
                <a:solidFill>
                  <a:schemeClr val="accent4">
                    <a:lumMod val="50000"/>
                  </a:schemeClr>
                </a:solidFill>
                <a:latin typeface="Times New Roman" panose="02020603050405020304" pitchFamily="18" charset="0"/>
                <a:cs typeface="Times New Roman" panose="02020603050405020304" pitchFamily="18" charset="0"/>
              </a:rPr>
              <a:t>chemistry</a:t>
            </a:r>
          </a:p>
          <a:p>
            <a:endParaRPr lang="en-US" sz="3200" b="1" dirty="0">
              <a:solidFill>
                <a:schemeClr val="accent4">
                  <a:lumMod val="50000"/>
                </a:schemeClr>
              </a:solidFill>
              <a:latin typeface="Times New Roman" panose="02020603050405020304" pitchFamily="18" charset="0"/>
              <a:cs typeface="Times New Roman" panose="02020603050405020304" pitchFamily="18" charset="0"/>
            </a:endParaRPr>
          </a:p>
        </p:txBody>
      </p:sp>
      <p:grpSp>
        <p:nvGrpSpPr>
          <p:cNvPr id="5" name="Group 4"/>
          <p:cNvGrpSpPr/>
          <p:nvPr/>
        </p:nvGrpSpPr>
        <p:grpSpPr>
          <a:xfrm>
            <a:off x="4506" y="0"/>
            <a:ext cx="914400" cy="68580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2" cstate="print"/>
            <a:srcRect l="25273" t="29860" r="41530" b="24966"/>
            <a:stretch>
              <a:fillRect/>
            </a:stretch>
          </p:blipFill>
          <p:spPr bwMode="auto">
            <a:xfrm>
              <a:off x="0" y="6035040"/>
              <a:ext cx="914400" cy="822960"/>
            </a:xfrm>
            <a:prstGeom prst="rect">
              <a:avLst/>
            </a:prstGeom>
            <a:noFill/>
            <a:ln w="9525">
              <a:noFill/>
              <a:miter lim="800000"/>
              <a:headEnd/>
              <a:tailEnd/>
            </a:ln>
          </p:spPr>
        </p:pic>
      </p:grpSp>
      <p:sp>
        <p:nvSpPr>
          <p:cNvPr id="3" name="Rectangle 2"/>
          <p:cNvSpPr/>
          <p:nvPr/>
        </p:nvSpPr>
        <p:spPr>
          <a:xfrm>
            <a:off x="1231657" y="295171"/>
            <a:ext cx="10617836" cy="1077218"/>
          </a:xfrm>
          <a:prstGeom prst="rect">
            <a:avLst/>
          </a:prstGeom>
        </p:spPr>
        <p:txBody>
          <a:bodyPr wrap="square">
            <a:spAutoFit/>
          </a:bodyPr>
          <a:lstStyle/>
          <a:p>
            <a:pPr algn="ctr"/>
            <a:r>
              <a:rPr lang="en-GB" sz="3200" b="1" dirty="0">
                <a:latin typeface="Times New Roman" panose="02020603050405020304" pitchFamily="18" charset="0"/>
                <a:cs typeface="Times New Roman" panose="02020603050405020304" pitchFamily="18" charset="0"/>
              </a:rPr>
              <a:t>FEDERAL UNIVERSITY OF LAFIA</a:t>
            </a:r>
            <a:br>
              <a:rPr lang="en-GB" sz="3200" b="1" dirty="0">
                <a:latin typeface="Times New Roman" panose="02020603050405020304" pitchFamily="18" charset="0"/>
                <a:cs typeface="Times New Roman" panose="02020603050405020304" pitchFamily="18" charset="0"/>
              </a:rPr>
            </a:br>
            <a:r>
              <a:rPr lang="en-GB" sz="3200" b="1" dirty="0">
                <a:latin typeface="Times New Roman" panose="02020603050405020304" pitchFamily="18" charset="0"/>
                <a:cs typeface="Times New Roman" panose="02020603050405020304" pitchFamily="18" charset="0"/>
              </a:rPr>
              <a:t>DEPARTMENT </a:t>
            </a:r>
            <a:r>
              <a:rPr lang="en-GB" sz="3200" b="1" dirty="0" smtClean="0">
                <a:latin typeface="Times New Roman" panose="02020603050405020304" pitchFamily="18" charset="0"/>
                <a:cs typeface="Times New Roman" panose="02020603050405020304" pitchFamily="18" charset="0"/>
              </a:rPr>
              <a:t>OF CHEMISTRY</a:t>
            </a:r>
            <a:endParaRPr lang="en-GB" sz="3200" dirty="0"/>
          </a:p>
        </p:txBody>
      </p:sp>
    </p:spTree>
    <p:extLst>
      <p:ext uri="{BB962C8B-B14F-4D97-AF65-F5344CB8AC3E}">
        <p14:creationId xmlns:p14="http://schemas.microsoft.com/office/powerpoint/2010/main" val="21808679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8906" y="684949"/>
            <a:ext cx="11201642" cy="1446550"/>
          </a:xfrm>
          <a:prstGeom prst="rect">
            <a:avLst/>
          </a:prstGeom>
        </p:spPr>
        <p:txBody>
          <a:bodyPr wrap="square">
            <a:spAutoFit/>
          </a:bodyPr>
          <a:lstStyle/>
          <a:p>
            <a:r>
              <a:rPr lang="en-US" sz="4400" b="1" dirty="0" smtClean="0">
                <a:solidFill>
                  <a:schemeClr val="accent4">
                    <a:lumMod val="50000"/>
                  </a:schemeClr>
                </a:solidFill>
                <a:latin typeface="Times New Roman" panose="02020603050405020304" pitchFamily="18" charset="0"/>
                <a:cs typeface="Times New Roman" panose="02020603050405020304" pitchFamily="18" charset="0"/>
              </a:rPr>
              <a:t/>
            </a:r>
            <a:br>
              <a:rPr lang="en-US" sz="4400" b="1" dirty="0" smtClean="0">
                <a:solidFill>
                  <a:schemeClr val="accent4">
                    <a:lumMod val="50000"/>
                  </a:schemeClr>
                </a:solidFill>
                <a:latin typeface="Times New Roman" panose="02020603050405020304" pitchFamily="18" charset="0"/>
                <a:cs typeface="Times New Roman" panose="02020603050405020304" pitchFamily="18" charset="0"/>
              </a:rPr>
            </a:br>
            <a:endParaRPr lang="en-US" sz="4400" b="1" dirty="0">
              <a:solidFill>
                <a:schemeClr val="accent4">
                  <a:lumMod val="50000"/>
                </a:schemeClr>
              </a:solidFill>
              <a:latin typeface="Times New Roman" panose="02020603050405020304" pitchFamily="18" charset="0"/>
              <a:cs typeface="Times New Roman" panose="02020603050405020304" pitchFamily="18" charset="0"/>
            </a:endParaRPr>
          </a:p>
        </p:txBody>
      </p:sp>
      <p:grpSp>
        <p:nvGrpSpPr>
          <p:cNvPr id="5" name="Group 4"/>
          <p:cNvGrpSpPr/>
          <p:nvPr/>
        </p:nvGrpSpPr>
        <p:grpSpPr>
          <a:xfrm>
            <a:off x="4506" y="0"/>
            <a:ext cx="914400" cy="68580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2" cstate="print"/>
            <a:srcRect l="25273" t="29860" r="41530" b="24966"/>
            <a:stretch>
              <a:fillRect/>
            </a:stretch>
          </p:blipFill>
          <p:spPr bwMode="auto">
            <a:xfrm>
              <a:off x="0" y="6035040"/>
              <a:ext cx="914400" cy="822960"/>
            </a:xfrm>
            <a:prstGeom prst="rect">
              <a:avLst/>
            </a:prstGeom>
            <a:noFill/>
            <a:ln w="9525">
              <a:noFill/>
              <a:miter lim="800000"/>
              <a:headEnd/>
              <a:tailEnd/>
            </a:ln>
          </p:spPr>
        </p:pic>
      </p:grpSp>
      <p:sp>
        <p:nvSpPr>
          <p:cNvPr id="4" name="Rectangle 3"/>
          <p:cNvSpPr/>
          <p:nvPr/>
        </p:nvSpPr>
        <p:spPr>
          <a:xfrm>
            <a:off x="918906" y="88565"/>
            <a:ext cx="2484694" cy="707886"/>
          </a:xfrm>
          <a:prstGeom prst="rect">
            <a:avLst/>
          </a:prstGeom>
        </p:spPr>
        <p:txBody>
          <a:bodyPr wrap="square">
            <a:spAutoFit/>
          </a:bodyPr>
          <a:lstStyle/>
          <a:p>
            <a:r>
              <a:rPr lang="en-US" sz="4000" b="1" dirty="0">
                <a:solidFill>
                  <a:schemeClr val="accent4">
                    <a:lumMod val="50000"/>
                  </a:schemeClr>
                </a:solidFill>
                <a:latin typeface="Times New Roman" panose="02020603050405020304" pitchFamily="18" charset="0"/>
                <a:cs typeface="Times New Roman" panose="02020603050405020304" pitchFamily="18" charset="0"/>
              </a:rPr>
              <a:t>Objectives </a:t>
            </a:r>
          </a:p>
        </p:txBody>
      </p:sp>
      <p:sp>
        <p:nvSpPr>
          <p:cNvPr id="6" name="Rectangle 5"/>
          <p:cNvSpPr/>
          <p:nvPr/>
        </p:nvSpPr>
        <p:spPr>
          <a:xfrm>
            <a:off x="884781" y="1153996"/>
            <a:ext cx="11269891" cy="4154984"/>
          </a:xfrm>
          <a:prstGeom prst="rect">
            <a:avLst/>
          </a:prstGeom>
        </p:spPr>
        <p:txBody>
          <a:bodyPr wrap="square">
            <a:spAutoFit/>
          </a:bodyPr>
          <a:lstStyle/>
          <a:p>
            <a:pPr marL="685800" indent="-685800">
              <a:buFont typeface="Arial" panose="020B0604020202020204" pitchFamily="34" charset="0"/>
              <a:buChar char="•"/>
            </a:pPr>
            <a:r>
              <a:rPr lang="en-US" sz="4400" b="1" dirty="0">
                <a:solidFill>
                  <a:schemeClr val="accent4">
                    <a:lumMod val="50000"/>
                  </a:schemeClr>
                </a:solidFill>
                <a:latin typeface="Times New Roman" panose="02020603050405020304" pitchFamily="18" charset="0"/>
                <a:cs typeface="Times New Roman" panose="02020603050405020304" pitchFamily="18" charset="0"/>
              </a:rPr>
              <a:t>Historical survey of the development and importance of Organic Chemistry. </a:t>
            </a:r>
            <a:endParaRPr lang="en-US" sz="4400" b="1" dirty="0" smtClean="0">
              <a:solidFill>
                <a:schemeClr val="accent4">
                  <a:lumMod val="50000"/>
                </a:schemeClr>
              </a:solidFill>
              <a:latin typeface="Times New Roman" panose="02020603050405020304" pitchFamily="18" charset="0"/>
              <a:cs typeface="Times New Roman" panose="02020603050405020304" pitchFamily="18" charset="0"/>
            </a:endParaRPr>
          </a:p>
          <a:p>
            <a:pPr marL="685800" indent="-685800">
              <a:buFont typeface="Arial" panose="020B0604020202020204" pitchFamily="34" charset="0"/>
              <a:buChar char="•"/>
            </a:pPr>
            <a:r>
              <a:rPr lang="en-US" sz="4400" b="1" dirty="0" smtClean="0">
                <a:solidFill>
                  <a:schemeClr val="accent4">
                    <a:lumMod val="50000"/>
                  </a:schemeClr>
                </a:solidFill>
                <a:latin typeface="Times New Roman" panose="02020603050405020304" pitchFamily="18" charset="0"/>
                <a:cs typeface="Times New Roman" panose="02020603050405020304" pitchFamily="18" charset="0"/>
              </a:rPr>
              <a:t>Fullerenes </a:t>
            </a:r>
            <a:r>
              <a:rPr lang="en-US" sz="4400" b="1" dirty="0">
                <a:solidFill>
                  <a:schemeClr val="accent4">
                    <a:lumMod val="50000"/>
                  </a:schemeClr>
                </a:solidFill>
                <a:latin typeface="Times New Roman" panose="02020603050405020304" pitchFamily="18" charset="0"/>
                <a:cs typeface="Times New Roman" panose="02020603050405020304" pitchFamily="18" charset="0"/>
              </a:rPr>
              <a:t>as fourth allotrope of </a:t>
            </a:r>
            <a:r>
              <a:rPr lang="en-US" sz="4400" b="1" dirty="0" smtClean="0">
                <a:solidFill>
                  <a:schemeClr val="accent4">
                    <a:lumMod val="50000"/>
                  </a:schemeClr>
                </a:solidFill>
                <a:latin typeface="Times New Roman" panose="02020603050405020304" pitchFamily="18" charset="0"/>
                <a:cs typeface="Times New Roman" panose="02020603050405020304" pitchFamily="18" charset="0"/>
              </a:rPr>
              <a:t>carbon</a:t>
            </a:r>
          </a:p>
          <a:p>
            <a:pPr marL="685800" indent="-685800">
              <a:buFont typeface="Arial" panose="020B0604020202020204" pitchFamily="34" charset="0"/>
              <a:buChar char="•"/>
            </a:pPr>
            <a:r>
              <a:rPr lang="en-US" sz="4400" b="1" dirty="0" smtClean="0">
                <a:solidFill>
                  <a:schemeClr val="accent4">
                    <a:lumMod val="50000"/>
                  </a:schemeClr>
                </a:solidFill>
                <a:latin typeface="Times New Roman" panose="02020603050405020304" pitchFamily="18" charset="0"/>
                <a:cs typeface="Times New Roman" panose="02020603050405020304" pitchFamily="18" charset="0"/>
              </a:rPr>
              <a:t>Nanostructures</a:t>
            </a:r>
          </a:p>
          <a:p>
            <a:pPr marL="685800" indent="-685800">
              <a:buFont typeface="Arial" panose="020B0604020202020204" pitchFamily="34" charset="0"/>
              <a:buChar char="•"/>
            </a:pPr>
            <a:r>
              <a:rPr lang="en-US" sz="4400" b="1" dirty="0">
                <a:solidFill>
                  <a:schemeClr val="accent4">
                    <a:lumMod val="50000"/>
                  </a:schemeClr>
                </a:solidFill>
                <a:latin typeface="Times New Roman" panose="02020603050405020304" pitchFamily="18" charset="0"/>
                <a:cs typeface="Times New Roman" panose="02020603050405020304" pitchFamily="18" charset="0"/>
              </a:rPr>
              <a:t>Uses as </a:t>
            </a:r>
            <a:r>
              <a:rPr lang="en-US" sz="4400" b="1" dirty="0" smtClean="0">
                <a:solidFill>
                  <a:schemeClr val="accent4">
                    <a:lumMod val="50000"/>
                  </a:schemeClr>
                </a:solidFill>
                <a:latin typeface="Times New Roman" panose="02020603050405020304" pitchFamily="18" charset="0"/>
                <a:cs typeface="Times New Roman" panose="02020603050405020304" pitchFamily="18" charset="0"/>
              </a:rPr>
              <a:t>nanotubes</a:t>
            </a:r>
          </a:p>
          <a:p>
            <a:pPr marL="685800" indent="-685800">
              <a:buFont typeface="Arial" panose="020B0604020202020204" pitchFamily="34" charset="0"/>
              <a:buChar char="•"/>
            </a:pPr>
            <a:r>
              <a:rPr lang="en-US" sz="4400" b="1" dirty="0" smtClean="0">
                <a:solidFill>
                  <a:schemeClr val="accent4">
                    <a:lumMod val="50000"/>
                  </a:schemeClr>
                </a:solidFill>
                <a:latin typeface="Times New Roman" panose="02020603050405020304" pitchFamily="18" charset="0"/>
                <a:cs typeface="Times New Roman" panose="02020603050405020304" pitchFamily="18" charset="0"/>
              </a:rPr>
              <a:t>Nano chemistry</a:t>
            </a:r>
            <a:endParaRPr lang="en-US" sz="4400" b="1" dirty="0">
              <a:solidFill>
                <a:schemeClr val="accent4">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01602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2" name="Rectangle 1"/>
          <p:cNvSpPr/>
          <p:nvPr/>
        </p:nvSpPr>
        <p:spPr>
          <a:xfrm>
            <a:off x="918906" y="1"/>
            <a:ext cx="11273094" cy="3108543"/>
          </a:xfrm>
          <a:prstGeom prst="rect">
            <a:avLst/>
          </a:prstGeom>
        </p:spPr>
        <p:txBody>
          <a:bodyPr wrap="square">
            <a:spAutoFit/>
          </a:bodyPr>
          <a:lstStyle/>
          <a:p>
            <a:pPr marL="342900" indent="-342900">
              <a:buFont typeface="Arial" panose="020B0604020202020204" pitchFamily="34" charset="0"/>
              <a:buChar char="•"/>
            </a:pPr>
            <a:r>
              <a:rPr lang="en-US" sz="2800" b="1" dirty="0">
                <a:solidFill>
                  <a:schemeClr val="accent4">
                    <a:lumMod val="50000"/>
                  </a:schemeClr>
                </a:solidFill>
                <a:latin typeface="Times New Roman" panose="02020603050405020304" pitchFamily="18" charset="0"/>
                <a:cs typeface="Times New Roman" panose="02020603050405020304" pitchFamily="18" charset="0"/>
              </a:rPr>
              <a:t>Organic chemistry is the branch of chemistry that deals with the structure, properties, reactions, and synthesis of organic compounds, which are molecules that contain carbon atoms. </a:t>
            </a:r>
            <a:endParaRPr lang="en-US" sz="2800" b="1" dirty="0" smtClean="0">
              <a:solidFill>
                <a:schemeClr val="accent4">
                  <a:lumMod val="50000"/>
                </a:schemeClr>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800" b="1" dirty="0" smtClean="0">
                <a:solidFill>
                  <a:schemeClr val="accent4">
                    <a:lumMod val="50000"/>
                  </a:schemeClr>
                </a:solidFill>
                <a:latin typeface="Times New Roman" panose="02020603050405020304" pitchFamily="18" charset="0"/>
                <a:cs typeface="Times New Roman" panose="02020603050405020304" pitchFamily="18" charset="0"/>
              </a:rPr>
              <a:t>Organic </a:t>
            </a:r>
            <a:r>
              <a:rPr lang="en-US" sz="2800" b="1" dirty="0">
                <a:solidFill>
                  <a:schemeClr val="accent4">
                    <a:lumMod val="50000"/>
                  </a:schemeClr>
                </a:solidFill>
                <a:latin typeface="Times New Roman" panose="02020603050405020304" pitchFamily="18" charset="0"/>
                <a:cs typeface="Times New Roman" panose="02020603050405020304" pitchFamily="18" charset="0"/>
              </a:rPr>
              <a:t>chemistry is one of the most diverse and dynamic fields of science, as it encompasses the chemistry of life, natural products, drugs, fuels, materials, and many other applications</a:t>
            </a:r>
            <a:r>
              <a:rPr lang="en-US" sz="2800" b="1" dirty="0" smtClean="0">
                <a:solidFill>
                  <a:schemeClr val="accent4">
                    <a:lumMod val="50000"/>
                  </a:schemeClr>
                </a:solidFill>
                <a:latin typeface="Times New Roman" panose="02020603050405020304" pitchFamily="18" charset="0"/>
                <a:cs typeface="Times New Roman" panose="02020603050405020304" pitchFamily="18" charset="0"/>
              </a:rPr>
              <a:t>.</a:t>
            </a:r>
          </a:p>
        </p:txBody>
      </p:sp>
      <p:pic>
        <p:nvPicPr>
          <p:cNvPr id="5" name="Picture 4"/>
          <p:cNvPicPr>
            <a:picLocks noChangeAspect="1"/>
          </p:cNvPicPr>
          <p:nvPr/>
        </p:nvPicPr>
        <p:blipFill>
          <a:blip r:embed="rId3"/>
          <a:stretch>
            <a:fillRect/>
          </a:stretch>
        </p:blipFill>
        <p:spPr>
          <a:xfrm>
            <a:off x="1572713" y="3174999"/>
            <a:ext cx="9412787" cy="3425671"/>
          </a:xfrm>
          <a:prstGeom prst="rect">
            <a:avLst/>
          </a:prstGeom>
        </p:spPr>
      </p:pic>
      <p:grpSp>
        <p:nvGrpSpPr>
          <p:cNvPr id="8" name="Group 7"/>
          <p:cNvGrpSpPr/>
          <p:nvPr/>
        </p:nvGrpSpPr>
        <p:grpSpPr>
          <a:xfrm>
            <a:off x="4506" y="0"/>
            <a:ext cx="914400" cy="6858000"/>
            <a:chOff x="0" y="168206"/>
            <a:chExt cx="914400" cy="6689794"/>
          </a:xfrm>
        </p:grpSpPr>
        <p:sp>
          <p:nvSpPr>
            <p:cNvPr id="9" name="Rectangle 8"/>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1" name="Picture 7" descr="logo"/>
            <p:cNvPicPr>
              <a:picLocks noChangeAspect="1" noChangeArrowheads="1"/>
            </p:cNvPicPr>
            <p:nvPr/>
          </p:nvPicPr>
          <p:blipFill>
            <a:blip r:embed="rId4"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22209481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8906" y="102119"/>
            <a:ext cx="11165983" cy="6370975"/>
          </a:xfrm>
          <a:prstGeom prst="rect">
            <a:avLst/>
          </a:prstGeom>
        </p:spPr>
        <p:txBody>
          <a:bodyPr wrap="squar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The history of organic chemistry </a:t>
            </a:r>
            <a:endParaRPr lang="en-US" sz="2400" b="1" dirty="0" smtClean="0">
              <a:solidFill>
                <a:schemeClr val="accent4">
                  <a:lumMod val="50000"/>
                </a:schemeClr>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smtClean="0">
                <a:solidFill>
                  <a:schemeClr val="accent4">
                    <a:lumMod val="50000"/>
                  </a:schemeClr>
                </a:solidFill>
                <a:latin typeface="Times New Roman" panose="02020603050405020304" pitchFamily="18" charset="0"/>
                <a:cs typeface="Times New Roman" panose="02020603050405020304" pitchFamily="18" charset="0"/>
              </a:rPr>
              <a:t>plants</a:t>
            </a:r>
          </a:p>
          <a:p>
            <a:pPr marL="342900" indent="-342900">
              <a:buFont typeface="Arial" panose="020B0604020202020204" pitchFamily="34" charset="0"/>
              <a:buChar char="•"/>
            </a:pPr>
            <a:r>
              <a:rPr lang="en-US" sz="2400" b="1" dirty="0" smtClean="0">
                <a:solidFill>
                  <a:schemeClr val="accent4">
                    <a:lumMod val="50000"/>
                  </a:schemeClr>
                </a:solidFill>
                <a:latin typeface="Times New Roman" panose="02020603050405020304" pitchFamily="18" charset="0"/>
                <a:cs typeface="Times New Roman" panose="02020603050405020304" pitchFamily="18" charset="0"/>
              </a:rPr>
              <a:t>animals </a:t>
            </a:r>
            <a:endParaRPr lang="en-US" sz="2400" b="1" dirty="0">
              <a:solidFill>
                <a:schemeClr val="accent4">
                  <a:lumMod val="50000"/>
                </a:schemeClr>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smtClean="0">
                <a:solidFill>
                  <a:schemeClr val="accent4">
                    <a:lumMod val="50000"/>
                  </a:schemeClr>
                </a:solidFill>
                <a:latin typeface="Times New Roman" panose="02020603050405020304" pitchFamily="18" charset="0"/>
                <a:cs typeface="Times New Roman" panose="02020603050405020304" pitchFamily="18" charset="0"/>
              </a:rPr>
              <a:t>minerals </a:t>
            </a:r>
            <a:r>
              <a:rPr lang="en-US" sz="2400" b="1" dirty="0">
                <a:solidFill>
                  <a:schemeClr val="accent4">
                    <a:lumMod val="50000"/>
                  </a:schemeClr>
                </a:solidFill>
                <a:latin typeface="Times New Roman" panose="02020603050405020304" pitchFamily="18" charset="0"/>
                <a:cs typeface="Times New Roman" panose="02020603050405020304" pitchFamily="18" charset="0"/>
              </a:rPr>
              <a:t>for various </a:t>
            </a:r>
            <a:r>
              <a:rPr lang="en-US" sz="2400" b="1" dirty="0" smtClean="0">
                <a:solidFill>
                  <a:schemeClr val="accent4">
                    <a:lumMod val="50000"/>
                  </a:schemeClr>
                </a:solidFill>
                <a:latin typeface="Times New Roman" panose="02020603050405020304" pitchFamily="18" charset="0"/>
                <a:cs typeface="Times New Roman" panose="02020603050405020304" pitchFamily="18" charset="0"/>
              </a:rPr>
              <a:t>purposes</a:t>
            </a:r>
            <a:endParaRPr lang="en-US" sz="2400" b="1" dirty="0">
              <a:solidFill>
                <a:schemeClr val="accent4">
                  <a:lumMod val="50000"/>
                </a:schemeClr>
              </a:solidFill>
              <a:latin typeface="Times New Roman" panose="02020603050405020304" pitchFamily="18" charset="0"/>
              <a:cs typeface="Times New Roman" panose="02020603050405020304" pitchFamily="18" charset="0"/>
            </a:endParaRPr>
          </a:p>
          <a:p>
            <a:endParaRPr lang="en-US" sz="2400" b="1" dirty="0">
              <a:solidFill>
                <a:schemeClr val="accent4">
                  <a:lumMod val="50000"/>
                </a:schemeClr>
              </a:solidFill>
              <a:latin typeface="Times New Roman" panose="02020603050405020304" pitchFamily="18" charset="0"/>
              <a:cs typeface="Times New Roman" panose="02020603050405020304" pitchFamily="18" charset="0"/>
            </a:endParaRPr>
          </a:p>
          <a:p>
            <a:r>
              <a:rPr lang="en-US" sz="2400" b="1" dirty="0">
                <a:solidFill>
                  <a:schemeClr val="accent4">
                    <a:lumMod val="50000"/>
                  </a:schemeClr>
                </a:solidFill>
                <a:latin typeface="Times New Roman" panose="02020603050405020304" pitchFamily="18" charset="0"/>
                <a:cs typeface="Times New Roman" panose="02020603050405020304" pitchFamily="18" charset="0"/>
              </a:rPr>
              <a:t>However, the modern era of organic chemistry began in the late 18th and early 19th centuries, when chemists such as </a:t>
            </a:r>
            <a:endParaRPr lang="en-US" sz="2400" b="1" dirty="0" smtClean="0">
              <a:solidFill>
                <a:schemeClr val="accent4">
                  <a:lumMod val="50000"/>
                </a:schemeClr>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smtClean="0">
                <a:solidFill>
                  <a:schemeClr val="accent4">
                    <a:lumMod val="50000"/>
                  </a:schemeClr>
                </a:solidFill>
                <a:latin typeface="Times New Roman" panose="02020603050405020304" pitchFamily="18" charset="0"/>
                <a:cs typeface="Times New Roman" panose="02020603050405020304" pitchFamily="18" charset="0"/>
              </a:rPr>
              <a:t>Antoine </a:t>
            </a:r>
            <a:r>
              <a:rPr lang="en-US" sz="2400" b="1" dirty="0">
                <a:solidFill>
                  <a:schemeClr val="accent4">
                    <a:lumMod val="50000"/>
                  </a:schemeClr>
                </a:solidFill>
                <a:latin typeface="Times New Roman" panose="02020603050405020304" pitchFamily="18" charset="0"/>
                <a:cs typeface="Times New Roman" panose="02020603050405020304" pitchFamily="18" charset="0"/>
              </a:rPr>
              <a:t>Lavoisier, </a:t>
            </a:r>
            <a:endParaRPr lang="en-US" sz="2400" b="1" dirty="0" smtClean="0">
              <a:solidFill>
                <a:schemeClr val="accent4">
                  <a:lumMod val="50000"/>
                </a:schemeClr>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smtClean="0">
                <a:solidFill>
                  <a:schemeClr val="accent4">
                    <a:lumMod val="50000"/>
                  </a:schemeClr>
                </a:solidFill>
                <a:latin typeface="Times New Roman" panose="02020603050405020304" pitchFamily="18" charset="0"/>
                <a:cs typeface="Times New Roman" panose="02020603050405020304" pitchFamily="18" charset="0"/>
              </a:rPr>
              <a:t>Joseph </a:t>
            </a:r>
            <a:r>
              <a:rPr lang="en-US" sz="2400" b="1" dirty="0">
                <a:solidFill>
                  <a:schemeClr val="accent4">
                    <a:lumMod val="50000"/>
                  </a:schemeClr>
                </a:solidFill>
                <a:latin typeface="Times New Roman" panose="02020603050405020304" pitchFamily="18" charset="0"/>
                <a:cs typeface="Times New Roman" panose="02020603050405020304" pitchFamily="18" charset="0"/>
              </a:rPr>
              <a:t>Priestley, </a:t>
            </a:r>
            <a:endParaRPr lang="en-US" sz="2400" b="1" dirty="0" smtClean="0">
              <a:solidFill>
                <a:schemeClr val="accent4">
                  <a:lumMod val="50000"/>
                </a:schemeClr>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smtClean="0">
                <a:solidFill>
                  <a:schemeClr val="accent4">
                    <a:lumMod val="50000"/>
                  </a:schemeClr>
                </a:solidFill>
                <a:latin typeface="Times New Roman" panose="02020603050405020304" pitchFamily="18" charset="0"/>
                <a:cs typeface="Times New Roman" panose="02020603050405020304" pitchFamily="18" charset="0"/>
              </a:rPr>
              <a:t>Carl </a:t>
            </a:r>
            <a:r>
              <a:rPr lang="en-US" sz="2400" b="1" dirty="0">
                <a:solidFill>
                  <a:schemeClr val="accent4">
                    <a:lumMod val="50000"/>
                  </a:schemeClr>
                </a:solidFill>
                <a:latin typeface="Times New Roman" panose="02020603050405020304" pitchFamily="18" charset="0"/>
                <a:cs typeface="Times New Roman" panose="02020603050405020304" pitchFamily="18" charset="0"/>
              </a:rPr>
              <a:t>Scheele, and </a:t>
            </a:r>
            <a:endParaRPr lang="en-US" sz="2400" b="1" dirty="0" smtClean="0">
              <a:solidFill>
                <a:schemeClr val="accent4">
                  <a:lumMod val="50000"/>
                </a:schemeClr>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smtClean="0">
                <a:solidFill>
                  <a:schemeClr val="accent4">
                    <a:lumMod val="50000"/>
                  </a:schemeClr>
                </a:solidFill>
                <a:latin typeface="Times New Roman" panose="02020603050405020304" pitchFamily="18" charset="0"/>
                <a:cs typeface="Times New Roman" panose="02020603050405020304" pitchFamily="18" charset="0"/>
              </a:rPr>
              <a:t>Humphry </a:t>
            </a:r>
            <a:r>
              <a:rPr lang="en-US" sz="2400" b="1" dirty="0">
                <a:solidFill>
                  <a:schemeClr val="accent4">
                    <a:lumMod val="50000"/>
                  </a:schemeClr>
                </a:solidFill>
                <a:latin typeface="Times New Roman" panose="02020603050405020304" pitchFamily="18" charset="0"/>
                <a:cs typeface="Times New Roman" panose="02020603050405020304" pitchFamily="18" charset="0"/>
              </a:rPr>
              <a:t>Davy </a:t>
            </a:r>
            <a:endParaRPr lang="en-US" sz="2400" b="1" dirty="0" smtClean="0">
              <a:solidFill>
                <a:schemeClr val="accent4">
                  <a:lumMod val="50000"/>
                </a:schemeClr>
              </a:solidFill>
              <a:latin typeface="Times New Roman" panose="02020603050405020304" pitchFamily="18" charset="0"/>
              <a:cs typeface="Times New Roman" panose="02020603050405020304" pitchFamily="18" charset="0"/>
            </a:endParaRPr>
          </a:p>
          <a:p>
            <a:endParaRPr lang="en-US" sz="2400" b="1" dirty="0">
              <a:solidFill>
                <a:schemeClr val="accent4">
                  <a:lumMod val="50000"/>
                </a:schemeClr>
              </a:solidFill>
              <a:latin typeface="Times New Roman" panose="02020603050405020304" pitchFamily="18" charset="0"/>
              <a:cs typeface="Times New Roman" panose="02020603050405020304" pitchFamily="18" charset="0"/>
            </a:endParaRPr>
          </a:p>
          <a:p>
            <a:r>
              <a:rPr lang="en-US" sz="2400" b="1" dirty="0" smtClean="0">
                <a:solidFill>
                  <a:schemeClr val="accent4">
                    <a:lumMod val="50000"/>
                  </a:schemeClr>
                </a:solidFill>
                <a:latin typeface="Times New Roman" panose="02020603050405020304" pitchFamily="18" charset="0"/>
                <a:cs typeface="Times New Roman" panose="02020603050405020304" pitchFamily="18" charset="0"/>
              </a:rPr>
              <a:t>…….discovered </a:t>
            </a:r>
            <a:r>
              <a:rPr lang="en-US" sz="2400" b="1" dirty="0">
                <a:solidFill>
                  <a:schemeClr val="accent4">
                    <a:lumMod val="50000"/>
                  </a:schemeClr>
                </a:solidFill>
                <a:latin typeface="Times New Roman" panose="02020603050405020304" pitchFamily="18" charset="0"/>
                <a:cs typeface="Times New Roman" panose="02020603050405020304" pitchFamily="18" charset="0"/>
              </a:rPr>
              <a:t>and isolated many important elements, including oxygen, hydrogen, nitrogen, carbon, chlorine, and iodine. </a:t>
            </a:r>
            <a:endParaRPr lang="en-US" sz="2400" b="1" dirty="0" smtClean="0">
              <a:solidFill>
                <a:schemeClr val="accent4">
                  <a:lumMod val="50000"/>
                </a:schemeClr>
              </a:solidFill>
              <a:latin typeface="Times New Roman" panose="02020603050405020304" pitchFamily="18" charset="0"/>
              <a:cs typeface="Times New Roman" panose="02020603050405020304" pitchFamily="18" charset="0"/>
            </a:endParaRPr>
          </a:p>
          <a:p>
            <a:endParaRPr lang="en-US" sz="2400" b="1" dirty="0">
              <a:solidFill>
                <a:schemeClr val="accent4">
                  <a:lumMod val="50000"/>
                </a:schemeClr>
              </a:solidFill>
              <a:latin typeface="Times New Roman" panose="02020603050405020304" pitchFamily="18" charset="0"/>
              <a:cs typeface="Times New Roman" panose="02020603050405020304" pitchFamily="18" charset="0"/>
            </a:endParaRPr>
          </a:p>
          <a:p>
            <a:r>
              <a:rPr lang="en-US" sz="2400" b="1" dirty="0" smtClean="0">
                <a:solidFill>
                  <a:schemeClr val="accent4">
                    <a:lumMod val="50000"/>
                  </a:schemeClr>
                </a:solidFill>
                <a:latin typeface="Times New Roman" panose="02020603050405020304" pitchFamily="18" charset="0"/>
                <a:cs typeface="Times New Roman" panose="02020603050405020304" pitchFamily="18" charset="0"/>
              </a:rPr>
              <a:t>They </a:t>
            </a:r>
            <a:r>
              <a:rPr lang="en-US" sz="2400" b="1" dirty="0">
                <a:solidFill>
                  <a:schemeClr val="accent4">
                    <a:lumMod val="50000"/>
                  </a:schemeClr>
                </a:solidFill>
                <a:latin typeface="Times New Roman" panose="02020603050405020304" pitchFamily="18" charset="0"/>
                <a:cs typeface="Times New Roman" panose="02020603050405020304" pitchFamily="18" charset="0"/>
              </a:rPr>
              <a:t>also established the concepts of chemical elements, compounds, reactions, and stoichiometry</a:t>
            </a:r>
          </a:p>
        </p:txBody>
      </p:sp>
      <p:grpSp>
        <p:nvGrpSpPr>
          <p:cNvPr id="5" name="Group 4"/>
          <p:cNvGrpSpPr/>
          <p:nvPr/>
        </p:nvGrpSpPr>
        <p:grpSpPr>
          <a:xfrm>
            <a:off x="4506" y="0"/>
            <a:ext cx="914400" cy="68580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2"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29278040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6857" y="100209"/>
            <a:ext cx="10414714" cy="6161664"/>
          </a:xfrm>
          <a:prstGeom prst="rect">
            <a:avLst/>
          </a:prstGeom>
        </p:spPr>
        <p:txBody>
          <a:bodyPr wrap="square">
            <a:spAutoFit/>
          </a:bodyPr>
          <a:lstStyle/>
          <a:p>
            <a:pPr marL="342900" indent="-342900">
              <a:buFont typeface="Arial" panose="020B0604020202020204" pitchFamily="34" charset="0"/>
              <a:buChar char="•"/>
            </a:pPr>
            <a:r>
              <a:rPr lang="en-US" sz="2400" b="1" dirty="0" smtClean="0">
                <a:solidFill>
                  <a:schemeClr val="accent4">
                    <a:lumMod val="50000"/>
                  </a:schemeClr>
                </a:solidFill>
                <a:latin typeface="Times New Roman" panose="02020603050405020304" pitchFamily="18" charset="0"/>
                <a:cs typeface="Times New Roman" panose="02020603050405020304" pitchFamily="18" charset="0"/>
              </a:rPr>
              <a:t>Major </a:t>
            </a:r>
            <a:r>
              <a:rPr lang="en-US" sz="2400" b="1" dirty="0">
                <a:solidFill>
                  <a:schemeClr val="accent4">
                    <a:lumMod val="50000"/>
                  </a:schemeClr>
                </a:solidFill>
                <a:latin typeface="Times New Roman" panose="02020603050405020304" pitchFamily="18" charset="0"/>
                <a:cs typeface="Times New Roman" panose="02020603050405020304" pitchFamily="18" charset="0"/>
              </a:rPr>
              <a:t>challenges in early organic chemistry was to explain the difference between organic and inorganic compounds. </a:t>
            </a:r>
            <a:endParaRPr lang="en-US" sz="2400" b="1" dirty="0" smtClean="0">
              <a:solidFill>
                <a:schemeClr val="accent4">
                  <a:lumMod val="50000"/>
                </a:schemeClr>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b="1" dirty="0">
              <a:solidFill>
                <a:schemeClr val="accent4">
                  <a:lumMod val="50000"/>
                </a:schemeClr>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smtClean="0">
                <a:solidFill>
                  <a:schemeClr val="accent4">
                    <a:lumMod val="50000"/>
                  </a:schemeClr>
                </a:solidFill>
                <a:latin typeface="Times New Roman" panose="02020603050405020304" pitchFamily="18" charset="0"/>
                <a:cs typeface="Times New Roman" panose="02020603050405020304" pitchFamily="18" charset="0"/>
              </a:rPr>
              <a:t>Initially</a:t>
            </a:r>
            <a:r>
              <a:rPr lang="en-US" sz="2400" b="1" dirty="0">
                <a:solidFill>
                  <a:schemeClr val="accent4">
                    <a:lumMod val="50000"/>
                  </a:schemeClr>
                </a:solidFill>
                <a:latin typeface="Times New Roman" panose="02020603050405020304" pitchFamily="18" charset="0"/>
                <a:cs typeface="Times New Roman" panose="02020603050405020304" pitchFamily="18" charset="0"/>
              </a:rPr>
              <a:t>, it was believed that organic compounds could only be produced by living organisms, and that they possessed a vital force that distinguished them from inorganic compounds. </a:t>
            </a:r>
            <a:endParaRPr lang="en-US" sz="2400" b="1" dirty="0" smtClean="0">
              <a:solidFill>
                <a:schemeClr val="accent4">
                  <a:lumMod val="50000"/>
                </a:schemeClr>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b="1" dirty="0">
              <a:solidFill>
                <a:schemeClr val="accent4">
                  <a:lumMod val="50000"/>
                </a:schemeClr>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smtClean="0">
                <a:solidFill>
                  <a:schemeClr val="accent4">
                    <a:lumMod val="50000"/>
                  </a:schemeClr>
                </a:solidFill>
                <a:latin typeface="Times New Roman" panose="02020603050405020304" pitchFamily="18" charset="0"/>
                <a:cs typeface="Times New Roman" panose="02020603050405020304" pitchFamily="18" charset="0"/>
              </a:rPr>
              <a:t>This </a:t>
            </a:r>
            <a:r>
              <a:rPr lang="en-US" sz="2400" b="1" dirty="0">
                <a:solidFill>
                  <a:schemeClr val="accent4">
                    <a:lumMod val="50000"/>
                  </a:schemeClr>
                </a:solidFill>
                <a:latin typeface="Times New Roman" panose="02020603050405020304" pitchFamily="18" charset="0"/>
                <a:cs typeface="Times New Roman" panose="02020603050405020304" pitchFamily="18" charset="0"/>
              </a:rPr>
              <a:t>idea was challenged by Friedrich </a:t>
            </a:r>
            <a:r>
              <a:rPr lang="en-US" sz="2400" b="1" dirty="0" err="1">
                <a:solidFill>
                  <a:schemeClr val="accent4">
                    <a:lumMod val="50000"/>
                  </a:schemeClr>
                </a:solidFill>
                <a:latin typeface="Times New Roman" panose="02020603050405020304" pitchFamily="18" charset="0"/>
                <a:cs typeface="Times New Roman" panose="02020603050405020304" pitchFamily="18" charset="0"/>
              </a:rPr>
              <a:t>Wöhler</a:t>
            </a:r>
            <a:r>
              <a:rPr lang="en-US" sz="2400" b="1" dirty="0">
                <a:solidFill>
                  <a:schemeClr val="accent4">
                    <a:lumMod val="50000"/>
                  </a:schemeClr>
                </a:solidFill>
                <a:latin typeface="Times New Roman" panose="02020603050405020304" pitchFamily="18" charset="0"/>
                <a:cs typeface="Times New Roman" panose="02020603050405020304" pitchFamily="18" charset="0"/>
              </a:rPr>
              <a:t> in 1828, when he synthesized urea, an organic compound found in urine, from ammonium cyanate, an inorganic salt. This was the first example of an artificial synthesis of an organic compound from inorganic materials. </a:t>
            </a:r>
            <a:endParaRPr lang="en-US" sz="2400" b="1" dirty="0" smtClean="0">
              <a:solidFill>
                <a:schemeClr val="accent4">
                  <a:lumMod val="50000"/>
                </a:schemeClr>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b="1" dirty="0">
              <a:solidFill>
                <a:schemeClr val="accent4">
                  <a:lumMod val="50000"/>
                </a:schemeClr>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err="1" smtClean="0">
                <a:solidFill>
                  <a:schemeClr val="accent4">
                    <a:lumMod val="50000"/>
                  </a:schemeClr>
                </a:solidFill>
                <a:latin typeface="Times New Roman" panose="02020603050405020304" pitchFamily="18" charset="0"/>
                <a:cs typeface="Times New Roman" panose="02020603050405020304" pitchFamily="18" charset="0"/>
              </a:rPr>
              <a:t>Wöhler’s</a:t>
            </a:r>
            <a:r>
              <a:rPr lang="en-US" sz="2400" b="1" dirty="0" smtClean="0">
                <a:solidFill>
                  <a:schemeClr val="accent4">
                    <a:lumMod val="50000"/>
                  </a:schemeClr>
                </a:solidFill>
                <a:latin typeface="Times New Roman" panose="02020603050405020304" pitchFamily="18" charset="0"/>
                <a:cs typeface="Times New Roman" panose="02020603050405020304" pitchFamily="18" charset="0"/>
              </a:rPr>
              <a:t> </a:t>
            </a:r>
            <a:r>
              <a:rPr lang="en-US" sz="2400" b="1" dirty="0">
                <a:solidFill>
                  <a:schemeClr val="accent4">
                    <a:lumMod val="50000"/>
                  </a:schemeClr>
                </a:solidFill>
                <a:latin typeface="Times New Roman" panose="02020603050405020304" pitchFamily="18" charset="0"/>
                <a:cs typeface="Times New Roman" panose="02020603050405020304" pitchFamily="18" charset="0"/>
              </a:rPr>
              <a:t>experiment showed </a:t>
            </a:r>
            <a:r>
              <a:rPr lang="en-US" sz="2400" b="1" dirty="0" smtClean="0">
                <a:solidFill>
                  <a:schemeClr val="accent4">
                    <a:lumMod val="50000"/>
                  </a:schemeClr>
                </a:solidFill>
                <a:latin typeface="Times New Roman" panose="02020603050405020304" pitchFamily="18" charset="0"/>
                <a:cs typeface="Times New Roman" panose="02020603050405020304" pitchFamily="18" charset="0"/>
              </a:rPr>
              <a:t>no </a:t>
            </a:r>
            <a:r>
              <a:rPr lang="en-US" sz="2400" b="1" dirty="0">
                <a:solidFill>
                  <a:schemeClr val="accent4">
                    <a:lumMod val="50000"/>
                  </a:schemeClr>
                </a:solidFill>
                <a:latin typeface="Times New Roman" panose="02020603050405020304" pitchFamily="18" charset="0"/>
                <a:cs typeface="Times New Roman" panose="02020603050405020304" pitchFamily="18" charset="0"/>
              </a:rPr>
              <a:t>fundamental difference between organic and inorganic compounds, and that they were both governed by the same chemical laws.</a:t>
            </a:r>
          </a:p>
          <a:p>
            <a:endParaRPr lang="en-US" sz="2400" dirty="0" smtClean="0">
              <a:solidFill>
                <a:schemeClr val="accent4">
                  <a:lumMod val="50000"/>
                </a:schemeClr>
              </a:solidFill>
            </a:endParaRPr>
          </a:p>
        </p:txBody>
      </p:sp>
      <p:grpSp>
        <p:nvGrpSpPr>
          <p:cNvPr id="5" name="Group 4"/>
          <p:cNvGrpSpPr/>
          <p:nvPr/>
        </p:nvGrpSpPr>
        <p:grpSpPr>
          <a:xfrm>
            <a:off x="4506" y="0"/>
            <a:ext cx="914400" cy="68580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2"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15967350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8906" y="137786"/>
            <a:ext cx="11107994" cy="5632311"/>
          </a:xfrm>
          <a:prstGeom prst="rect">
            <a:avLst/>
          </a:prstGeom>
        </p:spPr>
        <p:txBody>
          <a:bodyPr wrap="square">
            <a:spAutoFit/>
          </a:bodyPr>
          <a:lstStyle/>
          <a:p>
            <a:r>
              <a:rPr lang="en-US" sz="3600" b="1" dirty="0">
                <a:solidFill>
                  <a:schemeClr val="accent4">
                    <a:lumMod val="50000"/>
                  </a:schemeClr>
                </a:solidFill>
                <a:latin typeface="Times New Roman" panose="02020603050405020304" pitchFamily="18" charset="0"/>
                <a:cs typeface="Times New Roman" panose="02020603050405020304" pitchFamily="18" charset="0"/>
              </a:rPr>
              <a:t>The development of organic chemistry accelerated in the 19th </a:t>
            </a:r>
            <a:r>
              <a:rPr lang="en-US" sz="3600" b="1" dirty="0" smtClean="0">
                <a:solidFill>
                  <a:schemeClr val="accent4">
                    <a:lumMod val="50000"/>
                  </a:schemeClr>
                </a:solidFill>
                <a:latin typeface="Times New Roman" panose="02020603050405020304" pitchFamily="18" charset="0"/>
                <a:cs typeface="Times New Roman" panose="02020603050405020304" pitchFamily="18" charset="0"/>
              </a:rPr>
              <a:t>century</a:t>
            </a:r>
          </a:p>
          <a:p>
            <a:endParaRPr lang="en-US" sz="3600" b="1" dirty="0">
              <a:solidFill>
                <a:schemeClr val="accent4">
                  <a:lumMod val="50000"/>
                </a:schemeClr>
              </a:solidFill>
              <a:latin typeface="Times New Roman" panose="02020603050405020304" pitchFamily="18" charset="0"/>
              <a:cs typeface="Times New Roman" panose="02020603050405020304" pitchFamily="18" charset="0"/>
            </a:endParaRPr>
          </a:p>
          <a:p>
            <a:r>
              <a:rPr lang="en-US" sz="3600" b="1" dirty="0">
                <a:solidFill>
                  <a:schemeClr val="accent4">
                    <a:lumMod val="50000"/>
                  </a:schemeClr>
                </a:solidFill>
                <a:latin typeface="Times New Roman" panose="02020603050405020304" pitchFamily="18" charset="0"/>
                <a:cs typeface="Times New Roman" panose="02020603050405020304" pitchFamily="18" charset="0"/>
              </a:rPr>
              <a:t>M</a:t>
            </a:r>
            <a:r>
              <a:rPr lang="en-US" sz="3600" b="1" dirty="0" smtClean="0">
                <a:solidFill>
                  <a:schemeClr val="accent4">
                    <a:lumMod val="50000"/>
                  </a:schemeClr>
                </a:solidFill>
                <a:latin typeface="Times New Roman" panose="02020603050405020304" pitchFamily="18" charset="0"/>
                <a:cs typeface="Times New Roman" panose="02020603050405020304" pitchFamily="18" charset="0"/>
              </a:rPr>
              <a:t>any </a:t>
            </a:r>
            <a:r>
              <a:rPr lang="en-US" sz="3600" b="1" dirty="0">
                <a:solidFill>
                  <a:schemeClr val="accent4">
                    <a:lumMod val="50000"/>
                  </a:schemeClr>
                </a:solidFill>
                <a:latin typeface="Times New Roman" panose="02020603050405020304" pitchFamily="18" charset="0"/>
                <a:cs typeface="Times New Roman" panose="02020603050405020304" pitchFamily="18" charset="0"/>
              </a:rPr>
              <a:t>new organic compounds were discovered and characterized by various methods such as </a:t>
            </a:r>
            <a:endParaRPr lang="en-US" sz="3600" b="1" dirty="0" smtClean="0">
              <a:solidFill>
                <a:schemeClr val="accent4">
                  <a:lumMod val="50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600" b="1" dirty="0" smtClean="0">
                <a:solidFill>
                  <a:schemeClr val="accent4">
                    <a:lumMod val="50000"/>
                  </a:schemeClr>
                </a:solidFill>
                <a:latin typeface="Times New Roman" panose="02020603050405020304" pitchFamily="18" charset="0"/>
                <a:cs typeface="Times New Roman" panose="02020603050405020304" pitchFamily="18" charset="0"/>
              </a:rPr>
              <a:t>combustion </a:t>
            </a:r>
            <a:r>
              <a:rPr lang="en-US" sz="3600" b="1" dirty="0">
                <a:solidFill>
                  <a:schemeClr val="accent4">
                    <a:lumMod val="50000"/>
                  </a:schemeClr>
                </a:solidFill>
                <a:latin typeface="Times New Roman" panose="02020603050405020304" pitchFamily="18" charset="0"/>
                <a:cs typeface="Times New Roman" panose="02020603050405020304" pitchFamily="18" charset="0"/>
              </a:rPr>
              <a:t>analysis, </a:t>
            </a:r>
            <a:endParaRPr lang="en-US" sz="3600" b="1" dirty="0" smtClean="0">
              <a:solidFill>
                <a:schemeClr val="accent4">
                  <a:lumMod val="50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600" b="1" dirty="0" smtClean="0">
                <a:solidFill>
                  <a:schemeClr val="accent4">
                    <a:lumMod val="50000"/>
                  </a:schemeClr>
                </a:solidFill>
                <a:latin typeface="Times New Roman" panose="02020603050405020304" pitchFamily="18" charset="0"/>
                <a:cs typeface="Times New Roman" panose="02020603050405020304" pitchFamily="18" charset="0"/>
              </a:rPr>
              <a:t>elemental </a:t>
            </a:r>
            <a:r>
              <a:rPr lang="en-US" sz="3600" b="1" dirty="0">
                <a:solidFill>
                  <a:schemeClr val="accent4">
                    <a:lumMod val="50000"/>
                  </a:schemeClr>
                </a:solidFill>
                <a:latin typeface="Times New Roman" panose="02020603050405020304" pitchFamily="18" charset="0"/>
                <a:cs typeface="Times New Roman" panose="02020603050405020304" pitchFamily="18" charset="0"/>
              </a:rPr>
              <a:t>analysis, </a:t>
            </a:r>
            <a:endParaRPr lang="en-US" sz="3600" b="1" dirty="0" smtClean="0">
              <a:solidFill>
                <a:schemeClr val="accent4">
                  <a:lumMod val="50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600" b="1" dirty="0" smtClean="0">
                <a:solidFill>
                  <a:schemeClr val="accent4">
                    <a:lumMod val="50000"/>
                  </a:schemeClr>
                </a:solidFill>
                <a:latin typeface="Times New Roman" panose="02020603050405020304" pitchFamily="18" charset="0"/>
                <a:cs typeface="Times New Roman" panose="02020603050405020304" pitchFamily="18" charset="0"/>
              </a:rPr>
              <a:t>molecular </a:t>
            </a:r>
            <a:r>
              <a:rPr lang="en-US" sz="3600" b="1" dirty="0">
                <a:solidFill>
                  <a:schemeClr val="accent4">
                    <a:lumMod val="50000"/>
                  </a:schemeClr>
                </a:solidFill>
                <a:latin typeface="Times New Roman" panose="02020603050405020304" pitchFamily="18" charset="0"/>
                <a:cs typeface="Times New Roman" panose="02020603050405020304" pitchFamily="18" charset="0"/>
              </a:rPr>
              <a:t>weight determination, </a:t>
            </a:r>
            <a:endParaRPr lang="en-US" sz="3600" b="1" dirty="0" smtClean="0">
              <a:solidFill>
                <a:schemeClr val="accent4">
                  <a:lumMod val="50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600" b="1" dirty="0" smtClean="0">
                <a:solidFill>
                  <a:schemeClr val="accent4">
                    <a:lumMod val="50000"/>
                  </a:schemeClr>
                </a:solidFill>
                <a:latin typeface="Times New Roman" panose="02020603050405020304" pitchFamily="18" charset="0"/>
                <a:cs typeface="Times New Roman" panose="02020603050405020304" pitchFamily="18" charset="0"/>
              </a:rPr>
              <a:t>optical </a:t>
            </a:r>
            <a:r>
              <a:rPr lang="en-US" sz="3600" b="1" dirty="0">
                <a:solidFill>
                  <a:schemeClr val="accent4">
                    <a:lumMod val="50000"/>
                  </a:schemeClr>
                </a:solidFill>
                <a:latin typeface="Times New Roman" panose="02020603050405020304" pitchFamily="18" charset="0"/>
                <a:cs typeface="Times New Roman" panose="02020603050405020304" pitchFamily="18" charset="0"/>
              </a:rPr>
              <a:t>activity measurement, and </a:t>
            </a:r>
            <a:endParaRPr lang="en-US" sz="3600" b="1" dirty="0" smtClean="0">
              <a:solidFill>
                <a:schemeClr val="accent4">
                  <a:lumMod val="50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600" b="1" dirty="0" smtClean="0">
                <a:solidFill>
                  <a:schemeClr val="accent4">
                    <a:lumMod val="50000"/>
                  </a:schemeClr>
                </a:solidFill>
                <a:latin typeface="Times New Roman" panose="02020603050405020304" pitchFamily="18" charset="0"/>
                <a:cs typeface="Times New Roman" panose="02020603050405020304" pitchFamily="18" charset="0"/>
              </a:rPr>
              <a:t>spectroscopy</a:t>
            </a:r>
            <a:r>
              <a:rPr lang="en-US" sz="3600" b="1" dirty="0">
                <a:solidFill>
                  <a:schemeClr val="accent4">
                    <a:lumMod val="50000"/>
                  </a:schemeClr>
                </a:solidFill>
                <a:latin typeface="Times New Roman" panose="02020603050405020304" pitchFamily="18" charset="0"/>
                <a:cs typeface="Times New Roman" panose="02020603050405020304" pitchFamily="18" charset="0"/>
              </a:rPr>
              <a:t>. </a:t>
            </a:r>
          </a:p>
        </p:txBody>
      </p:sp>
      <p:grpSp>
        <p:nvGrpSpPr>
          <p:cNvPr id="5" name="Group 4"/>
          <p:cNvGrpSpPr/>
          <p:nvPr/>
        </p:nvGrpSpPr>
        <p:grpSpPr>
          <a:xfrm>
            <a:off x="4506" y="0"/>
            <a:ext cx="914400" cy="68580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2"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38726641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6752" y="237976"/>
            <a:ext cx="8889628" cy="2677656"/>
          </a:xfrm>
          <a:prstGeom prst="rect">
            <a:avLst/>
          </a:prstGeom>
        </p:spPr>
        <p:txBody>
          <a:bodyPr wrap="square">
            <a:sp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Some of the most influential </a:t>
            </a:r>
            <a:r>
              <a:rPr lang="en-US" sz="2800" b="1" dirty="0" smtClean="0">
                <a:solidFill>
                  <a:schemeClr val="accent4">
                    <a:lumMod val="50000"/>
                  </a:schemeClr>
                </a:solidFill>
                <a:latin typeface="Times New Roman" panose="02020603050405020304" pitchFamily="18" charset="0"/>
                <a:cs typeface="Times New Roman" panose="02020603050405020304" pitchFamily="18" charset="0"/>
              </a:rPr>
              <a:t>chemists are</a:t>
            </a:r>
            <a:r>
              <a:rPr lang="en-US" sz="2800" b="1" dirty="0" smtClean="0">
                <a:solidFill>
                  <a:schemeClr val="accent4">
                    <a:lumMod val="50000"/>
                  </a:schemeClr>
                </a:solidFill>
              </a:rPr>
              <a:t> </a:t>
            </a:r>
          </a:p>
          <a:p>
            <a:pPr marL="457200" indent="-457200" algn="just">
              <a:buFont typeface="Arial" panose="020B0604020202020204" pitchFamily="34" charset="0"/>
              <a:buChar char="•"/>
            </a:pPr>
            <a:r>
              <a:rPr lang="en-US" sz="2800" b="1" dirty="0" smtClean="0">
                <a:solidFill>
                  <a:schemeClr val="accent4">
                    <a:lumMod val="50000"/>
                  </a:schemeClr>
                </a:solidFill>
              </a:rPr>
              <a:t>Justus </a:t>
            </a:r>
            <a:r>
              <a:rPr lang="en-US" sz="2800" b="1" dirty="0">
                <a:solidFill>
                  <a:schemeClr val="accent4">
                    <a:lumMod val="50000"/>
                  </a:schemeClr>
                </a:solidFill>
              </a:rPr>
              <a:t>von Liebig, </a:t>
            </a:r>
            <a:endParaRPr lang="en-US" sz="2800" b="1" dirty="0" smtClean="0">
              <a:solidFill>
                <a:schemeClr val="accent4">
                  <a:lumMod val="50000"/>
                </a:schemeClr>
              </a:solidFill>
            </a:endParaRPr>
          </a:p>
          <a:p>
            <a:pPr marL="457200" indent="-457200" algn="just">
              <a:buFont typeface="Arial" panose="020B0604020202020204" pitchFamily="34" charset="0"/>
              <a:buChar char="•"/>
            </a:pPr>
            <a:r>
              <a:rPr lang="en-US" sz="2800" b="1" dirty="0" smtClean="0">
                <a:solidFill>
                  <a:schemeClr val="accent4">
                    <a:lumMod val="50000"/>
                  </a:schemeClr>
                </a:solidFill>
              </a:rPr>
              <a:t>August </a:t>
            </a:r>
            <a:r>
              <a:rPr lang="en-US" sz="2800" b="1" dirty="0" err="1">
                <a:solidFill>
                  <a:schemeClr val="accent4">
                    <a:lumMod val="50000"/>
                  </a:schemeClr>
                </a:solidFill>
              </a:rPr>
              <a:t>Kekulé</a:t>
            </a:r>
            <a:r>
              <a:rPr lang="en-US" sz="2800" b="1" dirty="0">
                <a:solidFill>
                  <a:schemeClr val="accent4">
                    <a:lumMod val="50000"/>
                  </a:schemeClr>
                </a:solidFill>
              </a:rPr>
              <a:t>, </a:t>
            </a:r>
            <a:endParaRPr lang="en-US" sz="2800" b="1" dirty="0" smtClean="0">
              <a:solidFill>
                <a:schemeClr val="accent4">
                  <a:lumMod val="50000"/>
                </a:schemeClr>
              </a:solidFill>
            </a:endParaRPr>
          </a:p>
          <a:p>
            <a:pPr marL="457200" indent="-457200" algn="just">
              <a:buFont typeface="Arial" panose="020B0604020202020204" pitchFamily="34" charset="0"/>
              <a:buChar char="•"/>
            </a:pPr>
            <a:r>
              <a:rPr lang="en-US" sz="2800" b="1" dirty="0" smtClean="0">
                <a:solidFill>
                  <a:schemeClr val="accent4">
                    <a:lumMod val="50000"/>
                  </a:schemeClr>
                </a:solidFill>
              </a:rPr>
              <a:t>Louis </a:t>
            </a:r>
            <a:r>
              <a:rPr lang="en-US" sz="2800" b="1" dirty="0">
                <a:solidFill>
                  <a:schemeClr val="accent4">
                    <a:lumMod val="50000"/>
                  </a:schemeClr>
                </a:solidFill>
              </a:rPr>
              <a:t>Pasteur, </a:t>
            </a:r>
            <a:endParaRPr lang="en-US" sz="2800" b="1" dirty="0" smtClean="0">
              <a:solidFill>
                <a:schemeClr val="accent4">
                  <a:lumMod val="50000"/>
                </a:schemeClr>
              </a:solidFill>
            </a:endParaRPr>
          </a:p>
          <a:p>
            <a:pPr marL="457200" indent="-457200" algn="just">
              <a:buFont typeface="Arial" panose="020B0604020202020204" pitchFamily="34" charset="0"/>
              <a:buChar char="•"/>
            </a:pPr>
            <a:r>
              <a:rPr lang="en-US" sz="2800" b="1" dirty="0" smtClean="0">
                <a:solidFill>
                  <a:schemeClr val="accent4">
                    <a:lumMod val="50000"/>
                  </a:schemeClr>
                </a:solidFill>
              </a:rPr>
              <a:t>Emil </a:t>
            </a:r>
            <a:r>
              <a:rPr lang="en-US" sz="2800" b="1" dirty="0">
                <a:solidFill>
                  <a:schemeClr val="accent4">
                    <a:lumMod val="50000"/>
                  </a:schemeClr>
                </a:solidFill>
              </a:rPr>
              <a:t>Fischer, </a:t>
            </a:r>
            <a:endParaRPr lang="en-US" sz="2800" b="1" dirty="0" smtClean="0">
              <a:solidFill>
                <a:schemeClr val="accent4">
                  <a:lumMod val="50000"/>
                </a:schemeClr>
              </a:solidFill>
            </a:endParaRPr>
          </a:p>
          <a:p>
            <a:pPr marL="457200" indent="-457200" algn="just">
              <a:buFont typeface="Arial" panose="020B0604020202020204" pitchFamily="34" charset="0"/>
              <a:buChar char="•"/>
            </a:pPr>
            <a:r>
              <a:rPr lang="en-US" sz="2800" b="1" dirty="0" smtClean="0">
                <a:solidFill>
                  <a:schemeClr val="accent4">
                    <a:lumMod val="50000"/>
                  </a:schemeClr>
                </a:solidFill>
              </a:rPr>
              <a:t>Jacobus </a:t>
            </a:r>
            <a:r>
              <a:rPr lang="en-US" sz="2800" b="1" dirty="0" err="1">
                <a:solidFill>
                  <a:schemeClr val="accent4">
                    <a:lumMod val="50000"/>
                  </a:schemeClr>
                </a:solidFill>
              </a:rPr>
              <a:t>van’t</a:t>
            </a:r>
            <a:r>
              <a:rPr lang="en-US" sz="2800" b="1" dirty="0">
                <a:solidFill>
                  <a:schemeClr val="accent4">
                    <a:lumMod val="50000"/>
                  </a:schemeClr>
                </a:solidFill>
              </a:rPr>
              <a:t> </a:t>
            </a:r>
            <a:r>
              <a:rPr lang="en-US" sz="2800" b="1" dirty="0" smtClean="0">
                <a:solidFill>
                  <a:schemeClr val="accent4">
                    <a:lumMod val="50000"/>
                  </a:schemeClr>
                </a:solidFill>
              </a:rPr>
              <a:t>Hoff </a:t>
            </a:r>
          </a:p>
        </p:txBody>
      </p:sp>
      <p:sp>
        <p:nvSpPr>
          <p:cNvPr id="3" name="Rectangle 2"/>
          <p:cNvSpPr/>
          <p:nvPr/>
        </p:nvSpPr>
        <p:spPr>
          <a:xfrm>
            <a:off x="5863301" y="1911607"/>
            <a:ext cx="6096000" cy="4832092"/>
          </a:xfrm>
          <a:prstGeom prst="rect">
            <a:avLst/>
          </a:prstGeom>
        </p:spPr>
        <p:txBody>
          <a:bodyPr>
            <a:spAutoFit/>
          </a:bodyPr>
          <a:lstStyle/>
          <a:p>
            <a:r>
              <a:rPr lang="en-US" sz="2800" b="1" dirty="0" smtClean="0">
                <a:solidFill>
                  <a:schemeClr val="accent4">
                    <a:lumMod val="50000"/>
                  </a:schemeClr>
                </a:solidFill>
                <a:latin typeface="Times New Roman" panose="02020603050405020304" pitchFamily="18" charset="0"/>
                <a:cs typeface="Times New Roman" panose="02020603050405020304" pitchFamily="18" charset="0"/>
              </a:rPr>
              <a:t>Others are:</a:t>
            </a:r>
          </a:p>
          <a:p>
            <a:pPr marL="457200" indent="-457200">
              <a:buFont typeface="Arial" panose="020B0604020202020204" pitchFamily="34" charset="0"/>
              <a:buChar char="•"/>
            </a:pPr>
            <a:r>
              <a:rPr lang="en-US" sz="2800" b="1" dirty="0" smtClean="0">
                <a:solidFill>
                  <a:schemeClr val="accent4">
                    <a:lumMod val="50000"/>
                  </a:schemeClr>
                </a:solidFill>
                <a:latin typeface="Times New Roman" panose="02020603050405020304" pitchFamily="18" charset="0"/>
                <a:cs typeface="Times New Roman" panose="02020603050405020304" pitchFamily="18" charset="0"/>
              </a:rPr>
              <a:t>Friedrich </a:t>
            </a:r>
            <a:r>
              <a:rPr lang="en-US" sz="2800" b="1" dirty="0">
                <a:solidFill>
                  <a:schemeClr val="accent4">
                    <a:lumMod val="50000"/>
                  </a:schemeClr>
                </a:solidFill>
                <a:latin typeface="Times New Roman" panose="02020603050405020304" pitchFamily="18" charset="0"/>
                <a:cs typeface="Times New Roman" panose="02020603050405020304" pitchFamily="18" charset="0"/>
              </a:rPr>
              <a:t>August </a:t>
            </a:r>
            <a:r>
              <a:rPr lang="en-US" sz="2800" b="1" dirty="0" err="1">
                <a:solidFill>
                  <a:schemeClr val="accent4">
                    <a:lumMod val="50000"/>
                  </a:schemeClr>
                </a:solidFill>
                <a:latin typeface="Times New Roman" panose="02020603050405020304" pitchFamily="18" charset="0"/>
                <a:cs typeface="Times New Roman" panose="02020603050405020304" pitchFamily="18" charset="0"/>
              </a:rPr>
              <a:t>Kekulé</a:t>
            </a:r>
            <a:r>
              <a:rPr lang="en-US" sz="2800" b="1" dirty="0">
                <a:solidFill>
                  <a:schemeClr val="accent4">
                    <a:lumMod val="50000"/>
                  </a:schemeClr>
                </a:solidFill>
                <a:latin typeface="Times New Roman" panose="02020603050405020304" pitchFamily="18" charset="0"/>
                <a:cs typeface="Times New Roman" panose="02020603050405020304" pitchFamily="18" charset="0"/>
              </a:rPr>
              <a:t> von </a:t>
            </a:r>
            <a:r>
              <a:rPr lang="en-US" sz="2800" b="1" dirty="0" err="1">
                <a:solidFill>
                  <a:schemeClr val="accent4">
                    <a:lumMod val="50000"/>
                  </a:schemeClr>
                </a:solidFill>
                <a:latin typeface="Times New Roman" panose="02020603050405020304" pitchFamily="18" charset="0"/>
                <a:cs typeface="Times New Roman" panose="02020603050405020304" pitchFamily="18" charset="0"/>
              </a:rPr>
              <a:t>Stradonitz</a:t>
            </a:r>
            <a:r>
              <a:rPr lang="en-US" sz="2800" b="1" dirty="0">
                <a:solidFill>
                  <a:schemeClr val="accent4">
                    <a:lumMod val="50000"/>
                  </a:schemeClr>
                </a:solidFill>
                <a:latin typeface="Times New Roman" panose="02020603050405020304" pitchFamily="18" charset="0"/>
                <a:cs typeface="Times New Roman" panose="02020603050405020304" pitchFamily="18" charset="0"/>
              </a:rPr>
              <a:t> (who proposed the structure of benzene), </a:t>
            </a:r>
          </a:p>
          <a:p>
            <a:pPr marL="457200" indent="-457200">
              <a:buFont typeface="Arial" panose="020B0604020202020204" pitchFamily="34" charset="0"/>
              <a:buChar char="•"/>
            </a:pPr>
            <a:r>
              <a:rPr lang="en-US" sz="2800" b="1" dirty="0">
                <a:solidFill>
                  <a:schemeClr val="accent4">
                    <a:lumMod val="50000"/>
                  </a:schemeClr>
                </a:solidFill>
                <a:latin typeface="Times New Roman" panose="02020603050405020304" pitchFamily="18" charset="0"/>
                <a:cs typeface="Times New Roman" panose="02020603050405020304" pitchFamily="18" charset="0"/>
              </a:rPr>
              <a:t>Adolf von Baeyer (who synthesized indigo dye), </a:t>
            </a:r>
          </a:p>
          <a:p>
            <a:pPr marL="457200" indent="-457200">
              <a:buFont typeface="Arial" panose="020B0604020202020204" pitchFamily="34" charset="0"/>
              <a:buChar char="•"/>
            </a:pPr>
            <a:r>
              <a:rPr lang="en-US" sz="2800" b="1" dirty="0">
                <a:solidFill>
                  <a:schemeClr val="accent4">
                    <a:lumMod val="50000"/>
                  </a:schemeClr>
                </a:solidFill>
                <a:latin typeface="Times New Roman" panose="02020603050405020304" pitchFamily="18" charset="0"/>
                <a:cs typeface="Times New Roman" panose="02020603050405020304" pitchFamily="18" charset="0"/>
              </a:rPr>
              <a:t>Hermann Emil Fischer (who elucidated the structures of sugars and purines), and </a:t>
            </a:r>
          </a:p>
          <a:p>
            <a:pPr marL="457200" indent="-457200">
              <a:buFont typeface="Arial" panose="020B0604020202020204" pitchFamily="34" charset="0"/>
              <a:buChar char="•"/>
            </a:pPr>
            <a:r>
              <a:rPr lang="en-US" sz="2800" b="1" dirty="0">
                <a:solidFill>
                  <a:schemeClr val="accent4">
                    <a:lumMod val="50000"/>
                  </a:schemeClr>
                </a:solidFill>
                <a:latin typeface="Times New Roman" panose="02020603050405020304" pitchFamily="18" charset="0"/>
                <a:cs typeface="Times New Roman" panose="02020603050405020304" pitchFamily="18" charset="0"/>
              </a:rPr>
              <a:t>Alfred Werner (who developed coordination chemistry).</a:t>
            </a:r>
          </a:p>
        </p:txBody>
      </p:sp>
      <p:grpSp>
        <p:nvGrpSpPr>
          <p:cNvPr id="7" name="Group 6"/>
          <p:cNvGrpSpPr/>
          <p:nvPr/>
        </p:nvGrpSpPr>
        <p:grpSpPr>
          <a:xfrm>
            <a:off x="4506" y="0"/>
            <a:ext cx="914400" cy="6858000"/>
            <a:chOff x="0" y="168206"/>
            <a:chExt cx="914400" cy="6689794"/>
          </a:xfrm>
        </p:grpSpPr>
        <p:sp>
          <p:nvSpPr>
            <p:cNvPr id="8" name="Rectangle 7"/>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7" descr="logo"/>
            <p:cNvPicPr>
              <a:picLocks noChangeAspect="1" noChangeArrowheads="1"/>
            </p:cNvPicPr>
            <p:nvPr/>
          </p:nvPicPr>
          <p:blipFill>
            <a:blip r:embed="rId2"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1936440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26857" y="1"/>
            <a:ext cx="10572036" cy="6761403"/>
          </a:xfrm>
          <a:prstGeom prst="rect">
            <a:avLst/>
          </a:prstGeom>
        </p:spPr>
        <p:txBody>
          <a:bodyPr wrap="square">
            <a:spAutoFit/>
          </a:bodyPr>
          <a:lstStyle/>
          <a:p>
            <a:pPr>
              <a:lnSpc>
                <a:spcPct val="107000"/>
              </a:lnSpc>
              <a:spcBef>
                <a:spcPts val="900"/>
              </a:spcBef>
            </a:pPr>
            <a:r>
              <a:rPr lang="en-US" sz="2400" b="1" dirty="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The 20th century witnessed further advances in organic </a:t>
            </a:r>
            <a:r>
              <a:rPr lang="en-US" sz="2400" b="1" dirty="0" smtClean="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chemistry</a:t>
            </a:r>
          </a:p>
          <a:p>
            <a:pPr>
              <a:lnSpc>
                <a:spcPct val="107000"/>
              </a:lnSpc>
              <a:spcBef>
                <a:spcPts val="900"/>
              </a:spcBef>
            </a:pPr>
            <a:r>
              <a:rPr lang="en-US" sz="2400" b="1" dirty="0" smtClean="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Such </a:t>
            </a:r>
            <a:r>
              <a:rPr lang="en-US" sz="2400" b="1" dirty="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as the development of synthetic methods (such as Grignard reactions), </a:t>
            </a:r>
            <a:endParaRPr lang="en-US" sz="2400" b="1" dirty="0" smtClean="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Bef>
                <a:spcPts val="900"/>
              </a:spcBef>
            </a:pPr>
            <a:endParaRPr lang="en-US" sz="2400" b="1" dirty="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Bef>
                <a:spcPts val="900"/>
              </a:spcBef>
            </a:pPr>
            <a:endParaRPr lang="en-US" sz="2400" b="1" dirty="0" smtClean="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Bef>
                <a:spcPts val="900"/>
              </a:spcBef>
            </a:pPr>
            <a:endParaRPr lang="en-US" sz="2400" b="1" dirty="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Bef>
                <a:spcPts val="900"/>
              </a:spcBef>
            </a:pPr>
            <a:endParaRPr lang="en-US" sz="2400" b="1" dirty="0" smtClean="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Bef>
                <a:spcPts val="900"/>
              </a:spcBef>
            </a:pPr>
            <a:endParaRPr lang="en-US" sz="2400" b="1" dirty="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Bef>
                <a:spcPts val="900"/>
              </a:spcBef>
            </a:pPr>
            <a:r>
              <a:rPr lang="en-US" sz="2400" b="1" dirty="0" smtClean="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reaction </a:t>
            </a:r>
            <a:r>
              <a:rPr lang="en-US" sz="2400" b="1" dirty="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mechanisms (such as electrophilic aromatic substitution</a:t>
            </a:r>
            <a:r>
              <a:rPr lang="en-US" sz="2400" b="1" dirty="0" smtClean="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a:t>
            </a:r>
          </a:p>
          <a:p>
            <a:pPr>
              <a:lnSpc>
                <a:spcPct val="107000"/>
              </a:lnSpc>
              <a:spcBef>
                <a:spcPts val="900"/>
              </a:spcBef>
            </a:pPr>
            <a:endParaRPr lang="en-US" sz="2400" b="1" dirty="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Bef>
                <a:spcPts val="900"/>
              </a:spcBef>
            </a:pPr>
            <a:endParaRPr lang="en-US" sz="2400" b="1" dirty="0" smtClean="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Bef>
                <a:spcPts val="900"/>
              </a:spcBef>
            </a:pPr>
            <a:r>
              <a:rPr lang="en-US" sz="2400" b="1" dirty="0" smtClean="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Others are spectroscopy </a:t>
            </a:r>
            <a:r>
              <a:rPr lang="en-US" sz="2400" b="1" dirty="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(such as nuclear magnetic resonance), biochemistry (such as DNA structure), polymer chemistry (such as nylon synthesis), medicinal chemistry (such as penicillin discovery), and green chemistry (such as atom economy).</a:t>
            </a:r>
            <a:endParaRPr lang="en-US" sz="2400" b="1" dirty="0">
              <a:solidFill>
                <a:schemeClr val="accent4">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4839606" y="1092624"/>
            <a:ext cx="3362794" cy="2391109"/>
          </a:xfrm>
          <a:prstGeom prst="rect">
            <a:avLst/>
          </a:prstGeom>
        </p:spPr>
      </p:pic>
      <p:pic>
        <p:nvPicPr>
          <p:cNvPr id="7" name="Picture 6"/>
          <p:cNvPicPr>
            <a:picLocks noChangeAspect="1"/>
          </p:cNvPicPr>
          <p:nvPr/>
        </p:nvPicPr>
        <p:blipFill>
          <a:blip r:embed="rId3"/>
          <a:stretch>
            <a:fillRect/>
          </a:stretch>
        </p:blipFill>
        <p:spPr>
          <a:xfrm>
            <a:off x="5442741" y="3990642"/>
            <a:ext cx="3371429" cy="1171429"/>
          </a:xfrm>
          <a:prstGeom prst="rect">
            <a:avLst/>
          </a:prstGeom>
        </p:spPr>
      </p:pic>
      <p:grpSp>
        <p:nvGrpSpPr>
          <p:cNvPr id="8" name="Group 7"/>
          <p:cNvGrpSpPr/>
          <p:nvPr/>
        </p:nvGrpSpPr>
        <p:grpSpPr>
          <a:xfrm>
            <a:off x="4506" y="0"/>
            <a:ext cx="914400" cy="6858000"/>
            <a:chOff x="0" y="168206"/>
            <a:chExt cx="914400" cy="6689794"/>
          </a:xfrm>
        </p:grpSpPr>
        <p:sp>
          <p:nvSpPr>
            <p:cNvPr id="9" name="Rectangle 8"/>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1" name="Picture 7" descr="logo"/>
            <p:cNvPicPr>
              <a:picLocks noChangeAspect="1" noChangeArrowheads="1"/>
            </p:cNvPicPr>
            <p:nvPr/>
          </p:nvPicPr>
          <p:blipFill>
            <a:blip r:embed="rId4"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27817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8906" y="137787"/>
            <a:ext cx="10530411" cy="6545638"/>
          </a:xfrm>
          <a:prstGeom prst="rect">
            <a:avLst/>
          </a:prstGeom>
        </p:spPr>
        <p:txBody>
          <a:bodyPr wrap="square">
            <a:spAutoFit/>
          </a:bodyPr>
          <a:lstStyle/>
          <a:p>
            <a:pPr>
              <a:lnSpc>
                <a:spcPct val="107000"/>
              </a:lnSpc>
              <a:spcBef>
                <a:spcPts val="900"/>
              </a:spcBef>
            </a:pPr>
            <a:r>
              <a:rPr lang="en-US" sz="3200" b="1" dirty="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The importance of organic </a:t>
            </a:r>
            <a:r>
              <a:rPr lang="en-US" sz="3200" b="1" dirty="0" smtClean="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chemistry</a:t>
            </a:r>
            <a:endParaRPr lang="en-US" sz="3200" b="1" dirty="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nSpc>
                <a:spcPct val="107000"/>
              </a:lnSpc>
              <a:spcBef>
                <a:spcPts val="900"/>
              </a:spcBef>
              <a:buFont typeface="Arial" panose="020B0604020202020204" pitchFamily="34" charset="0"/>
              <a:buChar char="•"/>
            </a:pPr>
            <a:r>
              <a:rPr lang="en-US" sz="3200" b="1" dirty="0" smtClean="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Organic </a:t>
            </a:r>
            <a:r>
              <a:rPr lang="en-US" sz="3200" b="1" dirty="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chemistry has contributed to the fields of biology, medicine, agriculture, energy, materials science, nanotechnology, environmental science, and more. </a:t>
            </a:r>
            <a:endParaRPr lang="en-US" sz="3200" b="1" dirty="0" smtClean="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Bef>
                <a:spcPts val="900"/>
              </a:spcBef>
            </a:pPr>
            <a:endParaRPr lang="en-US" sz="3200" b="1" dirty="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Bef>
                <a:spcPts val="900"/>
              </a:spcBef>
            </a:pPr>
            <a:endParaRPr lang="en-US" sz="3200" b="1" dirty="0" smtClean="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Bef>
                <a:spcPts val="900"/>
              </a:spcBef>
            </a:pPr>
            <a:endParaRPr lang="en-US" sz="3200" b="1" dirty="0" smtClean="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Bef>
                <a:spcPts val="900"/>
              </a:spcBef>
            </a:pPr>
            <a:endParaRPr lang="en-US" sz="3200" b="1" dirty="0" smtClean="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nSpc>
                <a:spcPct val="107000"/>
              </a:lnSpc>
              <a:spcBef>
                <a:spcPts val="900"/>
              </a:spcBef>
              <a:buFont typeface="Arial" panose="020B0604020202020204" pitchFamily="34" charset="0"/>
              <a:buChar char="•"/>
            </a:pPr>
            <a:r>
              <a:rPr lang="en-US" sz="3200" b="1" dirty="0" smtClean="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Organic </a:t>
            </a:r>
            <a:r>
              <a:rPr lang="en-US" sz="3200" b="1" dirty="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chemistry is also a creative and challenging discipline that requires logical thinking and problem-solving skills.</a:t>
            </a:r>
            <a:endParaRPr lang="en-US" sz="3200" b="1" dirty="0">
              <a:solidFill>
                <a:schemeClr val="accent4">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3820438" y="2527320"/>
            <a:ext cx="4605324" cy="2245095"/>
          </a:xfrm>
          <a:prstGeom prst="rect">
            <a:avLst/>
          </a:prstGeom>
        </p:spPr>
      </p:pic>
      <p:grpSp>
        <p:nvGrpSpPr>
          <p:cNvPr id="7" name="Group 6"/>
          <p:cNvGrpSpPr/>
          <p:nvPr/>
        </p:nvGrpSpPr>
        <p:grpSpPr>
          <a:xfrm>
            <a:off x="4506" y="0"/>
            <a:ext cx="914400" cy="6858000"/>
            <a:chOff x="0" y="168206"/>
            <a:chExt cx="914400" cy="6689794"/>
          </a:xfrm>
        </p:grpSpPr>
        <p:sp>
          <p:nvSpPr>
            <p:cNvPr id="8" name="Rectangle 7"/>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42212881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0657" y="583866"/>
            <a:ext cx="11252443" cy="3631763"/>
          </a:xfrm>
          <a:prstGeom prst="rect">
            <a:avLst/>
          </a:prstGeom>
        </p:spPr>
        <p:txBody>
          <a:bodyPr wrap="square">
            <a:spAutoFit/>
          </a:bodyPr>
          <a:lstStyle/>
          <a:p>
            <a:pPr marL="457200" indent="-457200" algn="just">
              <a:buFont typeface="Arial" panose="020B0604020202020204" pitchFamily="34" charset="0"/>
              <a:buChar char="•"/>
            </a:pPr>
            <a:r>
              <a:rPr lang="en-US" sz="2600" b="1" dirty="0" smtClean="0">
                <a:solidFill>
                  <a:schemeClr val="accent4">
                    <a:lumMod val="50000"/>
                  </a:schemeClr>
                </a:solidFill>
                <a:latin typeface="Times New Roman" panose="02020603050405020304" pitchFamily="18" charset="0"/>
                <a:cs typeface="Times New Roman" panose="02020603050405020304" pitchFamily="18" charset="0"/>
              </a:rPr>
              <a:t>Allotropy </a:t>
            </a:r>
            <a:r>
              <a:rPr lang="en-US" sz="2600" b="1" dirty="0">
                <a:solidFill>
                  <a:schemeClr val="accent4">
                    <a:lumMod val="50000"/>
                  </a:schemeClr>
                </a:solidFill>
                <a:latin typeface="Times New Roman" panose="02020603050405020304" pitchFamily="18" charset="0"/>
                <a:cs typeface="Times New Roman" panose="02020603050405020304" pitchFamily="18" charset="0"/>
              </a:rPr>
              <a:t>is the property of some chemical elements to exist in two or more different forms, or allotropes, when found in nature. There are several allotropes of carbon. </a:t>
            </a:r>
            <a:endParaRPr lang="en-US" sz="2600" b="1" dirty="0" smtClean="0">
              <a:solidFill>
                <a:schemeClr val="accent4">
                  <a:lumMod val="50000"/>
                </a:schemeClr>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600" b="1" dirty="0">
                <a:solidFill>
                  <a:schemeClr val="accent4">
                    <a:lumMod val="50000"/>
                  </a:schemeClr>
                </a:solidFill>
                <a:latin typeface="Times New Roman" panose="02020603050405020304" pitchFamily="18" charset="0"/>
                <a:cs typeface="Times New Roman" panose="02020603050405020304" pitchFamily="18" charset="0"/>
              </a:rPr>
              <a:t>Fullerenes are a fourth allotrope of carbon, discovered in 1985. The most common form is called buckminsterfullerene (C60), which has a spherical shape and consists of 60 carbon atoms. It is a crystalline allotrope with good heat and electricity conductor </a:t>
            </a:r>
            <a:r>
              <a:rPr lang="en-US" sz="2600" b="1" dirty="0" smtClean="0">
                <a:solidFill>
                  <a:schemeClr val="accent4">
                    <a:lumMod val="50000"/>
                  </a:schemeClr>
                </a:solidFill>
                <a:latin typeface="Times New Roman" panose="02020603050405020304" pitchFamily="18" charset="0"/>
                <a:cs typeface="Times New Roman" panose="02020603050405020304" pitchFamily="18" charset="0"/>
              </a:rPr>
              <a:t>properties.</a:t>
            </a:r>
            <a:endParaRPr lang="en-US" sz="2600" b="1" dirty="0">
              <a:solidFill>
                <a:schemeClr val="accent4">
                  <a:lumMod val="50000"/>
                </a:schemeClr>
              </a:solidFill>
              <a:latin typeface="Times New Roman" panose="02020603050405020304" pitchFamily="18" charset="0"/>
              <a:cs typeface="Times New Roman" panose="02020603050405020304" pitchFamily="18" charset="0"/>
            </a:endParaRPr>
          </a:p>
          <a:p>
            <a:pPr algn="just"/>
            <a:r>
              <a:rPr lang="en-US" sz="2400" b="1" dirty="0" smtClean="0">
                <a:solidFill>
                  <a:schemeClr val="accent4">
                    <a:lumMod val="50000"/>
                  </a:schemeClr>
                </a:solidFill>
                <a:latin typeface="Times New Roman" panose="02020603050405020304" pitchFamily="18" charset="0"/>
                <a:cs typeface="Times New Roman" panose="02020603050405020304" pitchFamily="18" charset="0"/>
              </a:rPr>
              <a:t/>
            </a:r>
            <a:br>
              <a:rPr lang="en-US" sz="2400" b="1" dirty="0" smtClean="0">
                <a:solidFill>
                  <a:schemeClr val="accent4">
                    <a:lumMod val="50000"/>
                  </a:schemeClr>
                </a:solidFill>
                <a:latin typeface="Times New Roman" panose="02020603050405020304" pitchFamily="18" charset="0"/>
                <a:cs typeface="Times New Roman" panose="02020603050405020304" pitchFamily="18" charset="0"/>
              </a:rPr>
            </a:br>
            <a:r>
              <a:rPr lang="en-US" sz="2400" b="1" dirty="0" smtClean="0">
                <a:solidFill>
                  <a:schemeClr val="accent4">
                    <a:lumMod val="50000"/>
                  </a:schemeClr>
                </a:solidFill>
                <a:latin typeface="Times New Roman" panose="02020603050405020304" pitchFamily="18" charset="0"/>
                <a:cs typeface="Times New Roman" panose="02020603050405020304" pitchFamily="18" charset="0"/>
              </a:rPr>
              <a:t> </a:t>
            </a:r>
            <a:endParaRPr lang="en-US" sz="2400" b="1" dirty="0">
              <a:solidFill>
                <a:schemeClr val="accent4">
                  <a:lumMod val="50000"/>
                </a:schemeClr>
              </a:solidFill>
              <a:latin typeface="Times New Roman" panose="02020603050405020304" pitchFamily="18" charset="0"/>
              <a:cs typeface="Times New Roman" panose="02020603050405020304" pitchFamily="18" charset="0"/>
            </a:endParaRPr>
          </a:p>
        </p:txBody>
      </p:sp>
      <p:grpSp>
        <p:nvGrpSpPr>
          <p:cNvPr id="5" name="Group 4"/>
          <p:cNvGrpSpPr/>
          <p:nvPr/>
        </p:nvGrpSpPr>
        <p:grpSpPr>
          <a:xfrm>
            <a:off x="4506" y="0"/>
            <a:ext cx="914400" cy="68580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2" cstate="print"/>
            <a:srcRect l="25273" t="29860" r="41530" b="24966"/>
            <a:stretch>
              <a:fillRect/>
            </a:stretch>
          </p:blipFill>
          <p:spPr bwMode="auto">
            <a:xfrm>
              <a:off x="0" y="6035040"/>
              <a:ext cx="914400" cy="822960"/>
            </a:xfrm>
            <a:prstGeom prst="rect">
              <a:avLst/>
            </a:prstGeom>
            <a:noFill/>
            <a:ln w="9525">
              <a:noFill/>
              <a:miter lim="800000"/>
              <a:headEnd/>
              <a:tailEnd/>
            </a:ln>
          </p:spPr>
        </p:pic>
      </p:grpSp>
      <p:sp>
        <p:nvSpPr>
          <p:cNvPr id="3" name="Rectangle 2"/>
          <p:cNvSpPr/>
          <p:nvPr/>
        </p:nvSpPr>
        <p:spPr>
          <a:xfrm>
            <a:off x="918906" y="60646"/>
            <a:ext cx="6422801" cy="523220"/>
          </a:xfrm>
          <a:prstGeom prst="rect">
            <a:avLst/>
          </a:prstGeom>
        </p:spPr>
        <p:txBody>
          <a:bodyPr wrap="square">
            <a:sp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Fullerenes as fourth allotrope of </a:t>
            </a:r>
            <a:r>
              <a:rPr lang="en-US" sz="2800" b="1" dirty="0" smtClean="0">
                <a:solidFill>
                  <a:schemeClr val="accent4">
                    <a:lumMod val="50000"/>
                  </a:schemeClr>
                </a:solidFill>
                <a:latin typeface="Times New Roman" panose="02020603050405020304" pitchFamily="18" charset="0"/>
                <a:cs typeface="Times New Roman" panose="02020603050405020304" pitchFamily="18" charset="0"/>
              </a:rPr>
              <a:t>carbon</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0630" y="4184977"/>
            <a:ext cx="2567158" cy="2297596"/>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1707" y="4184977"/>
            <a:ext cx="2540000" cy="2297273"/>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80398" y="4157689"/>
            <a:ext cx="2717260" cy="2297595"/>
          </a:xfrm>
          <a:prstGeom prst="rect">
            <a:avLst/>
          </a:prstGeom>
        </p:spPr>
      </p:pic>
      <p:sp>
        <p:nvSpPr>
          <p:cNvPr id="12" name="TextBox 11"/>
          <p:cNvSpPr txBox="1"/>
          <p:nvPr/>
        </p:nvSpPr>
        <p:spPr>
          <a:xfrm>
            <a:off x="1231657" y="6455284"/>
            <a:ext cx="2643358" cy="400110"/>
          </a:xfrm>
          <a:prstGeom prst="rect">
            <a:avLst/>
          </a:prstGeom>
          <a:noFill/>
        </p:spPr>
        <p:txBody>
          <a:bodyPr wrap="square" rtlCol="0">
            <a:spAutoFit/>
          </a:bodyPr>
          <a:lstStyle/>
          <a:p>
            <a:r>
              <a:rPr lang="en-US" sz="2000" b="1" dirty="0">
                <a:solidFill>
                  <a:schemeClr val="accent4">
                    <a:lumMod val="50000"/>
                  </a:schemeClr>
                </a:solidFill>
              </a:rPr>
              <a:t>B</a:t>
            </a:r>
            <a:r>
              <a:rPr lang="en-US" sz="2000" b="1" dirty="0" smtClean="0">
                <a:solidFill>
                  <a:schemeClr val="accent4">
                    <a:lumMod val="50000"/>
                  </a:schemeClr>
                </a:solidFill>
              </a:rPr>
              <a:t>uckminsterfullerene</a:t>
            </a:r>
            <a:endParaRPr lang="en-US" sz="2000" b="1" dirty="0">
              <a:solidFill>
                <a:schemeClr val="accent4">
                  <a:lumMod val="50000"/>
                </a:schemeClr>
              </a:solidFill>
            </a:endParaRPr>
          </a:p>
        </p:txBody>
      </p:sp>
      <p:sp>
        <p:nvSpPr>
          <p:cNvPr id="13" name="TextBox 12"/>
          <p:cNvSpPr txBox="1"/>
          <p:nvPr/>
        </p:nvSpPr>
        <p:spPr>
          <a:xfrm>
            <a:off x="5479013" y="6436174"/>
            <a:ext cx="1197387" cy="400110"/>
          </a:xfrm>
          <a:prstGeom prst="rect">
            <a:avLst/>
          </a:prstGeom>
          <a:noFill/>
        </p:spPr>
        <p:txBody>
          <a:bodyPr wrap="square" rtlCol="0">
            <a:spAutoFit/>
          </a:bodyPr>
          <a:lstStyle/>
          <a:p>
            <a:r>
              <a:rPr lang="en-US" sz="2000" b="1" dirty="0">
                <a:solidFill>
                  <a:schemeClr val="accent4">
                    <a:lumMod val="50000"/>
                  </a:schemeClr>
                </a:solidFill>
              </a:rPr>
              <a:t>G</a:t>
            </a:r>
            <a:r>
              <a:rPr lang="en-US" sz="2000" b="1" dirty="0" smtClean="0">
                <a:solidFill>
                  <a:schemeClr val="accent4">
                    <a:lumMod val="50000"/>
                  </a:schemeClr>
                </a:solidFill>
              </a:rPr>
              <a:t>raphite</a:t>
            </a:r>
            <a:endParaRPr lang="en-US" sz="2000" b="1" dirty="0">
              <a:solidFill>
                <a:schemeClr val="accent4">
                  <a:lumMod val="50000"/>
                </a:schemeClr>
              </a:solidFill>
            </a:endParaRPr>
          </a:p>
        </p:txBody>
      </p:sp>
      <p:sp>
        <p:nvSpPr>
          <p:cNvPr id="14" name="TextBox 13"/>
          <p:cNvSpPr txBox="1"/>
          <p:nvPr/>
        </p:nvSpPr>
        <p:spPr>
          <a:xfrm>
            <a:off x="9030319" y="6455284"/>
            <a:ext cx="1411119" cy="400110"/>
          </a:xfrm>
          <a:prstGeom prst="rect">
            <a:avLst/>
          </a:prstGeom>
          <a:noFill/>
        </p:spPr>
        <p:txBody>
          <a:bodyPr wrap="square" rtlCol="0">
            <a:spAutoFit/>
          </a:bodyPr>
          <a:lstStyle/>
          <a:p>
            <a:r>
              <a:rPr lang="en-US" sz="2000" b="1" dirty="0" smtClean="0">
                <a:solidFill>
                  <a:schemeClr val="accent4">
                    <a:lumMod val="50000"/>
                  </a:schemeClr>
                </a:solidFill>
              </a:rPr>
              <a:t>Nanotubes</a:t>
            </a:r>
            <a:endParaRPr lang="en-US" sz="2000" b="1" dirty="0">
              <a:solidFill>
                <a:schemeClr val="accent4">
                  <a:lumMod val="50000"/>
                </a:schemeClr>
              </a:solidFill>
            </a:endParaRPr>
          </a:p>
        </p:txBody>
      </p:sp>
    </p:spTree>
    <p:extLst>
      <p:ext uri="{BB962C8B-B14F-4D97-AF65-F5344CB8AC3E}">
        <p14:creationId xmlns:p14="http://schemas.microsoft.com/office/powerpoint/2010/main" val="41456306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4506" y="0"/>
            <a:ext cx="914400" cy="6858000"/>
            <a:chOff x="0" y="168206"/>
            <a:chExt cx="914400" cy="6689794"/>
          </a:xfrm>
        </p:grpSpPr>
        <p:sp>
          <p:nvSpPr>
            <p:cNvPr id="8" name="Rectangle 7"/>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7" descr="logo"/>
            <p:cNvPicPr>
              <a:picLocks noChangeAspect="1" noChangeArrowheads="1"/>
            </p:cNvPicPr>
            <p:nvPr/>
          </p:nvPicPr>
          <p:blipFill>
            <a:blip r:embed="rId2" cstate="print"/>
            <a:srcRect l="25273" t="29860" r="41530" b="24966"/>
            <a:stretch>
              <a:fillRect/>
            </a:stretch>
          </p:blipFill>
          <p:spPr bwMode="auto">
            <a:xfrm>
              <a:off x="0" y="6035040"/>
              <a:ext cx="914400" cy="822960"/>
            </a:xfrm>
            <a:prstGeom prst="rect">
              <a:avLst/>
            </a:prstGeom>
            <a:noFill/>
            <a:ln w="9525">
              <a:noFill/>
              <a:miter lim="800000"/>
              <a:headEnd/>
              <a:tailEnd/>
            </a:ln>
          </p:spPr>
        </p:pic>
      </p:grpSp>
      <p:sp>
        <p:nvSpPr>
          <p:cNvPr id="4" name="Rectangle 3"/>
          <p:cNvSpPr/>
          <p:nvPr/>
        </p:nvSpPr>
        <p:spPr>
          <a:xfrm>
            <a:off x="850657" y="144852"/>
            <a:ext cx="11158794" cy="2308324"/>
          </a:xfrm>
          <a:prstGeom prst="rect">
            <a:avLst/>
          </a:prstGeom>
        </p:spPr>
        <p:txBody>
          <a:bodyPr wrap="square">
            <a:spAutoFit/>
          </a:bodyPr>
          <a:lstStyle/>
          <a:p>
            <a:r>
              <a:rPr lang="en-US" sz="3600" b="1" dirty="0" smtClean="0">
                <a:solidFill>
                  <a:schemeClr val="accent4">
                    <a:lumMod val="50000"/>
                  </a:schemeClr>
                </a:solidFill>
                <a:latin typeface="Times New Roman" panose="02020603050405020304" pitchFamily="18" charset="0"/>
                <a:cs typeface="Times New Roman" panose="02020603050405020304" pitchFamily="18" charset="0"/>
              </a:rPr>
              <a:t>Nanostructures</a:t>
            </a:r>
            <a:endParaRPr lang="en-US" sz="3600" dirty="0" smtClean="0">
              <a:solidFill>
                <a:srgbClr val="111111"/>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3600" dirty="0" smtClean="0">
                <a:solidFill>
                  <a:schemeClr val="accent4">
                    <a:lumMod val="50000"/>
                  </a:schemeClr>
                </a:solidFill>
                <a:latin typeface="Times New Roman" panose="02020603050405020304" pitchFamily="18" charset="0"/>
                <a:cs typeface="Times New Roman" panose="02020603050405020304" pitchFamily="18" charset="0"/>
              </a:rPr>
              <a:t>CNTs </a:t>
            </a:r>
            <a:r>
              <a:rPr lang="en-US" sz="3600" dirty="0">
                <a:solidFill>
                  <a:schemeClr val="accent4">
                    <a:lumMod val="50000"/>
                  </a:schemeClr>
                </a:solidFill>
                <a:latin typeface="Times New Roman" panose="02020603050405020304" pitchFamily="18" charset="0"/>
                <a:cs typeface="Times New Roman" panose="02020603050405020304" pitchFamily="18" charset="0"/>
              </a:rPr>
              <a:t>are cylindrical molecules made of rolled-up sheets of single-layer carbon atoms (similar to graphene).</a:t>
            </a:r>
          </a:p>
          <a:p>
            <a:pPr algn="just">
              <a:buFont typeface="Arial" panose="020B0604020202020204" pitchFamily="34" charset="0"/>
              <a:buChar char="•"/>
            </a:pPr>
            <a:endParaRPr lang="en-US" sz="3600" dirty="0">
              <a:solidFill>
                <a:schemeClr val="accent4">
                  <a:lumMod val="50000"/>
                </a:schemeClr>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7400" y="2453176"/>
            <a:ext cx="3418091" cy="2800970"/>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02992" y="2453176"/>
            <a:ext cx="3365908" cy="2800970"/>
          </a:xfrm>
          <a:prstGeom prst="rect">
            <a:avLst/>
          </a:prstGeom>
        </p:spPr>
      </p:pic>
      <p:sp>
        <p:nvSpPr>
          <p:cNvPr id="12" name="TextBox 11"/>
          <p:cNvSpPr txBox="1"/>
          <p:nvPr/>
        </p:nvSpPr>
        <p:spPr>
          <a:xfrm>
            <a:off x="1905000" y="5600700"/>
            <a:ext cx="3162300" cy="369332"/>
          </a:xfrm>
          <a:prstGeom prst="rect">
            <a:avLst/>
          </a:prstGeom>
          <a:noFill/>
        </p:spPr>
        <p:txBody>
          <a:bodyPr wrap="square" rtlCol="0">
            <a:spAutoFit/>
          </a:bodyPr>
          <a:lstStyle/>
          <a:p>
            <a:r>
              <a:rPr lang="en-US" b="1" dirty="0" smtClean="0">
                <a:solidFill>
                  <a:schemeClr val="accent4">
                    <a:lumMod val="50000"/>
                  </a:schemeClr>
                </a:solidFill>
                <a:latin typeface="Times New Roman" panose="02020603050405020304" pitchFamily="18" charset="0"/>
                <a:cs typeface="Times New Roman" panose="02020603050405020304" pitchFamily="18" charset="0"/>
              </a:rPr>
              <a:t>Single wall carbon nanotube</a:t>
            </a:r>
            <a:endParaRPr lang="en-US"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7239216" y="5645016"/>
            <a:ext cx="2935419" cy="369332"/>
          </a:xfrm>
          <a:prstGeom prst="rect">
            <a:avLst/>
          </a:prstGeom>
        </p:spPr>
        <p:txBody>
          <a:bodyPr wrap="none">
            <a:spAutoFit/>
          </a:bodyPr>
          <a:lstStyle/>
          <a:p>
            <a:r>
              <a:rPr lang="en-US" b="1" dirty="0">
                <a:solidFill>
                  <a:schemeClr val="accent4">
                    <a:lumMod val="50000"/>
                  </a:schemeClr>
                </a:solidFill>
                <a:latin typeface="Times New Roman" panose="02020603050405020304" pitchFamily="18" charset="0"/>
                <a:cs typeface="Times New Roman" panose="02020603050405020304" pitchFamily="18" charset="0"/>
              </a:rPr>
              <a:t>M</a:t>
            </a:r>
            <a:r>
              <a:rPr lang="en-US" b="1" dirty="0" smtClean="0">
                <a:solidFill>
                  <a:schemeClr val="accent4">
                    <a:lumMod val="50000"/>
                  </a:schemeClr>
                </a:solidFill>
                <a:latin typeface="Times New Roman" panose="02020603050405020304" pitchFamily="18" charset="0"/>
                <a:cs typeface="Times New Roman" panose="02020603050405020304" pitchFamily="18" charset="0"/>
              </a:rPr>
              <a:t>ulti </a:t>
            </a:r>
            <a:r>
              <a:rPr lang="en-US" b="1" dirty="0">
                <a:solidFill>
                  <a:schemeClr val="accent4">
                    <a:lumMod val="50000"/>
                  </a:schemeClr>
                </a:solidFill>
                <a:latin typeface="Times New Roman" panose="02020603050405020304" pitchFamily="18" charset="0"/>
                <a:cs typeface="Times New Roman" panose="02020603050405020304" pitchFamily="18" charset="0"/>
              </a:rPr>
              <a:t>wall carbon nanotube</a:t>
            </a:r>
          </a:p>
        </p:txBody>
      </p:sp>
    </p:spTree>
    <p:extLst>
      <p:ext uri="{BB962C8B-B14F-4D97-AF65-F5344CB8AC3E}">
        <p14:creationId xmlns:p14="http://schemas.microsoft.com/office/powerpoint/2010/main" val="33624635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4506" y="0"/>
            <a:ext cx="914400" cy="68580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2" cstate="print"/>
            <a:srcRect l="25273" t="29860" r="41530" b="24966"/>
            <a:stretch>
              <a:fillRect/>
            </a:stretch>
          </p:blipFill>
          <p:spPr bwMode="auto">
            <a:xfrm>
              <a:off x="0" y="6035040"/>
              <a:ext cx="914400" cy="822960"/>
            </a:xfrm>
            <a:prstGeom prst="rect">
              <a:avLst/>
            </a:prstGeom>
            <a:noFill/>
            <a:ln w="9525">
              <a:noFill/>
              <a:miter lim="800000"/>
              <a:headEnd/>
              <a:tailEnd/>
            </a:ln>
          </p:spPr>
        </p:pic>
      </p:grpSp>
      <p:sp>
        <p:nvSpPr>
          <p:cNvPr id="3" name="Rectangle 2"/>
          <p:cNvSpPr/>
          <p:nvPr/>
        </p:nvSpPr>
        <p:spPr>
          <a:xfrm>
            <a:off x="926857" y="49612"/>
            <a:ext cx="10638094" cy="7216271"/>
          </a:xfrm>
          <a:prstGeom prst="rect">
            <a:avLst/>
          </a:prstGeom>
        </p:spPr>
        <p:txBody>
          <a:bodyPr wrap="square">
            <a:spAutoFit/>
          </a:bodyPr>
          <a:lstStyle/>
          <a:p>
            <a:pPr algn="just">
              <a:lnSpc>
                <a:spcPct val="107000"/>
              </a:lnSpc>
              <a:spcAft>
                <a:spcPts val="800"/>
              </a:spcAft>
            </a:pPr>
            <a:r>
              <a:rPr lang="en-US" sz="2800" b="1" dirty="0" smtClean="0">
                <a:solidFill>
                  <a:schemeClr val="accent4">
                    <a:lumMod val="50000"/>
                  </a:schemeClr>
                </a:solidFill>
                <a:latin typeface="Times New Roman" panose="02020603050405020304" pitchFamily="18" charset="0"/>
                <a:cs typeface="Times New Roman" panose="02020603050405020304" pitchFamily="18" charset="0"/>
              </a:rPr>
              <a:t>Properties </a:t>
            </a:r>
            <a:r>
              <a:rPr lang="en-US" sz="2800" b="1" dirty="0">
                <a:solidFill>
                  <a:schemeClr val="accent4">
                    <a:lumMod val="50000"/>
                  </a:schemeClr>
                </a:solidFill>
                <a:latin typeface="Times New Roman" panose="02020603050405020304" pitchFamily="18" charset="0"/>
                <a:cs typeface="Times New Roman" panose="02020603050405020304" pitchFamily="18" charset="0"/>
              </a:rPr>
              <a:t>and </a:t>
            </a:r>
            <a:r>
              <a:rPr lang="en-US" sz="2800" b="1" dirty="0" smtClean="0">
                <a:solidFill>
                  <a:schemeClr val="accent4">
                    <a:lumMod val="50000"/>
                  </a:schemeClr>
                </a:solidFill>
                <a:latin typeface="Times New Roman" panose="02020603050405020304" pitchFamily="18" charset="0"/>
                <a:cs typeface="Times New Roman" panose="02020603050405020304" pitchFamily="18" charset="0"/>
              </a:rPr>
              <a:t>Uses</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a:p>
            <a:pPr algn="just">
              <a:lnSpc>
                <a:spcPct val="107000"/>
              </a:lnSpc>
              <a:spcAft>
                <a:spcPts val="800"/>
              </a:spcAft>
            </a:pPr>
            <a:r>
              <a:rPr lang="en-US" sz="2800" dirty="0" smtClean="0">
                <a:solidFill>
                  <a:schemeClr val="accent4">
                    <a:lumMod val="50000"/>
                  </a:schemeClr>
                </a:solidFill>
                <a:latin typeface="Times New Roman" panose="02020603050405020304" pitchFamily="18" charset="0"/>
                <a:cs typeface="Times New Roman" panose="02020603050405020304" pitchFamily="18" charset="0"/>
              </a:rPr>
              <a:t>CNTs </a:t>
            </a:r>
            <a:r>
              <a:rPr lang="en-US" sz="2800" dirty="0">
                <a:solidFill>
                  <a:schemeClr val="accent4">
                    <a:lumMod val="50000"/>
                  </a:schemeClr>
                </a:solidFill>
                <a:latin typeface="Times New Roman" panose="02020603050405020304" pitchFamily="18" charset="0"/>
                <a:cs typeface="Times New Roman" panose="02020603050405020304" pitchFamily="18" charset="0"/>
              </a:rPr>
              <a:t>exhibit remarkable properties:</a:t>
            </a:r>
          </a:p>
          <a:p>
            <a:pPr marL="1371600" lvl="2" indent="-457200" algn="just">
              <a:buFont typeface="Arial" panose="020B0604020202020204" pitchFamily="34" charset="0"/>
              <a:buChar char="•"/>
            </a:pPr>
            <a:r>
              <a:rPr lang="en-US" sz="2800" b="1" dirty="0">
                <a:solidFill>
                  <a:schemeClr val="accent4">
                    <a:lumMod val="50000"/>
                  </a:schemeClr>
                </a:solidFill>
                <a:latin typeface="Times New Roman" panose="02020603050405020304" pitchFamily="18" charset="0"/>
                <a:cs typeface="Times New Roman" panose="02020603050405020304" pitchFamily="18" charset="0"/>
              </a:rPr>
              <a:t>High strength</a:t>
            </a:r>
            <a:r>
              <a:rPr lang="en-US" sz="2800" dirty="0">
                <a:solidFill>
                  <a:schemeClr val="accent4">
                    <a:lumMod val="50000"/>
                  </a:schemeClr>
                </a:solidFill>
                <a:latin typeface="Times New Roman" panose="02020603050405020304" pitchFamily="18" charset="0"/>
                <a:cs typeface="Times New Roman" panose="02020603050405020304" pitchFamily="18" charset="0"/>
              </a:rPr>
              <a:t>: They’re incredibly strong yet lightweight.</a:t>
            </a:r>
          </a:p>
          <a:p>
            <a:pPr marL="1371600" lvl="2" indent="-457200" algn="just">
              <a:buFont typeface="Arial" panose="020B0604020202020204" pitchFamily="34" charset="0"/>
              <a:buChar char="•"/>
            </a:pPr>
            <a:r>
              <a:rPr lang="en-US" sz="2800" b="1" dirty="0">
                <a:solidFill>
                  <a:schemeClr val="accent4">
                    <a:lumMod val="50000"/>
                  </a:schemeClr>
                </a:solidFill>
                <a:latin typeface="Times New Roman" panose="02020603050405020304" pitchFamily="18" charset="0"/>
                <a:cs typeface="Times New Roman" panose="02020603050405020304" pitchFamily="18" charset="0"/>
              </a:rPr>
              <a:t>Electrical conductivity</a:t>
            </a:r>
            <a:r>
              <a:rPr lang="en-US" sz="2800" dirty="0">
                <a:solidFill>
                  <a:schemeClr val="accent4">
                    <a:lumMod val="50000"/>
                  </a:schemeClr>
                </a:solidFill>
                <a:latin typeface="Times New Roman" panose="02020603050405020304" pitchFamily="18" charset="0"/>
                <a:cs typeface="Times New Roman" panose="02020603050405020304" pitchFamily="18" charset="0"/>
              </a:rPr>
              <a:t>: They conduct electricity efficiently.</a:t>
            </a:r>
          </a:p>
          <a:p>
            <a:pPr marL="1371600" lvl="2" indent="-457200" algn="just">
              <a:buFont typeface="Arial" panose="020B0604020202020204" pitchFamily="34" charset="0"/>
              <a:buChar char="•"/>
            </a:pPr>
            <a:r>
              <a:rPr lang="en-US" sz="2800" b="1" dirty="0">
                <a:solidFill>
                  <a:schemeClr val="accent4">
                    <a:lumMod val="50000"/>
                  </a:schemeClr>
                </a:solidFill>
                <a:latin typeface="Times New Roman" panose="02020603050405020304" pitchFamily="18" charset="0"/>
                <a:cs typeface="Times New Roman" panose="02020603050405020304" pitchFamily="18" charset="0"/>
              </a:rPr>
              <a:t>Thermal conductivity</a:t>
            </a:r>
            <a:r>
              <a:rPr lang="en-US" sz="2800" dirty="0">
                <a:solidFill>
                  <a:schemeClr val="accent4">
                    <a:lumMod val="50000"/>
                  </a:schemeClr>
                </a:solidFill>
                <a:latin typeface="Times New Roman" panose="02020603050405020304" pitchFamily="18" charset="0"/>
                <a:cs typeface="Times New Roman" panose="02020603050405020304" pitchFamily="18" charset="0"/>
              </a:rPr>
              <a:t>: They transfer heat effectively.</a:t>
            </a:r>
          </a:p>
          <a:p>
            <a:pPr marL="1371600" lvl="2" indent="-457200" algn="just">
              <a:buFont typeface="Arial" panose="020B0604020202020204" pitchFamily="34" charset="0"/>
              <a:buChar char="•"/>
            </a:pPr>
            <a:r>
              <a:rPr lang="en-US" sz="2800" b="1" dirty="0">
                <a:solidFill>
                  <a:schemeClr val="accent4">
                    <a:lumMod val="50000"/>
                  </a:schemeClr>
                </a:solidFill>
                <a:latin typeface="Times New Roman" panose="02020603050405020304" pitchFamily="18" charset="0"/>
                <a:cs typeface="Times New Roman" panose="02020603050405020304" pitchFamily="18" charset="0"/>
              </a:rPr>
              <a:t>Chemical stability</a:t>
            </a:r>
            <a:r>
              <a:rPr lang="en-US" sz="2800" dirty="0">
                <a:solidFill>
                  <a:schemeClr val="accent4">
                    <a:lumMod val="50000"/>
                  </a:schemeClr>
                </a:solidFill>
                <a:latin typeface="Times New Roman" panose="02020603050405020304" pitchFamily="18" charset="0"/>
                <a:cs typeface="Times New Roman" panose="02020603050405020304" pitchFamily="18" charset="0"/>
              </a:rPr>
              <a:t>: They’re resistant to chemical </a:t>
            </a:r>
            <a:r>
              <a:rPr lang="en-US" sz="2800" dirty="0" smtClean="0">
                <a:solidFill>
                  <a:schemeClr val="accent4">
                    <a:lumMod val="50000"/>
                  </a:schemeClr>
                </a:solidFill>
                <a:latin typeface="Times New Roman" panose="02020603050405020304" pitchFamily="18" charset="0"/>
                <a:cs typeface="Times New Roman" panose="02020603050405020304" pitchFamily="18" charset="0"/>
              </a:rPr>
              <a:t>reactions.</a:t>
            </a:r>
          </a:p>
          <a:p>
            <a:pPr lvl="2" algn="just"/>
            <a:endParaRPr lang="en-US" sz="2800" dirty="0" smtClean="0">
              <a:solidFill>
                <a:schemeClr val="accent4">
                  <a:lumMod val="50000"/>
                </a:schemeClr>
              </a:solidFill>
              <a:latin typeface="Times New Roman" panose="02020603050405020304" pitchFamily="18" charset="0"/>
              <a:cs typeface="Times New Roman" panose="02020603050405020304" pitchFamily="18" charset="0"/>
            </a:endParaRPr>
          </a:p>
          <a:p>
            <a:pPr lvl="2" algn="just"/>
            <a:r>
              <a:rPr lang="en-US" sz="2800" dirty="0" smtClean="0">
                <a:solidFill>
                  <a:schemeClr val="accent4">
                    <a:lumMod val="50000"/>
                  </a:schemeClr>
                </a:solidFill>
                <a:latin typeface="Times New Roman" panose="02020603050405020304" pitchFamily="18" charset="0"/>
                <a:cs typeface="Times New Roman" panose="02020603050405020304" pitchFamily="18" charset="0"/>
              </a:rPr>
              <a:t>Uses</a:t>
            </a:r>
            <a:endParaRPr lang="en-US" sz="2800" dirty="0">
              <a:solidFill>
                <a:schemeClr val="accent4">
                  <a:lumMod val="50000"/>
                </a:schemeClr>
              </a:solidFill>
              <a:latin typeface="Times New Roman" panose="02020603050405020304" pitchFamily="18" charset="0"/>
              <a:cs typeface="Times New Roman" panose="02020603050405020304" pitchFamily="18" charset="0"/>
            </a:endParaRPr>
          </a:p>
          <a:p>
            <a:pPr marL="1371600" lvl="2" indent="-457200" algn="just">
              <a:buFont typeface="Arial" panose="020B0604020202020204" pitchFamily="34" charset="0"/>
              <a:buChar char="•"/>
            </a:pPr>
            <a:r>
              <a:rPr lang="en-US" sz="2800" b="1" dirty="0">
                <a:solidFill>
                  <a:schemeClr val="accent4">
                    <a:lumMod val="50000"/>
                  </a:schemeClr>
                </a:solidFill>
                <a:latin typeface="Times New Roman" panose="02020603050405020304" pitchFamily="18" charset="0"/>
                <a:cs typeface="Times New Roman" panose="02020603050405020304" pitchFamily="18" charset="0"/>
              </a:rPr>
              <a:t>Materials</a:t>
            </a:r>
            <a:r>
              <a:rPr lang="en-US" sz="2800" dirty="0">
                <a:solidFill>
                  <a:schemeClr val="accent4">
                    <a:lumMod val="50000"/>
                  </a:schemeClr>
                </a:solidFill>
                <a:latin typeface="Times New Roman" panose="02020603050405020304" pitchFamily="18" charset="0"/>
                <a:cs typeface="Times New Roman" panose="02020603050405020304" pitchFamily="18" charset="0"/>
              </a:rPr>
              <a:t>: Creating ultra-strong, lightweight materials.</a:t>
            </a:r>
          </a:p>
          <a:p>
            <a:pPr marL="1371600" lvl="2" indent="-457200" algn="just">
              <a:buFont typeface="Arial" panose="020B0604020202020204" pitchFamily="34" charset="0"/>
              <a:buChar char="•"/>
            </a:pPr>
            <a:r>
              <a:rPr lang="en-US" sz="2800" b="1" dirty="0">
                <a:solidFill>
                  <a:schemeClr val="accent4">
                    <a:lumMod val="50000"/>
                  </a:schemeClr>
                </a:solidFill>
                <a:latin typeface="Times New Roman" panose="02020603050405020304" pitchFamily="18" charset="0"/>
                <a:cs typeface="Times New Roman" panose="02020603050405020304" pitchFamily="18" charset="0"/>
              </a:rPr>
              <a:t>Catalysis</a:t>
            </a:r>
            <a:r>
              <a:rPr lang="en-US" sz="2800" dirty="0">
                <a:solidFill>
                  <a:schemeClr val="accent4">
                    <a:lumMod val="50000"/>
                  </a:schemeClr>
                </a:solidFill>
                <a:latin typeface="Times New Roman" panose="02020603050405020304" pitchFamily="18" charset="0"/>
                <a:cs typeface="Times New Roman" panose="02020603050405020304" pitchFamily="18" charset="0"/>
              </a:rPr>
              <a:t>: Enhancing chemical reactions.</a:t>
            </a:r>
          </a:p>
          <a:p>
            <a:pPr marL="1371600" lvl="2" indent="-457200" algn="just">
              <a:buFont typeface="Arial" panose="020B0604020202020204" pitchFamily="34" charset="0"/>
              <a:buChar char="•"/>
            </a:pPr>
            <a:r>
              <a:rPr lang="en-US" sz="2800" b="1" dirty="0">
                <a:solidFill>
                  <a:schemeClr val="accent4">
                    <a:lumMod val="50000"/>
                  </a:schemeClr>
                </a:solidFill>
                <a:latin typeface="Times New Roman" panose="02020603050405020304" pitchFamily="18" charset="0"/>
                <a:cs typeface="Times New Roman" panose="02020603050405020304" pitchFamily="18" charset="0"/>
              </a:rPr>
              <a:t>Transistors</a:t>
            </a:r>
            <a:r>
              <a:rPr lang="en-US" sz="2800" dirty="0">
                <a:solidFill>
                  <a:schemeClr val="accent4">
                    <a:lumMod val="50000"/>
                  </a:schemeClr>
                </a:solidFill>
                <a:latin typeface="Times New Roman" panose="02020603050405020304" pitchFamily="18" charset="0"/>
                <a:cs typeface="Times New Roman" panose="02020603050405020304" pitchFamily="18" charset="0"/>
              </a:rPr>
              <a:t>: Improving electronic devices.</a:t>
            </a:r>
          </a:p>
          <a:p>
            <a:pPr marL="1371600" lvl="2" indent="-457200" algn="just">
              <a:buFont typeface="Arial" panose="020B0604020202020204" pitchFamily="34" charset="0"/>
              <a:buChar char="•"/>
            </a:pPr>
            <a:r>
              <a:rPr lang="en-US" sz="2800" b="1" dirty="0">
                <a:solidFill>
                  <a:schemeClr val="accent4">
                    <a:lumMod val="50000"/>
                  </a:schemeClr>
                </a:solidFill>
                <a:latin typeface="Times New Roman" panose="02020603050405020304" pitchFamily="18" charset="0"/>
                <a:cs typeface="Times New Roman" panose="02020603050405020304" pitchFamily="18" charset="0"/>
              </a:rPr>
              <a:t>Sensors</a:t>
            </a:r>
            <a:r>
              <a:rPr lang="en-US" sz="2800" dirty="0">
                <a:solidFill>
                  <a:schemeClr val="accent4">
                    <a:lumMod val="50000"/>
                  </a:schemeClr>
                </a:solidFill>
                <a:latin typeface="Times New Roman" panose="02020603050405020304" pitchFamily="18" charset="0"/>
                <a:cs typeface="Times New Roman" panose="02020603050405020304" pitchFamily="18" charset="0"/>
              </a:rPr>
              <a:t>: Detecting various substances.</a:t>
            </a:r>
          </a:p>
          <a:p>
            <a:pPr marL="1371600" lvl="2" indent="-457200" algn="just">
              <a:buFont typeface="Arial" panose="020B0604020202020204" pitchFamily="34" charset="0"/>
              <a:buChar char="•"/>
            </a:pPr>
            <a:r>
              <a:rPr lang="en-US" sz="2800" b="1" dirty="0">
                <a:solidFill>
                  <a:schemeClr val="accent4">
                    <a:lumMod val="50000"/>
                  </a:schemeClr>
                </a:solidFill>
                <a:latin typeface="Times New Roman" panose="02020603050405020304" pitchFamily="18" charset="0"/>
                <a:cs typeface="Times New Roman" panose="02020603050405020304" pitchFamily="18" charset="0"/>
              </a:rPr>
              <a:t>Nano inks</a:t>
            </a:r>
            <a:r>
              <a:rPr lang="en-US" sz="2800" dirty="0">
                <a:solidFill>
                  <a:schemeClr val="accent4">
                    <a:lumMod val="50000"/>
                  </a:schemeClr>
                </a:solidFill>
                <a:latin typeface="Times New Roman" panose="02020603050405020304" pitchFamily="18" charset="0"/>
                <a:cs typeface="Times New Roman" panose="02020603050405020304" pitchFamily="18" charset="0"/>
              </a:rPr>
              <a:t>: For printing electronic circuits.</a:t>
            </a:r>
          </a:p>
          <a:p>
            <a:pPr marL="1371600" lvl="2" indent="-457200" algn="just">
              <a:buFont typeface="Arial" panose="020B0604020202020204" pitchFamily="34" charset="0"/>
              <a:buChar char="•"/>
            </a:pPr>
            <a:r>
              <a:rPr lang="en-US" sz="2800" b="1" dirty="0">
                <a:solidFill>
                  <a:schemeClr val="accent4">
                    <a:lumMod val="50000"/>
                  </a:schemeClr>
                </a:solidFill>
                <a:latin typeface="Times New Roman" panose="02020603050405020304" pitchFamily="18" charset="0"/>
                <a:cs typeface="Times New Roman" panose="02020603050405020304" pitchFamily="18" charset="0"/>
              </a:rPr>
              <a:t>Electrodes</a:t>
            </a:r>
            <a:r>
              <a:rPr lang="en-US" sz="2800" dirty="0">
                <a:solidFill>
                  <a:schemeClr val="accent4">
                    <a:lumMod val="50000"/>
                  </a:schemeClr>
                </a:solidFill>
                <a:latin typeface="Times New Roman" panose="02020603050405020304" pitchFamily="18" charset="0"/>
                <a:cs typeface="Times New Roman" panose="02020603050405020304" pitchFamily="18" charset="0"/>
              </a:rPr>
              <a:t>: In batteries and </a:t>
            </a:r>
            <a:r>
              <a:rPr lang="en-US" sz="2800" dirty="0" err="1">
                <a:solidFill>
                  <a:schemeClr val="accent4">
                    <a:lumMod val="50000"/>
                  </a:schemeClr>
                </a:solidFill>
                <a:latin typeface="Times New Roman" panose="02020603050405020304" pitchFamily="18" charset="0"/>
                <a:cs typeface="Times New Roman" panose="02020603050405020304" pitchFamily="18" charset="0"/>
              </a:rPr>
              <a:t>supercapacitors</a:t>
            </a:r>
            <a:r>
              <a:rPr lang="en-US" sz="2800" dirty="0">
                <a:solidFill>
                  <a:schemeClr val="accent4">
                    <a:lumMod val="50000"/>
                  </a:schemeClr>
                </a:solidFill>
                <a:latin typeface="Times New Roman" panose="02020603050405020304" pitchFamily="18" charset="0"/>
                <a:cs typeface="Times New Roman" panose="02020603050405020304" pitchFamily="18" charset="0"/>
              </a:rPr>
              <a:t>.</a:t>
            </a:r>
          </a:p>
          <a:p>
            <a:pPr marL="1371600" lvl="2" indent="-457200" algn="just">
              <a:buFont typeface="Arial" panose="020B0604020202020204" pitchFamily="34" charset="0"/>
              <a:buChar char="•"/>
            </a:pPr>
            <a:r>
              <a:rPr lang="en-US" sz="2800" b="1" dirty="0">
                <a:solidFill>
                  <a:schemeClr val="accent4">
                    <a:lumMod val="50000"/>
                  </a:schemeClr>
                </a:solidFill>
                <a:latin typeface="Times New Roman" panose="02020603050405020304" pitchFamily="18" charset="0"/>
                <a:cs typeface="Times New Roman" panose="02020603050405020304" pitchFamily="18" charset="0"/>
              </a:rPr>
              <a:t>Displays</a:t>
            </a:r>
            <a:r>
              <a:rPr lang="en-US" sz="2800" dirty="0">
                <a:solidFill>
                  <a:schemeClr val="accent4">
                    <a:lumMod val="50000"/>
                  </a:schemeClr>
                </a:solidFill>
                <a:latin typeface="Times New Roman" panose="02020603050405020304" pitchFamily="18" charset="0"/>
                <a:cs typeface="Times New Roman" panose="02020603050405020304" pitchFamily="18" charset="0"/>
              </a:rPr>
              <a:t>, </a:t>
            </a:r>
            <a:r>
              <a:rPr lang="en-US" sz="2800" b="1" dirty="0" smtClean="0">
                <a:solidFill>
                  <a:schemeClr val="accent4">
                    <a:lumMod val="50000"/>
                  </a:schemeClr>
                </a:solidFill>
                <a:latin typeface="Times New Roman" panose="02020603050405020304" pitchFamily="18" charset="0"/>
                <a:cs typeface="Times New Roman" panose="02020603050405020304" pitchFamily="18" charset="0"/>
              </a:rPr>
              <a:t>optoelectronics</a:t>
            </a:r>
            <a:endParaRPr lang="en-US" sz="2800" dirty="0">
              <a:solidFill>
                <a:schemeClr val="accent4">
                  <a:lumMod val="50000"/>
                </a:schemeClr>
              </a:solidFill>
              <a:latin typeface="Times New Roman" panose="02020603050405020304" pitchFamily="18" charset="0"/>
              <a:cs typeface="Times New Roman" panose="02020603050405020304" pitchFamily="18" charset="0"/>
            </a:endParaRPr>
          </a:p>
          <a:p>
            <a:pPr marL="457200" indent="-457200">
              <a:lnSpc>
                <a:spcPct val="107000"/>
              </a:lnSpc>
              <a:spcAft>
                <a:spcPts val="800"/>
              </a:spcAft>
              <a:buFontTx/>
              <a:buChar char="-"/>
            </a:pPr>
            <a:endParaRPr lang="en-US" sz="2400" b="1" dirty="0">
              <a:solidFill>
                <a:schemeClr val="accent4">
                  <a:lumMod val="50000"/>
                </a:schemeClr>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9228788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32542" y="238783"/>
            <a:ext cx="11159458" cy="5958170"/>
          </a:xfrm>
          <a:prstGeom prst="rect">
            <a:avLst/>
          </a:prstGeom>
        </p:spPr>
        <p:txBody>
          <a:bodyPr wrap="square">
            <a:spAutoFit/>
          </a:bodyPr>
          <a:lstStyle/>
          <a:p>
            <a:pPr algn="just">
              <a:lnSpc>
                <a:spcPct val="107000"/>
              </a:lnSpc>
              <a:spcBef>
                <a:spcPts val="900"/>
              </a:spcBef>
            </a:pPr>
            <a:r>
              <a:rPr lang="en-US" sz="2400" b="1" dirty="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The following are three exercises for this topic:</a:t>
            </a:r>
            <a:endParaRPr lang="en-US" sz="2400" b="1" dirty="0">
              <a:solidFill>
                <a:schemeClr val="accent4">
                  <a:lumMod val="50000"/>
                </a:schemeClr>
              </a:solidFill>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tabLst>
                <a:tab pos="457200" algn="l"/>
              </a:tabLst>
            </a:pPr>
            <a:r>
              <a:rPr lang="en-US" sz="2400" b="1" dirty="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Match each chemist with their contribution to organic chemistry:</a:t>
            </a:r>
            <a:endParaRPr lang="en-US" sz="2400" b="1" dirty="0">
              <a:solidFill>
                <a:schemeClr val="accent4">
                  <a:lumMod val="50000"/>
                </a:schemeClr>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900"/>
              </a:spcBef>
            </a:pPr>
            <a:r>
              <a:rPr lang="en-US" sz="2400" b="1" dirty="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A) Antoine Lavoisier B) Friedrich </a:t>
            </a:r>
            <a:r>
              <a:rPr lang="en-US" sz="2400" b="1" dirty="0" err="1">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Wöhler</a:t>
            </a:r>
            <a:r>
              <a:rPr lang="en-US" sz="2400" b="1" dirty="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 C) August </a:t>
            </a:r>
            <a:r>
              <a:rPr lang="en-US" sz="2400" b="1" dirty="0" err="1">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Kekulé</a:t>
            </a:r>
            <a:r>
              <a:rPr lang="en-US" sz="2400" b="1" dirty="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 D) Emil Fischer E) Alfred Werner</a:t>
            </a:r>
            <a:endParaRPr lang="en-US" sz="2400" b="1" dirty="0">
              <a:solidFill>
                <a:schemeClr val="accent4">
                  <a:lumMod val="50000"/>
                </a:schemeClr>
              </a:solidFill>
              <a:latin typeface="Times New Roman" panose="02020603050405020304" pitchFamily="18" charset="0"/>
              <a:ea typeface="Calibri" panose="020F0502020204030204" pitchFamily="34" charset="0"/>
              <a:cs typeface="Times New Roman" panose="02020603050405020304" pitchFamily="18" charset="0"/>
            </a:endParaRPr>
          </a:p>
          <a:p>
            <a:pPr marL="400050" indent="-400050" algn="just">
              <a:lnSpc>
                <a:spcPct val="107000"/>
              </a:lnSpc>
              <a:spcBef>
                <a:spcPts val="900"/>
              </a:spcBef>
              <a:buAutoNum type="romanLcParenR"/>
            </a:pPr>
            <a:r>
              <a:rPr lang="en-US" sz="2400" b="1" dirty="0" smtClean="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Synthesized </a:t>
            </a:r>
            <a:r>
              <a:rPr lang="en-US" sz="2400" b="1" dirty="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urea from ammonium cyanate ii) Proposed the structure of benzene iii) Discovered oxygen and established the law of conservation of mass iv) Elucidated the structures of sugars and purines v) Developed coordination </a:t>
            </a:r>
            <a:r>
              <a:rPr lang="en-US" sz="2400" b="1" dirty="0" smtClean="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chemistry</a:t>
            </a:r>
          </a:p>
          <a:p>
            <a:pPr marL="342900" marR="0" lvl="0" indent="-342900" algn="just">
              <a:lnSpc>
                <a:spcPct val="107000"/>
              </a:lnSpc>
              <a:spcBef>
                <a:spcPts val="0"/>
              </a:spcBef>
              <a:spcAft>
                <a:spcPts val="0"/>
              </a:spcAft>
              <a:buFont typeface="+mj-lt"/>
              <a:buAutoNum type="arabicPeriod" startAt="2"/>
              <a:tabLst>
                <a:tab pos="457200" algn="l"/>
              </a:tabLst>
            </a:pPr>
            <a:r>
              <a:rPr lang="en-US" sz="2400" b="1" dirty="0" smtClean="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What </a:t>
            </a:r>
            <a:r>
              <a:rPr lang="en-US" sz="2400" b="1" dirty="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is the difference between organic and inorganic compounds? How did </a:t>
            </a:r>
            <a:r>
              <a:rPr lang="en-US" sz="2400" b="1" dirty="0" err="1">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Wöhler’s</a:t>
            </a:r>
            <a:r>
              <a:rPr lang="en-US" sz="2400" b="1" dirty="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 experiment challenge the vital force theory</a:t>
            </a:r>
            <a:r>
              <a:rPr lang="en-US" sz="2400" b="1" dirty="0" smtClean="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a:t>
            </a:r>
          </a:p>
          <a:p>
            <a:pPr marL="342900" marR="0" lvl="0" indent="-342900" algn="just">
              <a:lnSpc>
                <a:spcPct val="107000"/>
              </a:lnSpc>
              <a:spcBef>
                <a:spcPts val="0"/>
              </a:spcBef>
              <a:spcAft>
                <a:spcPts val="0"/>
              </a:spcAft>
              <a:buFont typeface="+mj-lt"/>
              <a:buAutoNum type="arabicPeriod" startAt="2"/>
              <a:tabLst>
                <a:tab pos="457200" algn="l"/>
              </a:tabLst>
            </a:pPr>
            <a:r>
              <a:rPr lang="en-US" sz="2400" b="1" dirty="0" smtClean="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Give </a:t>
            </a:r>
            <a:r>
              <a:rPr lang="en-US" sz="2400" b="1" dirty="0">
                <a:solidFill>
                  <a:schemeClr val="accent4">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an example of an organic compound that has a significant impact on one of the following fields: biology, medicine, agriculture, energy, materials science, nanotechnology, environmental science, or green chemistry. Explain why it is important and how it was discovered or synthesized.</a:t>
            </a:r>
            <a:endParaRPr lang="en-US" sz="2400" b="1" dirty="0">
              <a:solidFill>
                <a:schemeClr val="accent4">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grpSp>
        <p:nvGrpSpPr>
          <p:cNvPr id="5" name="Group 4"/>
          <p:cNvGrpSpPr/>
          <p:nvPr/>
        </p:nvGrpSpPr>
        <p:grpSpPr>
          <a:xfrm>
            <a:off x="4506" y="0"/>
            <a:ext cx="914400" cy="68580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2"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30178084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2" name="Rectangle 1"/>
          <p:cNvSpPr/>
          <p:nvPr/>
        </p:nvSpPr>
        <p:spPr>
          <a:xfrm>
            <a:off x="13142" y="857770"/>
            <a:ext cx="12178858" cy="892552"/>
          </a:xfrm>
          <a:prstGeom prst="rect">
            <a:avLst/>
          </a:prstGeom>
        </p:spPr>
        <p:txBody>
          <a:bodyPr wrap="square">
            <a:spAutoFit/>
          </a:bodyPr>
          <a:lstStyle/>
          <a:p>
            <a:pPr algn="just"/>
            <a:endParaRPr lang="en-US" sz="2800" b="1" dirty="0" smtClean="0">
              <a:solidFill>
                <a:schemeClr val="accent4">
                  <a:lumMod val="50000"/>
                </a:schemeClr>
              </a:solidFill>
              <a:latin typeface="Times New Roman" panose="02020603050405020304" pitchFamily="18" charset="0"/>
              <a:cs typeface="Times New Roman" panose="02020603050405020304" pitchFamily="18" charset="0"/>
            </a:endParaRPr>
          </a:p>
          <a:p>
            <a:pPr algn="just"/>
            <a:endParaRPr lang="en-US" sz="24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4584526" y="2630464"/>
            <a:ext cx="2943616" cy="707886"/>
          </a:xfrm>
          <a:prstGeom prst="rect">
            <a:avLst/>
          </a:prstGeom>
          <a:noFill/>
        </p:spPr>
        <p:txBody>
          <a:bodyPr wrap="square" rtlCol="0">
            <a:spAutoFit/>
          </a:bodyPr>
          <a:lstStyle/>
          <a:p>
            <a:r>
              <a:rPr lang="en-US" sz="4000" dirty="0" smtClean="0">
                <a:solidFill>
                  <a:schemeClr val="accent4">
                    <a:lumMod val="50000"/>
                  </a:schemeClr>
                </a:solidFill>
                <a:latin typeface="Times New Roman" panose="02020603050405020304" pitchFamily="18" charset="0"/>
                <a:cs typeface="Times New Roman" panose="02020603050405020304" pitchFamily="18" charset="0"/>
              </a:rPr>
              <a:t>Thank you </a:t>
            </a:r>
            <a:endParaRPr lang="en-US" sz="4000" dirty="0">
              <a:solidFill>
                <a:schemeClr val="accent4">
                  <a:lumMod val="50000"/>
                </a:schemeClr>
              </a:solidFill>
              <a:latin typeface="Times New Roman" panose="02020603050405020304" pitchFamily="18" charset="0"/>
              <a:cs typeface="Times New Roman" panose="02020603050405020304" pitchFamily="18" charset="0"/>
            </a:endParaRPr>
          </a:p>
        </p:txBody>
      </p:sp>
      <p:grpSp>
        <p:nvGrpSpPr>
          <p:cNvPr id="7" name="Group 6"/>
          <p:cNvGrpSpPr/>
          <p:nvPr/>
        </p:nvGrpSpPr>
        <p:grpSpPr>
          <a:xfrm>
            <a:off x="4506" y="0"/>
            <a:ext cx="914400" cy="6858000"/>
            <a:chOff x="0" y="168206"/>
            <a:chExt cx="914400" cy="6689794"/>
          </a:xfrm>
        </p:grpSpPr>
        <p:sp>
          <p:nvSpPr>
            <p:cNvPr id="8" name="Rectangle 7"/>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425304780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4945</TotalTime>
  <Words>936</Words>
  <Application>Microsoft Office PowerPoint</Application>
  <PresentationFormat>Widescreen</PresentationFormat>
  <Paragraphs>107</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Hassan Ibrahim</dc:creator>
  <cp:lastModifiedBy>User</cp:lastModifiedBy>
  <cp:revision>46</cp:revision>
  <dcterms:created xsi:type="dcterms:W3CDTF">2023-10-12T21:26:57Z</dcterms:created>
  <dcterms:modified xsi:type="dcterms:W3CDTF">2024-07-10T16:36:50Z</dcterms:modified>
</cp:coreProperties>
</file>