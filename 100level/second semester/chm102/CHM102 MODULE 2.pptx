
<file path=[Content_Types].xml><?xml version="1.0" encoding="utf-8"?>
<Types xmlns="http://schemas.openxmlformats.org/package/2006/content-types">
  <Default Extension="png" ContentType="image/png"/>
  <Default Extension="jpeg" ContentType="image/jpeg"/>
  <Default Extension="webp"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8" r:id="rId2"/>
    <p:sldId id="259" r:id="rId3"/>
    <p:sldId id="260" r:id="rId4"/>
    <p:sldId id="283" r:id="rId5"/>
    <p:sldId id="284" r:id="rId6"/>
    <p:sldId id="288" r:id="rId7"/>
    <p:sldId id="285" r:id="rId8"/>
    <p:sldId id="287" r:id="rId9"/>
    <p:sldId id="289" r:id="rId10"/>
    <p:sldId id="290" r:id="rId11"/>
    <p:sldId id="291" r:id="rId12"/>
    <p:sldId id="292" r:id="rId13"/>
    <p:sldId id="293" r:id="rId14"/>
    <p:sldId id="294" r:id="rId15"/>
    <p:sldId id="301" r:id="rId16"/>
    <p:sldId id="302" r:id="rId17"/>
    <p:sldId id="303" r:id="rId18"/>
    <p:sldId id="304" r:id="rId19"/>
    <p:sldId id="305" r:id="rId20"/>
    <p:sldId id="306" r:id="rId21"/>
    <p:sldId id="307" r:id="rId22"/>
    <p:sldId id="308"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48" autoAdjust="0"/>
    <p:restoredTop sz="94660"/>
  </p:normalViewPr>
  <p:slideViewPr>
    <p:cSldViewPr snapToGrid="0">
      <p:cViewPr varScale="1">
        <p:scale>
          <a:sx n="68" d="100"/>
          <a:sy n="68" d="100"/>
        </p:scale>
        <p:origin x="4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90E083-C7DB-43D9-B396-495492E053FE}" type="datetimeFigureOut">
              <a:rPr lang="en-US" smtClean="0"/>
              <a:t>7/10/2024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26182-292A-4212-B360-4323B38E4DBA}" type="slidenum">
              <a:rPr lang="en-US" smtClean="0"/>
              <a:t>‹#›</a:t>
            </a:fld>
            <a:endParaRPr lang="en-US"/>
          </a:p>
        </p:txBody>
      </p:sp>
    </p:spTree>
    <p:extLst>
      <p:ext uri="{BB962C8B-B14F-4D97-AF65-F5344CB8AC3E}">
        <p14:creationId xmlns:p14="http://schemas.microsoft.com/office/powerpoint/2010/main" val="209889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F057BD0-7BA3-49E9-A070-1EDF6E2D77F0}" type="datetimeFigureOut">
              <a:rPr lang="en-US" smtClean="0"/>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3666705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057BD0-7BA3-49E9-A070-1EDF6E2D77F0}" type="datetimeFigureOut">
              <a:rPr lang="en-US" smtClean="0"/>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687623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F057BD0-7BA3-49E9-A070-1EDF6E2D77F0}" type="datetimeFigureOut">
              <a:rPr lang="en-US" smtClean="0"/>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403622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F057BD0-7BA3-49E9-A070-1EDF6E2D77F0}" type="datetimeFigureOut">
              <a:rPr lang="en-US" smtClean="0"/>
              <a:t>7/10/2024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588811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F057BD0-7BA3-49E9-A070-1EDF6E2D77F0}" type="datetimeFigureOut">
              <a:rPr lang="en-US" smtClean="0"/>
              <a:t>7/10/2024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3459165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057BD0-7BA3-49E9-A070-1EDF6E2D77F0}" type="datetimeFigureOut">
              <a:rPr lang="en-US" smtClean="0"/>
              <a:t>7/10/2024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2446042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057BD0-7BA3-49E9-A070-1EDF6E2D77F0}" type="datetimeFigureOut">
              <a:rPr lang="en-US" smtClean="0"/>
              <a:t>7/10/2024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229575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F057BD0-7BA3-49E9-A070-1EDF6E2D77F0}" type="datetimeFigureOut">
              <a:rPr lang="en-US" smtClean="0"/>
              <a:t>7/10/2024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3887634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F057BD0-7BA3-49E9-A070-1EDF6E2D77F0}" type="datetimeFigureOut">
              <a:rPr lang="en-US" smtClean="0"/>
              <a:t>7/10/2024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84815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057BD0-7BA3-49E9-A070-1EDF6E2D77F0}" type="datetimeFigureOut">
              <a:rPr lang="en-US" smtClean="0"/>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1326072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057BD0-7BA3-49E9-A070-1EDF6E2D77F0}" type="datetimeFigureOut">
              <a:rPr lang="en-US" smtClean="0"/>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59299-BCB5-46A5-A228-8653C1B0A19E}" type="slidenum">
              <a:rPr lang="en-US" smtClean="0"/>
              <a:t>‹#›</a:t>
            </a:fld>
            <a:endParaRPr lang="en-US"/>
          </a:p>
        </p:txBody>
      </p:sp>
    </p:spTree>
    <p:extLst>
      <p:ext uri="{BB962C8B-B14F-4D97-AF65-F5344CB8AC3E}">
        <p14:creationId xmlns:p14="http://schemas.microsoft.com/office/powerpoint/2010/main" val="2622001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057BD0-7BA3-49E9-A070-1EDF6E2D77F0}" type="datetimeFigureOut">
              <a:rPr lang="en-US" smtClean="0"/>
              <a:t>7/10/2024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859299-BCB5-46A5-A228-8653C1B0A19E}" type="slidenum">
              <a:rPr lang="en-US" smtClean="0"/>
              <a:t>‹#›</a:t>
            </a:fld>
            <a:endParaRPr lang="en-US"/>
          </a:p>
        </p:txBody>
      </p:sp>
    </p:spTree>
    <p:extLst>
      <p:ext uri="{BB962C8B-B14F-4D97-AF65-F5344CB8AC3E}">
        <p14:creationId xmlns:p14="http://schemas.microsoft.com/office/powerpoint/2010/main" val="3776843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9.webp"/><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1.jpg"/></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3.jpeg"/></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2" name="Rectangle 1"/>
          <p:cNvSpPr/>
          <p:nvPr/>
        </p:nvSpPr>
        <p:spPr>
          <a:xfrm>
            <a:off x="926857" y="1979608"/>
            <a:ext cx="10617716" cy="4034740"/>
          </a:xfrm>
          <a:prstGeom prst="rect">
            <a:avLst/>
          </a:prstGeom>
        </p:spPr>
        <p:txBody>
          <a:bodyPr wrap="square">
            <a:spAutoFit/>
          </a:bodyPr>
          <a:lstStyle/>
          <a:p>
            <a:pPr algn="just"/>
            <a:r>
              <a:rPr lang="en-GB" sz="3200" b="1" dirty="0" smtClean="0">
                <a:solidFill>
                  <a:schemeClr val="accent4">
                    <a:lumMod val="50000"/>
                  </a:schemeClr>
                </a:solidFill>
                <a:latin typeface="Times New Roman" panose="02020603050405020304" pitchFamily="18" charset="0"/>
                <a:cs typeface="Times New Roman" panose="02020603050405020304" pitchFamily="18" charset="0"/>
              </a:rPr>
              <a:t>Course code: CHM102</a:t>
            </a:r>
          </a:p>
          <a:p>
            <a:pPr algn="just"/>
            <a:r>
              <a:rPr lang="en-GB" sz="3200" b="1" dirty="0" smtClean="0">
                <a:solidFill>
                  <a:schemeClr val="accent4">
                    <a:lumMod val="50000"/>
                  </a:schemeClr>
                </a:solidFill>
                <a:latin typeface="Times New Roman" panose="02020603050405020304" pitchFamily="18" charset="0"/>
                <a:cs typeface="Times New Roman" panose="02020603050405020304" pitchFamily="18" charset="0"/>
              </a:rPr>
              <a:t>Course Title: General Chemistry II </a:t>
            </a:r>
          </a:p>
          <a:p>
            <a:pPr algn="just"/>
            <a:r>
              <a:rPr lang="en-GB" sz="3200" b="1" dirty="0" smtClean="0">
                <a:solidFill>
                  <a:schemeClr val="accent4">
                    <a:lumMod val="50000"/>
                  </a:schemeClr>
                </a:solidFill>
                <a:latin typeface="Times New Roman" panose="02020603050405020304" pitchFamily="18" charset="0"/>
                <a:cs typeface="Times New Roman" panose="02020603050405020304" pitchFamily="18" charset="0"/>
              </a:rPr>
              <a:t>Course Unit: (2 Units)</a:t>
            </a:r>
          </a:p>
          <a:p>
            <a:pPr algn="just"/>
            <a:r>
              <a:rPr lang="en-GB" sz="3200" b="1" dirty="0" smtClean="0">
                <a:solidFill>
                  <a:schemeClr val="accent4">
                    <a:lumMod val="50000"/>
                  </a:schemeClr>
                </a:solidFill>
                <a:latin typeface="Times New Roman" panose="02020603050405020304" pitchFamily="18" charset="0"/>
                <a:cs typeface="Times New Roman" panose="02020603050405020304" pitchFamily="18" charset="0"/>
              </a:rPr>
              <a:t>Module 2: </a:t>
            </a:r>
            <a:r>
              <a:rPr lang="en-US" sz="3200" b="1" dirty="0">
                <a:solidFill>
                  <a:schemeClr val="accent4">
                    <a:lumMod val="50000"/>
                  </a:schemeClr>
                </a:solidFill>
                <a:latin typeface="Times New Roman" panose="02020603050405020304" pitchFamily="18" charset="0"/>
                <a:cs typeface="Times New Roman" panose="02020603050405020304" pitchFamily="18" charset="0"/>
              </a:rPr>
              <a:t>Electronic theories in organic </a:t>
            </a:r>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chemistry</a:t>
            </a:r>
            <a:r>
              <a:rPr lang="en-US" sz="3200" dirty="0" smtClean="0">
                <a:solidFill>
                  <a:schemeClr val="accent4">
                    <a:lumMod val="50000"/>
                  </a:schemeClr>
                </a:solidFill>
                <a:latin typeface="Times New Roman" panose="02020603050405020304" pitchFamily="18" charset="0"/>
                <a:cs typeface="Times New Roman" panose="02020603050405020304" pitchFamily="18" charset="0"/>
              </a:rPr>
              <a:t>,</a:t>
            </a:r>
            <a:r>
              <a:rPr lang="en-GB" sz="3200" dirty="0">
                <a:latin typeface="Times New Roman" panose="02020603050405020304" pitchFamily="18" charset="0"/>
                <a:cs typeface="Times New Roman" panose="02020603050405020304" pitchFamily="18" charset="0"/>
              </a:rPr>
              <a:t> </a:t>
            </a:r>
            <a:r>
              <a:rPr lang="en-GB" sz="3200" b="1" dirty="0">
                <a:solidFill>
                  <a:schemeClr val="accent4">
                    <a:lumMod val="50000"/>
                  </a:schemeClr>
                </a:solidFill>
                <a:latin typeface="Times New Roman" panose="02020603050405020304" pitchFamily="18" charset="0"/>
                <a:cs typeface="Times New Roman" panose="02020603050405020304" pitchFamily="18" charset="0"/>
              </a:rPr>
              <a:t>Isolation and purification of organic compounds. </a:t>
            </a:r>
            <a:r>
              <a:rPr lang="en-GB" sz="3200" b="1" dirty="0" smtClean="0">
                <a:solidFill>
                  <a:schemeClr val="accent4">
                    <a:lumMod val="50000"/>
                  </a:schemeClr>
                </a:solidFill>
                <a:latin typeface="Times New Roman" panose="02020603050405020304" pitchFamily="18" charset="0"/>
                <a:cs typeface="Times New Roman" panose="02020603050405020304" pitchFamily="18" charset="0"/>
              </a:rPr>
              <a:t>Determination </a:t>
            </a:r>
            <a:r>
              <a:rPr lang="en-GB" sz="3200" b="1" dirty="0">
                <a:solidFill>
                  <a:schemeClr val="accent4">
                    <a:lumMod val="50000"/>
                  </a:schemeClr>
                </a:solidFill>
                <a:latin typeface="Times New Roman" panose="02020603050405020304" pitchFamily="18" charset="0"/>
                <a:cs typeface="Times New Roman" panose="02020603050405020304" pitchFamily="18" charset="0"/>
              </a:rPr>
              <a:t>of structures of organic compounds including qualitative and quantitative analysis in organic chemistry. </a:t>
            </a:r>
            <a:endParaRPr lang="en-US" sz="3200" b="1" dirty="0">
              <a:solidFill>
                <a:schemeClr val="accent4">
                  <a:lumMod val="50000"/>
                </a:schemeClr>
              </a:solidFill>
              <a:latin typeface="Times New Roman" panose="02020603050405020304" pitchFamily="18" charset="0"/>
              <a:cs typeface="Times New Roman" panose="02020603050405020304" pitchFamily="18" charset="0"/>
            </a:endParaRPr>
          </a:p>
        </p:txBody>
      </p:sp>
      <p:grpSp>
        <p:nvGrpSpPr>
          <p:cNvPr id="5" name="Group 4"/>
          <p:cNvGrpSpPr/>
          <p:nvPr/>
        </p:nvGrpSpPr>
        <p:grpSpPr>
          <a:xfrm>
            <a:off x="4506" y="0"/>
            <a:ext cx="914400" cy="68580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
        <p:nvSpPr>
          <p:cNvPr id="3" name="Rectangle 2"/>
          <p:cNvSpPr/>
          <p:nvPr/>
        </p:nvSpPr>
        <p:spPr>
          <a:xfrm>
            <a:off x="1230971" y="702000"/>
            <a:ext cx="10389801" cy="1200329"/>
          </a:xfrm>
          <a:prstGeom prst="rect">
            <a:avLst/>
          </a:prstGeom>
        </p:spPr>
        <p:txBody>
          <a:bodyPr wrap="square">
            <a:spAutoFit/>
          </a:bodyPr>
          <a:lstStyle/>
          <a:p>
            <a:pPr algn="ctr"/>
            <a:r>
              <a:rPr lang="en-GB" sz="3600" b="1" dirty="0">
                <a:latin typeface="Times New Roman" panose="02020603050405020304" pitchFamily="18" charset="0"/>
                <a:cs typeface="Times New Roman" panose="02020603050405020304" pitchFamily="18" charset="0"/>
              </a:rPr>
              <a:t>FEDERAL UNIVERSITY OF LAFIA</a:t>
            </a:r>
            <a:br>
              <a:rPr lang="en-GB" sz="3600" b="1" dirty="0">
                <a:latin typeface="Times New Roman" panose="02020603050405020304" pitchFamily="18" charset="0"/>
                <a:cs typeface="Times New Roman" panose="02020603050405020304" pitchFamily="18" charset="0"/>
              </a:rPr>
            </a:br>
            <a:r>
              <a:rPr lang="en-GB" sz="3600" b="1" dirty="0">
                <a:latin typeface="Times New Roman" panose="02020603050405020304" pitchFamily="18" charset="0"/>
                <a:cs typeface="Times New Roman" panose="02020603050405020304" pitchFamily="18" charset="0"/>
              </a:rPr>
              <a:t>DEPARTMENT OF </a:t>
            </a:r>
            <a:r>
              <a:rPr lang="en-GB" sz="3600" b="1" dirty="0" smtClean="0">
                <a:latin typeface="Times New Roman" panose="02020603050405020304" pitchFamily="18" charset="0"/>
                <a:cs typeface="Times New Roman" panose="02020603050405020304" pitchFamily="18" charset="0"/>
              </a:rPr>
              <a:t>CHEMISTRY</a:t>
            </a:r>
            <a:endParaRPr lang="en-GB" sz="3600" dirty="0"/>
          </a:p>
        </p:txBody>
      </p:sp>
    </p:spTree>
    <p:extLst>
      <p:ext uri="{BB962C8B-B14F-4D97-AF65-F5344CB8AC3E}">
        <p14:creationId xmlns:p14="http://schemas.microsoft.com/office/powerpoint/2010/main" val="21808679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6056950"/>
            <a:ext cx="801050" cy="801050"/>
          </a:xfrm>
          <a:prstGeom prst="rect">
            <a:avLst/>
          </a:prstGeom>
        </p:spPr>
      </p:pic>
      <p:sp>
        <p:nvSpPr>
          <p:cNvPr id="2" name="TextBox 1"/>
          <p:cNvSpPr txBox="1"/>
          <p:nvPr/>
        </p:nvSpPr>
        <p:spPr>
          <a:xfrm>
            <a:off x="1414021" y="801279"/>
            <a:ext cx="10439847" cy="3046988"/>
          </a:xfrm>
          <a:prstGeom prst="rect">
            <a:avLst/>
          </a:prstGeom>
          <a:noFill/>
        </p:spPr>
        <p:txBody>
          <a:bodyPr wrap="square" rtlCol="0">
            <a:spAutoFit/>
          </a:bodyPr>
          <a:lstStyle/>
          <a:p>
            <a:pPr algn="just"/>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MODULE OBJECTIVES</a:t>
            </a:r>
          </a:p>
          <a:p>
            <a:pPr marL="457200" indent="-457200" algn="just">
              <a:buFont typeface="Arial" panose="020B0604020202020204" pitchFamily="34" charset="0"/>
              <a:buChar char="•"/>
            </a:pPr>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Electronic theories in organic chemistry</a:t>
            </a:r>
          </a:p>
          <a:p>
            <a:pPr marL="457200" indent="-457200" algn="just">
              <a:buFont typeface="Arial" panose="020B0604020202020204" pitchFamily="34" charset="0"/>
              <a:buChar char="•"/>
            </a:pPr>
            <a:r>
              <a:rPr lang="en-US" sz="3200" b="1" dirty="0">
                <a:solidFill>
                  <a:schemeClr val="accent4">
                    <a:lumMod val="50000"/>
                  </a:schemeClr>
                </a:solidFill>
                <a:latin typeface="Times New Roman" panose="02020603050405020304" pitchFamily="18" charset="0"/>
                <a:cs typeface="Times New Roman" panose="02020603050405020304" pitchFamily="18" charset="0"/>
              </a:rPr>
              <a:t>Isolation and purification of organic </a:t>
            </a:r>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compounds</a:t>
            </a:r>
          </a:p>
          <a:p>
            <a:pPr marL="457200" indent="-457200" algn="just">
              <a:buFont typeface="Arial" panose="020B0604020202020204" pitchFamily="34" charset="0"/>
              <a:buChar char="•"/>
            </a:pPr>
            <a:r>
              <a:rPr lang="en-US" sz="3200" b="1" dirty="0">
                <a:solidFill>
                  <a:schemeClr val="accent4">
                    <a:lumMod val="50000"/>
                  </a:schemeClr>
                </a:solidFill>
                <a:latin typeface="Times New Roman" panose="02020603050405020304" pitchFamily="18" charset="0"/>
                <a:cs typeface="Times New Roman" panose="02020603050405020304" pitchFamily="18" charset="0"/>
              </a:rPr>
              <a:t>Determination of structures of organic compounds including qualitative and quantitative analysis in organic </a:t>
            </a:r>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chemistry</a:t>
            </a:r>
            <a:endParaRPr lang="en-US" sz="3200" b="1" dirty="0">
              <a:solidFill>
                <a:schemeClr val="accent4">
                  <a:lumMod val="50000"/>
                </a:schemeClr>
              </a:solidFill>
              <a:latin typeface="Times New Roman" panose="02020603050405020304" pitchFamily="18" charset="0"/>
              <a:cs typeface="Times New Roman" panose="02020603050405020304" pitchFamily="18" charset="0"/>
            </a:endParaRPr>
          </a:p>
        </p:txBody>
      </p:sp>
      <p:grpSp>
        <p:nvGrpSpPr>
          <p:cNvPr id="5" name="Group 4"/>
          <p:cNvGrpSpPr/>
          <p:nvPr/>
        </p:nvGrpSpPr>
        <p:grpSpPr>
          <a:xfrm>
            <a:off x="4506" y="0"/>
            <a:ext cx="914400" cy="68580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5411244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2" name="TextBox 1"/>
          <p:cNvSpPr txBox="1"/>
          <p:nvPr/>
        </p:nvSpPr>
        <p:spPr>
          <a:xfrm>
            <a:off x="967826" y="1291472"/>
            <a:ext cx="10862813" cy="5016758"/>
          </a:xfrm>
          <a:prstGeom prst="rect">
            <a:avLst/>
          </a:prstGeom>
          <a:noFill/>
        </p:spPr>
        <p:txBody>
          <a:bodyPr wrap="square" rtlCol="0">
            <a:spAutoFit/>
          </a:bodyPr>
          <a:lstStyle/>
          <a:p>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Introduction </a:t>
            </a:r>
            <a:r>
              <a:rPr lang="en-US" sz="3200" b="1" dirty="0">
                <a:solidFill>
                  <a:schemeClr val="accent4">
                    <a:lumMod val="50000"/>
                  </a:schemeClr>
                </a:solidFill>
                <a:latin typeface="Times New Roman" panose="02020603050405020304" pitchFamily="18" charset="0"/>
                <a:cs typeface="Times New Roman" panose="02020603050405020304" pitchFamily="18" charset="0"/>
              </a:rPr>
              <a:t>to Organic </a:t>
            </a:r>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Chemistry</a:t>
            </a:r>
          </a:p>
          <a:p>
            <a:endParaRPr lang="en-US" sz="3200" b="1" dirty="0">
              <a:solidFill>
                <a:schemeClr val="accent4">
                  <a:lumMod val="50000"/>
                </a:schemeClr>
              </a:solidFill>
              <a:latin typeface="Times New Roman" panose="02020603050405020304" pitchFamily="18" charset="0"/>
              <a:cs typeface="Times New Roman" panose="02020603050405020304" pitchFamily="18" charset="0"/>
            </a:endParaRPr>
          </a:p>
          <a:p>
            <a:r>
              <a:rPr lang="en-US" sz="3200" b="1" dirty="0">
                <a:solidFill>
                  <a:schemeClr val="accent4">
                    <a:lumMod val="50000"/>
                  </a:schemeClr>
                </a:solidFill>
                <a:latin typeface="Times New Roman" panose="02020603050405020304" pitchFamily="18" charset="0"/>
                <a:cs typeface="Times New Roman" panose="02020603050405020304" pitchFamily="18" charset="0"/>
              </a:rPr>
              <a:t>- Organic chemistry is the branch of chemistry that studies compounds containing carbon.</a:t>
            </a:r>
          </a:p>
          <a:p>
            <a:r>
              <a:rPr lang="en-US" sz="3200" b="1" dirty="0">
                <a:solidFill>
                  <a:schemeClr val="accent4">
                    <a:lumMod val="50000"/>
                  </a:schemeClr>
                </a:solidFill>
                <a:latin typeface="Times New Roman" panose="02020603050405020304" pitchFamily="18" charset="0"/>
                <a:cs typeface="Times New Roman" panose="02020603050405020304" pitchFamily="18" charset="0"/>
              </a:rPr>
              <a:t>- Carbon is unique in its ability to form diverse and complex structures, making organic chemistry crucial for understanding life processes.</a:t>
            </a:r>
          </a:p>
          <a:p>
            <a:r>
              <a:rPr lang="en-US" sz="3200" b="1" dirty="0">
                <a:solidFill>
                  <a:schemeClr val="accent4">
                    <a:lumMod val="50000"/>
                  </a:schemeClr>
                </a:solidFill>
                <a:latin typeface="Times New Roman" panose="02020603050405020304" pitchFamily="18" charset="0"/>
                <a:cs typeface="Times New Roman" panose="02020603050405020304" pitchFamily="18" charset="0"/>
              </a:rPr>
              <a:t>- Applications include pharmaceuticals, polymers, fuels, and more.</a:t>
            </a:r>
          </a:p>
          <a:p>
            <a:r>
              <a:rPr lang="en-US" sz="3200" b="1" dirty="0">
                <a:solidFill>
                  <a:schemeClr val="accent4">
                    <a:lumMod val="50000"/>
                  </a:schemeClr>
                </a:solidFill>
                <a:latin typeface="Times New Roman" panose="02020603050405020304" pitchFamily="18" charset="0"/>
                <a:cs typeface="Times New Roman" panose="02020603050405020304" pitchFamily="18" charset="0"/>
              </a:rPr>
              <a:t> </a:t>
            </a:r>
          </a:p>
        </p:txBody>
      </p:sp>
      <p:grpSp>
        <p:nvGrpSpPr>
          <p:cNvPr id="5" name="Group 4"/>
          <p:cNvGrpSpPr/>
          <p:nvPr/>
        </p:nvGrpSpPr>
        <p:grpSpPr>
          <a:xfrm>
            <a:off x="4506" y="0"/>
            <a:ext cx="914400" cy="68580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22209481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2" name="TextBox 1"/>
          <p:cNvSpPr txBox="1"/>
          <p:nvPr/>
        </p:nvSpPr>
        <p:spPr>
          <a:xfrm>
            <a:off x="967826" y="1489435"/>
            <a:ext cx="9999922" cy="2246769"/>
          </a:xfrm>
          <a:prstGeom prst="rect">
            <a:avLst/>
          </a:prstGeom>
          <a:noFill/>
        </p:spPr>
        <p:txBody>
          <a:bodyPr wrap="square" rtlCol="0">
            <a:spAutoFit/>
          </a:bodyPr>
          <a:lstStyle/>
          <a:p>
            <a:pPr algn="just"/>
            <a:r>
              <a:rPr lang="en-US" sz="2800" b="1" dirty="0">
                <a:solidFill>
                  <a:schemeClr val="accent4">
                    <a:lumMod val="50000"/>
                  </a:schemeClr>
                </a:solidFill>
                <a:latin typeface="Times New Roman" panose="02020603050405020304" pitchFamily="18" charset="0"/>
                <a:cs typeface="Times New Roman" panose="02020603050405020304" pitchFamily="18" charset="0"/>
              </a:rPr>
              <a:t>Valence Bond Theory (VB)</a:t>
            </a:r>
            <a:endParaRPr lang="en-US" sz="2800" dirty="0">
              <a:solidFill>
                <a:schemeClr val="accent4">
                  <a:lumMod val="50000"/>
                </a:schemeClr>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solidFill>
                  <a:schemeClr val="accent4">
                    <a:lumMod val="50000"/>
                  </a:schemeClr>
                </a:solidFill>
                <a:latin typeface="Times New Roman" panose="02020603050405020304" pitchFamily="18" charset="0"/>
                <a:cs typeface="Times New Roman" panose="02020603050405020304" pitchFamily="18" charset="0"/>
              </a:rPr>
              <a:t>Focuses on the idea that covalent bonds form when atomic orbitals overlap.</a:t>
            </a:r>
          </a:p>
          <a:p>
            <a:pPr marL="457200" indent="-457200" algn="just">
              <a:buFont typeface="Arial" panose="020B0604020202020204" pitchFamily="34" charset="0"/>
              <a:buChar char="•"/>
            </a:pPr>
            <a:r>
              <a:rPr lang="en-US" sz="2800" dirty="0">
                <a:solidFill>
                  <a:schemeClr val="accent4">
                    <a:lumMod val="50000"/>
                  </a:schemeClr>
                </a:solidFill>
                <a:latin typeface="Times New Roman" panose="02020603050405020304" pitchFamily="18" charset="0"/>
                <a:cs typeface="Times New Roman" panose="02020603050405020304" pitchFamily="18" charset="0"/>
              </a:rPr>
              <a:t>Emphasizes the role of electron pairs and hybridization.</a:t>
            </a:r>
          </a:p>
          <a:p>
            <a:pPr marL="457200" indent="-457200" algn="just">
              <a:buFont typeface="Arial" panose="020B0604020202020204" pitchFamily="34" charset="0"/>
              <a:buChar char="•"/>
            </a:pPr>
            <a:r>
              <a:rPr lang="en-US" sz="2800" dirty="0">
                <a:solidFill>
                  <a:schemeClr val="accent4">
                    <a:lumMod val="50000"/>
                  </a:schemeClr>
                </a:solidFill>
                <a:latin typeface="Times New Roman" panose="02020603050405020304" pitchFamily="18" charset="0"/>
                <a:cs typeface="Times New Roman" panose="02020603050405020304" pitchFamily="18" charset="0"/>
              </a:rPr>
              <a:t>Explains bonding and structure of organic </a:t>
            </a:r>
            <a:r>
              <a:rPr lang="en-US" sz="2800" dirty="0" smtClean="0">
                <a:solidFill>
                  <a:schemeClr val="accent4">
                    <a:lumMod val="50000"/>
                  </a:schemeClr>
                </a:solidFill>
                <a:latin typeface="Times New Roman" panose="02020603050405020304" pitchFamily="18" charset="0"/>
                <a:cs typeface="Times New Roman" panose="02020603050405020304" pitchFamily="18" charset="0"/>
              </a:rPr>
              <a:t>molecules</a:t>
            </a:r>
            <a:r>
              <a:rPr lang="en-US" sz="2800" dirty="0">
                <a:solidFill>
                  <a:schemeClr val="accent4">
                    <a:lumMod val="50000"/>
                  </a:schemeClr>
                </a:solidFill>
                <a:latin typeface="Times New Roman" panose="02020603050405020304" pitchFamily="18" charset="0"/>
                <a:cs typeface="Times New Roman" panose="02020603050405020304" pitchFamily="18" charset="0"/>
              </a:rPr>
              <a:t>.</a:t>
            </a:r>
          </a:p>
        </p:txBody>
      </p:sp>
      <p:sp>
        <p:nvSpPr>
          <p:cNvPr id="3" name="Rectangle 2"/>
          <p:cNvSpPr/>
          <p:nvPr/>
        </p:nvSpPr>
        <p:spPr>
          <a:xfrm>
            <a:off x="2531681" y="626253"/>
            <a:ext cx="8050281" cy="646331"/>
          </a:xfrm>
          <a:prstGeom prst="rect">
            <a:avLst/>
          </a:prstGeom>
        </p:spPr>
        <p:txBody>
          <a:bodyPr wrap="none">
            <a:spAutoFit/>
          </a:bodyPr>
          <a:lstStyle/>
          <a:p>
            <a:pPr algn="just"/>
            <a:r>
              <a:rPr lang="en-US" sz="3600" b="1" dirty="0">
                <a:solidFill>
                  <a:schemeClr val="accent4">
                    <a:lumMod val="50000"/>
                  </a:schemeClr>
                </a:solidFill>
                <a:latin typeface="Times New Roman" panose="02020603050405020304" pitchFamily="18" charset="0"/>
                <a:cs typeface="Times New Roman" panose="02020603050405020304" pitchFamily="18" charset="0"/>
              </a:rPr>
              <a:t>Electronic theories in organic chemistry</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42100" y="4117464"/>
            <a:ext cx="8207512" cy="2480493"/>
          </a:xfrm>
          <a:prstGeom prst="rect">
            <a:avLst/>
          </a:prstGeom>
        </p:spPr>
      </p:pic>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9945323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2" name="TextBox 1"/>
          <p:cNvSpPr txBox="1"/>
          <p:nvPr/>
        </p:nvSpPr>
        <p:spPr>
          <a:xfrm>
            <a:off x="1074656" y="933253"/>
            <a:ext cx="10850638" cy="4524315"/>
          </a:xfrm>
          <a:prstGeom prst="rect">
            <a:avLst/>
          </a:prstGeom>
          <a:noFill/>
        </p:spPr>
        <p:txBody>
          <a:bodyPr wrap="square" rtlCol="0">
            <a:spAutoFit/>
          </a:bodyPr>
          <a:lstStyle/>
          <a:p>
            <a:pPr algn="just"/>
            <a:r>
              <a:rPr lang="en-US" sz="3600" b="1" dirty="0" smtClean="0">
                <a:solidFill>
                  <a:schemeClr val="accent4">
                    <a:lumMod val="50000"/>
                  </a:schemeClr>
                </a:solidFill>
                <a:latin typeface="Times New Roman" panose="02020603050405020304" pitchFamily="18" charset="0"/>
                <a:cs typeface="Times New Roman" panose="02020603050405020304" pitchFamily="18" charset="0"/>
              </a:rPr>
              <a:t>Molecular </a:t>
            </a:r>
            <a:r>
              <a:rPr lang="en-US" sz="3600" b="1" dirty="0">
                <a:solidFill>
                  <a:schemeClr val="accent4">
                    <a:lumMod val="50000"/>
                  </a:schemeClr>
                </a:solidFill>
                <a:latin typeface="Times New Roman" panose="02020603050405020304" pitchFamily="18" charset="0"/>
                <a:cs typeface="Times New Roman" panose="02020603050405020304" pitchFamily="18" charset="0"/>
              </a:rPr>
              <a:t>Orbital Theory (MO)</a:t>
            </a:r>
            <a:endParaRPr lang="en-US" sz="3600" dirty="0">
              <a:solidFill>
                <a:schemeClr val="accent4">
                  <a:lumMod val="50000"/>
                </a:schemeClr>
              </a:solidFill>
              <a:latin typeface="Times New Roman" panose="02020603050405020304" pitchFamily="18" charset="0"/>
              <a:cs typeface="Times New Roman" panose="02020603050405020304" pitchFamily="18" charset="0"/>
            </a:endParaRPr>
          </a:p>
          <a:p>
            <a:pPr algn="just"/>
            <a:r>
              <a:rPr lang="en-US" sz="3600" dirty="0" smtClean="0">
                <a:solidFill>
                  <a:schemeClr val="accent4">
                    <a:lumMod val="50000"/>
                  </a:schemeClr>
                </a:solidFill>
                <a:latin typeface="Times New Roman" panose="02020603050405020304" pitchFamily="18" charset="0"/>
                <a:cs typeface="Times New Roman" panose="02020603050405020304" pitchFamily="18" charset="0"/>
              </a:rPr>
              <a:t>-Considers </a:t>
            </a:r>
            <a:r>
              <a:rPr lang="en-US" sz="3600" dirty="0">
                <a:solidFill>
                  <a:schemeClr val="accent4">
                    <a:lumMod val="50000"/>
                  </a:schemeClr>
                </a:solidFill>
                <a:latin typeface="Times New Roman" panose="02020603050405020304" pitchFamily="18" charset="0"/>
                <a:cs typeface="Times New Roman" panose="02020603050405020304" pitchFamily="18" charset="0"/>
              </a:rPr>
              <a:t>electrons in molecules as occupying molecular orbitals, which are combinations of atomic orbitals.</a:t>
            </a:r>
          </a:p>
          <a:p>
            <a:pPr algn="just"/>
            <a:r>
              <a:rPr lang="en-US" sz="3600" dirty="0" smtClean="0">
                <a:solidFill>
                  <a:schemeClr val="accent4">
                    <a:lumMod val="50000"/>
                  </a:schemeClr>
                </a:solidFill>
                <a:latin typeface="Times New Roman" panose="02020603050405020304" pitchFamily="18" charset="0"/>
                <a:cs typeface="Times New Roman" panose="02020603050405020304" pitchFamily="18" charset="0"/>
              </a:rPr>
              <a:t>-Explains </a:t>
            </a:r>
            <a:r>
              <a:rPr lang="en-US" sz="3600" dirty="0">
                <a:solidFill>
                  <a:schemeClr val="accent4">
                    <a:lumMod val="50000"/>
                  </a:schemeClr>
                </a:solidFill>
                <a:latin typeface="Times New Roman" panose="02020603050405020304" pitchFamily="18" charset="0"/>
                <a:cs typeface="Times New Roman" panose="02020603050405020304" pitchFamily="18" charset="0"/>
              </a:rPr>
              <a:t>the delocalization of electrons in conjugated systems and aromatic compounds.</a:t>
            </a:r>
          </a:p>
          <a:p>
            <a:pPr algn="just"/>
            <a:r>
              <a:rPr lang="en-US" sz="3600" dirty="0" smtClean="0">
                <a:solidFill>
                  <a:schemeClr val="accent4">
                    <a:lumMod val="50000"/>
                  </a:schemeClr>
                </a:solidFill>
                <a:latin typeface="Times New Roman" panose="02020603050405020304" pitchFamily="18" charset="0"/>
                <a:cs typeface="Times New Roman" panose="02020603050405020304" pitchFamily="18" charset="0"/>
              </a:rPr>
              <a:t>-Provides </a:t>
            </a:r>
            <a:r>
              <a:rPr lang="en-US" sz="3600" dirty="0">
                <a:solidFill>
                  <a:schemeClr val="accent4">
                    <a:lumMod val="50000"/>
                  </a:schemeClr>
                </a:solidFill>
                <a:latin typeface="Times New Roman" panose="02020603050405020304" pitchFamily="18" charset="0"/>
                <a:cs typeface="Times New Roman" panose="02020603050405020304" pitchFamily="18" charset="0"/>
              </a:rPr>
              <a:t>insight into the electronic structure of molecules like benzene, where π-electrons are delocalized over the ring</a:t>
            </a:r>
            <a:r>
              <a:rPr lang="en-US" sz="3600" dirty="0" smtClean="0">
                <a:solidFill>
                  <a:schemeClr val="accent4">
                    <a:lumMod val="50000"/>
                  </a:schemeClr>
                </a:solidFill>
                <a:latin typeface="Times New Roman" panose="02020603050405020304" pitchFamily="18" charset="0"/>
                <a:cs typeface="Times New Roman" panose="02020603050405020304" pitchFamily="18" charset="0"/>
              </a:rPr>
              <a:t>.</a:t>
            </a:r>
            <a:endParaRPr lang="en-US" sz="3600" dirty="0">
              <a:solidFill>
                <a:schemeClr val="accent4">
                  <a:lumMod val="50000"/>
                </a:schemeClr>
              </a:solidFill>
              <a:latin typeface="Times New Roman" panose="02020603050405020304" pitchFamily="18" charset="0"/>
              <a:cs typeface="Times New Roman" panose="02020603050405020304" pitchFamily="18" charset="0"/>
            </a:endParaRPr>
          </a:p>
        </p:txBody>
      </p:sp>
      <p:grpSp>
        <p:nvGrpSpPr>
          <p:cNvPr id="5" name="Group 4"/>
          <p:cNvGrpSpPr/>
          <p:nvPr/>
        </p:nvGrpSpPr>
        <p:grpSpPr>
          <a:xfrm>
            <a:off x="4506" y="0"/>
            <a:ext cx="914400" cy="68580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13026926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783" y="1140643"/>
            <a:ext cx="11064217" cy="4621270"/>
          </a:xfrm>
          <a:prstGeom prst="rect">
            <a:avLst/>
          </a:prstGeom>
        </p:spPr>
      </p:pic>
      <p:grpSp>
        <p:nvGrpSpPr>
          <p:cNvPr id="5" name="Group 4"/>
          <p:cNvGrpSpPr/>
          <p:nvPr/>
        </p:nvGrpSpPr>
        <p:grpSpPr>
          <a:xfrm>
            <a:off x="4506" y="0"/>
            <a:ext cx="914400" cy="68580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42200064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2" name="TextBox 1"/>
          <p:cNvSpPr txBox="1"/>
          <p:nvPr/>
        </p:nvSpPr>
        <p:spPr>
          <a:xfrm>
            <a:off x="1230972" y="697583"/>
            <a:ext cx="10058785" cy="5016758"/>
          </a:xfrm>
          <a:prstGeom prst="rect">
            <a:avLst/>
          </a:prstGeom>
          <a:noFill/>
        </p:spPr>
        <p:txBody>
          <a:bodyPr wrap="square" rtlCol="0">
            <a:spAutoFit/>
          </a:bodyPr>
          <a:lstStyle/>
          <a:p>
            <a:pPr algn="just"/>
            <a:r>
              <a:rPr lang="en-US" sz="4000" b="1" dirty="0">
                <a:solidFill>
                  <a:schemeClr val="accent4">
                    <a:lumMod val="50000"/>
                  </a:schemeClr>
                </a:solidFill>
                <a:latin typeface="Times New Roman" panose="02020603050405020304" pitchFamily="18" charset="0"/>
                <a:cs typeface="Times New Roman" panose="02020603050405020304" pitchFamily="18" charset="0"/>
              </a:rPr>
              <a:t>Frontier Molecular Orbital Theory (FMO)</a:t>
            </a:r>
            <a:endParaRPr lang="en-US" sz="4000" dirty="0">
              <a:solidFill>
                <a:schemeClr val="accent4">
                  <a:lumMod val="50000"/>
                </a:schemeClr>
              </a:solidFill>
              <a:latin typeface="Times New Roman" panose="02020603050405020304" pitchFamily="18" charset="0"/>
              <a:cs typeface="Times New Roman" panose="02020603050405020304" pitchFamily="18" charset="0"/>
            </a:endParaRPr>
          </a:p>
          <a:p>
            <a:pPr algn="just"/>
            <a:r>
              <a:rPr lang="en-US" sz="4000" dirty="0" smtClean="0">
                <a:solidFill>
                  <a:schemeClr val="accent4">
                    <a:lumMod val="50000"/>
                  </a:schemeClr>
                </a:solidFill>
                <a:latin typeface="Times New Roman" panose="02020603050405020304" pitchFamily="18" charset="0"/>
                <a:cs typeface="Times New Roman" panose="02020603050405020304" pitchFamily="18" charset="0"/>
              </a:rPr>
              <a:t>-Focuses </a:t>
            </a:r>
            <a:r>
              <a:rPr lang="en-US" sz="4000" dirty="0">
                <a:solidFill>
                  <a:schemeClr val="accent4">
                    <a:lumMod val="50000"/>
                  </a:schemeClr>
                </a:solidFill>
                <a:latin typeface="Times New Roman" panose="02020603050405020304" pitchFamily="18" charset="0"/>
                <a:cs typeface="Times New Roman" panose="02020603050405020304" pitchFamily="18" charset="0"/>
              </a:rPr>
              <a:t>on the interactions between the highest occupied molecular orbital (HOMO) of one molecule and the lowest unoccupied molecular orbital (LUMO) of another.</a:t>
            </a:r>
          </a:p>
          <a:p>
            <a:pPr algn="just"/>
            <a:r>
              <a:rPr lang="en-US" sz="4000" dirty="0" smtClean="0">
                <a:solidFill>
                  <a:schemeClr val="accent4">
                    <a:lumMod val="50000"/>
                  </a:schemeClr>
                </a:solidFill>
                <a:latin typeface="Times New Roman" panose="02020603050405020304" pitchFamily="18" charset="0"/>
                <a:cs typeface="Times New Roman" panose="02020603050405020304" pitchFamily="18" charset="0"/>
              </a:rPr>
              <a:t>-Useful </a:t>
            </a:r>
            <a:r>
              <a:rPr lang="en-US" sz="4000" dirty="0">
                <a:solidFill>
                  <a:schemeClr val="accent4">
                    <a:lumMod val="50000"/>
                  </a:schemeClr>
                </a:solidFill>
                <a:latin typeface="Times New Roman" panose="02020603050405020304" pitchFamily="18" charset="0"/>
                <a:cs typeface="Times New Roman" panose="02020603050405020304" pitchFamily="18" charset="0"/>
              </a:rPr>
              <a:t>in explaining the reactivity in chemical reactions, such as nucleophilic and electrophilic additions</a:t>
            </a:r>
            <a:r>
              <a:rPr lang="en-US" sz="4000" dirty="0" smtClean="0">
                <a:solidFill>
                  <a:schemeClr val="accent4">
                    <a:lumMod val="50000"/>
                  </a:schemeClr>
                </a:solidFill>
                <a:latin typeface="Times New Roman" panose="02020603050405020304" pitchFamily="18" charset="0"/>
                <a:cs typeface="Times New Roman" panose="02020603050405020304" pitchFamily="18" charset="0"/>
              </a:rPr>
              <a:t>.</a:t>
            </a:r>
            <a:r>
              <a:rPr lang="en-US" sz="3600" b="1" dirty="0">
                <a:solidFill>
                  <a:schemeClr val="accent4">
                    <a:lumMod val="50000"/>
                  </a:schemeClr>
                </a:solidFill>
                <a:latin typeface="Times New Roman" panose="02020603050405020304" pitchFamily="18" charset="0"/>
                <a:cs typeface="Times New Roman" panose="02020603050405020304" pitchFamily="18" charset="0"/>
              </a:rPr>
              <a:t> </a:t>
            </a:r>
          </a:p>
        </p:txBody>
      </p:sp>
      <p:grpSp>
        <p:nvGrpSpPr>
          <p:cNvPr id="5" name="Group 4"/>
          <p:cNvGrpSpPr/>
          <p:nvPr/>
        </p:nvGrpSpPr>
        <p:grpSpPr>
          <a:xfrm>
            <a:off x="4506" y="0"/>
            <a:ext cx="914400" cy="6858000"/>
            <a:chOff x="0" y="168206"/>
            <a:chExt cx="914400" cy="6689794"/>
          </a:xfrm>
        </p:grpSpPr>
        <p:sp>
          <p:nvSpPr>
            <p:cNvPr id="7" name="Rectangle 6"/>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4909153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5" name="Rectangle 2"/>
          <p:cNvSpPr>
            <a:spLocks noChangeArrowheads="1"/>
          </p:cNvSpPr>
          <p:nvPr/>
        </p:nvSpPr>
        <p:spPr bwMode="auto">
          <a:xfrm>
            <a:off x="1150510" y="505148"/>
            <a:ext cx="10086241"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smtClean="0">
                <a:ln>
                  <a:noFill/>
                </a:ln>
                <a:solidFill>
                  <a:schemeClr val="accent4">
                    <a:lumMod val="50000"/>
                  </a:schemeClr>
                </a:solidFill>
                <a:effectLst/>
                <a:latin typeface="Times New Roman" panose="02020603050405020304" pitchFamily="18" charset="0"/>
                <a:cs typeface="Times New Roman" panose="02020603050405020304" pitchFamily="18" charset="0"/>
              </a:rPr>
              <a:t>Electron Density and Electrostatic Potential Maps</a:t>
            </a:r>
            <a:endParaRPr kumimoji="0" lang="en-US" altLang="en-US" sz="3200" b="0" i="0" u="none" strike="noStrike" cap="none" normalizeH="0" baseline="0" dirty="0" smtClean="0">
              <a:ln>
                <a:noFill/>
              </a:ln>
              <a:solidFill>
                <a:schemeClr val="accent4">
                  <a:lumMod val="50000"/>
                </a:schemeClr>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4">
                    <a:lumMod val="50000"/>
                  </a:schemeClr>
                </a:solidFill>
                <a:effectLst/>
                <a:latin typeface="Times New Roman" panose="02020603050405020304" pitchFamily="18" charset="0"/>
                <a:cs typeface="Times New Roman" panose="02020603050405020304" pitchFamily="18" charset="0"/>
              </a:rPr>
              <a:t>Visualize electron density distribution within a molecule.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smtClean="0">
                <a:ln>
                  <a:noFill/>
                </a:ln>
                <a:solidFill>
                  <a:schemeClr val="accent4">
                    <a:lumMod val="50000"/>
                  </a:schemeClr>
                </a:solidFill>
                <a:effectLst/>
                <a:latin typeface="Times New Roman" panose="02020603050405020304" pitchFamily="18" charset="0"/>
                <a:cs typeface="Times New Roman" panose="02020603050405020304" pitchFamily="18" charset="0"/>
              </a:rPr>
              <a:t>Electrostatic potential maps show regions of positive and negative charge, aiding in understanding reactivity patterns</a:t>
            </a:r>
            <a:r>
              <a:rPr kumimoji="0" lang="en-US" altLang="en-US" sz="3200" b="0" i="0" u="none" strike="noStrike" cap="none" normalizeH="0" baseline="0" dirty="0" smtClean="0">
                <a:ln>
                  <a:noFill/>
                </a:ln>
                <a:solidFill>
                  <a:schemeClr val="accent4">
                    <a:lumMod val="50000"/>
                  </a:schemeClr>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lang="en-US" altLang="en-US" sz="3200" dirty="0">
              <a:solidFill>
                <a:schemeClr val="accent4">
                  <a:lumMod val="50000"/>
                </a:schemeClr>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smtClean="0">
              <a:ln>
                <a:noFill/>
              </a:ln>
              <a:solidFill>
                <a:schemeClr val="accent4">
                  <a:lumMod val="50000"/>
                </a:schemeClr>
              </a:solidFill>
              <a:effectLst/>
              <a:latin typeface="Times New Roman" panose="02020603050405020304" pitchFamily="18" charset="0"/>
              <a:cs typeface="Times New Roman" panose="02020603050405020304" pitchFamily="18" charset="0"/>
            </a:endParaRPr>
          </a:p>
          <a:p>
            <a:pPr algn="just"/>
            <a:r>
              <a:rPr lang="en-US" sz="3200" b="1" dirty="0">
                <a:solidFill>
                  <a:schemeClr val="accent4">
                    <a:lumMod val="50000"/>
                  </a:schemeClr>
                </a:solidFill>
                <a:latin typeface="Times New Roman" panose="02020603050405020304" pitchFamily="18" charset="0"/>
                <a:cs typeface="Times New Roman" panose="02020603050405020304" pitchFamily="18" charset="0"/>
              </a:rPr>
              <a:t>Resonance Theory</a:t>
            </a:r>
            <a:endParaRPr lang="en-US" sz="3200" dirty="0">
              <a:solidFill>
                <a:schemeClr val="accent4">
                  <a:lumMod val="50000"/>
                </a:schemeClr>
              </a:solidFill>
              <a:latin typeface="Times New Roman" panose="02020603050405020304" pitchFamily="18" charset="0"/>
              <a:cs typeface="Times New Roman" panose="02020603050405020304" pitchFamily="18" charset="0"/>
            </a:endParaRPr>
          </a:p>
          <a:p>
            <a:pPr algn="just"/>
            <a:r>
              <a:rPr lang="en-US" sz="3200" dirty="0" smtClean="0">
                <a:solidFill>
                  <a:schemeClr val="accent4">
                    <a:lumMod val="50000"/>
                  </a:schemeClr>
                </a:solidFill>
                <a:latin typeface="Times New Roman" panose="02020603050405020304" pitchFamily="18" charset="0"/>
                <a:cs typeface="Times New Roman" panose="02020603050405020304" pitchFamily="18" charset="0"/>
              </a:rPr>
              <a:t>-Describes </a:t>
            </a:r>
            <a:r>
              <a:rPr lang="en-US" sz="3200" dirty="0">
                <a:solidFill>
                  <a:schemeClr val="accent4">
                    <a:lumMod val="50000"/>
                  </a:schemeClr>
                </a:solidFill>
                <a:latin typeface="Times New Roman" panose="02020603050405020304" pitchFamily="18" charset="0"/>
                <a:cs typeface="Times New Roman" panose="02020603050405020304" pitchFamily="18" charset="0"/>
              </a:rPr>
              <a:t>the delocalization of electrons within a molecule by using multiple contributing structures (resonance forms).</a:t>
            </a:r>
          </a:p>
          <a:p>
            <a:pPr algn="just"/>
            <a:r>
              <a:rPr lang="en-US" sz="3200" dirty="0" smtClean="0">
                <a:solidFill>
                  <a:schemeClr val="accent4">
                    <a:lumMod val="50000"/>
                  </a:schemeClr>
                </a:solidFill>
                <a:latin typeface="Times New Roman" panose="02020603050405020304" pitchFamily="18" charset="0"/>
                <a:cs typeface="Times New Roman" panose="02020603050405020304" pitchFamily="18" charset="0"/>
              </a:rPr>
              <a:t>-Helps </a:t>
            </a:r>
            <a:r>
              <a:rPr lang="en-US" sz="3200" dirty="0">
                <a:solidFill>
                  <a:schemeClr val="accent4">
                    <a:lumMod val="50000"/>
                  </a:schemeClr>
                </a:solidFill>
                <a:latin typeface="Times New Roman" panose="02020603050405020304" pitchFamily="18" charset="0"/>
                <a:cs typeface="Times New Roman" panose="02020603050405020304" pitchFamily="18" charset="0"/>
              </a:rPr>
              <a:t>explain stability and reactivity in compounds like benzene and carboxylate ions</a:t>
            </a:r>
            <a:r>
              <a:rPr lang="en-US" sz="3200" dirty="0" smtClean="0">
                <a:solidFill>
                  <a:schemeClr val="accent4">
                    <a:lumMod val="50000"/>
                  </a:schemeClr>
                </a:solidFill>
                <a:latin typeface="Times New Roman" panose="02020603050405020304" pitchFamily="18" charset="0"/>
                <a:cs typeface="Times New Roman" panose="02020603050405020304" pitchFamily="18" charset="0"/>
              </a:rPr>
              <a:t>.</a:t>
            </a:r>
            <a:endParaRPr lang="en-US" sz="3200" dirty="0">
              <a:solidFill>
                <a:schemeClr val="accent4">
                  <a:lumMod val="50000"/>
                </a:schemeClr>
              </a:solidFill>
              <a:latin typeface="Times New Roman" panose="02020603050405020304" pitchFamily="18" charset="0"/>
              <a:cs typeface="Times New Roman" panose="02020603050405020304" pitchFamily="18" charset="0"/>
            </a:endParaRPr>
          </a:p>
        </p:txBody>
      </p:sp>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32090340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5" name="Rectangle 2"/>
          <p:cNvSpPr>
            <a:spLocks noChangeArrowheads="1"/>
          </p:cNvSpPr>
          <p:nvPr/>
        </p:nvSpPr>
        <p:spPr bwMode="auto">
          <a:xfrm>
            <a:off x="1319753" y="182892"/>
            <a:ext cx="1055173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600" b="1" dirty="0" smtClean="0">
                <a:solidFill>
                  <a:schemeClr val="accent4">
                    <a:lumMod val="50000"/>
                  </a:schemeClr>
                </a:solidFill>
                <a:latin typeface="Times New Roman" panose="02020603050405020304" pitchFamily="18" charset="0"/>
                <a:cs typeface="Times New Roman" panose="02020603050405020304" pitchFamily="18" charset="0"/>
              </a:rPr>
              <a:t>Crystallization</a:t>
            </a:r>
            <a:endParaRPr lang="en-US" sz="3600" dirty="0">
              <a:solidFill>
                <a:schemeClr val="accent4">
                  <a:lumMod val="50000"/>
                </a:schemeClr>
              </a:solidFill>
              <a:latin typeface="Times New Roman" panose="02020603050405020304" pitchFamily="18" charset="0"/>
              <a:cs typeface="Times New Roman" panose="02020603050405020304" pitchFamily="18" charset="0"/>
            </a:endParaRPr>
          </a:p>
          <a:p>
            <a:r>
              <a:rPr lang="en-US" sz="3600" dirty="0" smtClean="0">
                <a:solidFill>
                  <a:schemeClr val="accent4">
                    <a:lumMod val="50000"/>
                  </a:schemeClr>
                </a:solidFill>
                <a:latin typeface="Times New Roman" panose="02020603050405020304" pitchFamily="18" charset="0"/>
                <a:cs typeface="Times New Roman" panose="02020603050405020304" pitchFamily="18" charset="0"/>
              </a:rPr>
              <a:t>This </a:t>
            </a:r>
            <a:r>
              <a:rPr lang="en-US" sz="3600" dirty="0">
                <a:solidFill>
                  <a:schemeClr val="accent4">
                    <a:lumMod val="50000"/>
                  </a:schemeClr>
                </a:solidFill>
                <a:latin typeface="Times New Roman" panose="02020603050405020304" pitchFamily="18" charset="0"/>
                <a:cs typeface="Times New Roman" panose="02020603050405020304" pitchFamily="18" charset="0"/>
              </a:rPr>
              <a:t>method involves cooling a solution of the compound to form crystals. The desired compound crystallizes out, while impurities remain in the solution. Crystallization is widely used for purifying </a:t>
            </a:r>
            <a:r>
              <a:rPr lang="en-US" sz="3600" dirty="0" smtClean="0">
                <a:solidFill>
                  <a:schemeClr val="accent4">
                    <a:lumMod val="50000"/>
                  </a:schemeClr>
                </a:solidFill>
                <a:latin typeface="Times New Roman" panose="02020603050405020304" pitchFamily="18" charset="0"/>
                <a:cs typeface="Times New Roman" panose="02020603050405020304" pitchFamily="18" charset="0"/>
              </a:rPr>
              <a:t>solids.</a:t>
            </a:r>
            <a:endParaRPr lang="en-US" sz="3600" dirty="0">
              <a:solidFill>
                <a:schemeClr val="accent4">
                  <a:lumMod val="50000"/>
                </a:schemeClr>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958" y="3524027"/>
            <a:ext cx="11055901" cy="3027602"/>
          </a:xfrm>
          <a:prstGeom prst="rect">
            <a:avLst/>
          </a:prstGeom>
        </p:spPr>
      </p:pic>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9952289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5" name="Rectangle 2"/>
          <p:cNvSpPr>
            <a:spLocks noChangeArrowheads="1"/>
          </p:cNvSpPr>
          <p:nvPr/>
        </p:nvSpPr>
        <p:spPr bwMode="auto">
          <a:xfrm>
            <a:off x="918906" y="397113"/>
            <a:ext cx="11095475"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Distillation</a:t>
            </a:r>
            <a:endParaRPr lang="en-US" sz="3200" dirty="0">
              <a:solidFill>
                <a:schemeClr val="accent4">
                  <a:lumMod val="50000"/>
                </a:schemeClr>
              </a:solidFill>
              <a:latin typeface="Times New Roman" panose="02020603050405020304" pitchFamily="18" charset="0"/>
              <a:cs typeface="Times New Roman" panose="02020603050405020304" pitchFamily="18" charset="0"/>
            </a:endParaRPr>
          </a:p>
          <a:p>
            <a:pPr algn="just"/>
            <a:r>
              <a:rPr lang="en-US" sz="3200" dirty="0" smtClean="0">
                <a:solidFill>
                  <a:schemeClr val="accent4">
                    <a:lumMod val="50000"/>
                  </a:schemeClr>
                </a:solidFill>
                <a:latin typeface="Times New Roman" panose="02020603050405020304" pitchFamily="18" charset="0"/>
                <a:cs typeface="Times New Roman" panose="02020603050405020304" pitchFamily="18" charset="0"/>
              </a:rPr>
              <a:t>Distillation </a:t>
            </a:r>
            <a:r>
              <a:rPr lang="en-US" sz="3200" dirty="0">
                <a:solidFill>
                  <a:schemeClr val="accent4">
                    <a:lumMod val="50000"/>
                  </a:schemeClr>
                </a:solidFill>
                <a:latin typeface="Times New Roman" panose="02020603050405020304" pitchFamily="18" charset="0"/>
                <a:cs typeface="Times New Roman" panose="02020603050405020304" pitchFamily="18" charset="0"/>
              </a:rPr>
              <a:t>is effective for separating volatile liquids based on their boiling </a:t>
            </a:r>
            <a:r>
              <a:rPr lang="en-US" sz="3200" dirty="0" smtClean="0">
                <a:solidFill>
                  <a:schemeClr val="accent4">
                    <a:lumMod val="50000"/>
                  </a:schemeClr>
                </a:solidFill>
                <a:latin typeface="Times New Roman" panose="02020603050405020304" pitchFamily="18" charset="0"/>
                <a:cs typeface="Times New Roman" panose="02020603050405020304" pitchFamily="18" charset="0"/>
              </a:rPr>
              <a:t>points. Simple </a:t>
            </a:r>
            <a:r>
              <a:rPr lang="en-US" sz="3200" dirty="0">
                <a:solidFill>
                  <a:schemeClr val="accent4">
                    <a:lumMod val="50000"/>
                  </a:schemeClr>
                </a:solidFill>
                <a:latin typeface="Times New Roman" panose="02020603050405020304" pitchFamily="18" charset="0"/>
                <a:cs typeface="Times New Roman" panose="02020603050405020304" pitchFamily="18" charset="0"/>
              </a:rPr>
              <a:t>distillation is suitable for compounds with significantly different boiling points, while fractional distillation is used when the boiling points are </a:t>
            </a:r>
            <a:r>
              <a:rPr lang="en-US" sz="3200" dirty="0" smtClean="0">
                <a:solidFill>
                  <a:schemeClr val="accent4">
                    <a:lumMod val="50000"/>
                  </a:schemeClr>
                </a:solidFill>
                <a:latin typeface="Times New Roman" panose="02020603050405020304" pitchFamily="18" charset="0"/>
                <a:cs typeface="Times New Roman" panose="02020603050405020304" pitchFamily="18" charset="0"/>
              </a:rPr>
              <a:t>closer.</a:t>
            </a:r>
            <a:endParaRPr lang="en-US" sz="3200" dirty="0">
              <a:solidFill>
                <a:schemeClr val="accent4">
                  <a:lumMod val="50000"/>
                </a:schemeClr>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6875" y="3611605"/>
            <a:ext cx="10151389" cy="3118388"/>
          </a:xfrm>
          <a:prstGeom prst="rect">
            <a:avLst/>
          </a:prstGeom>
        </p:spPr>
      </p:pic>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17644130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5" name="Rectangle 2"/>
          <p:cNvSpPr>
            <a:spLocks noChangeArrowheads="1"/>
          </p:cNvSpPr>
          <p:nvPr/>
        </p:nvSpPr>
        <p:spPr bwMode="auto">
          <a:xfrm>
            <a:off x="1084083" y="738406"/>
            <a:ext cx="10747352"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Extraction</a:t>
            </a:r>
            <a:endParaRPr lang="en-US" sz="3200" dirty="0">
              <a:solidFill>
                <a:schemeClr val="accent4">
                  <a:lumMod val="50000"/>
                </a:schemeClr>
              </a:solidFill>
              <a:latin typeface="Times New Roman" panose="02020603050405020304" pitchFamily="18" charset="0"/>
              <a:cs typeface="Times New Roman" panose="02020603050405020304" pitchFamily="18" charset="0"/>
            </a:endParaRPr>
          </a:p>
          <a:p>
            <a:pPr lvl="1" algn="just"/>
            <a:r>
              <a:rPr lang="en-US" sz="3200" b="1" dirty="0">
                <a:solidFill>
                  <a:schemeClr val="accent4">
                    <a:lumMod val="50000"/>
                  </a:schemeClr>
                </a:solidFill>
                <a:latin typeface="Times New Roman" panose="02020603050405020304" pitchFamily="18" charset="0"/>
                <a:cs typeface="Times New Roman" panose="02020603050405020304" pitchFamily="18" charset="0"/>
              </a:rPr>
              <a:t>Solid-liquid extraction</a:t>
            </a:r>
            <a:r>
              <a:rPr lang="en-US" sz="3200" dirty="0">
                <a:solidFill>
                  <a:schemeClr val="accent4">
                    <a:lumMod val="50000"/>
                  </a:schemeClr>
                </a:solidFill>
                <a:latin typeface="Times New Roman" panose="02020603050405020304" pitchFamily="18" charset="0"/>
                <a:cs typeface="Times New Roman" panose="02020603050405020304" pitchFamily="18" charset="0"/>
              </a:rPr>
              <a:t>: If the compound is very soluble, stirring or shaking a solid-liquid mixture followed by gravity filtration can suffice. For less soluble compounds, a </a:t>
            </a:r>
            <a:r>
              <a:rPr lang="en-US" sz="3200" dirty="0" err="1">
                <a:solidFill>
                  <a:schemeClr val="accent4">
                    <a:lumMod val="50000"/>
                  </a:schemeClr>
                </a:solidFill>
                <a:latin typeface="Times New Roman" panose="02020603050405020304" pitchFamily="18" charset="0"/>
                <a:cs typeface="Times New Roman" panose="02020603050405020304" pitchFamily="18" charset="0"/>
              </a:rPr>
              <a:t>Soxhlet</a:t>
            </a:r>
            <a:r>
              <a:rPr lang="en-US" sz="3200" dirty="0">
                <a:solidFill>
                  <a:schemeClr val="accent4">
                    <a:lumMod val="50000"/>
                  </a:schemeClr>
                </a:solidFill>
                <a:latin typeface="Times New Roman" panose="02020603050405020304" pitchFamily="18" charset="0"/>
                <a:cs typeface="Times New Roman" panose="02020603050405020304" pitchFamily="18" charset="0"/>
              </a:rPr>
              <a:t> extractor is used.</a:t>
            </a:r>
          </a:p>
          <a:p>
            <a:pPr lvl="1" algn="just"/>
            <a:r>
              <a:rPr lang="en-US" sz="3200" b="1" dirty="0">
                <a:solidFill>
                  <a:schemeClr val="accent4">
                    <a:lumMod val="50000"/>
                  </a:schemeClr>
                </a:solidFill>
                <a:latin typeface="Times New Roman" panose="02020603050405020304" pitchFamily="18" charset="0"/>
                <a:cs typeface="Times New Roman" panose="02020603050405020304" pitchFamily="18" charset="0"/>
              </a:rPr>
              <a:t>Liquid-liquid extraction</a:t>
            </a:r>
            <a:r>
              <a:rPr lang="en-US" sz="3200" dirty="0">
                <a:solidFill>
                  <a:schemeClr val="accent4">
                    <a:lumMod val="50000"/>
                  </a:schemeClr>
                </a:solidFill>
                <a:latin typeface="Times New Roman" panose="02020603050405020304" pitchFamily="18" charset="0"/>
                <a:cs typeface="Times New Roman" panose="02020603050405020304" pitchFamily="18" charset="0"/>
              </a:rPr>
              <a:t>: This method separates a component from one liquid phase into another. Typically, one phase is aqueous, and the other is an immiscible organic liquid. Shaking the two phases together in a </a:t>
            </a:r>
            <a:r>
              <a:rPr lang="en-US" sz="3200" dirty="0" err="1">
                <a:solidFill>
                  <a:schemeClr val="accent4">
                    <a:lumMod val="50000"/>
                  </a:schemeClr>
                </a:solidFill>
                <a:latin typeface="Times New Roman" panose="02020603050405020304" pitchFamily="18" charset="0"/>
                <a:cs typeface="Times New Roman" panose="02020603050405020304" pitchFamily="18" charset="0"/>
              </a:rPr>
              <a:t>separatory</a:t>
            </a:r>
            <a:r>
              <a:rPr lang="en-US" sz="3200" dirty="0">
                <a:solidFill>
                  <a:schemeClr val="accent4">
                    <a:lumMod val="50000"/>
                  </a:schemeClr>
                </a:solidFill>
                <a:latin typeface="Times New Roman" panose="02020603050405020304" pitchFamily="18" charset="0"/>
                <a:cs typeface="Times New Roman" panose="02020603050405020304" pitchFamily="18" charset="0"/>
              </a:rPr>
              <a:t> funnel allows </a:t>
            </a:r>
            <a:r>
              <a:rPr lang="en-US" sz="3200" dirty="0" smtClean="0">
                <a:solidFill>
                  <a:schemeClr val="accent4">
                    <a:lumMod val="50000"/>
                  </a:schemeClr>
                </a:solidFill>
                <a:latin typeface="Times New Roman" panose="02020603050405020304" pitchFamily="18" charset="0"/>
                <a:cs typeface="Times New Roman" panose="02020603050405020304" pitchFamily="18" charset="0"/>
              </a:rPr>
              <a:t>separation.</a:t>
            </a:r>
          </a:p>
        </p:txBody>
      </p:sp>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16267863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5" name="Rectangle 2"/>
          <p:cNvSpPr>
            <a:spLocks noChangeArrowheads="1"/>
          </p:cNvSpPr>
          <p:nvPr/>
        </p:nvSpPr>
        <p:spPr bwMode="auto">
          <a:xfrm>
            <a:off x="1112363" y="564719"/>
            <a:ext cx="1059887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Sublimation</a:t>
            </a:r>
            <a:endParaRPr lang="en-US" sz="3200" dirty="0">
              <a:solidFill>
                <a:schemeClr val="accent4">
                  <a:lumMod val="50000"/>
                </a:schemeClr>
              </a:solidFill>
              <a:latin typeface="Times New Roman" panose="02020603050405020304" pitchFamily="18" charset="0"/>
              <a:cs typeface="Times New Roman" panose="02020603050405020304" pitchFamily="18" charset="0"/>
            </a:endParaRPr>
          </a:p>
          <a:p>
            <a:r>
              <a:rPr lang="en-US" sz="3200" dirty="0" smtClean="0">
                <a:solidFill>
                  <a:schemeClr val="accent4">
                    <a:lumMod val="50000"/>
                  </a:schemeClr>
                </a:solidFill>
                <a:latin typeface="Times New Roman" panose="02020603050405020304" pitchFamily="18" charset="0"/>
                <a:cs typeface="Times New Roman" panose="02020603050405020304" pitchFamily="18" charset="0"/>
              </a:rPr>
              <a:t> </a:t>
            </a:r>
            <a:r>
              <a:rPr lang="en-US" sz="3200" dirty="0">
                <a:solidFill>
                  <a:schemeClr val="accent4">
                    <a:lumMod val="50000"/>
                  </a:schemeClr>
                </a:solidFill>
                <a:latin typeface="Times New Roman" panose="02020603050405020304" pitchFamily="18" charset="0"/>
                <a:cs typeface="Times New Roman" panose="02020603050405020304" pitchFamily="18" charset="0"/>
              </a:rPr>
              <a:t>Some solids can directly change from the solid to vapor state (sublimation) under specific conditions. This process helps purify volatile organic </a:t>
            </a:r>
            <a:r>
              <a:rPr lang="en-US" sz="3200" dirty="0" smtClean="0">
                <a:solidFill>
                  <a:schemeClr val="accent4">
                    <a:lumMod val="50000"/>
                  </a:schemeClr>
                </a:solidFill>
                <a:latin typeface="Times New Roman" panose="02020603050405020304" pitchFamily="18" charset="0"/>
                <a:cs typeface="Times New Roman" panose="02020603050405020304" pitchFamily="18" charset="0"/>
              </a:rPr>
              <a:t>compounds.</a:t>
            </a:r>
            <a:endParaRPr lang="en-US" sz="3200" dirty="0">
              <a:solidFill>
                <a:schemeClr val="accent4">
                  <a:lumMod val="50000"/>
                </a:schemeClr>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8390" y="2963519"/>
            <a:ext cx="10771322" cy="3417139"/>
          </a:xfrm>
          <a:prstGeom prst="rect">
            <a:avLst/>
          </a:prstGeom>
        </p:spPr>
      </p:pic>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7894580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5" name="Rectangle 2"/>
          <p:cNvSpPr>
            <a:spLocks noChangeArrowheads="1"/>
          </p:cNvSpPr>
          <p:nvPr/>
        </p:nvSpPr>
        <p:spPr bwMode="auto">
          <a:xfrm>
            <a:off x="1214315" y="336709"/>
            <a:ext cx="10715268"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Chromatography</a:t>
            </a:r>
            <a:endParaRPr lang="en-US" sz="3200" dirty="0" smtClean="0">
              <a:solidFill>
                <a:schemeClr val="accent4">
                  <a:lumMod val="50000"/>
                </a:schemeClr>
              </a:solidFill>
              <a:latin typeface="Times New Roman" panose="02020603050405020304" pitchFamily="18" charset="0"/>
              <a:cs typeface="Times New Roman" panose="02020603050405020304" pitchFamily="18" charset="0"/>
            </a:endParaRPr>
          </a:p>
          <a:p>
            <a:r>
              <a:rPr lang="en-US" sz="3200" dirty="0" smtClean="0">
                <a:solidFill>
                  <a:schemeClr val="accent4">
                    <a:lumMod val="50000"/>
                  </a:schemeClr>
                </a:solidFill>
                <a:latin typeface="Times New Roman" panose="02020603050405020304" pitchFamily="18" charset="0"/>
                <a:cs typeface="Times New Roman" panose="02020603050405020304" pitchFamily="18" charset="0"/>
              </a:rPr>
              <a:t>Techniques </a:t>
            </a:r>
            <a:r>
              <a:rPr lang="en-US" sz="3200" dirty="0">
                <a:solidFill>
                  <a:schemeClr val="accent4">
                    <a:lumMod val="50000"/>
                  </a:schemeClr>
                </a:solidFill>
                <a:latin typeface="Times New Roman" panose="02020603050405020304" pitchFamily="18" charset="0"/>
                <a:cs typeface="Times New Roman" panose="02020603050405020304" pitchFamily="18" charset="0"/>
              </a:rPr>
              <a:t>like column chromatography, thin-layer chromatography (TLC), and gas chromatography (GC) separate compounds based on their affinity for a stationary phase. These methods are valuable for complex </a:t>
            </a:r>
            <a:r>
              <a:rPr lang="en-US" sz="3200" dirty="0" smtClean="0">
                <a:solidFill>
                  <a:schemeClr val="accent4">
                    <a:lumMod val="50000"/>
                  </a:schemeClr>
                </a:solidFill>
                <a:latin typeface="Times New Roman" panose="02020603050405020304" pitchFamily="18" charset="0"/>
                <a:cs typeface="Times New Roman" panose="02020603050405020304" pitchFamily="18" charset="0"/>
              </a:rPr>
              <a:t>mixtures.</a:t>
            </a:r>
            <a:endParaRPr lang="en-US" sz="3200" dirty="0">
              <a:solidFill>
                <a:schemeClr val="accent4">
                  <a:lumMod val="50000"/>
                </a:schemeClr>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9306" y="3079790"/>
            <a:ext cx="9710507" cy="3479209"/>
          </a:xfrm>
          <a:prstGeom prst="rect">
            <a:avLst/>
          </a:prstGeom>
        </p:spPr>
      </p:pic>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4"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1522077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5" name="Rectangle 2"/>
          <p:cNvSpPr>
            <a:spLocks noChangeArrowheads="1"/>
          </p:cNvSpPr>
          <p:nvPr/>
        </p:nvSpPr>
        <p:spPr bwMode="auto">
          <a:xfrm>
            <a:off x="1230972" y="627128"/>
            <a:ext cx="9910714"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800" b="1" dirty="0">
                <a:solidFill>
                  <a:schemeClr val="accent4">
                    <a:lumMod val="50000"/>
                  </a:schemeClr>
                </a:solidFill>
                <a:latin typeface="Times New Roman" panose="02020603050405020304" pitchFamily="18" charset="0"/>
                <a:cs typeface="Times New Roman" panose="02020603050405020304" pitchFamily="18" charset="0"/>
              </a:rPr>
              <a:t>Qualitative Organic </a:t>
            </a:r>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Analysis</a:t>
            </a:r>
            <a:endParaRPr lang="en-US" sz="2800" dirty="0">
              <a:solidFill>
                <a:schemeClr val="accent4">
                  <a:lumMod val="50000"/>
                </a:schemeClr>
              </a:solidFill>
              <a:latin typeface="Times New Roman" panose="02020603050405020304" pitchFamily="18" charset="0"/>
              <a:cs typeface="Times New Roman" panose="02020603050405020304" pitchFamily="18" charset="0"/>
            </a:endParaRPr>
          </a:p>
          <a:p>
            <a:pPr lvl="1" algn="just"/>
            <a:r>
              <a:rPr lang="en-US" sz="2800" dirty="0">
                <a:solidFill>
                  <a:schemeClr val="accent4">
                    <a:lumMod val="50000"/>
                  </a:schemeClr>
                </a:solidFill>
                <a:latin typeface="Times New Roman" panose="02020603050405020304" pitchFamily="18" charset="0"/>
                <a:cs typeface="Times New Roman" panose="02020603050405020304" pitchFamily="18" charset="0"/>
              </a:rPr>
              <a:t>In qualitative analysis, we identify which elements are present in an organic compound. It helps us understand the composition of the compound.</a:t>
            </a:r>
          </a:p>
          <a:p>
            <a:pPr lvl="1" algn="just"/>
            <a:r>
              <a:rPr lang="en-US" sz="2800" dirty="0">
                <a:solidFill>
                  <a:schemeClr val="accent4">
                    <a:lumMod val="50000"/>
                  </a:schemeClr>
                </a:solidFill>
                <a:latin typeface="Times New Roman" panose="02020603050405020304" pitchFamily="18" charset="0"/>
                <a:cs typeface="Times New Roman" panose="02020603050405020304" pitchFamily="18" charset="0"/>
              </a:rPr>
              <a:t>For instance, we can determine whether an unknown substance contains carbon, hydrogen, oxygen, nitrogen, or other </a:t>
            </a:r>
            <a:r>
              <a:rPr lang="en-US" sz="2800" dirty="0" smtClean="0">
                <a:solidFill>
                  <a:schemeClr val="accent4">
                    <a:lumMod val="50000"/>
                  </a:schemeClr>
                </a:solidFill>
                <a:latin typeface="Times New Roman" panose="02020603050405020304" pitchFamily="18" charset="0"/>
                <a:cs typeface="Times New Roman" panose="02020603050405020304" pitchFamily="18" charset="0"/>
              </a:rPr>
              <a:t>elements.</a:t>
            </a:r>
            <a:endParaRPr lang="en-US" sz="2800" dirty="0">
              <a:solidFill>
                <a:schemeClr val="accent4">
                  <a:lumMod val="50000"/>
                </a:schemeClr>
              </a:solidFill>
              <a:latin typeface="Times New Roman" panose="02020603050405020304" pitchFamily="18" charset="0"/>
              <a:cs typeface="Times New Roman" panose="02020603050405020304" pitchFamily="18" charset="0"/>
            </a:endParaRPr>
          </a:p>
          <a:p>
            <a:pPr algn="just"/>
            <a:r>
              <a:rPr lang="en-US" sz="2800" b="1" dirty="0">
                <a:solidFill>
                  <a:schemeClr val="accent4">
                    <a:lumMod val="50000"/>
                  </a:schemeClr>
                </a:solidFill>
                <a:latin typeface="Times New Roman" panose="02020603050405020304" pitchFamily="18" charset="0"/>
                <a:cs typeface="Times New Roman" panose="02020603050405020304" pitchFamily="18" charset="0"/>
              </a:rPr>
              <a:t>Quantitative Organic </a:t>
            </a:r>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Analysis</a:t>
            </a:r>
            <a:endParaRPr lang="en-US" sz="2800" dirty="0">
              <a:solidFill>
                <a:schemeClr val="accent4">
                  <a:lumMod val="50000"/>
                </a:schemeClr>
              </a:solidFill>
              <a:latin typeface="Times New Roman" panose="02020603050405020304" pitchFamily="18" charset="0"/>
              <a:cs typeface="Times New Roman" panose="02020603050405020304" pitchFamily="18" charset="0"/>
            </a:endParaRPr>
          </a:p>
          <a:p>
            <a:pPr lvl="1" algn="just"/>
            <a:r>
              <a:rPr lang="en-US" sz="2800" dirty="0">
                <a:solidFill>
                  <a:schemeClr val="accent4">
                    <a:lumMod val="50000"/>
                  </a:schemeClr>
                </a:solidFill>
                <a:latin typeface="Times New Roman" panose="02020603050405020304" pitchFamily="18" charset="0"/>
                <a:cs typeface="Times New Roman" panose="02020603050405020304" pitchFamily="18" charset="0"/>
              </a:rPr>
              <a:t>In quantitative analysis, we calculate the percentage amount of a specific element in an organic compound.</a:t>
            </a:r>
          </a:p>
          <a:p>
            <a:pPr lvl="1" algn="just"/>
            <a:r>
              <a:rPr lang="en-US" sz="2800" dirty="0">
                <a:solidFill>
                  <a:schemeClr val="accent4">
                    <a:lumMod val="50000"/>
                  </a:schemeClr>
                </a:solidFill>
                <a:latin typeface="Times New Roman" panose="02020603050405020304" pitchFamily="18" charset="0"/>
                <a:cs typeface="Times New Roman" panose="02020603050405020304" pitchFamily="18" charset="0"/>
              </a:rPr>
              <a:t>Organic compounds are primarily composed of carbon and hydrogen, but other elements may also be present</a:t>
            </a:r>
            <a:r>
              <a:rPr lang="en-US" sz="2800" dirty="0" smtClean="0">
                <a:solidFill>
                  <a:schemeClr val="accent4">
                    <a:lumMod val="50000"/>
                  </a:schemeClr>
                </a:solidFill>
                <a:latin typeface="Times New Roman" panose="02020603050405020304" pitchFamily="18" charset="0"/>
                <a:cs typeface="Times New Roman" panose="02020603050405020304" pitchFamily="18" charset="0"/>
              </a:rPr>
              <a:t>.</a:t>
            </a:r>
            <a:endParaRPr lang="en-US" sz="2800" dirty="0">
              <a:solidFill>
                <a:schemeClr val="accent4">
                  <a:lumMod val="50000"/>
                </a:schemeClr>
              </a:solidFill>
              <a:latin typeface="Times New Roman" panose="02020603050405020304" pitchFamily="18" charset="0"/>
              <a:cs typeface="Times New Roman" panose="02020603050405020304" pitchFamily="18" charset="0"/>
            </a:endParaRPr>
          </a:p>
        </p:txBody>
      </p:sp>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17931661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2" name="Rectangle 1"/>
          <p:cNvSpPr/>
          <p:nvPr/>
        </p:nvSpPr>
        <p:spPr>
          <a:xfrm>
            <a:off x="13142" y="857770"/>
            <a:ext cx="12178858" cy="892552"/>
          </a:xfrm>
          <a:prstGeom prst="rect">
            <a:avLst/>
          </a:prstGeom>
        </p:spPr>
        <p:txBody>
          <a:bodyPr wrap="square">
            <a:spAutoFit/>
          </a:bodyPr>
          <a:lstStyle/>
          <a:p>
            <a:pPr algn="just"/>
            <a:endParaRPr lang="en-US" sz="2800" b="1" dirty="0" smtClean="0">
              <a:solidFill>
                <a:schemeClr val="accent4">
                  <a:lumMod val="50000"/>
                </a:schemeClr>
              </a:solidFill>
              <a:latin typeface="Times New Roman" panose="02020603050405020304" pitchFamily="18" charset="0"/>
              <a:cs typeface="Times New Roman" panose="02020603050405020304" pitchFamily="18" charset="0"/>
            </a:endParaRPr>
          </a:p>
          <a:p>
            <a:pPr algn="just"/>
            <a:endParaRPr lang="en-US" sz="24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Rectangle 2"/>
          <p:cNvSpPr/>
          <p:nvPr/>
        </p:nvSpPr>
        <p:spPr>
          <a:xfrm>
            <a:off x="1016140" y="2057104"/>
            <a:ext cx="11010377" cy="3539430"/>
          </a:xfrm>
          <a:prstGeom prst="rect">
            <a:avLst/>
          </a:prstGeom>
        </p:spPr>
        <p:txBody>
          <a:bodyPr wrap="square">
            <a:spAutoFit/>
          </a:bodyPr>
          <a:lstStyle/>
          <a:p>
            <a:pPr algn="just"/>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a:t>
            </a:r>
            <a:r>
              <a:rPr lang="en-US" sz="2800" b="1" dirty="0">
                <a:solidFill>
                  <a:schemeClr val="accent4">
                    <a:lumMod val="50000"/>
                  </a:schemeClr>
                </a:solidFill>
                <a:latin typeface="Times New Roman" panose="02020603050405020304" pitchFamily="18" charset="0"/>
                <a:cs typeface="Times New Roman" panose="02020603050405020304" pitchFamily="18" charset="0"/>
              </a:rPr>
              <a:t>It helps to confirm the identity and purity of a synthesized or isolated organic compound</a:t>
            </a:r>
          </a:p>
          <a:p>
            <a:pPr algn="just"/>
            <a:r>
              <a:rPr lang="en-US" sz="2800" b="1" dirty="0">
                <a:solidFill>
                  <a:schemeClr val="accent4">
                    <a:lumMod val="50000"/>
                  </a:schemeClr>
                </a:solidFill>
                <a:latin typeface="Times New Roman" panose="02020603050405020304" pitchFamily="18" charset="0"/>
                <a:cs typeface="Times New Roman" panose="02020603050405020304" pitchFamily="18" charset="0"/>
              </a:rPr>
              <a:t>-It helps to understand the chemical reactions and interactions of organic compounds with other molecules</a:t>
            </a:r>
          </a:p>
          <a:p>
            <a:pPr algn="just"/>
            <a:r>
              <a:rPr lang="en-US" sz="2800" b="1" dirty="0">
                <a:solidFill>
                  <a:schemeClr val="accent4">
                    <a:lumMod val="50000"/>
                  </a:schemeClr>
                </a:solidFill>
                <a:latin typeface="Times New Roman" panose="02020603050405020304" pitchFamily="18" charset="0"/>
                <a:cs typeface="Times New Roman" panose="02020603050405020304" pitchFamily="18" charset="0"/>
              </a:rPr>
              <a:t>-It helps to discover new organic compounds with potential applications in medicine, agriculture, industry, and other fields</a:t>
            </a:r>
          </a:p>
          <a:p>
            <a:pPr algn="just"/>
            <a:r>
              <a:rPr lang="en-US" sz="2800" b="1" dirty="0">
                <a:solidFill>
                  <a:schemeClr val="accent4">
                    <a:lumMod val="50000"/>
                  </a:schemeClr>
                </a:solidFill>
                <a:latin typeface="Times New Roman" panose="02020603050405020304" pitchFamily="18" charset="0"/>
                <a:cs typeface="Times New Roman" panose="02020603050405020304" pitchFamily="18" charset="0"/>
              </a:rPr>
              <a:t>-It helps to elucidate the natural biosynthesis and metabolism of organic compounds in living </a:t>
            </a:r>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organisms.</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5" name="Rectangle 4"/>
          <p:cNvSpPr/>
          <p:nvPr/>
        </p:nvSpPr>
        <p:spPr>
          <a:xfrm>
            <a:off x="1398026" y="455095"/>
            <a:ext cx="10353091" cy="584775"/>
          </a:xfrm>
          <a:prstGeom prst="rect">
            <a:avLst/>
          </a:prstGeom>
        </p:spPr>
        <p:txBody>
          <a:bodyPr wrap="none">
            <a:spAutoFit/>
          </a:bodyPr>
          <a:lstStyle/>
          <a:p>
            <a:pPr algn="just"/>
            <a:r>
              <a:rPr lang="en-US" sz="3200" b="1" dirty="0">
                <a:solidFill>
                  <a:schemeClr val="accent4">
                    <a:lumMod val="50000"/>
                  </a:schemeClr>
                </a:solidFill>
                <a:latin typeface="Times New Roman" panose="02020603050405020304" pitchFamily="18" charset="0"/>
                <a:cs typeface="Times New Roman" panose="02020603050405020304" pitchFamily="18" charset="0"/>
              </a:rPr>
              <a:t>Importance of organic compound structure </a:t>
            </a:r>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determination</a:t>
            </a:r>
            <a:endParaRPr lang="en-US" sz="3200" b="1" dirty="0">
              <a:solidFill>
                <a:schemeClr val="accent4">
                  <a:lumMod val="50000"/>
                </a:schemeClr>
              </a:solidFill>
              <a:latin typeface="Times New Roman" panose="02020603050405020304" pitchFamily="18" charset="0"/>
              <a:cs typeface="Times New Roman" panose="02020603050405020304" pitchFamily="18" charset="0"/>
            </a:endParaRPr>
          </a:p>
        </p:txBody>
      </p:sp>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41042111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3" name="Rectangle 2"/>
          <p:cNvSpPr/>
          <p:nvPr/>
        </p:nvSpPr>
        <p:spPr>
          <a:xfrm>
            <a:off x="1659116" y="329938"/>
            <a:ext cx="9266161" cy="2831544"/>
          </a:xfrm>
          <a:prstGeom prst="rect">
            <a:avLst/>
          </a:prstGeom>
        </p:spPr>
        <p:txBody>
          <a:bodyPr wrap="square">
            <a:spAutoFit/>
          </a:bodyPr>
          <a:lstStyle/>
          <a:p>
            <a:pPr algn="just"/>
            <a:r>
              <a:rPr lang="en-US" sz="3200" b="1" dirty="0">
                <a:solidFill>
                  <a:schemeClr val="accent4">
                    <a:lumMod val="50000"/>
                  </a:schemeClr>
                </a:solidFill>
                <a:latin typeface="Times New Roman" panose="02020603050405020304" pitchFamily="18" charset="0"/>
                <a:cs typeface="Times New Roman" panose="02020603050405020304" pitchFamily="18" charset="0"/>
              </a:rPr>
              <a:t>Mass spectrometry measures the mass-to-charge ratio of ionized molecules, and can provide information on the molecular formula, molecular weight, and fragmentation pattern of an organic compound.</a:t>
            </a:r>
          </a:p>
          <a:p>
            <a:endParaRPr lang="en-US" b="0" i="0" dirty="0">
              <a:solidFill>
                <a:schemeClr val="accent4">
                  <a:lumMod val="50000"/>
                </a:schemeClr>
              </a:solidFill>
              <a:effectLst/>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3434" y="3531440"/>
            <a:ext cx="4180727" cy="2981194"/>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03237" y="3531440"/>
            <a:ext cx="5947818" cy="2981194"/>
          </a:xfrm>
          <a:prstGeom prst="rect">
            <a:avLst/>
          </a:prstGeom>
        </p:spPr>
      </p:pic>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5"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4014026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down)">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2" name="Rectangle 1"/>
          <p:cNvSpPr>
            <a:spLocks noChangeArrowheads="1"/>
          </p:cNvSpPr>
          <p:nvPr/>
        </p:nvSpPr>
        <p:spPr bwMode="auto">
          <a:xfrm>
            <a:off x="1404594" y="572329"/>
            <a:ext cx="9861212" cy="121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3155"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smtClean="0">
                <a:ln>
                  <a:noFill/>
                </a:ln>
                <a:solidFill>
                  <a:schemeClr val="accent4">
                    <a:lumMod val="50000"/>
                  </a:schemeClr>
                </a:solidFill>
                <a:effectLst/>
                <a:latin typeface="Times New Roman" panose="02020603050405020304" pitchFamily="18" charset="0"/>
                <a:cs typeface="Times New Roman" panose="02020603050405020304" pitchFamily="18" charset="0"/>
              </a:rPr>
              <a:t>Infrared spectroscopy measures the absorption of infrared radiation by molecular vibrations, and can provide information on the functional groups and bond types present in an organic compound.</a:t>
            </a:r>
          </a:p>
        </p:txBody>
      </p:sp>
      <p:sp>
        <p:nvSpPr>
          <p:cNvPr id="3" name="AutoShape 3" descr="https://www.bing.com/th?id=OSK.HEROkr6nXoyZ-r88hbc8pRudq0K3TU7q9TZL5dcw_psb2V8&amp;pid=cdx&amp;w=200&amp;h=118&amp;c=7"/>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36393" y="2556081"/>
            <a:ext cx="4093741" cy="3347235"/>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35200" y="2667113"/>
            <a:ext cx="5254140" cy="3347235"/>
          </a:xfrm>
          <a:prstGeom prst="rect">
            <a:avLst/>
          </a:prstGeom>
        </p:spPr>
      </p:pic>
      <p:grpSp>
        <p:nvGrpSpPr>
          <p:cNvPr id="10" name="Group 9"/>
          <p:cNvGrpSpPr/>
          <p:nvPr/>
        </p:nvGrpSpPr>
        <p:grpSpPr>
          <a:xfrm>
            <a:off x="4506" y="0"/>
            <a:ext cx="914400" cy="6858000"/>
            <a:chOff x="0" y="168206"/>
            <a:chExt cx="914400" cy="6689794"/>
          </a:xfrm>
        </p:grpSpPr>
        <p:sp>
          <p:nvSpPr>
            <p:cNvPr id="11" name="Rectangle 10"/>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3" name="Picture 7" descr="logo"/>
            <p:cNvPicPr>
              <a:picLocks noChangeAspect="1" noChangeArrowheads="1"/>
            </p:cNvPicPr>
            <p:nvPr/>
          </p:nvPicPr>
          <p:blipFill>
            <a:blip r:embed="rId5"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2172274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8" name="Rectangle 7"/>
          <p:cNvSpPr/>
          <p:nvPr/>
        </p:nvSpPr>
        <p:spPr>
          <a:xfrm>
            <a:off x="2158738" y="405353"/>
            <a:ext cx="9678355" cy="2954655"/>
          </a:xfrm>
          <a:prstGeom prst="rect">
            <a:avLst/>
          </a:prstGeom>
        </p:spPr>
        <p:txBody>
          <a:bodyPr wrap="square">
            <a:spAutoFit/>
          </a:bodyPr>
          <a:lstStyle/>
          <a:p>
            <a:pPr algn="just"/>
            <a:r>
              <a:rPr lang="en-US" sz="2400" b="1" dirty="0">
                <a:solidFill>
                  <a:schemeClr val="accent4">
                    <a:lumMod val="50000"/>
                  </a:schemeClr>
                </a:solidFill>
                <a:latin typeface="Times New Roman" panose="02020603050405020304" pitchFamily="18" charset="0"/>
                <a:cs typeface="Times New Roman" panose="02020603050405020304" pitchFamily="18" charset="0"/>
              </a:rPr>
              <a:t>Ultraviolet/visible spectroscopy measures the absorption of ultraviolet or visible light by electrons in molecular orbitals, and can provide information on the presence and extent of conjugation and unsaturation in an organic compound.</a:t>
            </a:r>
          </a:p>
          <a:p>
            <a:pPr algn="just"/>
            <a:r>
              <a:rPr lang="en-US" sz="2400" b="1" dirty="0">
                <a:solidFill>
                  <a:schemeClr val="accent4">
                    <a:lumMod val="50000"/>
                  </a:schemeClr>
                </a:solidFill>
                <a:latin typeface="Times New Roman" panose="02020603050405020304" pitchFamily="18" charset="0"/>
                <a:cs typeface="Times New Roman" panose="02020603050405020304" pitchFamily="18" charset="0"/>
              </a:rPr>
              <a:t>The structure of an organic compound can be deduced by combining the information from different spectroscopic techniques, and comparing it with known data and chemical logic.</a:t>
            </a:r>
          </a:p>
          <a:p>
            <a:pPr>
              <a:buFont typeface="Arial" panose="020B0604020202020204" pitchFamily="34" charset="0"/>
              <a:buChar char="•"/>
            </a:pPr>
            <a:endParaRPr lang="en-US" b="1" i="0" dirty="0">
              <a:solidFill>
                <a:srgbClr val="374151"/>
              </a:solidFill>
              <a:effectLst/>
              <a:latin typeface="Söhne"/>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13865" y="3360008"/>
            <a:ext cx="4697261" cy="3131507"/>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11126" y="3173438"/>
            <a:ext cx="5181866" cy="3327571"/>
          </a:xfrm>
          <a:prstGeom prst="rect">
            <a:avLst/>
          </a:prstGeom>
        </p:spPr>
      </p:pic>
      <p:grpSp>
        <p:nvGrpSpPr>
          <p:cNvPr id="7" name="Group 6"/>
          <p:cNvGrpSpPr/>
          <p:nvPr/>
        </p:nvGrpSpPr>
        <p:grpSpPr>
          <a:xfrm>
            <a:off x="4506" y="0"/>
            <a:ext cx="914400" cy="6858000"/>
            <a:chOff x="0" y="168206"/>
            <a:chExt cx="914400" cy="6689794"/>
          </a:xfrm>
        </p:grpSpPr>
        <p:sp>
          <p:nvSpPr>
            <p:cNvPr id="9" name="Rectangle 8"/>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1" name="Picture 7" descr="logo"/>
            <p:cNvPicPr>
              <a:picLocks noChangeAspect="1" noChangeArrowheads="1"/>
            </p:cNvPicPr>
            <p:nvPr/>
          </p:nvPicPr>
          <p:blipFill>
            <a:blip r:embed="rId5"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937042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5" name="Rectangle 4"/>
          <p:cNvSpPr/>
          <p:nvPr/>
        </p:nvSpPr>
        <p:spPr>
          <a:xfrm>
            <a:off x="1329179" y="301659"/>
            <a:ext cx="10282447" cy="3539430"/>
          </a:xfrm>
          <a:prstGeom prst="rect">
            <a:avLst/>
          </a:prstGeom>
        </p:spPr>
        <p:txBody>
          <a:bodyPr wrap="square">
            <a:spAutoFit/>
          </a:bodyPr>
          <a:lstStyle/>
          <a:p>
            <a:pPr algn="just"/>
            <a:r>
              <a:rPr lang="en-US" altLang="en-US" sz="2800" b="1" dirty="0">
                <a:solidFill>
                  <a:schemeClr val="accent4">
                    <a:lumMod val="50000"/>
                  </a:schemeClr>
                </a:solidFill>
                <a:latin typeface="Times New Roman" panose="02020603050405020304" pitchFamily="18" charset="0"/>
                <a:cs typeface="Times New Roman" panose="02020603050405020304" pitchFamily="18" charset="0"/>
              </a:rPr>
              <a:t>Nuclear magnetic resonance spectroscopy measures the interaction of nuclear spins with a magnetic field, and can provide information on the number, type, and environment of hydrogen and carbon atoms in an organic compound</a:t>
            </a:r>
            <a:r>
              <a:rPr lang="en-US" altLang="en-US" sz="2800" b="1" dirty="0" smtClean="0">
                <a:solidFill>
                  <a:schemeClr val="accent4">
                    <a:lumMod val="50000"/>
                  </a:schemeClr>
                </a:solidFill>
                <a:latin typeface="Times New Roman" panose="02020603050405020304" pitchFamily="18" charset="0"/>
                <a:cs typeface="Times New Roman" panose="02020603050405020304" pitchFamily="18" charset="0"/>
              </a:rPr>
              <a:t>.</a:t>
            </a:r>
            <a:r>
              <a:rPr lang="en-US" sz="2800" dirty="0"/>
              <a:t> </a:t>
            </a:r>
            <a:r>
              <a:rPr lang="en-US" sz="2800" b="1" dirty="0">
                <a:solidFill>
                  <a:schemeClr val="accent4">
                    <a:lumMod val="50000"/>
                  </a:schemeClr>
                </a:solidFill>
                <a:latin typeface="Times New Roman" panose="02020603050405020304" pitchFamily="18" charset="0"/>
                <a:cs typeface="Times New Roman" panose="02020603050405020304" pitchFamily="18" charset="0"/>
              </a:rPr>
              <a:t>NMR uses magnetic properties to determine the </a:t>
            </a:r>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structure. It </a:t>
            </a:r>
            <a:r>
              <a:rPr lang="en-US" sz="2800" b="1" dirty="0">
                <a:solidFill>
                  <a:schemeClr val="accent4">
                    <a:lumMod val="50000"/>
                  </a:schemeClr>
                </a:solidFill>
                <a:latin typeface="Times New Roman" panose="02020603050405020304" pitchFamily="18" charset="0"/>
                <a:cs typeface="Times New Roman" panose="02020603050405020304" pitchFamily="18" charset="0"/>
              </a:rPr>
              <a:t>provides information about atom connectivity.</a:t>
            </a:r>
          </a:p>
          <a:p>
            <a:pPr lvl="0" algn="just" eaLnBrk="0" fontAlgn="base" hangingPunct="0">
              <a:spcBef>
                <a:spcPct val="0"/>
              </a:spcBef>
              <a:spcAft>
                <a:spcPct val="0"/>
              </a:spcAft>
            </a:pPr>
            <a:endParaRPr lang="en-US" altLang="en-US" sz="2800" b="1" dirty="0">
              <a:solidFill>
                <a:schemeClr val="accent4">
                  <a:lumMod val="50000"/>
                </a:schemeClr>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endParaRPr lang="en-US" altLang="en-US" sz="2800" dirty="0">
              <a:latin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0123" y="3281150"/>
            <a:ext cx="4690332" cy="3017635"/>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33463" y="3290166"/>
            <a:ext cx="4985155" cy="3008619"/>
          </a:xfrm>
          <a:prstGeom prst="rect">
            <a:avLst/>
          </a:prstGeom>
        </p:spPr>
      </p:pic>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5"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35149026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7" name="Rectangle 6"/>
          <p:cNvSpPr/>
          <p:nvPr/>
        </p:nvSpPr>
        <p:spPr>
          <a:xfrm>
            <a:off x="1366887" y="292231"/>
            <a:ext cx="10395053" cy="1815882"/>
          </a:xfrm>
          <a:prstGeom prst="rect">
            <a:avLst/>
          </a:prstGeom>
        </p:spPr>
        <p:txBody>
          <a:bodyPr wrap="square">
            <a:spAutoFit/>
          </a:bodyPr>
          <a:lstStyle/>
          <a:p>
            <a:pPr algn="just">
              <a:buFont typeface="Arial" panose="020B0604020202020204" pitchFamily="34" charset="0"/>
              <a:buChar char="•"/>
            </a:pPr>
            <a:r>
              <a:rPr lang="en-US" sz="2800" b="1" dirty="0">
                <a:solidFill>
                  <a:schemeClr val="accent4">
                    <a:lumMod val="50000"/>
                  </a:schemeClr>
                </a:solidFill>
                <a:latin typeface="Times New Roman" panose="02020603050405020304" pitchFamily="18" charset="0"/>
                <a:cs typeface="Times New Roman" panose="02020603050405020304" pitchFamily="18" charset="0"/>
              </a:rPr>
              <a:t>Elemental analysis of organic compounds is a process where a sample of some material (e.g., soil, waste or drinking water, bodily fluids, minerals, chemical compounds) is analyzed for its elemental and sometimes isotopic </a:t>
            </a:r>
            <a:r>
              <a:rPr lang="en-US" sz="2800" b="1" dirty="0" smtClean="0">
                <a:solidFill>
                  <a:schemeClr val="accent4">
                    <a:lumMod val="50000"/>
                  </a:schemeClr>
                </a:solidFill>
                <a:latin typeface="Times New Roman" panose="02020603050405020304" pitchFamily="18" charset="0"/>
                <a:cs typeface="Times New Roman" panose="02020603050405020304" pitchFamily="18" charset="0"/>
              </a:rPr>
              <a:t>composition.</a:t>
            </a:r>
            <a:endParaRPr lang="en-US" sz="2800" b="1" dirty="0">
              <a:solidFill>
                <a:schemeClr val="accent4">
                  <a:lumMod val="50000"/>
                </a:schemeClr>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5162" y="2724345"/>
            <a:ext cx="5349418" cy="356404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4580" y="2724345"/>
            <a:ext cx="5214729" cy="3543556"/>
          </a:xfrm>
          <a:prstGeom prst="rect">
            <a:avLst/>
          </a:prstGeom>
        </p:spPr>
      </p:pic>
      <p:grpSp>
        <p:nvGrpSpPr>
          <p:cNvPr id="9" name="Group 8"/>
          <p:cNvGrpSpPr/>
          <p:nvPr/>
        </p:nvGrpSpPr>
        <p:grpSpPr>
          <a:xfrm>
            <a:off x="4506" y="0"/>
            <a:ext cx="914400" cy="6858000"/>
            <a:chOff x="0" y="168206"/>
            <a:chExt cx="914400" cy="6689794"/>
          </a:xfrm>
        </p:grpSpPr>
        <p:sp>
          <p:nvSpPr>
            <p:cNvPr id="10" name="Rectangle 9"/>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2" name="Picture 7" descr="logo"/>
            <p:cNvPicPr>
              <a:picLocks noChangeAspect="1" noChangeArrowheads="1"/>
            </p:cNvPicPr>
            <p:nvPr/>
          </p:nvPicPr>
          <p:blipFill>
            <a:blip r:embed="rId5"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26656811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2" name="Rectangle 1"/>
          <p:cNvSpPr/>
          <p:nvPr/>
        </p:nvSpPr>
        <p:spPr>
          <a:xfrm>
            <a:off x="13142" y="857770"/>
            <a:ext cx="12178858" cy="892552"/>
          </a:xfrm>
          <a:prstGeom prst="rect">
            <a:avLst/>
          </a:prstGeom>
        </p:spPr>
        <p:txBody>
          <a:bodyPr wrap="square">
            <a:spAutoFit/>
          </a:bodyPr>
          <a:lstStyle/>
          <a:p>
            <a:pPr algn="just"/>
            <a:endParaRPr lang="en-US" sz="2800" b="1" dirty="0" smtClean="0">
              <a:solidFill>
                <a:schemeClr val="accent4">
                  <a:lumMod val="50000"/>
                </a:schemeClr>
              </a:solidFill>
              <a:latin typeface="Times New Roman" panose="02020603050405020304" pitchFamily="18" charset="0"/>
              <a:cs typeface="Times New Roman" panose="02020603050405020304" pitchFamily="18" charset="0"/>
            </a:endParaRPr>
          </a:p>
          <a:p>
            <a:pPr algn="just"/>
            <a:endParaRPr lang="en-US" sz="24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5" name="Rectangle 4"/>
          <p:cNvSpPr/>
          <p:nvPr/>
        </p:nvSpPr>
        <p:spPr>
          <a:xfrm>
            <a:off x="1172976" y="414779"/>
            <a:ext cx="9849927" cy="2062103"/>
          </a:xfrm>
          <a:prstGeom prst="rect">
            <a:avLst/>
          </a:prstGeom>
        </p:spPr>
        <p:txBody>
          <a:bodyPr wrap="square">
            <a:spAutoFit/>
          </a:bodyPr>
          <a:lstStyle/>
          <a:p>
            <a:pPr algn="just">
              <a:buFont typeface="Arial" panose="020B0604020202020204" pitchFamily="34" charset="0"/>
              <a:buChar char="•"/>
            </a:pPr>
            <a:r>
              <a:rPr lang="en-US" sz="3200" b="1" dirty="0">
                <a:solidFill>
                  <a:schemeClr val="accent4">
                    <a:lumMod val="50000"/>
                  </a:schemeClr>
                </a:solidFill>
                <a:latin typeface="Times New Roman" panose="02020603050405020304" pitchFamily="18" charset="0"/>
                <a:cs typeface="Times New Roman" panose="02020603050405020304" pitchFamily="18" charset="0"/>
              </a:rPr>
              <a:t>X-ray crystallography provides precise structural information.</a:t>
            </a:r>
          </a:p>
          <a:p>
            <a:pPr algn="just">
              <a:buFont typeface="Arial" panose="020B0604020202020204" pitchFamily="34" charset="0"/>
              <a:buChar char="•"/>
            </a:pPr>
            <a:r>
              <a:rPr lang="en-US" sz="3200" b="1" dirty="0">
                <a:solidFill>
                  <a:schemeClr val="accent4">
                    <a:lumMod val="50000"/>
                  </a:schemeClr>
                </a:solidFill>
                <a:latin typeface="Times New Roman" panose="02020603050405020304" pitchFamily="18" charset="0"/>
                <a:cs typeface="Times New Roman" panose="02020603050405020304" pitchFamily="18" charset="0"/>
              </a:rPr>
              <a:t>It helps us understand the 3D arrangement of atoms in a crystal lattice.</a:t>
            </a:r>
            <a:endParaRPr lang="en-US" sz="3200" b="1" i="0" dirty="0">
              <a:solidFill>
                <a:schemeClr val="accent4">
                  <a:lumMod val="50000"/>
                </a:schemeClr>
              </a:solidFill>
              <a:effectLst/>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72976" y="2919873"/>
            <a:ext cx="2650253" cy="2718148"/>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6962" y="2793305"/>
            <a:ext cx="7671854" cy="2968669"/>
          </a:xfrm>
          <a:prstGeom prst="rect">
            <a:avLst/>
          </a:prstGeom>
        </p:spPr>
      </p:pic>
      <p:grpSp>
        <p:nvGrpSpPr>
          <p:cNvPr id="8" name="Group 7"/>
          <p:cNvGrpSpPr/>
          <p:nvPr/>
        </p:nvGrpSpPr>
        <p:grpSpPr>
          <a:xfrm>
            <a:off x="4506" y="0"/>
            <a:ext cx="914400" cy="6858000"/>
            <a:chOff x="0" y="168206"/>
            <a:chExt cx="914400" cy="6689794"/>
          </a:xfrm>
        </p:grpSpPr>
        <p:sp>
          <p:nvSpPr>
            <p:cNvPr id="9" name="Rectangle 8"/>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1" name="Picture 7" descr="logo"/>
            <p:cNvPicPr>
              <a:picLocks noChangeAspect="1" noChangeArrowheads="1"/>
            </p:cNvPicPr>
            <p:nvPr/>
          </p:nvPicPr>
          <p:blipFill>
            <a:blip r:embed="rId5"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423558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2" name="Rectangle 1"/>
          <p:cNvSpPr/>
          <p:nvPr/>
        </p:nvSpPr>
        <p:spPr>
          <a:xfrm>
            <a:off x="2404997" y="789266"/>
            <a:ext cx="5561556" cy="892552"/>
          </a:xfrm>
          <a:prstGeom prst="rect">
            <a:avLst/>
          </a:prstGeom>
        </p:spPr>
        <p:txBody>
          <a:bodyPr wrap="square">
            <a:spAutoFit/>
          </a:bodyPr>
          <a:lstStyle/>
          <a:p>
            <a:pPr algn="just"/>
            <a:endParaRPr lang="en-US" sz="2800" b="1" dirty="0" smtClean="0">
              <a:solidFill>
                <a:schemeClr val="accent4">
                  <a:lumMod val="50000"/>
                </a:schemeClr>
              </a:solidFill>
              <a:latin typeface="Times New Roman" panose="02020603050405020304" pitchFamily="18" charset="0"/>
              <a:cs typeface="Times New Roman" panose="02020603050405020304" pitchFamily="18" charset="0"/>
            </a:endParaRPr>
          </a:p>
          <a:p>
            <a:pPr algn="just"/>
            <a:endParaRPr lang="en-US" sz="24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5" name="Rectangle 4"/>
          <p:cNvSpPr/>
          <p:nvPr/>
        </p:nvSpPr>
        <p:spPr>
          <a:xfrm>
            <a:off x="967826" y="1537898"/>
            <a:ext cx="10809962" cy="4031873"/>
          </a:xfrm>
          <a:prstGeom prst="rect">
            <a:avLst/>
          </a:prstGeom>
        </p:spPr>
        <p:txBody>
          <a:bodyPr wrap="square">
            <a:spAutoFit/>
          </a:bodyPr>
          <a:lstStyle/>
          <a:p>
            <a:pPr algn="just">
              <a:buFont typeface="Arial" panose="020B0604020202020204" pitchFamily="34" charset="0"/>
              <a:buChar char="•"/>
            </a:pPr>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Impurities</a:t>
            </a:r>
          </a:p>
          <a:p>
            <a:pPr algn="just">
              <a:buFont typeface="Arial" panose="020B0604020202020204" pitchFamily="34" charset="0"/>
              <a:buChar char="•"/>
            </a:pPr>
            <a:r>
              <a:rPr lang="en-US" sz="3200" b="1" dirty="0">
                <a:solidFill>
                  <a:schemeClr val="accent4">
                    <a:lumMod val="50000"/>
                  </a:schemeClr>
                </a:solidFill>
                <a:latin typeface="Times New Roman" panose="02020603050405020304" pitchFamily="18" charset="0"/>
                <a:cs typeface="Times New Roman" panose="02020603050405020304" pitchFamily="18" charset="0"/>
              </a:rPr>
              <a:t>S</a:t>
            </a:r>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olvent effects</a:t>
            </a:r>
          </a:p>
          <a:p>
            <a:pPr algn="just">
              <a:buFont typeface="Arial" panose="020B0604020202020204" pitchFamily="34" charset="0"/>
              <a:buChar char="•"/>
            </a:pPr>
            <a:r>
              <a:rPr lang="en-US" sz="3200" b="1" dirty="0">
                <a:solidFill>
                  <a:schemeClr val="accent4">
                    <a:lumMod val="50000"/>
                  </a:schemeClr>
                </a:solidFill>
                <a:latin typeface="Times New Roman" panose="02020603050405020304" pitchFamily="18" charset="0"/>
                <a:cs typeface="Times New Roman" panose="02020603050405020304" pitchFamily="18" charset="0"/>
              </a:rPr>
              <a:t>C</a:t>
            </a:r>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omplex mixtures</a:t>
            </a:r>
            <a:endParaRPr lang="en-US" sz="3200" b="1" dirty="0">
              <a:solidFill>
                <a:schemeClr val="accent4">
                  <a:lumMod val="50000"/>
                </a:schemeClr>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3200" b="1" dirty="0">
                <a:solidFill>
                  <a:schemeClr val="accent4">
                    <a:lumMod val="50000"/>
                  </a:schemeClr>
                </a:solidFill>
                <a:latin typeface="Times New Roman" panose="02020603050405020304" pitchFamily="18" charset="0"/>
                <a:cs typeface="Times New Roman" panose="02020603050405020304" pitchFamily="18" charset="0"/>
              </a:rPr>
              <a:t>Understanding and addressing these issues is vital for accurate results</a:t>
            </a:r>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3200" b="1" dirty="0">
                <a:solidFill>
                  <a:schemeClr val="accent4">
                    <a:lumMod val="50000"/>
                  </a:schemeClr>
                </a:solidFill>
                <a:latin typeface="Times New Roman" panose="02020603050405020304" pitchFamily="18" charset="0"/>
                <a:cs typeface="Times New Roman" panose="02020603050405020304" pitchFamily="18" charset="0"/>
              </a:rPr>
              <a:t>Another challenge is to deal with the complexity and diversity of organic molecules, which can have different isomers, conformations, stereochemistry, and reactivity</a:t>
            </a:r>
            <a:endParaRPr lang="en-US" sz="3200" b="1" i="0" dirty="0">
              <a:solidFill>
                <a:schemeClr val="accent4">
                  <a:lumMod val="50000"/>
                </a:schemeClr>
              </a:solidFill>
              <a:effectLst/>
              <a:latin typeface="Times New Roman" panose="02020603050405020304" pitchFamily="18" charset="0"/>
              <a:cs typeface="Times New Roman" panose="02020603050405020304" pitchFamily="18" charset="0"/>
            </a:endParaRPr>
          </a:p>
        </p:txBody>
      </p:sp>
      <p:sp>
        <p:nvSpPr>
          <p:cNvPr id="3" name="Rectangle 2"/>
          <p:cNvSpPr/>
          <p:nvPr/>
        </p:nvSpPr>
        <p:spPr>
          <a:xfrm>
            <a:off x="3944587" y="496878"/>
            <a:ext cx="3922869" cy="584775"/>
          </a:xfrm>
          <a:prstGeom prst="rect">
            <a:avLst/>
          </a:prstGeom>
        </p:spPr>
        <p:txBody>
          <a:bodyPr wrap="none">
            <a:spAutoFit/>
          </a:bodyPr>
          <a:lstStyle/>
          <a:p>
            <a:pPr algn="just"/>
            <a:r>
              <a:rPr lang="en-US" sz="3200" b="1" dirty="0">
                <a:solidFill>
                  <a:schemeClr val="accent4">
                    <a:lumMod val="50000"/>
                  </a:schemeClr>
                </a:solidFill>
                <a:latin typeface="Times New Roman" panose="02020603050405020304" pitchFamily="18" charset="0"/>
                <a:cs typeface="Times New Roman" panose="02020603050405020304" pitchFamily="18" charset="0"/>
              </a:rPr>
              <a:t>Common </a:t>
            </a:r>
            <a:r>
              <a:rPr lang="en-US" sz="3200" b="1" dirty="0" smtClean="0">
                <a:solidFill>
                  <a:schemeClr val="accent4">
                    <a:lumMod val="50000"/>
                  </a:schemeClr>
                </a:solidFill>
                <a:latin typeface="Times New Roman" panose="02020603050405020304" pitchFamily="18" charset="0"/>
                <a:cs typeface="Times New Roman" panose="02020603050405020304" pitchFamily="18" charset="0"/>
              </a:rPr>
              <a:t>Challenges </a:t>
            </a:r>
            <a:endParaRPr lang="en-US" sz="3200" b="1" dirty="0">
              <a:solidFill>
                <a:schemeClr val="accent4">
                  <a:lumMod val="50000"/>
                </a:schemeClr>
              </a:solidFill>
              <a:latin typeface="Times New Roman" panose="02020603050405020304" pitchFamily="18" charset="0"/>
              <a:cs typeface="Times New Roman" panose="02020603050405020304" pitchFamily="18" charset="0"/>
            </a:endParaRPr>
          </a:p>
        </p:txBody>
      </p:sp>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1192210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42" y="5903316"/>
            <a:ext cx="954684" cy="954684"/>
          </a:xfrm>
          <a:prstGeom prst="rect">
            <a:avLst/>
          </a:prstGeom>
        </p:spPr>
      </p:pic>
      <p:sp>
        <p:nvSpPr>
          <p:cNvPr id="2" name="Rectangle 1"/>
          <p:cNvSpPr/>
          <p:nvPr/>
        </p:nvSpPr>
        <p:spPr>
          <a:xfrm>
            <a:off x="13142" y="857770"/>
            <a:ext cx="12178858" cy="892552"/>
          </a:xfrm>
          <a:prstGeom prst="rect">
            <a:avLst/>
          </a:prstGeom>
        </p:spPr>
        <p:txBody>
          <a:bodyPr wrap="square">
            <a:spAutoFit/>
          </a:bodyPr>
          <a:lstStyle/>
          <a:p>
            <a:pPr algn="just"/>
            <a:endParaRPr lang="en-US" sz="2800" b="1" dirty="0" smtClean="0">
              <a:solidFill>
                <a:schemeClr val="accent4">
                  <a:lumMod val="50000"/>
                </a:schemeClr>
              </a:solidFill>
              <a:latin typeface="Times New Roman" panose="02020603050405020304" pitchFamily="18" charset="0"/>
              <a:cs typeface="Times New Roman" panose="02020603050405020304" pitchFamily="18" charset="0"/>
            </a:endParaRPr>
          </a:p>
          <a:p>
            <a:pPr algn="just"/>
            <a:endParaRPr lang="en-US" sz="24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4584526" y="2630464"/>
            <a:ext cx="3107746" cy="707886"/>
          </a:xfrm>
          <a:prstGeom prst="rect">
            <a:avLst/>
          </a:prstGeom>
          <a:noFill/>
        </p:spPr>
        <p:txBody>
          <a:bodyPr wrap="square" rtlCol="0">
            <a:spAutoFit/>
          </a:bodyPr>
          <a:lstStyle/>
          <a:p>
            <a:r>
              <a:rPr lang="en-US" sz="4000" dirty="0" smtClean="0">
                <a:solidFill>
                  <a:schemeClr val="accent4">
                    <a:lumMod val="50000"/>
                  </a:schemeClr>
                </a:solidFill>
                <a:latin typeface="Times New Roman" panose="02020603050405020304" pitchFamily="18" charset="0"/>
                <a:cs typeface="Times New Roman" panose="02020603050405020304" pitchFamily="18" charset="0"/>
              </a:rPr>
              <a:t>Thank you </a:t>
            </a:r>
            <a:endParaRPr lang="en-US" sz="4000" dirty="0">
              <a:solidFill>
                <a:schemeClr val="accent4">
                  <a:lumMod val="50000"/>
                </a:schemeClr>
              </a:solidFill>
              <a:latin typeface="Times New Roman" panose="02020603050405020304" pitchFamily="18" charset="0"/>
              <a:cs typeface="Times New Roman" panose="02020603050405020304" pitchFamily="18" charset="0"/>
            </a:endParaRPr>
          </a:p>
        </p:txBody>
      </p:sp>
      <p:grpSp>
        <p:nvGrpSpPr>
          <p:cNvPr id="7" name="Group 6"/>
          <p:cNvGrpSpPr/>
          <p:nvPr/>
        </p:nvGrpSpPr>
        <p:grpSpPr>
          <a:xfrm>
            <a:off x="4506" y="0"/>
            <a:ext cx="914400" cy="6858000"/>
            <a:chOff x="0" y="168206"/>
            <a:chExt cx="914400" cy="6689794"/>
          </a:xfrm>
        </p:grpSpPr>
        <p:sp>
          <p:nvSpPr>
            <p:cNvPr id="8" name="Rectangle 7"/>
            <p:cNvSpPr/>
            <p:nvPr/>
          </p:nvSpPr>
          <p:spPr bwMode="auto">
            <a:xfrm>
              <a:off x="7951" y="168206"/>
              <a:ext cx="381000" cy="6689794"/>
            </a:xfrm>
            <a:prstGeom prst="rect">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p:nvSpPr>
          <p:spPr bwMode="auto">
            <a:xfrm>
              <a:off x="388951" y="168206"/>
              <a:ext cx="457200" cy="6689793"/>
            </a:xfrm>
            <a:prstGeom prst="rect">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7" descr="logo"/>
            <p:cNvPicPr>
              <a:picLocks noChangeAspect="1" noChangeArrowheads="1"/>
            </p:cNvPicPr>
            <p:nvPr/>
          </p:nvPicPr>
          <p:blipFill>
            <a:blip r:embed="rId3" cstate="print"/>
            <a:srcRect l="25273" t="29860" r="41530" b="24966"/>
            <a:stretch>
              <a:fillRect/>
            </a:stretch>
          </p:blipFill>
          <p:spPr bwMode="auto">
            <a:xfrm>
              <a:off x="0" y="6035040"/>
              <a:ext cx="914400" cy="822960"/>
            </a:xfrm>
            <a:prstGeom prst="rect">
              <a:avLst/>
            </a:prstGeom>
            <a:noFill/>
            <a:ln w="9525">
              <a:noFill/>
              <a:miter lim="800000"/>
              <a:headEnd/>
              <a:tailEnd/>
            </a:ln>
          </p:spPr>
        </p:pic>
      </p:grpSp>
    </p:spTree>
    <p:extLst>
      <p:ext uri="{BB962C8B-B14F-4D97-AF65-F5344CB8AC3E}">
        <p14:creationId xmlns:p14="http://schemas.microsoft.com/office/powerpoint/2010/main" val="28294925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6751</TotalTime>
  <Words>1021</Words>
  <Application>Microsoft Office PowerPoint</Application>
  <PresentationFormat>Widescreen</PresentationFormat>
  <Paragraphs>72</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Söhne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Hassan Ibrahim</dc:creator>
  <cp:lastModifiedBy>User</cp:lastModifiedBy>
  <cp:revision>88</cp:revision>
  <dcterms:created xsi:type="dcterms:W3CDTF">2023-10-12T21:26:57Z</dcterms:created>
  <dcterms:modified xsi:type="dcterms:W3CDTF">2024-07-10T16:47:55Z</dcterms:modified>
</cp:coreProperties>
</file>