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5" d="100"/>
          <a:sy n="75" d="100"/>
        </p:scale>
        <p:origin x="3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5BA89F-D5EE-40D7-BB78-10BC844A7B58}" type="datetimeFigureOut">
              <a:rPr lang="en-US" smtClean="0"/>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2725813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5BA89F-D5EE-40D7-BB78-10BC844A7B58}" type="datetimeFigureOut">
              <a:rPr lang="en-US" smtClean="0"/>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3376643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5BA89F-D5EE-40D7-BB78-10BC844A7B58}" type="datetimeFigureOut">
              <a:rPr lang="en-US" smtClean="0"/>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1611145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5BA89F-D5EE-40D7-BB78-10BC844A7B58}" type="datetimeFigureOut">
              <a:rPr lang="en-US" smtClean="0"/>
              <a:t>8/13/2024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2457991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5BA89F-D5EE-40D7-BB78-10BC844A7B58}" type="datetimeFigureOut">
              <a:rPr lang="en-US" smtClean="0"/>
              <a:t>8/13/2024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1960609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5BA89F-D5EE-40D7-BB78-10BC844A7B58}" type="datetimeFigureOut">
              <a:rPr lang="en-US" smtClean="0"/>
              <a:t>8/13/2024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275407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5BA89F-D5EE-40D7-BB78-10BC844A7B58}" type="datetimeFigureOut">
              <a:rPr lang="en-US" smtClean="0"/>
              <a:t>8/13/2024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342577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5BA89F-D5EE-40D7-BB78-10BC844A7B58}" type="datetimeFigureOut">
              <a:rPr lang="en-US" smtClean="0"/>
              <a:t>8/13/2024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2713222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5BA89F-D5EE-40D7-BB78-10BC844A7B58}" type="datetimeFigureOut">
              <a:rPr lang="en-US" smtClean="0"/>
              <a:t>8/13/2024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150232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5BA89F-D5EE-40D7-BB78-10BC844A7B58}" type="datetimeFigureOut">
              <a:rPr lang="en-US" smtClean="0"/>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2673433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5BA89F-D5EE-40D7-BB78-10BC844A7B58}" type="datetimeFigureOut">
              <a:rPr lang="en-US" smtClean="0"/>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D880B1-046B-46E3-8889-ACBC373497B3}" type="slidenum">
              <a:rPr lang="en-US" smtClean="0"/>
              <a:t>‹#›</a:t>
            </a:fld>
            <a:endParaRPr lang="en-US"/>
          </a:p>
        </p:txBody>
      </p:sp>
    </p:spTree>
    <p:extLst>
      <p:ext uri="{BB962C8B-B14F-4D97-AF65-F5344CB8AC3E}">
        <p14:creationId xmlns:p14="http://schemas.microsoft.com/office/powerpoint/2010/main" val="375885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5BA89F-D5EE-40D7-BB78-10BC844A7B58}" type="datetimeFigureOut">
              <a:rPr lang="en-US" smtClean="0"/>
              <a:t>8/13/2024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D880B1-046B-46E3-8889-ACBC373497B3}" type="slidenum">
              <a:rPr lang="en-US" smtClean="0"/>
              <a:t>‹#›</a:t>
            </a:fld>
            <a:endParaRPr lang="en-US"/>
          </a:p>
        </p:txBody>
      </p:sp>
    </p:spTree>
    <p:extLst>
      <p:ext uri="{BB962C8B-B14F-4D97-AF65-F5344CB8AC3E}">
        <p14:creationId xmlns:p14="http://schemas.microsoft.com/office/powerpoint/2010/main" val="1276103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31752"/>
          </a:xfrm>
        </p:spPr>
        <p:txBody>
          <a:bodyPr/>
          <a:lstStyle/>
          <a:p>
            <a:r>
              <a:rPr lang="en-US" b="1" dirty="0" smtClean="0">
                <a:latin typeface="Times New Roman" pitchFamily="18" charset="0"/>
                <a:cs typeface="Times New Roman" pitchFamily="18" charset="0"/>
              </a:rPr>
              <a:t>MODULE </a:t>
            </a:r>
            <a:r>
              <a:rPr lang="en-US" b="1" dirty="0" smtClean="0">
                <a:latin typeface="Times New Roman" pitchFamily="18" charset="0"/>
                <a:cs typeface="Times New Roman" pitchFamily="18" charset="0"/>
              </a:rPr>
              <a:t>3</a:t>
            </a:r>
            <a:endParaRPr lang="en-US" dirty="0"/>
          </a:p>
        </p:txBody>
      </p:sp>
      <p:sp>
        <p:nvSpPr>
          <p:cNvPr id="3" name="Subtitle 2"/>
          <p:cNvSpPr>
            <a:spLocks noGrp="1"/>
          </p:cNvSpPr>
          <p:nvPr>
            <p:ph type="subTitle" idx="1"/>
          </p:nvPr>
        </p:nvSpPr>
        <p:spPr>
          <a:xfrm>
            <a:off x="1523999" y="2857500"/>
            <a:ext cx="9554309" cy="2400300"/>
          </a:xfrm>
        </p:spPr>
        <p:txBody>
          <a:bodyPr>
            <a:noAutofit/>
          </a:bodyPr>
          <a:lstStyle/>
          <a:p>
            <a:pPr algn="l"/>
            <a:r>
              <a:rPr lang="en-US" sz="3600" b="1" dirty="0" smtClean="0">
                <a:latin typeface="Times New Roman" pitchFamily="18" charset="0"/>
                <a:cs typeface="Times New Roman" pitchFamily="18" charset="0"/>
              </a:rPr>
              <a:t>Course Title: 		</a:t>
            </a:r>
            <a:r>
              <a:rPr lang="en-US" sz="3600" dirty="0" smtClean="0">
                <a:latin typeface="Times New Roman" pitchFamily="18" charset="0"/>
                <a:cs typeface="Times New Roman" pitchFamily="18" charset="0"/>
              </a:rPr>
              <a:t>Electricity &amp; Magnetism</a:t>
            </a:r>
          </a:p>
          <a:p>
            <a:pPr algn="l"/>
            <a:r>
              <a:rPr lang="en-US" sz="3600" b="1" dirty="0" smtClean="0">
                <a:latin typeface="Times New Roman" pitchFamily="18" charset="0"/>
                <a:cs typeface="Times New Roman" pitchFamily="18" charset="0"/>
              </a:rPr>
              <a:t>Course Code:</a:t>
            </a:r>
            <a:r>
              <a:rPr lang="en-US" sz="3600" dirty="0" smtClean="0">
                <a:latin typeface="Times New Roman" pitchFamily="18" charset="0"/>
                <a:cs typeface="Times New Roman" pitchFamily="18" charset="0"/>
              </a:rPr>
              <a:t>		PHYS 102</a:t>
            </a:r>
            <a:br>
              <a:rPr lang="en-US" sz="3600" dirty="0" smtClean="0">
                <a:latin typeface="Times New Roman" pitchFamily="18" charset="0"/>
                <a:cs typeface="Times New Roman" pitchFamily="18" charset="0"/>
              </a:rPr>
            </a:br>
            <a:r>
              <a:rPr lang="en-US" sz="3600" b="1" dirty="0" smtClean="0">
                <a:latin typeface="Times New Roman" pitchFamily="18" charset="0"/>
                <a:cs typeface="Times New Roman" pitchFamily="18" charset="0"/>
              </a:rPr>
              <a:t>Unit:</a:t>
            </a:r>
            <a:r>
              <a:rPr lang="en-US" sz="3600" dirty="0" smtClean="0">
                <a:latin typeface="Times New Roman" pitchFamily="18" charset="0"/>
                <a:cs typeface="Times New Roman" pitchFamily="18" charset="0"/>
              </a:rPr>
              <a:t>			3 CU</a:t>
            </a:r>
            <a:br>
              <a:rPr lang="en-US" sz="3600" dirty="0" smtClean="0">
                <a:latin typeface="Times New Roman" pitchFamily="18" charset="0"/>
                <a:cs typeface="Times New Roman" pitchFamily="18" charset="0"/>
              </a:rPr>
            </a:br>
            <a:r>
              <a:rPr lang="en-US" sz="3600" b="1" dirty="0" smtClean="0">
                <a:latin typeface="Times New Roman" pitchFamily="18" charset="0"/>
                <a:cs typeface="Times New Roman" pitchFamily="18" charset="0"/>
              </a:rPr>
              <a:t>Lecturer:</a:t>
            </a:r>
            <a:r>
              <a:rPr lang="en-US" sz="3600" dirty="0" smtClean="0">
                <a:latin typeface="Times New Roman" pitchFamily="18" charset="0"/>
                <a:cs typeface="Times New Roman" pitchFamily="18" charset="0"/>
              </a:rPr>
              <a:t>		ABUBAKAR ABDULKADIR</a:t>
            </a:r>
            <a:endParaRPr lang="en-US" sz="3600" dirty="0" smtClean="0"/>
          </a:p>
          <a:p>
            <a:endParaRPr lang="en-US" sz="3600" dirty="0" smtClean="0"/>
          </a:p>
          <a:p>
            <a:endParaRPr lang="en-US" sz="3600" dirty="0" smtClean="0"/>
          </a:p>
          <a:p>
            <a:endParaRPr lang="en-US" sz="3600" dirty="0"/>
          </a:p>
        </p:txBody>
      </p:sp>
    </p:spTree>
    <p:extLst>
      <p:ext uri="{BB962C8B-B14F-4D97-AF65-F5344CB8AC3E}">
        <p14:creationId xmlns:p14="http://schemas.microsoft.com/office/powerpoint/2010/main" val="1963696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smtClean="0"/>
              <a:t>Outline</a:t>
            </a:r>
            <a:endParaRPr lang="en-US" sz="5400" dirty="0"/>
          </a:p>
        </p:txBody>
      </p:sp>
      <p:sp>
        <p:nvSpPr>
          <p:cNvPr id="3" name="Content Placeholder 2"/>
          <p:cNvSpPr>
            <a:spLocks noGrp="1"/>
          </p:cNvSpPr>
          <p:nvPr>
            <p:ph idx="1"/>
          </p:nvPr>
        </p:nvSpPr>
        <p:spPr/>
        <p:txBody>
          <a:bodyPr/>
          <a:lstStyle/>
          <a:p>
            <a:r>
              <a:rPr lang="en-US" dirty="0" err="1" smtClean="0"/>
              <a:t>Biot</a:t>
            </a:r>
            <a:r>
              <a:rPr lang="en-US" dirty="0" smtClean="0"/>
              <a:t> &amp; </a:t>
            </a:r>
            <a:r>
              <a:rPr lang="en-US" dirty="0" err="1" smtClean="0"/>
              <a:t>Savart</a:t>
            </a:r>
            <a:r>
              <a:rPr lang="en-US" dirty="0" smtClean="0"/>
              <a:t> Law</a:t>
            </a:r>
          </a:p>
          <a:p>
            <a:r>
              <a:rPr lang="en-US" dirty="0" smtClean="0"/>
              <a:t>Ampere’s law</a:t>
            </a:r>
          </a:p>
          <a:p>
            <a:r>
              <a:rPr lang="en-US" dirty="0" smtClean="0"/>
              <a:t>Magnetic Dipole moment</a:t>
            </a:r>
          </a:p>
          <a:p>
            <a:endParaRPr lang="en-US" dirty="0"/>
          </a:p>
        </p:txBody>
      </p:sp>
    </p:spTree>
    <p:extLst>
      <p:ext uri="{BB962C8B-B14F-4D97-AF65-F5344CB8AC3E}">
        <p14:creationId xmlns:p14="http://schemas.microsoft.com/office/powerpoint/2010/main" val="384641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990"/>
          </a:xfrm>
        </p:spPr>
        <p:txBody>
          <a:bodyPr>
            <a:normAutofit fontScale="90000"/>
          </a:bodyPr>
          <a:lstStyle/>
          <a:p>
            <a:pPr algn="ctr"/>
            <a:r>
              <a:rPr lang="en-US" b="1" dirty="0" smtClean="0"/>
              <a:t/>
            </a:r>
            <a:br>
              <a:rPr lang="en-US" b="1" dirty="0" smtClean="0"/>
            </a:br>
            <a:r>
              <a:rPr lang="en-US" b="1" dirty="0" err="1" smtClean="0"/>
              <a:t>Biot</a:t>
            </a:r>
            <a:r>
              <a:rPr lang="en-US" b="1" dirty="0" smtClean="0"/>
              <a:t>- </a:t>
            </a:r>
            <a:r>
              <a:rPr lang="en-US" b="1" dirty="0" err="1"/>
              <a:t>Savart</a:t>
            </a:r>
            <a:r>
              <a:rPr lang="en-US" b="1" dirty="0"/>
              <a:t> Law</a:t>
            </a: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4392" y="1011116"/>
            <a:ext cx="2209800" cy="1647825"/>
          </a:xfrm>
        </p:spPr>
      </p:pic>
      <mc:AlternateContent xmlns:mc="http://schemas.openxmlformats.org/markup-compatibility/2006" xmlns:a14="http://schemas.microsoft.com/office/drawing/2010/main">
        <mc:Choice Requires="a14">
          <p:sp>
            <p:nvSpPr>
              <p:cNvPr id="5" name="TextBox 4"/>
              <p:cNvSpPr txBox="1"/>
              <p:nvPr/>
            </p:nvSpPr>
            <p:spPr>
              <a:xfrm>
                <a:off x="726830" y="3304931"/>
                <a:ext cx="4451839" cy="3199274"/>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𝒅𝑩</m:t>
                          </m:r>
                        </m:e>
                      </m:acc>
                      <m:r>
                        <a:rPr lang="en-US" b="1" i="1">
                          <a:latin typeface="Cambria Math" panose="02040503050406030204" pitchFamily="18" charset="0"/>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𝝁</m:t>
                              </m:r>
                            </m:e>
                            <m:sub>
                              <m:r>
                                <a:rPr lang="en-US" b="1" i="1">
                                  <a:latin typeface="Cambria Math" panose="02040503050406030204" pitchFamily="18" charset="0"/>
                                </a:rPr>
                                <m:t>𝒐</m:t>
                              </m:r>
                            </m:sub>
                          </m:sSub>
                          <m:r>
                            <a:rPr lang="en-US" b="1" i="1">
                              <a:latin typeface="Cambria Math" panose="02040503050406030204" pitchFamily="18" charset="0"/>
                            </a:rPr>
                            <m:t>𝑰</m:t>
                          </m:r>
                        </m:num>
                        <m:den>
                          <m:r>
                            <a:rPr lang="en-US" b="1" i="1">
                              <a:latin typeface="Cambria Math" panose="02040503050406030204" pitchFamily="18" charset="0"/>
                            </a:rPr>
                            <m:t>𝟒</m:t>
                          </m:r>
                          <m:r>
                            <a:rPr lang="en-US" b="1" i="1">
                              <a:latin typeface="Cambria Math" panose="02040503050406030204" pitchFamily="18" charset="0"/>
                            </a:rPr>
                            <m:t>𝝅</m:t>
                          </m:r>
                        </m:den>
                      </m:f>
                      <m:f>
                        <m:fPr>
                          <m:ctrlPr>
                            <a:rPr lang="en-US" b="1" i="1">
                              <a:latin typeface="Cambria Math" panose="02040503050406030204" pitchFamily="18" charset="0"/>
                            </a:rPr>
                          </m:ctrlPr>
                        </m:fPr>
                        <m:num>
                          <m:acc>
                            <m:accPr>
                              <m:chr m:val="⃗"/>
                              <m:ctrlPr>
                                <a:rPr lang="en-US" b="1" i="1">
                                  <a:latin typeface="Cambria Math" panose="02040503050406030204" pitchFamily="18" charset="0"/>
                                </a:rPr>
                              </m:ctrlPr>
                            </m:accPr>
                            <m:e>
                              <m:r>
                                <a:rPr lang="en-US" b="1" i="1">
                                  <a:latin typeface="Cambria Math" panose="02040503050406030204" pitchFamily="18" charset="0"/>
                                </a:rPr>
                                <m:t>𝒅𝒍</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𝒓</m:t>
                              </m:r>
                            </m:e>
                          </m:acc>
                        </m:num>
                        <m:den>
                          <m:sSup>
                            <m:sSupPr>
                              <m:ctrlPr>
                                <a:rPr lang="en-US" b="1" i="1">
                                  <a:latin typeface="Cambria Math" panose="02040503050406030204" pitchFamily="18" charset="0"/>
                                </a:rPr>
                              </m:ctrlPr>
                            </m:sSupPr>
                            <m:e>
                              <m:r>
                                <a:rPr lang="en-US" b="1" i="1">
                                  <a:latin typeface="Cambria Math" panose="02040503050406030204" pitchFamily="18" charset="0"/>
                                </a:rPr>
                                <m:t>𝒓</m:t>
                              </m:r>
                            </m:e>
                            <m:sup>
                              <m:r>
                                <a:rPr lang="en-US" b="1" i="1">
                                  <a:latin typeface="Cambria Math" panose="02040503050406030204" pitchFamily="18" charset="0"/>
                                </a:rPr>
                                <m:t>𝟐</m:t>
                              </m:r>
                            </m:sup>
                          </m:sSup>
                        </m:den>
                      </m:f>
                    </m:oMath>
                  </m:oMathPara>
                </a14:m>
                <a:endParaRPr lang="en-US" b="1" dirty="0" smtClean="0"/>
              </a:p>
              <a:p>
                <a:pPr algn="just"/>
                <a:endParaRPr lang="en-US" dirty="0"/>
              </a:p>
              <a:p>
                <a:pPr algn="just"/>
                <a:r>
                  <a:rPr lang="en-US" dirty="0"/>
                  <a:t>The magnitude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𝑑𝐵</m:t>
                        </m:r>
                      </m:e>
                    </m:acc>
                  </m:oMath>
                </a14:m>
                <a:r>
                  <a:rPr lang="en-US" dirty="0"/>
                  <a:t> is </a:t>
                </a:r>
                <a:r>
                  <a:rPr lang="en-US" dirty="0" smtClean="0"/>
                  <a:t>now</a:t>
                </a:r>
              </a:p>
              <a:p>
                <a:pPr algn="just"/>
                <a:endParaRPr lang="en-US" dirty="0" smtClean="0"/>
              </a:p>
              <a:p>
                <a:pPr algn="just"/>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𝒅𝑩</m:t>
                      </m:r>
                      <m:r>
                        <a:rPr lang="en-US" b="1" i="1">
                          <a:latin typeface="Cambria Math" panose="02040503050406030204" pitchFamily="18" charset="0"/>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𝝁</m:t>
                              </m:r>
                            </m:e>
                            <m:sub>
                              <m:r>
                                <a:rPr lang="en-US" b="1" i="1">
                                  <a:latin typeface="Cambria Math" panose="02040503050406030204" pitchFamily="18" charset="0"/>
                                </a:rPr>
                                <m:t>𝒐</m:t>
                              </m:r>
                            </m:sub>
                          </m:sSub>
                          <m:r>
                            <a:rPr lang="en-US" b="1" i="1">
                              <a:latin typeface="Cambria Math" panose="02040503050406030204" pitchFamily="18" charset="0"/>
                            </a:rPr>
                            <m:t>𝑰</m:t>
                          </m:r>
                        </m:num>
                        <m:den>
                          <m:r>
                            <a:rPr lang="en-US" b="1" i="1">
                              <a:latin typeface="Cambria Math" panose="02040503050406030204" pitchFamily="18" charset="0"/>
                            </a:rPr>
                            <m:t>𝟒</m:t>
                          </m:r>
                          <m:r>
                            <a:rPr lang="en-US" b="1" i="1">
                              <a:latin typeface="Cambria Math" panose="02040503050406030204" pitchFamily="18" charset="0"/>
                            </a:rPr>
                            <m:t>𝝅</m:t>
                          </m:r>
                        </m:den>
                      </m:f>
                      <m:f>
                        <m:fPr>
                          <m:ctrlPr>
                            <a:rPr lang="en-US" b="1" i="1">
                              <a:latin typeface="Cambria Math" panose="02040503050406030204" pitchFamily="18" charset="0"/>
                            </a:rPr>
                          </m:ctrlPr>
                        </m:fPr>
                        <m:num>
                          <m:r>
                            <a:rPr lang="en-US" b="1" i="1">
                              <a:latin typeface="Cambria Math" panose="02040503050406030204" pitchFamily="18" charset="0"/>
                            </a:rPr>
                            <m:t>𝒅𝒍𝒔𝒊𝒏</m:t>
                          </m:r>
                          <m:r>
                            <a:rPr lang="en-US" b="1" i="1">
                              <a:latin typeface="Cambria Math" panose="02040503050406030204" pitchFamily="18" charset="0"/>
                            </a:rPr>
                            <m:t>𝜽</m:t>
                          </m:r>
                        </m:num>
                        <m:den>
                          <m:sSup>
                            <m:sSupPr>
                              <m:ctrlPr>
                                <a:rPr lang="en-US" b="1" i="1">
                                  <a:latin typeface="Cambria Math" panose="02040503050406030204" pitchFamily="18" charset="0"/>
                                </a:rPr>
                              </m:ctrlPr>
                            </m:sSupPr>
                            <m:e>
                              <m:r>
                                <a:rPr lang="en-US" b="1" i="1">
                                  <a:latin typeface="Cambria Math" panose="02040503050406030204" pitchFamily="18" charset="0"/>
                                </a:rPr>
                                <m:t>𝒓</m:t>
                              </m:r>
                            </m:e>
                            <m:sup>
                              <m:r>
                                <a:rPr lang="en-US" b="1" i="1">
                                  <a:latin typeface="Cambria Math" panose="02040503050406030204" pitchFamily="18" charset="0"/>
                                </a:rPr>
                                <m:t>𝟐</m:t>
                              </m:r>
                            </m:sup>
                          </m:sSup>
                        </m:den>
                      </m:f>
                    </m:oMath>
                  </m:oMathPara>
                </a14:m>
                <a:endParaRPr lang="en-US" b="1" dirty="0" smtClean="0"/>
              </a:p>
              <a:p>
                <a:pPr algn="just"/>
                <a:endParaRPr lang="en-US" b="1" dirty="0"/>
              </a:p>
              <a:p>
                <a:pPr algn="just"/>
                <a:r>
                  <a:rPr lang="en-US" dirty="0" smtClean="0"/>
                  <a:t>The equation represents the magnitude of the magnetic field strength at some point p due to a current element </a:t>
                </a:r>
                <a14:m>
                  <m:oMath xmlns:m="http://schemas.openxmlformats.org/officeDocument/2006/math">
                    <m:r>
                      <a:rPr lang="en-US" b="1" i="1">
                        <a:latin typeface="Cambria Math" panose="02040503050406030204" pitchFamily="18" charset="0"/>
                      </a:rPr>
                      <m:t>𝒅𝒍</m:t>
                    </m:r>
                  </m:oMath>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726830" y="3304931"/>
                <a:ext cx="4451839" cy="3199274"/>
              </a:xfrm>
              <a:prstGeom prst="rect">
                <a:avLst/>
              </a:prstGeom>
              <a:blipFill rotWithShape="0">
                <a:blip r:embed="rId3"/>
                <a:stretch>
                  <a:fillRect l="-1094" r="-1094" b="-1905"/>
                </a:stretch>
              </a:blipFill>
            </p:spPr>
            <p:txBody>
              <a:bodyPr/>
              <a:lstStyle/>
              <a:p>
                <a:r>
                  <a:rPr lang="en-US">
                    <a:noFill/>
                  </a:rPr>
                  <a:t> </a:t>
                </a:r>
              </a:p>
            </p:txBody>
          </p:sp>
        </mc:Fallback>
      </mc:AlternateContent>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830" y="844061"/>
            <a:ext cx="1796561" cy="221566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54589" y="1011114"/>
            <a:ext cx="2152650" cy="1647825"/>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2666" y="1011113"/>
            <a:ext cx="2383448" cy="1647825"/>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5792666" y="3059722"/>
                <a:ext cx="5098808" cy="3295839"/>
              </a:xfrm>
              <a:prstGeom prst="rect">
                <a:avLst/>
              </a:prstGeom>
              <a:noFill/>
            </p:spPr>
            <p:txBody>
              <a:bodyPr wrap="square" rtlCol="0">
                <a:spAutoFit/>
              </a:bodyPr>
              <a:lstStyle/>
              <a:p>
                <a:pPr algn="just"/>
                <a:r>
                  <a:rPr lang="en-US" dirty="0" smtClean="0"/>
                  <a:t>Magnetic field at a point, P, due to the entire wire can be obtained by summing the entire current elements. In other words we integrate</a:t>
                </a:r>
              </a:p>
              <a:p>
                <a:pPr algn="just"/>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𝐵</m:t>
                          </m:r>
                        </m:e>
                      </m:acc>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acc>
                            <m:accPr>
                              <m:chr m:val="⃗"/>
                              <m:ctrlPr>
                                <a:rPr lang="en-US" i="1">
                                  <a:latin typeface="Cambria Math" panose="02040503050406030204" pitchFamily="18" charset="0"/>
                                </a:rPr>
                              </m:ctrlPr>
                            </m:accPr>
                            <m:e>
                              <m:r>
                                <a:rPr lang="en-US" i="1">
                                  <a:latin typeface="Cambria Math" panose="02040503050406030204" pitchFamily="18" charset="0"/>
                                </a:rPr>
                                <m:t>𝑑𝐵</m:t>
                              </m:r>
                            </m:e>
                          </m:acc>
                        </m:e>
                      </m:nary>
                      <m:r>
                        <a:rPr lang="en-US" i="1">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𝑜</m:t>
                                  </m:r>
                                </m:sub>
                              </m:sSub>
                              <m:r>
                                <a:rPr lang="en-US" i="1">
                                  <a:latin typeface="Cambria Math" panose="02040503050406030204" pitchFamily="18" charset="0"/>
                                </a:rPr>
                                <m:t>𝐼</m:t>
                              </m:r>
                            </m:num>
                            <m:den>
                              <m:r>
                                <a:rPr lang="en-US" i="1">
                                  <a:latin typeface="Cambria Math" panose="02040503050406030204" pitchFamily="18" charset="0"/>
                                </a:rPr>
                                <m:t>4</m:t>
                              </m:r>
                              <m:r>
                                <a:rPr lang="en-US" i="1">
                                  <a:latin typeface="Cambria Math" panose="02040503050406030204" pitchFamily="18" charset="0"/>
                                </a:rPr>
                                <m:t>𝜋</m:t>
                              </m:r>
                            </m:den>
                          </m:f>
                        </m:e>
                      </m:nary>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𝑑𝑙</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𝑟</m:t>
                              </m:r>
                            </m:e>
                          </m:acc>
                        </m:num>
                        <m:den>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2</m:t>
                              </m:r>
                            </m:sup>
                          </m:sSup>
                        </m:den>
                      </m:f>
                    </m:oMath>
                  </m:oMathPara>
                </a14:m>
                <a:endParaRPr lang="en-US" dirty="0" smtClean="0"/>
              </a:p>
              <a:p>
                <a:pPr algn="just"/>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𝐵</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𝑜</m:t>
                              </m:r>
                            </m:sub>
                          </m:sSub>
                          <m:r>
                            <a:rPr lang="en-US" i="1">
                              <a:latin typeface="Cambria Math" panose="02040503050406030204" pitchFamily="18" charset="0"/>
                            </a:rPr>
                            <m:t>𝐼</m:t>
                          </m:r>
                        </m:num>
                        <m:den>
                          <m:r>
                            <a:rPr lang="en-US" i="1">
                              <a:latin typeface="Cambria Math" panose="02040503050406030204" pitchFamily="18" charset="0"/>
                            </a:rPr>
                            <m:t>2</m:t>
                          </m:r>
                          <m:r>
                            <a:rPr lang="en-US" i="1">
                              <a:latin typeface="Cambria Math" panose="02040503050406030204" pitchFamily="18" charset="0"/>
                            </a:rPr>
                            <m:t>𝑟</m:t>
                          </m:r>
                        </m:den>
                      </m:f>
                    </m:oMath>
                  </m:oMathPara>
                </a14:m>
                <a:endParaRPr lang="en-US" dirty="0"/>
              </a:p>
              <a:p>
                <a:pPr algn="just"/>
                <a:endParaRPr lang="en-US" dirty="0" smtClean="0"/>
              </a:p>
              <a:p>
                <a:pPr algn="just"/>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𝑜</m:t>
                              </m:r>
                            </m:sub>
                          </m:sSub>
                          <m:r>
                            <a:rPr lang="en-US" i="1">
                              <a:latin typeface="Cambria Math" panose="02040503050406030204" pitchFamily="18" charset="0"/>
                            </a:rPr>
                            <m:t>𝑁𝐼</m:t>
                          </m:r>
                        </m:num>
                        <m:den>
                          <m:r>
                            <a:rPr lang="en-US" i="1">
                              <a:latin typeface="Cambria Math" panose="02040503050406030204" pitchFamily="18" charset="0"/>
                            </a:rPr>
                            <m:t>2</m:t>
                          </m:r>
                          <m:r>
                            <a:rPr lang="en-US" i="1">
                              <a:latin typeface="Cambria Math" panose="02040503050406030204" pitchFamily="18" charset="0"/>
                            </a:rPr>
                            <m:t>𝑟</m:t>
                          </m:r>
                        </m:den>
                      </m:f>
                    </m:oMath>
                  </m:oMathPara>
                </a14:m>
                <a:endParaRPr lang="en-US" dirty="0"/>
              </a:p>
              <a:p>
                <a:pPr algn="just"/>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5792666" y="3059722"/>
                <a:ext cx="5098808" cy="3295839"/>
              </a:xfrm>
              <a:prstGeom prst="rect">
                <a:avLst/>
              </a:prstGeom>
              <a:blipFill rotWithShape="0">
                <a:blip r:embed="rId7"/>
                <a:stretch>
                  <a:fillRect l="-956" t="-1109" r="-956"/>
                </a:stretch>
              </a:blipFill>
            </p:spPr>
            <p:txBody>
              <a:bodyPr/>
              <a:lstStyle/>
              <a:p>
                <a:r>
                  <a:rPr lang="en-US">
                    <a:noFill/>
                  </a:rPr>
                  <a:t> </a:t>
                </a:r>
              </a:p>
            </p:txBody>
          </p:sp>
        </mc:Fallback>
      </mc:AlternateContent>
    </p:spTree>
    <p:extLst>
      <p:ext uri="{BB962C8B-B14F-4D97-AF65-F5344CB8AC3E}">
        <p14:creationId xmlns:p14="http://schemas.microsoft.com/office/powerpoint/2010/main" val="2104709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normAutofit fontScale="90000"/>
          </a:bodyPr>
          <a:lstStyle/>
          <a:p>
            <a:pPr algn="ctr"/>
            <a:r>
              <a:rPr lang="en-US" dirty="0" smtClean="0"/>
              <a:t/>
            </a:r>
            <a:br>
              <a:rPr lang="en-US" dirty="0" smtClean="0"/>
            </a:br>
            <a:r>
              <a:rPr lang="en-US" dirty="0" smtClean="0"/>
              <a:t>Magnetic Dipole Moment</a:t>
            </a:r>
            <a:r>
              <a:rPr lang="en-US" dirty="0"/>
              <a:t/>
            </a:r>
            <a:br>
              <a:rPr lang="en-US" dirty="0"/>
            </a:br>
            <a:endParaRPr lang="en-US" dirty="0"/>
          </a:p>
        </p:txBody>
      </p:sp>
      <p:sp>
        <p:nvSpPr>
          <p:cNvPr id="3" name="Content Placeholder 2"/>
          <p:cNvSpPr>
            <a:spLocks noGrp="1"/>
          </p:cNvSpPr>
          <p:nvPr>
            <p:ph idx="1"/>
          </p:nvPr>
        </p:nvSpPr>
        <p:spPr>
          <a:xfrm>
            <a:off x="838200" y="1143000"/>
            <a:ext cx="10515600" cy="5161085"/>
          </a:xfrm>
        </p:spPr>
        <p:txBody>
          <a:bodyPr/>
          <a:lstStyle/>
          <a:p>
            <a:r>
              <a:rPr lang="en-US" dirty="0" smtClean="0"/>
              <a:t>Concept in Electromagnetism</a:t>
            </a:r>
          </a:p>
          <a:p>
            <a:pPr marL="0" indent="0">
              <a:buNone/>
            </a:pP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9360" y="1732574"/>
            <a:ext cx="2072052" cy="18288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9359" y="3807326"/>
            <a:ext cx="2072053" cy="1828800"/>
          </a:xfrm>
          <a:prstGeom prst="rect">
            <a:avLst/>
          </a:prstGeom>
        </p:spPr>
      </p:pic>
      <p:sp>
        <p:nvSpPr>
          <p:cNvPr id="4" name="TextBox 3"/>
          <p:cNvSpPr txBox="1"/>
          <p:nvPr/>
        </p:nvSpPr>
        <p:spPr>
          <a:xfrm>
            <a:off x="838200" y="2740364"/>
            <a:ext cx="422031" cy="369332"/>
          </a:xfrm>
          <a:prstGeom prst="rect">
            <a:avLst/>
          </a:prstGeom>
          <a:noFill/>
        </p:spPr>
        <p:txBody>
          <a:bodyPr wrap="square" rtlCol="0">
            <a:spAutoFit/>
          </a:bodyPr>
          <a:lstStyle/>
          <a:p>
            <a:r>
              <a:rPr lang="en-US" dirty="0" smtClean="0"/>
              <a:t>a)</a:t>
            </a:r>
            <a:endParaRPr lang="en-US" dirty="0"/>
          </a:p>
        </p:txBody>
      </p:sp>
      <p:sp>
        <p:nvSpPr>
          <p:cNvPr id="5" name="TextBox 4"/>
          <p:cNvSpPr txBox="1"/>
          <p:nvPr/>
        </p:nvSpPr>
        <p:spPr>
          <a:xfrm>
            <a:off x="838200" y="5535640"/>
            <a:ext cx="404446" cy="369332"/>
          </a:xfrm>
          <a:prstGeom prst="rect">
            <a:avLst/>
          </a:prstGeom>
          <a:noFill/>
        </p:spPr>
        <p:txBody>
          <a:bodyPr wrap="square" rtlCol="0">
            <a:spAutoFit/>
          </a:bodyPr>
          <a:lstStyle/>
          <a:p>
            <a:r>
              <a:rPr lang="en-US" dirty="0"/>
              <a:t>c</a:t>
            </a:r>
            <a:r>
              <a:rPr lang="en-US" dirty="0" smtClean="0"/>
              <a:t>)</a:t>
            </a:r>
            <a:endParaRPr lang="en-US" dirty="0"/>
          </a:p>
        </p:txBody>
      </p:sp>
      <p:sp>
        <p:nvSpPr>
          <p:cNvPr id="9" name="TextBox 8"/>
          <p:cNvSpPr txBox="1"/>
          <p:nvPr/>
        </p:nvSpPr>
        <p:spPr>
          <a:xfrm>
            <a:off x="3710348" y="5535640"/>
            <a:ext cx="404446" cy="369332"/>
          </a:xfrm>
          <a:prstGeom prst="rect">
            <a:avLst/>
          </a:prstGeom>
          <a:noFill/>
        </p:spPr>
        <p:txBody>
          <a:bodyPr wrap="square" rtlCol="0">
            <a:spAutoFit/>
          </a:bodyPr>
          <a:lstStyle/>
          <a:p>
            <a:r>
              <a:rPr lang="en-US" dirty="0"/>
              <a:t>d</a:t>
            </a:r>
            <a:r>
              <a:rPr lang="en-US" dirty="0" smtClean="0"/>
              <a:t>)</a:t>
            </a:r>
            <a:endParaRPr lang="en-US" dirty="0"/>
          </a:p>
        </p:txBody>
      </p:sp>
      <p:sp>
        <p:nvSpPr>
          <p:cNvPr id="10" name="TextBox 9"/>
          <p:cNvSpPr txBox="1"/>
          <p:nvPr/>
        </p:nvSpPr>
        <p:spPr>
          <a:xfrm>
            <a:off x="6910754" y="1270909"/>
            <a:ext cx="3446584" cy="2554545"/>
          </a:xfrm>
          <a:prstGeom prst="rect">
            <a:avLst/>
          </a:prstGeom>
          <a:noFill/>
        </p:spPr>
        <p:txBody>
          <a:bodyPr wrap="square" rtlCol="0">
            <a:spAutoFit/>
          </a:bodyPr>
          <a:lstStyle/>
          <a:p>
            <a:pPr algn="just"/>
            <a:r>
              <a:rPr lang="en-US" sz="2000" u="sng" dirty="0" smtClean="0"/>
              <a:t>Definition </a:t>
            </a:r>
          </a:p>
          <a:p>
            <a:pPr algn="just"/>
            <a:endParaRPr lang="en-US" sz="2000" u="sng" dirty="0" smtClean="0"/>
          </a:p>
          <a:p>
            <a:pPr algn="just"/>
            <a:r>
              <a:rPr lang="en-US" sz="2000" dirty="0"/>
              <a:t>A simple </a:t>
            </a:r>
            <a:r>
              <a:rPr lang="en-US" sz="2000" u="sng" dirty="0"/>
              <a:t>definition</a:t>
            </a:r>
            <a:r>
              <a:rPr lang="en-US" sz="2000" dirty="0"/>
              <a:t> of the magnetic dipole moment is that… It is a measurement of the strength of the magnetic field that the magnetic dipole </a:t>
            </a:r>
            <a:r>
              <a:rPr lang="en-US" sz="2000" dirty="0" smtClean="0"/>
              <a:t>generates.</a:t>
            </a:r>
            <a:endParaRPr lang="en-US" sz="2000" u="sng" dirty="0" smtClean="0"/>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2571" y="1741503"/>
            <a:ext cx="2053737" cy="1828800"/>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5394" y="3723542"/>
            <a:ext cx="2040915" cy="1856537"/>
          </a:xfrm>
          <a:prstGeom prst="rect">
            <a:avLst/>
          </a:prstGeom>
        </p:spPr>
      </p:pic>
      <p:sp>
        <p:nvSpPr>
          <p:cNvPr id="13" name="TextBox 12"/>
          <p:cNvSpPr txBox="1"/>
          <p:nvPr/>
        </p:nvSpPr>
        <p:spPr>
          <a:xfrm>
            <a:off x="3512155" y="3376708"/>
            <a:ext cx="413239" cy="369332"/>
          </a:xfrm>
          <a:prstGeom prst="rect">
            <a:avLst/>
          </a:prstGeom>
          <a:noFill/>
        </p:spPr>
        <p:txBody>
          <a:bodyPr wrap="square" rtlCol="0">
            <a:spAutoFit/>
          </a:bodyPr>
          <a:lstStyle/>
          <a:p>
            <a:r>
              <a:rPr lang="en-US" dirty="0" smtClean="0"/>
              <a:t>b)</a:t>
            </a:r>
            <a:endParaRPr lang="en-US" dirty="0"/>
          </a:p>
        </p:txBody>
      </p:sp>
    </p:spTree>
    <p:extLst>
      <p:ext uri="{BB962C8B-B14F-4D97-AF65-F5344CB8AC3E}">
        <p14:creationId xmlns:p14="http://schemas.microsoft.com/office/powerpoint/2010/main" val="40388846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2706"/>
          </a:xfrm>
        </p:spPr>
        <p:txBody>
          <a:bodyPr>
            <a:normAutofit fontScale="90000"/>
          </a:bodyPr>
          <a:lstStyle/>
          <a:p>
            <a:pPr algn="ctr"/>
            <a:r>
              <a:rPr lang="en-US" dirty="0" smtClean="0"/>
              <a:t/>
            </a:r>
            <a:br>
              <a:rPr lang="en-US" dirty="0" smtClean="0"/>
            </a:br>
            <a:r>
              <a:rPr lang="en-US" dirty="0" smtClean="0"/>
              <a:t>Ampere’s </a:t>
            </a:r>
            <a:r>
              <a:rPr lang="en-US" dirty="0"/>
              <a:t>law</a:t>
            </a:r>
            <a:br>
              <a:rPr lang="en-US" dirty="0"/>
            </a:br>
            <a:endParaRPr lang="en-US" dirty="0"/>
          </a:p>
        </p:txBody>
      </p:sp>
      <p:sp>
        <p:nvSpPr>
          <p:cNvPr id="3" name="Content Placeholder 2"/>
          <p:cNvSpPr>
            <a:spLocks noGrp="1"/>
          </p:cNvSpPr>
          <p:nvPr>
            <p:ph idx="1"/>
          </p:nvPr>
        </p:nvSpPr>
        <p:spPr>
          <a:xfrm>
            <a:off x="838200" y="1107832"/>
            <a:ext cx="10515600" cy="5257799"/>
          </a:xfrm>
        </p:spPr>
        <p:txBody>
          <a:bodyPr/>
          <a:lstStyle/>
          <a:p>
            <a:pPr marL="0" indent="0">
              <a:buNone/>
            </a:pPr>
            <a:r>
              <a:rPr lang="en-US" dirty="0" smtClean="0"/>
              <a:t>Concept in Electromagnetism</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838199" y="1661747"/>
                <a:ext cx="6107723" cy="4190763"/>
              </a:xfrm>
              <a:prstGeom prst="rect">
                <a:avLst/>
              </a:prstGeom>
              <a:noFill/>
            </p:spPr>
            <p:txBody>
              <a:bodyPr wrap="square" rtlCol="0">
                <a:spAutoFit/>
              </a:bodyPr>
              <a:lstStyle/>
              <a:p>
                <a:pPr algn="just"/>
                <a:r>
                  <a:rPr lang="en-US" sz="2000" u="sng" dirty="0"/>
                  <a:t>Ampere law</a:t>
                </a:r>
                <a:r>
                  <a:rPr lang="en-US" sz="2000" dirty="0"/>
                  <a:t> states that for any </a:t>
                </a:r>
                <a:r>
                  <a:rPr lang="en-US" sz="2000" dirty="0" smtClean="0"/>
                  <a:t>closed </a:t>
                </a:r>
                <a:r>
                  <a:rPr lang="en-US" sz="2000" dirty="0"/>
                  <a:t>looped path, the sum of the length elements times the magnetic field in the direction of the length is equal to the permeability times the electric current enclosed in the loop</a:t>
                </a:r>
                <a:r>
                  <a:rPr lang="en-US" sz="2000" dirty="0" smtClean="0"/>
                  <a:t>.</a:t>
                </a:r>
              </a:p>
              <a:p>
                <a:pPr algn="just"/>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sz="2000" b="1" i="1">
                              <a:latin typeface="Cambria Math" panose="02040503050406030204" pitchFamily="18" charset="0"/>
                            </a:rPr>
                          </m:ctrlPr>
                        </m:naryPr>
                        <m:sub/>
                        <m:sup/>
                        <m:e>
                          <m:acc>
                            <m:accPr>
                              <m:chr m:val="⃗"/>
                              <m:ctrlPr>
                                <a:rPr lang="en-US" sz="2000" b="1" i="1">
                                  <a:latin typeface="Cambria Math" panose="02040503050406030204" pitchFamily="18" charset="0"/>
                                </a:rPr>
                              </m:ctrlPr>
                            </m:accPr>
                            <m:e>
                              <m:r>
                                <a:rPr lang="en-US" sz="2000" b="1" i="1">
                                  <a:latin typeface="Cambria Math" panose="02040503050406030204" pitchFamily="18" charset="0"/>
                                </a:rPr>
                                <m:t>𝑩</m:t>
                              </m:r>
                              <m:r>
                                <a:rPr lang="en-US" sz="2000" b="1" i="1">
                                  <a:latin typeface="Cambria Math" panose="02040503050406030204" pitchFamily="18" charset="0"/>
                                </a:rPr>
                                <m:t>.</m:t>
                              </m:r>
                            </m:e>
                          </m:acc>
                        </m:e>
                      </m:nary>
                      <m:acc>
                        <m:accPr>
                          <m:chr m:val="⃗"/>
                          <m:ctrlPr>
                            <a:rPr lang="en-US" sz="2000" b="1" i="1">
                              <a:latin typeface="Cambria Math" panose="02040503050406030204" pitchFamily="18" charset="0"/>
                            </a:rPr>
                          </m:ctrlPr>
                        </m:accPr>
                        <m:e>
                          <m:r>
                            <a:rPr lang="en-US" sz="2000" b="1" i="1">
                              <a:latin typeface="Cambria Math" panose="02040503050406030204" pitchFamily="18" charset="0"/>
                            </a:rPr>
                            <m:t>𝒅𝒍</m:t>
                          </m:r>
                        </m:e>
                      </m:acc>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𝝁</m:t>
                          </m:r>
                        </m:e>
                        <m:sub>
                          <m:r>
                            <a:rPr lang="en-US" sz="2000" b="1" i="1">
                              <a:latin typeface="Cambria Math" panose="02040503050406030204" pitchFamily="18" charset="0"/>
                            </a:rPr>
                            <m:t>𝒐</m:t>
                          </m:r>
                        </m:sub>
                      </m:sSub>
                      <m:sSub>
                        <m:sSubPr>
                          <m:ctrlPr>
                            <a:rPr lang="en-US" sz="2000" b="1" i="1">
                              <a:latin typeface="Cambria Math" panose="02040503050406030204" pitchFamily="18" charset="0"/>
                            </a:rPr>
                          </m:ctrlPr>
                        </m:sSubPr>
                        <m:e>
                          <m:r>
                            <a:rPr lang="en-US" sz="2000" b="1" i="1">
                              <a:latin typeface="Cambria Math" panose="02040503050406030204" pitchFamily="18" charset="0"/>
                            </a:rPr>
                            <m:t>𝒊</m:t>
                          </m:r>
                        </m:e>
                        <m:sub>
                          <m:r>
                            <a:rPr lang="en-US" sz="2000" b="1" i="1">
                              <a:latin typeface="Cambria Math" panose="02040503050406030204" pitchFamily="18" charset="0"/>
                            </a:rPr>
                            <m:t>𝒆𝒏𝒄𝒍𝒐𝒔𝒆𝒅</m:t>
                          </m:r>
                        </m:sub>
                      </m:sSub>
                    </m:oMath>
                  </m:oMathPara>
                </a14:m>
                <a:endParaRPr lang="en-US" sz="2000" dirty="0" smtClean="0"/>
              </a:p>
              <a:p>
                <a:pPr algn="just"/>
                <a:r>
                  <a:rPr lang="en-US" sz="2000" dirty="0"/>
                  <a:t>Because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𝑩</m:t>
                        </m:r>
                      </m:e>
                    </m:acc>
                  </m:oMath>
                </a14:m>
                <a:r>
                  <a:rPr lang="en-US" sz="2000" dirty="0"/>
                  <a:t> and </a:t>
                </a:r>
                <a14:m>
                  <m:oMath xmlns:m="http://schemas.openxmlformats.org/officeDocument/2006/math">
                    <m:acc>
                      <m:accPr>
                        <m:chr m:val="⃗"/>
                        <m:ctrlPr>
                          <a:rPr lang="en-US" sz="2000" i="1">
                            <a:latin typeface="Cambria Math" panose="02040503050406030204" pitchFamily="18" charset="0"/>
                          </a:rPr>
                        </m:ctrlPr>
                      </m:accPr>
                      <m:e>
                        <m:r>
                          <a:rPr lang="en-US" sz="2000" b="1" i="1">
                            <a:latin typeface="Cambria Math" panose="02040503050406030204" pitchFamily="18" charset="0"/>
                          </a:rPr>
                          <m:t>𝒅𝒍</m:t>
                        </m:r>
                      </m:e>
                    </m:acc>
                  </m:oMath>
                </a14:m>
                <a:r>
                  <a:rPr lang="en-US" sz="2000" dirty="0"/>
                  <a:t> are parallel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𝑐𝑜𝑠</m:t>
                    </m:r>
                    <m:r>
                      <a:rPr lang="en-US" sz="2000" i="1">
                        <a:latin typeface="Cambria Math" panose="02040503050406030204" pitchFamily="18" charset="0"/>
                      </a:rPr>
                      <m:t>𝜃</m:t>
                    </m:r>
                    <m:r>
                      <a:rPr lang="en-US" sz="2000" i="1">
                        <a:latin typeface="Cambria Math" panose="02040503050406030204" pitchFamily="18" charset="0"/>
                      </a:rPr>
                      <m:t>=1)</m:t>
                    </m:r>
                  </m:oMath>
                </a14:m>
                <a:r>
                  <a:rPr lang="en-US" sz="2000" dirty="0"/>
                  <a:t> at all points on the </a:t>
                </a:r>
                <a:r>
                  <a:rPr lang="en-US" sz="2000" dirty="0" err="1"/>
                  <a:t>amperian</a:t>
                </a:r>
                <a:r>
                  <a:rPr lang="en-US" sz="2000" dirty="0"/>
                  <a:t> loop we can </a:t>
                </a:r>
                <a:r>
                  <a:rPr lang="en-US" sz="2000" dirty="0" smtClean="0"/>
                  <a:t>write;</a:t>
                </a:r>
              </a:p>
              <a:p>
                <a:pPr algn="just"/>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𝝁</m:t>
                          </m:r>
                        </m:e>
                        <m:sub>
                          <m:r>
                            <a:rPr lang="en-US" sz="2000" b="1" i="1">
                              <a:latin typeface="Cambria Math" panose="02040503050406030204" pitchFamily="18" charset="0"/>
                            </a:rPr>
                            <m:t>𝒐</m:t>
                          </m:r>
                        </m:sub>
                      </m:sSub>
                      <m:sSub>
                        <m:sSubPr>
                          <m:ctrlPr>
                            <a:rPr lang="en-US" sz="2000" b="1" i="1">
                              <a:latin typeface="Cambria Math" panose="02040503050406030204" pitchFamily="18" charset="0"/>
                            </a:rPr>
                          </m:ctrlPr>
                        </m:sSubPr>
                        <m:e>
                          <m:r>
                            <a:rPr lang="en-US" sz="2000" b="1" i="1">
                              <a:latin typeface="Cambria Math" panose="02040503050406030204" pitchFamily="18" charset="0"/>
                            </a:rPr>
                            <m:t>𝒊</m:t>
                          </m:r>
                        </m:e>
                        <m:sub>
                          <m:r>
                            <a:rPr lang="en-US" sz="2000" b="1" i="1">
                              <a:latin typeface="Cambria Math" panose="02040503050406030204" pitchFamily="18" charset="0"/>
                            </a:rPr>
                            <m:t>𝒆𝒏𝒄𝒍𝒐𝒔𝒆𝒅</m:t>
                          </m:r>
                        </m:sub>
                      </m:sSub>
                      <m:r>
                        <a:rPr lang="en-US" sz="2000" b="1" i="1">
                          <a:latin typeface="Cambria Math" panose="02040503050406030204" pitchFamily="18" charset="0"/>
                        </a:rPr>
                        <m:t>=</m:t>
                      </m:r>
                      <m:r>
                        <a:rPr lang="en-US" sz="2000" b="1" i="1">
                          <a:latin typeface="Cambria Math" panose="02040503050406030204" pitchFamily="18" charset="0"/>
                        </a:rPr>
                        <m:t>𝑩</m:t>
                      </m:r>
                      <m:nary>
                        <m:naryPr>
                          <m:chr m:val="∮"/>
                          <m:limLoc m:val="undOvr"/>
                          <m:subHide m:val="on"/>
                          <m:supHide m:val="on"/>
                          <m:ctrlPr>
                            <a:rPr lang="en-US" sz="2000" b="1" i="1">
                              <a:latin typeface="Cambria Math" panose="02040503050406030204" pitchFamily="18" charset="0"/>
                            </a:rPr>
                          </m:ctrlPr>
                        </m:naryPr>
                        <m:sub/>
                        <m:sup/>
                        <m:e>
                          <m:r>
                            <a:rPr lang="en-US" sz="2000" b="1" i="1">
                              <a:latin typeface="Cambria Math" panose="02040503050406030204" pitchFamily="18" charset="0"/>
                            </a:rPr>
                            <m:t>𝒅𝒍</m:t>
                          </m:r>
                        </m:e>
                      </m:nary>
                    </m:oMath>
                  </m:oMathPara>
                </a14:m>
                <a:endParaRPr lang="en-US" sz="2000" dirty="0"/>
              </a:p>
              <a:p>
                <a:pPr algn="just"/>
                <a14:m>
                  <m:oMathPara xmlns:m="http://schemas.openxmlformats.org/officeDocument/2006/math">
                    <m:oMathParaPr>
                      <m:jc m:val="centerGroup"/>
                    </m:oMathParaPr>
                    <m:oMath xmlns:m="http://schemas.openxmlformats.org/officeDocument/2006/math">
                      <m:r>
                        <a:rPr lang="en-US" sz="2000" b="1" i="1">
                          <a:latin typeface="Cambria Math" panose="02040503050406030204" pitchFamily="18" charset="0"/>
                        </a:rPr>
                        <m:t>𝑩</m:t>
                      </m:r>
                      <m:r>
                        <a:rPr lang="en-US" sz="2000" b="1" i="1">
                          <a:latin typeface="Cambria Math" panose="02040503050406030204" pitchFamily="18" charset="0"/>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panose="02040503050406030204" pitchFamily="18" charset="0"/>
                                </a:rPr>
                                <m:t>𝝁</m:t>
                              </m:r>
                            </m:e>
                            <m:sub>
                              <m:r>
                                <a:rPr lang="en-US" sz="2000" b="1" i="1">
                                  <a:latin typeface="Cambria Math" panose="02040503050406030204" pitchFamily="18" charset="0"/>
                                </a:rPr>
                                <m:t>𝒐</m:t>
                              </m:r>
                            </m:sub>
                          </m:sSub>
                          <m:sSub>
                            <m:sSubPr>
                              <m:ctrlPr>
                                <a:rPr lang="en-US" sz="2000" b="1" i="1">
                                  <a:latin typeface="Cambria Math" panose="02040503050406030204" pitchFamily="18" charset="0"/>
                                </a:rPr>
                              </m:ctrlPr>
                            </m:sSubPr>
                            <m:e>
                              <m:r>
                                <a:rPr lang="en-US" sz="2000" b="1" i="1">
                                  <a:latin typeface="Cambria Math" panose="02040503050406030204" pitchFamily="18" charset="0"/>
                                </a:rPr>
                                <m:t>𝒊</m:t>
                              </m:r>
                            </m:e>
                            <m:sub>
                              <m:r>
                                <a:rPr lang="en-US" sz="2000" b="1" i="1">
                                  <a:latin typeface="Cambria Math" panose="02040503050406030204" pitchFamily="18" charset="0"/>
                                </a:rPr>
                                <m:t>𝒆𝒏𝒄𝒍𝒐𝒔𝒆𝒅</m:t>
                              </m:r>
                            </m:sub>
                          </m:sSub>
                        </m:num>
                        <m:den>
                          <m:r>
                            <a:rPr lang="en-US" sz="2000" b="1" i="1">
                              <a:latin typeface="Cambria Math" panose="02040503050406030204" pitchFamily="18" charset="0"/>
                            </a:rPr>
                            <m:t>𝟐</m:t>
                          </m:r>
                          <m:r>
                            <a:rPr lang="en-US" sz="2000" b="1" i="1">
                              <a:latin typeface="Cambria Math" panose="02040503050406030204" pitchFamily="18" charset="0"/>
                            </a:rPr>
                            <m:t>𝝅</m:t>
                          </m:r>
                          <m:r>
                            <a:rPr lang="en-US" sz="2000" b="1" i="1">
                              <a:latin typeface="Cambria Math" panose="02040503050406030204" pitchFamily="18" charset="0"/>
                            </a:rPr>
                            <m:t>𝒓</m:t>
                          </m:r>
                        </m:den>
                      </m:f>
                    </m:oMath>
                  </m:oMathPara>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838199" y="1661747"/>
                <a:ext cx="6107723" cy="4190763"/>
              </a:xfrm>
              <a:prstGeom prst="rect">
                <a:avLst/>
              </a:prstGeom>
              <a:blipFill rotWithShape="0">
                <a:blip r:embed="rId2"/>
                <a:stretch>
                  <a:fillRect l="-998" t="-873" r="-1098"/>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4188" y="1107832"/>
            <a:ext cx="2159612" cy="2426676"/>
          </a:xfrm>
          <a:prstGeom prst="rect">
            <a:avLst/>
          </a:prstGeom>
        </p:spPr>
      </p:pic>
    </p:spTree>
    <p:extLst>
      <p:ext uri="{BB962C8B-B14F-4D97-AF65-F5344CB8AC3E}">
        <p14:creationId xmlns:p14="http://schemas.microsoft.com/office/powerpoint/2010/main" val="38892437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126</Words>
  <Application>Microsoft Office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Cambria Math</vt:lpstr>
      <vt:lpstr>Times New Roman</vt:lpstr>
      <vt:lpstr>Office Theme</vt:lpstr>
      <vt:lpstr>MODULE 3</vt:lpstr>
      <vt:lpstr>Outline</vt:lpstr>
      <vt:lpstr> Biot- Savart Law </vt:lpstr>
      <vt:lpstr> Magnetic Dipole Moment </vt:lpstr>
      <vt:lpstr> Ampere’s law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User</dc:creator>
  <cp:lastModifiedBy>User</cp:lastModifiedBy>
  <cp:revision>4</cp:revision>
  <dcterms:created xsi:type="dcterms:W3CDTF">2024-08-13T08:42:46Z</dcterms:created>
  <dcterms:modified xsi:type="dcterms:W3CDTF">2024-08-13T16:45:54Z</dcterms:modified>
</cp:coreProperties>
</file>