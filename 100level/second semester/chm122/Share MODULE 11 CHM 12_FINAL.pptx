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4" r:id="rId2"/>
    <p:sldId id="275" r:id="rId3"/>
    <p:sldId id="283" r:id="rId4"/>
    <p:sldId id="259" r:id="rId5"/>
    <p:sldId id="260" r:id="rId6"/>
    <p:sldId id="290" r:id="rId7"/>
    <p:sldId id="288" r:id="rId8"/>
    <p:sldId id="262" r:id="rId9"/>
    <p:sldId id="278" r:id="rId10"/>
    <p:sldId id="273" r:id="rId11"/>
    <p:sldId id="263" r:id="rId12"/>
    <p:sldId id="264" r:id="rId13"/>
    <p:sldId id="289" r:id="rId14"/>
    <p:sldId id="291" r:id="rId15"/>
    <p:sldId id="292" r:id="rId16"/>
    <p:sldId id="269" r:id="rId17"/>
    <p:sldId id="270" r:id="rId18"/>
    <p:sldId id="293" r:id="rId19"/>
    <p:sldId id="271" r:id="rId20"/>
    <p:sldId id="282" r:id="rId21"/>
    <p:sldId id="294" r:id="rId22"/>
    <p:sldId id="295" r:id="rId23"/>
    <p:sldId id="296" r:id="rId24"/>
    <p:sldId id="297" r:id="rId25"/>
    <p:sldId id="298" r:id="rId26"/>
    <p:sldId id="284" r:id="rId27"/>
    <p:sldId id="272" r:id="rId28"/>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62" autoAdjust="0"/>
  </p:normalViewPr>
  <p:slideViewPr>
    <p:cSldViewPr>
      <p:cViewPr>
        <p:scale>
          <a:sx n="90" d="100"/>
          <a:sy n="90" d="100"/>
        </p:scale>
        <p:origin x="-816" y="-144"/>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45FA9AFC-C3CD-48CF-8E57-283E66FBB063}" type="datetimeFigureOut">
              <a:rPr lang="en-US" smtClean="0"/>
              <a:pPr/>
              <a:t>11/18/2023</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0FAD59EA-69F2-4D19-902A-F18D6961359B}" type="slidenum">
              <a:rPr lang="en-US" smtClean="0"/>
              <a:pPr/>
              <a:t>‹#›</a:t>
            </a:fld>
            <a:endParaRPr lang="en-US"/>
          </a:p>
        </p:txBody>
      </p:sp>
    </p:spTree>
    <p:extLst>
      <p:ext uri="{BB962C8B-B14F-4D97-AF65-F5344CB8AC3E}">
        <p14:creationId xmlns="" xmlns:p14="http://schemas.microsoft.com/office/powerpoint/2010/main" val="2845297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FAD59EA-69F2-4D19-902A-F18D6961359B}" type="slidenum">
              <a:rPr lang="en-US" smtClean="0"/>
              <a:pPr/>
              <a:t>24</a:t>
            </a:fld>
            <a:endParaRPr lang="en-US"/>
          </a:p>
        </p:txBody>
      </p:sp>
    </p:spTree>
    <p:extLst>
      <p:ext uri="{BB962C8B-B14F-4D97-AF65-F5344CB8AC3E}">
        <p14:creationId xmlns="" xmlns:p14="http://schemas.microsoft.com/office/powerpoint/2010/main" val="260544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FAD59EA-69F2-4D19-902A-F18D6961359B}" type="slidenum">
              <a:rPr lang="en-US" smtClean="0"/>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BC6166-0526-4055-85CE-51B55EB87349}" type="datetimeFigureOut">
              <a:rPr lang="en-US" smtClean="0"/>
              <a:pPr/>
              <a:t>11/18/2023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DA667-804C-4C70-9B0B-8A84FEAAC7A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3BC6166-0526-4055-85CE-51B55EB87349}" type="datetimeFigureOut">
              <a:rPr lang="en-US" smtClean="0"/>
              <a:pPr/>
              <a:t>11/18/2023</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8BDA667-804C-4C70-9B0B-8A84FEAAC7A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wmf"/><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28.jpeg"/><Relationship Id="rId7" Type="http://schemas.openxmlformats.org/officeDocument/2006/relationships/image" Target="../media/image6.jpe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user\Desktop\polymer\istockphoto-482635985-612x612.jpg"/>
          <p:cNvPicPr>
            <a:picLocks noChangeAspect="1" noChangeArrowheads="1"/>
          </p:cNvPicPr>
          <p:nvPr/>
        </p:nvPicPr>
        <p:blipFill>
          <a:blip r:embed="rId2" cstate="print"/>
          <a:srcRect/>
          <a:stretch>
            <a:fillRect/>
          </a:stretch>
        </p:blipFill>
        <p:spPr bwMode="auto">
          <a:xfrm>
            <a:off x="7424740" y="-13690"/>
            <a:ext cx="1719263" cy="1398985"/>
          </a:xfrm>
          <a:prstGeom prst="rect">
            <a:avLst/>
          </a:prstGeom>
          <a:noFill/>
        </p:spPr>
      </p:pic>
      <p:grpSp>
        <p:nvGrpSpPr>
          <p:cNvPr id="11" name="Group 10"/>
          <p:cNvGrpSpPr/>
          <p:nvPr/>
        </p:nvGrpSpPr>
        <p:grpSpPr>
          <a:xfrm>
            <a:off x="4506" y="0"/>
            <a:ext cx="914400" cy="5143500"/>
            <a:chOff x="0" y="168206"/>
            <a:chExt cx="914400" cy="6689794"/>
          </a:xfrm>
        </p:grpSpPr>
        <p:sp>
          <p:nvSpPr>
            <p:cNvPr id="12" name="Rectangle 11"/>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pic>
        <p:nvPicPr>
          <p:cNvPr id="17" name="Picture 16"/>
          <p:cNvPicPr>
            <a:picLocks noChangeAspect="1" noChangeArrowheads="1"/>
          </p:cNvPicPr>
          <p:nvPr/>
        </p:nvPicPr>
        <p:blipFill>
          <a:blip r:embed="rId4"/>
          <a:srcRect/>
          <a:stretch>
            <a:fillRect/>
          </a:stretch>
        </p:blipFill>
        <p:spPr bwMode="auto">
          <a:xfrm>
            <a:off x="990600" y="3683794"/>
            <a:ext cx="2438400" cy="1459706"/>
          </a:xfrm>
          <a:prstGeom prst="rect">
            <a:avLst/>
          </a:prstGeom>
          <a:noFill/>
          <a:ln w="12700">
            <a:noFill/>
            <a:miter lim="800000"/>
            <a:headEnd/>
            <a:tailEnd/>
          </a:ln>
        </p:spPr>
      </p:pic>
      <p:pic>
        <p:nvPicPr>
          <p:cNvPr id="18" name="Picture 17"/>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52400" y="14592"/>
            <a:ext cx="2586398" cy="628738"/>
          </a:xfrm>
          <a:prstGeom prst="rect">
            <a:avLst/>
          </a:prstGeom>
        </p:spPr>
      </p:pic>
      <p:sp>
        <p:nvSpPr>
          <p:cNvPr id="20" name="Title 1"/>
          <p:cNvSpPr txBox="1">
            <a:spLocks/>
          </p:cNvSpPr>
          <p:nvPr/>
        </p:nvSpPr>
        <p:spPr>
          <a:xfrm>
            <a:off x="685800" y="1371603"/>
            <a:ext cx="7772400" cy="1102519"/>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smtClean="0">
                <a:ln>
                  <a:noFill/>
                </a:ln>
                <a:effectLst/>
                <a:uLnTx/>
                <a:uFillTx/>
                <a:latin typeface="+mj-lt"/>
                <a:ea typeface="+mj-ea"/>
                <a:cs typeface="+mj-cs"/>
              </a:rPr>
              <a:t>C</a:t>
            </a:r>
            <a:r>
              <a:rPr kumimoji="0" lang="en-US" sz="4800" b="1" i="0" u="none" strike="noStrike" kern="1200" cap="none" spc="0" normalizeH="0" baseline="0" noProof="0" dirty="0" smtClean="0">
                <a:ln>
                  <a:noFill/>
                </a:ln>
                <a:effectLst/>
                <a:uLnTx/>
                <a:uFillTx/>
                <a:latin typeface="+mj-lt"/>
                <a:ea typeface="+mj-ea"/>
                <a:cs typeface="+mj-cs"/>
              </a:rPr>
              <a:t>H</a:t>
            </a:r>
            <a:r>
              <a:rPr kumimoji="0" lang="en-US" sz="3600" b="1" i="0" u="none" strike="noStrike" kern="1200" cap="none" spc="0" normalizeH="0" baseline="0" noProof="0" dirty="0" smtClean="0">
                <a:ln>
                  <a:noFill/>
                </a:ln>
                <a:effectLst/>
                <a:uLnTx/>
                <a:uFillTx/>
                <a:latin typeface="+mj-lt"/>
                <a:ea typeface="+mj-ea"/>
                <a:cs typeface="+mj-cs"/>
              </a:rPr>
              <a:t>M </a:t>
            </a:r>
            <a:r>
              <a:rPr kumimoji="0" lang="en-US" sz="4400" b="1" i="0" u="none" strike="noStrike" kern="1200" cap="none" spc="0" normalizeH="0" baseline="0" noProof="0" dirty="0" smtClean="0">
                <a:ln>
                  <a:noFill/>
                </a:ln>
                <a:effectLst/>
                <a:uLnTx/>
                <a:uFillTx/>
                <a:latin typeface="+mj-lt"/>
                <a:ea typeface="+mj-ea"/>
                <a:cs typeface="+mj-cs"/>
              </a:rPr>
              <a:t>1</a:t>
            </a:r>
            <a:r>
              <a:rPr kumimoji="0" lang="en-US" sz="5400" b="1" i="0" u="none" strike="noStrike" kern="1200" cap="none" spc="0" normalizeH="0" baseline="0" noProof="0" dirty="0" smtClean="0">
                <a:ln>
                  <a:noFill/>
                </a:ln>
                <a:effectLst/>
                <a:uLnTx/>
                <a:uFillTx/>
                <a:latin typeface="+mj-lt"/>
                <a:ea typeface="+mj-ea"/>
                <a:cs typeface="+mj-cs"/>
              </a:rPr>
              <a:t>2</a:t>
            </a:r>
            <a:r>
              <a:rPr kumimoji="0" lang="en-US" sz="6000" b="1" i="0" u="none" strike="noStrike" kern="1200" cap="none" spc="0" normalizeH="0" baseline="0" noProof="0" dirty="0" smtClean="0">
                <a:ln>
                  <a:noFill/>
                </a:ln>
                <a:effectLst/>
                <a:uLnTx/>
                <a:uFillTx/>
                <a:latin typeface="+mj-lt"/>
                <a:ea typeface="+mj-ea"/>
                <a:cs typeface="+mj-cs"/>
              </a:rPr>
              <a:t>2</a:t>
            </a:r>
            <a:r>
              <a:rPr kumimoji="0" lang="en-US" sz="3600" b="1" i="0" u="none" strike="noStrike" kern="1200" cap="none" spc="0" normalizeH="0" baseline="0" noProof="0" dirty="0" smtClean="0">
                <a:ln>
                  <a:noFill/>
                </a:ln>
                <a:effectLst/>
                <a:uLnTx/>
                <a:uFillTx/>
                <a:latin typeface="+mj-lt"/>
                <a:ea typeface="+mj-ea"/>
                <a:cs typeface="+mj-cs"/>
              </a:rPr>
              <a:t/>
            </a:r>
            <a:br>
              <a:rPr kumimoji="0" lang="en-US" sz="3600" b="1" i="0" u="none" strike="noStrike" kern="1200" cap="none" spc="0" normalizeH="0" baseline="0" noProof="0" dirty="0" smtClean="0">
                <a:ln>
                  <a:noFill/>
                </a:ln>
                <a:effectLst/>
                <a:uLnTx/>
                <a:uFillTx/>
                <a:latin typeface="+mj-lt"/>
                <a:ea typeface="+mj-ea"/>
                <a:cs typeface="+mj-cs"/>
              </a:rPr>
            </a:br>
            <a:r>
              <a:rPr kumimoji="0" lang="en-US" sz="5400" b="1" i="0" u="none" strike="noStrike" kern="1200" cap="none" spc="0" normalizeH="0" baseline="0" noProof="0" dirty="0" smtClean="0">
                <a:ln>
                  <a:noFill/>
                </a:ln>
                <a:solidFill>
                  <a:srgbClr val="7030A0"/>
                </a:solidFill>
                <a:effectLst/>
                <a:uLnTx/>
                <a:uFillTx/>
                <a:latin typeface="+mj-lt"/>
                <a:ea typeface="+mj-ea"/>
                <a:cs typeface="+mj-cs"/>
              </a:rPr>
              <a:t>I</a:t>
            </a:r>
            <a:r>
              <a:rPr kumimoji="0" lang="en-US" sz="3600" b="1" i="0" u="none" strike="noStrike" kern="1200" cap="none" spc="0" normalizeH="0" baseline="0" noProof="0" dirty="0" smtClean="0">
                <a:ln>
                  <a:noFill/>
                </a:ln>
                <a:solidFill>
                  <a:srgbClr val="7030A0"/>
                </a:solidFill>
                <a:effectLst/>
                <a:uLnTx/>
                <a:uFillTx/>
                <a:latin typeface="+mj-lt"/>
                <a:ea typeface="+mj-ea"/>
                <a:cs typeface="+mj-cs"/>
              </a:rPr>
              <a:t>NTRODUCTORY </a:t>
            </a:r>
            <a:r>
              <a:rPr kumimoji="0" lang="en-US" sz="5400" b="1" i="0" u="none" strike="noStrike" kern="1200" cap="none" spc="0" normalizeH="0" baseline="0" noProof="0" dirty="0" smtClean="0">
                <a:ln>
                  <a:noFill/>
                </a:ln>
                <a:solidFill>
                  <a:srgbClr val="7030A0"/>
                </a:solidFill>
                <a:effectLst/>
                <a:uLnTx/>
                <a:uFillTx/>
                <a:latin typeface="+mj-lt"/>
                <a:ea typeface="+mj-ea"/>
                <a:cs typeface="+mj-cs"/>
              </a:rPr>
              <a:t>O</a:t>
            </a:r>
            <a:r>
              <a:rPr kumimoji="0" lang="en-US" sz="3600" b="1" i="0" u="none" strike="noStrike" kern="1200" cap="none" spc="0" normalizeH="0" baseline="0" noProof="0" dirty="0" smtClean="0">
                <a:ln>
                  <a:noFill/>
                </a:ln>
                <a:solidFill>
                  <a:srgbClr val="7030A0"/>
                </a:solidFill>
                <a:effectLst/>
                <a:uLnTx/>
                <a:uFillTx/>
                <a:latin typeface="+mj-lt"/>
                <a:ea typeface="+mj-ea"/>
                <a:cs typeface="+mj-cs"/>
              </a:rPr>
              <a:t>RGANIC </a:t>
            </a:r>
            <a:r>
              <a:rPr kumimoji="0" lang="en-US" sz="5400" b="1" i="0" u="none" strike="noStrike" kern="1200" cap="none" spc="0" normalizeH="0" baseline="0" noProof="0" dirty="0" smtClean="0">
                <a:ln>
                  <a:noFill/>
                </a:ln>
                <a:solidFill>
                  <a:srgbClr val="7030A0"/>
                </a:solidFill>
                <a:effectLst/>
                <a:uLnTx/>
                <a:uFillTx/>
                <a:latin typeface="+mj-lt"/>
                <a:ea typeface="+mj-ea"/>
                <a:cs typeface="+mj-cs"/>
              </a:rPr>
              <a:t>C</a:t>
            </a:r>
            <a:r>
              <a:rPr kumimoji="0" lang="en-US" sz="3600" b="1" i="0" u="none" strike="noStrike" kern="1200" cap="none" spc="0" normalizeH="0" baseline="0" noProof="0" dirty="0" smtClean="0">
                <a:ln>
                  <a:noFill/>
                </a:ln>
                <a:solidFill>
                  <a:srgbClr val="7030A0"/>
                </a:solidFill>
                <a:effectLst/>
                <a:uLnTx/>
                <a:uFillTx/>
                <a:latin typeface="+mj-lt"/>
                <a:ea typeface="+mj-ea"/>
                <a:cs typeface="+mj-cs"/>
              </a:rPr>
              <a:t>HEMISTRY  (2 UNITS)</a:t>
            </a:r>
            <a:endParaRPr kumimoji="0" lang="en-US" sz="3600" b="1" i="0" u="none" strike="noStrike" kern="1200" cap="none" spc="0" normalizeH="0" baseline="0" noProof="0" dirty="0">
              <a:ln>
                <a:noFill/>
              </a:ln>
              <a:solidFill>
                <a:srgbClr val="7030A0"/>
              </a:solidFill>
              <a:effectLst/>
              <a:uLnTx/>
              <a:uFillTx/>
              <a:latin typeface="+mj-lt"/>
              <a:ea typeface="+mj-ea"/>
              <a:cs typeface="+mj-cs"/>
            </a:endParaRPr>
          </a:p>
        </p:txBody>
      </p:sp>
      <p:sp>
        <p:nvSpPr>
          <p:cNvPr id="21" name="Subtitle 2"/>
          <p:cNvSpPr txBox="1">
            <a:spLocks/>
          </p:cNvSpPr>
          <p:nvPr/>
        </p:nvSpPr>
        <p:spPr>
          <a:xfrm>
            <a:off x="1676400" y="3143250"/>
            <a:ext cx="6400800" cy="1314450"/>
          </a:xfrm>
          <a:prstGeom prst="rect">
            <a:avLst/>
          </a:prstGeom>
        </p:spPr>
        <p:txBody>
          <a:bodyPr vert="horz" lIns="91440" tIns="45720" rIns="91440" bIns="45720" rtlCol="0">
            <a:normAutofit fontScale="77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5600" b="1" i="0" u="none" strike="noStrike" kern="1200" cap="none" spc="0" normalizeH="0" baseline="0" noProof="0" dirty="0" smtClean="0">
                <a:ln>
                  <a:noFill/>
                </a:ln>
                <a:solidFill>
                  <a:srgbClr val="00B050"/>
                </a:solidFill>
                <a:effectLst/>
                <a:uLnTx/>
                <a:uFillTx/>
                <a:latin typeface="Bahnschrift Light" pitchFamily="34" charset="0"/>
              </a:rPr>
              <a:t>MODULE 12</a:t>
            </a:r>
            <a:r>
              <a:rPr lang="en-US" sz="5200" dirty="0" smtClean="0">
                <a:solidFill>
                  <a:srgbClr val="00B050"/>
                </a:solidFill>
                <a:latin typeface="Bahnschrift Light" pitchFamily="34" charset="0"/>
              </a:rPr>
              <a:t>:</a:t>
            </a:r>
            <a:endParaRPr kumimoji="0" lang="en-US" sz="5200" b="0" i="0" u="none" strike="noStrike" kern="1200" cap="none" spc="0" normalizeH="0" baseline="0" noProof="0" dirty="0" smtClean="0">
              <a:ln>
                <a:noFill/>
              </a:ln>
              <a:solidFill>
                <a:srgbClr val="00B050"/>
              </a:solidFill>
              <a:effectLst/>
              <a:uLnTx/>
              <a:uFillTx/>
              <a:latin typeface="Bahnschrift Light" pitchFamily="34"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5200" b="0" i="0" u="none" strike="noStrike" kern="1200" cap="none" spc="0" normalizeH="0" baseline="0" noProof="0" dirty="0" smtClean="0">
                <a:ln>
                  <a:noFill/>
                </a:ln>
                <a:solidFill>
                  <a:srgbClr val="00B050"/>
                </a:solidFill>
                <a:effectLst/>
                <a:uLnTx/>
                <a:uFillTx/>
                <a:latin typeface="+mn-lt"/>
                <a:ea typeface="+mn-ea"/>
                <a:cs typeface="+mn-cs"/>
              </a:rPr>
              <a:t>S</a:t>
            </a:r>
            <a:r>
              <a:rPr kumimoji="0" lang="en-US" sz="4000" b="0" i="0" u="none" strike="noStrike" kern="1200" cap="none" spc="0" normalizeH="0" baseline="0" noProof="0" dirty="0" smtClean="0">
                <a:ln>
                  <a:noFill/>
                </a:ln>
                <a:solidFill>
                  <a:srgbClr val="00B050"/>
                </a:solidFill>
                <a:effectLst/>
                <a:uLnTx/>
                <a:uFillTx/>
                <a:latin typeface="+mn-lt"/>
                <a:ea typeface="+mn-ea"/>
                <a:cs typeface="+mn-cs"/>
              </a:rPr>
              <a:t>YNTHETIC</a:t>
            </a:r>
            <a:r>
              <a:rPr kumimoji="0" lang="en-US" sz="4000" b="0" i="0" u="none" strike="noStrike" kern="1200" cap="none" spc="0" normalizeH="0" noProof="0" dirty="0" smtClean="0">
                <a:ln>
                  <a:noFill/>
                </a:ln>
                <a:solidFill>
                  <a:srgbClr val="00B050"/>
                </a:solidFill>
                <a:effectLst/>
                <a:uLnTx/>
                <a:uFillTx/>
                <a:latin typeface="+mn-lt"/>
                <a:ea typeface="+mn-ea"/>
                <a:cs typeface="+mn-cs"/>
              </a:rPr>
              <a:t> </a:t>
            </a:r>
            <a:r>
              <a:rPr kumimoji="0" lang="en-US" sz="5200" b="0" i="0" u="none" strike="noStrike" kern="1200" cap="none" spc="0" normalizeH="0" baseline="0" noProof="0" dirty="0" smtClean="0">
                <a:ln>
                  <a:noFill/>
                </a:ln>
                <a:solidFill>
                  <a:srgbClr val="00B050"/>
                </a:solidFill>
                <a:effectLst/>
                <a:uLnTx/>
                <a:uFillTx/>
                <a:latin typeface="+mn-lt"/>
                <a:ea typeface="+mn-ea"/>
                <a:cs typeface="+mn-cs"/>
              </a:rPr>
              <a:t>P</a:t>
            </a:r>
            <a:r>
              <a:rPr kumimoji="0" lang="en-US" sz="4100" b="0" i="0" u="none" strike="noStrike" kern="1200" cap="none" spc="0" normalizeH="0" baseline="0" noProof="0" dirty="0" smtClean="0">
                <a:ln>
                  <a:noFill/>
                </a:ln>
                <a:solidFill>
                  <a:srgbClr val="00B050"/>
                </a:solidFill>
                <a:effectLst/>
                <a:uLnTx/>
                <a:uFillTx/>
                <a:latin typeface="+mn-lt"/>
                <a:ea typeface="+mn-ea"/>
                <a:cs typeface="+mn-cs"/>
              </a:rPr>
              <a:t>OLYMER</a:t>
            </a:r>
            <a:endParaRPr kumimoji="0" lang="en-US" sz="4800" b="0" i="0" u="none" strike="noStrike" kern="1200" cap="none" spc="0" normalizeH="0" baseline="0" noProof="0" dirty="0">
              <a:ln>
                <a:noFill/>
              </a:ln>
              <a:solidFill>
                <a:srgbClr val="00B050"/>
              </a:solidFill>
              <a:effectLst/>
              <a:uLnTx/>
              <a:uFillTx/>
              <a:latin typeface="+mn-lt"/>
              <a:ea typeface="+mn-ea"/>
              <a:cs typeface="+mn-cs"/>
            </a:endParaRPr>
          </a:p>
        </p:txBody>
      </p:sp>
      <p:pic>
        <p:nvPicPr>
          <p:cNvPr id="22" name="Picture 2" descr="C:\Users\user\Desktop\polymer\istockphoto-482635985-612x612.jpg"/>
          <p:cNvPicPr>
            <a:picLocks noChangeAspect="1" noChangeArrowheads="1"/>
          </p:cNvPicPr>
          <p:nvPr/>
        </p:nvPicPr>
        <p:blipFill>
          <a:blip r:embed="rId2" cstate="print"/>
          <a:srcRect/>
          <a:stretch>
            <a:fillRect/>
          </a:stretch>
        </p:blipFill>
        <p:spPr bwMode="auto">
          <a:xfrm>
            <a:off x="7424740" y="1"/>
            <a:ext cx="1719263" cy="1398985"/>
          </a:xfrm>
          <a:prstGeom prst="rect">
            <a:avLst/>
          </a:prstGeom>
          <a:noFill/>
        </p:spPr>
      </p:pic>
    </p:spTree>
  </p:cSld>
  <p:clrMapOvr>
    <a:masterClrMapping/>
  </p:clrMapOvr>
  <p:transition>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4" descr="C:\Users\user\Desktop\polymer\istockphoto-177234376-612x612.jpg"/>
          <p:cNvPicPr>
            <a:picLocks noChangeAspect="1" noChangeArrowheads="1"/>
          </p:cNvPicPr>
          <p:nvPr/>
        </p:nvPicPr>
        <p:blipFill>
          <a:blip r:embed="rId2"/>
          <a:srcRect/>
          <a:stretch>
            <a:fillRect/>
          </a:stretch>
        </p:blipFill>
        <p:spPr bwMode="auto">
          <a:xfrm>
            <a:off x="-141965" y="0"/>
            <a:ext cx="9285965" cy="5143500"/>
          </a:xfrm>
          <a:prstGeom prst="rect">
            <a:avLst/>
          </a:prstGeom>
          <a:solidFill>
            <a:schemeClr val="bg1"/>
          </a:solidFill>
        </p:spPr>
      </p:pic>
      <p:sp>
        <p:nvSpPr>
          <p:cNvPr id="5" name="Content Placeholder 2"/>
          <p:cNvSpPr txBox="1">
            <a:spLocks/>
          </p:cNvSpPr>
          <p:nvPr/>
        </p:nvSpPr>
        <p:spPr>
          <a:xfrm>
            <a:off x="838200" y="1657350"/>
            <a:ext cx="8001000" cy="2400300"/>
          </a:xfrm>
          <a:prstGeom prst="rect">
            <a:avLst/>
          </a:prstGeom>
          <a:solidFill>
            <a:schemeClr val="bg1"/>
          </a:solidFill>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define some key terminologies of polymer chemistry.</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recognize the significance of polymer industry</a:t>
            </a:r>
            <a:r>
              <a:rPr kumimoji="0" lang="en-US" sz="2400" b="0" i="0" u="none" strike="noStrike" kern="1200" cap="none" spc="0" normalizeH="0" baseline="0" noProof="0" dirty="0" smtClean="0">
                <a:ln>
                  <a:noFill/>
                </a:ln>
                <a:solidFill>
                  <a:srgbClr val="FF0000"/>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highlight the effects of vulcanization on the natural rubber.</a:t>
            </a:r>
          </a:p>
          <a:p>
            <a:pPr marL="514350" indent="-514350">
              <a:spcBef>
                <a:spcPct val="20000"/>
              </a:spcBef>
              <a:buFont typeface="+mj-lt"/>
              <a:buAutoNum type="arabicPeriod"/>
              <a:defRPr/>
            </a:pPr>
            <a:r>
              <a:rPr lang="en-US" sz="2400" dirty="0" smtClean="0"/>
              <a:t>To distinguish between natural - and synthetic- polymer.</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identify structures of some few synthetic</a:t>
            </a:r>
            <a:r>
              <a:rPr kumimoji="0" lang="en-US" sz="2400" b="0" i="0" u="none" strike="noStrike" kern="1200" cap="none" spc="0" normalizeH="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polymers.</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distinguish between addition- and condensation- polymer.</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TextBox 5"/>
          <p:cNvSpPr txBox="1"/>
          <p:nvPr/>
        </p:nvSpPr>
        <p:spPr>
          <a:xfrm>
            <a:off x="838200" y="1200152"/>
            <a:ext cx="8001000" cy="584775"/>
          </a:xfrm>
          <a:prstGeom prst="rect">
            <a:avLst/>
          </a:prstGeom>
          <a:solidFill>
            <a:schemeClr val="bg1"/>
          </a:solidFill>
          <a:ln w="28575">
            <a:solidFill>
              <a:srgbClr val="C00000"/>
            </a:solidFill>
          </a:ln>
        </p:spPr>
        <p:txBody>
          <a:bodyPr wrap="square" rtlCol="0">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OBJECTIVES</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13" name="Picture 12"/>
          <p:cNvPicPr>
            <a:picLocks noChangeAspect="1" noChangeArrowheads="1"/>
          </p:cNvPicPr>
          <p:nvPr/>
        </p:nvPicPr>
        <p:blipFill>
          <a:blip r:embed="rId3"/>
          <a:srcRect/>
          <a:stretch>
            <a:fillRect/>
          </a:stretch>
        </p:blipFill>
        <p:spPr bwMode="auto">
          <a:xfrm>
            <a:off x="6705600" y="1"/>
            <a:ext cx="2438400" cy="1459706"/>
          </a:xfrm>
          <a:prstGeom prst="rect">
            <a:avLst/>
          </a:prstGeom>
          <a:noFill/>
          <a:ln w="12700">
            <a:noFill/>
            <a:miter lim="800000"/>
            <a:headEnd/>
            <a:tailEnd/>
          </a:ln>
        </p:spPr>
      </p:pic>
      <p:pic>
        <p:nvPicPr>
          <p:cNvPr id="4101" name="Picture 5" descr="C:\Users\user\Desktop\polymer\istockphoto-1317080753-612x612.jpg"/>
          <p:cNvPicPr>
            <a:picLocks noChangeAspect="1" noChangeArrowheads="1"/>
          </p:cNvPicPr>
          <p:nvPr/>
        </p:nvPicPr>
        <p:blipFill>
          <a:blip r:embed="rId4" cstate="print"/>
          <a:srcRect/>
          <a:stretch>
            <a:fillRect/>
          </a:stretch>
        </p:blipFill>
        <p:spPr bwMode="auto">
          <a:xfrm>
            <a:off x="-152400" y="4211241"/>
            <a:ext cx="1865313" cy="932260"/>
          </a:xfrm>
          <a:prstGeom prst="rect">
            <a:avLst/>
          </a:prstGeom>
          <a:noFill/>
        </p:spPr>
      </p:pic>
      <p:grpSp>
        <p:nvGrpSpPr>
          <p:cNvPr id="11" name="Group 10"/>
          <p:cNvGrpSpPr/>
          <p:nvPr/>
        </p:nvGrpSpPr>
        <p:grpSpPr>
          <a:xfrm>
            <a:off x="-152400" y="0"/>
            <a:ext cx="914400" cy="5143500"/>
            <a:chOff x="0" y="168206"/>
            <a:chExt cx="914400" cy="6689794"/>
          </a:xfrm>
        </p:grpSpPr>
        <p:sp>
          <p:nvSpPr>
            <p:cNvPr id="12" name="Rectangle 11"/>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noChangeArrowheads="1"/>
          </p:cNvPicPr>
          <p:nvPr/>
        </p:nvPicPr>
        <p:blipFill>
          <a:blip r:embed="rId2"/>
          <a:srcRect/>
          <a:stretch>
            <a:fillRect/>
          </a:stretch>
        </p:blipFill>
        <p:spPr bwMode="auto">
          <a:xfrm>
            <a:off x="0" y="3683794"/>
            <a:ext cx="2438400" cy="1459706"/>
          </a:xfrm>
          <a:prstGeom prst="rect">
            <a:avLst/>
          </a:prstGeom>
          <a:noFill/>
          <a:ln w="12700">
            <a:noFill/>
            <a:miter lim="800000"/>
            <a:headEnd/>
            <a:tailEnd/>
          </a:ln>
        </p:spPr>
      </p:pic>
      <p:sp>
        <p:nvSpPr>
          <p:cNvPr id="10" name="Title 1"/>
          <p:cNvSpPr txBox="1">
            <a:spLocks/>
          </p:cNvSpPr>
          <p:nvPr/>
        </p:nvSpPr>
        <p:spPr>
          <a:xfrm>
            <a:off x="457200" y="205979"/>
            <a:ext cx="8229600" cy="85725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smtClean="0">
                <a:ln>
                  <a:noFill/>
                </a:ln>
                <a:solidFill>
                  <a:schemeClr val="tx1"/>
                </a:solidFill>
                <a:effectLst/>
                <a:uLnTx/>
                <a:uFillTx/>
                <a:latin typeface="+mj-lt"/>
                <a:ea typeface="+mj-ea"/>
                <a:cs typeface="+mj-cs"/>
              </a:rPr>
              <a:t>Keywords</a:t>
            </a: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
        <p:nvSpPr>
          <p:cNvPr id="11" name="Content Placeholder 2"/>
          <p:cNvSpPr txBox="1">
            <a:spLocks/>
          </p:cNvSpPr>
          <p:nvPr/>
        </p:nvSpPr>
        <p:spPr>
          <a:xfrm>
            <a:off x="882528" y="1005527"/>
            <a:ext cx="8229600" cy="2175823"/>
          </a:xfrm>
          <a:prstGeom prst="rect">
            <a:avLst/>
          </a:prstGeom>
          <a:noFill/>
          <a:ln w="25400" cmpd="sng">
            <a:solidFill>
              <a:srgbClr val="C00000"/>
            </a:solidFill>
          </a:ln>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smtClean="0">
                <a:ln>
                  <a:noFill/>
                </a:ln>
                <a:solidFill>
                  <a:schemeClr val="tx1"/>
                </a:solidFill>
                <a:effectLst/>
                <a:uLnTx/>
                <a:uFillTx/>
                <a:latin typeface="+mn-lt"/>
                <a:ea typeface="+mn-ea"/>
                <a:cs typeface="+mn-cs"/>
              </a:rPr>
              <a:t>Repeating unit</a:t>
            </a:r>
            <a:r>
              <a:rPr kumimoji="0" lang="en-US" b="0" i="0" u="none" strike="noStrike" kern="1200" cap="none" spc="0" normalizeH="0" baseline="0" noProof="0" dirty="0" smtClean="0">
                <a:ln>
                  <a:noFill/>
                </a:ln>
                <a:solidFill>
                  <a:schemeClr val="tx1"/>
                </a:solidFill>
                <a:effectLst/>
                <a:uLnTx/>
                <a:uFillTx/>
                <a:latin typeface="+mn-lt"/>
                <a:ea typeface="+mn-ea"/>
                <a:cs typeface="+mn-cs"/>
              </a:rPr>
              <a:t> = the recurring structural unit on a polymer chain structure.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smtClean="0">
                <a:ln>
                  <a:noFill/>
                </a:ln>
                <a:solidFill>
                  <a:schemeClr val="tx1"/>
                </a:solidFill>
                <a:effectLst/>
                <a:uLnTx/>
                <a:uFillTx/>
                <a:latin typeface="+mn-lt"/>
                <a:ea typeface="+mn-ea"/>
                <a:cs typeface="+mn-cs"/>
              </a:rPr>
              <a:t>Monomer</a:t>
            </a:r>
            <a:r>
              <a:rPr kumimoji="0" lang="en-US" b="0" i="0" u="none" strike="noStrike" kern="1200" cap="none" spc="0" normalizeH="0" baseline="0" noProof="0" dirty="0" smtClean="0">
                <a:ln>
                  <a:noFill/>
                </a:ln>
                <a:solidFill>
                  <a:schemeClr val="tx1"/>
                </a:solidFill>
                <a:effectLst/>
                <a:uLnTx/>
                <a:uFillTx/>
                <a:latin typeface="+mn-lt"/>
                <a:ea typeface="+mn-ea"/>
                <a:cs typeface="+mn-cs"/>
              </a:rPr>
              <a:t> = the building block of polymers which usually stands as the recurring  unit (repeating unit).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smtClean="0">
                <a:ln>
                  <a:noFill/>
                </a:ln>
                <a:solidFill>
                  <a:schemeClr val="tx1"/>
                </a:solidFill>
                <a:effectLst/>
                <a:uLnTx/>
                <a:uFillTx/>
                <a:latin typeface="+mn-lt"/>
                <a:ea typeface="+mn-ea"/>
                <a:cs typeface="+mn-cs"/>
              </a:rPr>
              <a:t>Polymer</a:t>
            </a:r>
            <a:r>
              <a:rPr kumimoji="0" lang="en-US" b="0" i="0" u="none" strike="noStrike" kern="1200" cap="none" spc="0" normalizeH="0" baseline="0" noProof="0" dirty="0" smtClean="0">
                <a:ln>
                  <a:noFill/>
                </a:ln>
                <a:solidFill>
                  <a:schemeClr val="tx1"/>
                </a:solidFill>
                <a:effectLst/>
                <a:uLnTx/>
                <a:uFillTx/>
                <a:latin typeface="+mn-lt"/>
                <a:ea typeface="+mn-ea"/>
                <a:cs typeface="+mn-cs"/>
              </a:rPr>
              <a:t> = a giant molecule with heavy molecular weight, formed by the covalent linkages of thousands of small molecules called the monomers.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smtClean="0">
                <a:ln>
                  <a:noFill/>
                </a:ln>
                <a:solidFill>
                  <a:schemeClr val="tx1"/>
                </a:solidFill>
                <a:effectLst/>
                <a:uLnTx/>
                <a:uFillTx/>
                <a:latin typeface="+mn-lt"/>
                <a:ea typeface="+mn-ea"/>
                <a:cs typeface="+mn-cs"/>
              </a:rPr>
              <a:t>Covalent bonding</a:t>
            </a:r>
            <a:r>
              <a:rPr kumimoji="0" lang="en-US" b="0" i="0" u="none" strike="noStrike" kern="1200" cap="none" spc="0" normalizeH="0" baseline="0" noProof="0" dirty="0" smtClean="0">
                <a:ln>
                  <a:noFill/>
                </a:ln>
                <a:solidFill>
                  <a:schemeClr val="tx1"/>
                </a:solidFill>
                <a:effectLst/>
                <a:uLnTx/>
                <a:uFillTx/>
                <a:latin typeface="+mn-lt"/>
                <a:ea typeface="+mn-ea"/>
                <a:cs typeface="+mn-cs"/>
              </a:rPr>
              <a:t> = a strong form of bond existing in a molecule, which is formed between two atoms or groups through electron - sharing.</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12" name="Picture 2" descr="C:\Users\user\Desktop\polymer\istockphoto-482635985-612x612.jpg"/>
          <p:cNvPicPr>
            <a:picLocks noChangeAspect="1" noChangeArrowheads="1"/>
          </p:cNvPicPr>
          <p:nvPr/>
        </p:nvPicPr>
        <p:blipFill>
          <a:blip r:embed="rId3"/>
          <a:srcRect/>
          <a:stretch>
            <a:fillRect/>
          </a:stretch>
        </p:blipFill>
        <p:spPr bwMode="auto">
          <a:xfrm>
            <a:off x="1904997" y="3314700"/>
            <a:ext cx="2895600" cy="1485900"/>
          </a:xfrm>
          <a:prstGeom prst="rect">
            <a:avLst/>
          </a:prstGeom>
          <a:noFill/>
        </p:spPr>
      </p:pic>
      <p:pic>
        <p:nvPicPr>
          <p:cNvPr id="13" name="Picture 4" descr="C:\Users\user\Desktop\polymer\istockphoto-488159231-612x612.jpg"/>
          <p:cNvPicPr>
            <a:picLocks noChangeAspect="1" noChangeArrowheads="1"/>
          </p:cNvPicPr>
          <p:nvPr/>
        </p:nvPicPr>
        <p:blipFill>
          <a:blip r:embed="rId4"/>
          <a:srcRect/>
          <a:stretch>
            <a:fillRect/>
          </a:stretch>
        </p:blipFill>
        <p:spPr bwMode="auto">
          <a:xfrm>
            <a:off x="4951735" y="3314700"/>
            <a:ext cx="2973065" cy="1485900"/>
          </a:xfrm>
          <a:prstGeom prst="rect">
            <a:avLst/>
          </a:prstGeom>
          <a:noFill/>
        </p:spPr>
      </p:pic>
      <p:grpSp>
        <p:nvGrpSpPr>
          <p:cNvPr id="14" name="Group 13"/>
          <p:cNvGrpSpPr/>
          <p:nvPr/>
        </p:nvGrpSpPr>
        <p:grpSpPr>
          <a:xfrm>
            <a:off x="4506" y="0"/>
            <a:ext cx="914400" cy="5143500"/>
            <a:chOff x="0" y="168206"/>
            <a:chExt cx="914400" cy="6689794"/>
          </a:xfrm>
        </p:grpSpPr>
        <p:sp>
          <p:nvSpPr>
            <p:cNvPr id="15" name="Rectangle 1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7"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676400" y="-19050"/>
            <a:ext cx="6477000" cy="85725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INTRODUCTION</a:t>
            </a:r>
            <a:endPar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Content Placeholder 2"/>
          <p:cNvSpPr>
            <a:spLocks noGrp="1"/>
          </p:cNvSpPr>
          <p:nvPr>
            <p:ph idx="1"/>
          </p:nvPr>
        </p:nvSpPr>
        <p:spPr>
          <a:xfrm>
            <a:off x="977502" y="818583"/>
            <a:ext cx="7874801" cy="4191567"/>
          </a:xfrm>
          <a:ln w="22225">
            <a:solidFill>
              <a:srgbClr val="C00000"/>
            </a:solidFill>
          </a:ln>
        </p:spPr>
        <p:txBody>
          <a:bodyPr>
            <a:noAutofit/>
          </a:bodyPr>
          <a:lstStyle/>
          <a:p>
            <a:pPr algn="just"/>
            <a:r>
              <a:rPr lang="en-US" sz="2400" dirty="0" smtClean="0">
                <a:solidFill>
                  <a:srgbClr val="080808"/>
                </a:solidFill>
              </a:rPr>
              <a:t>The term polymer was invented in 1833 by </a:t>
            </a:r>
            <a:r>
              <a:rPr lang="en-US" sz="2400" b="1" dirty="0" smtClean="0"/>
              <a:t>Jons Jacob Berzelius. </a:t>
            </a:r>
            <a:r>
              <a:rPr lang="en-US" sz="2400" dirty="0" smtClean="0">
                <a:solidFill>
                  <a:srgbClr val="FF0000"/>
                </a:solidFill>
              </a:rPr>
              <a:t>I</a:t>
            </a:r>
            <a:r>
              <a:rPr lang="en-US" sz="2400" dirty="0" smtClean="0"/>
              <a:t>t was derived from two Greek words; “polys” meaning  many and “meros” meaning parts. Thus, polymer in simple term means “many parts” or rather, “of many parts”.</a:t>
            </a:r>
          </a:p>
          <a:p>
            <a:pPr algn="just"/>
            <a:r>
              <a:rPr lang="en-US" sz="2400" dirty="0" smtClean="0">
                <a:solidFill>
                  <a:srgbClr val="080808"/>
                </a:solidFill>
              </a:rPr>
              <a:t>A </a:t>
            </a:r>
            <a:r>
              <a:rPr lang="en-US" sz="2400" b="1" dirty="0" smtClean="0">
                <a:solidFill>
                  <a:srgbClr val="080808"/>
                </a:solidFill>
              </a:rPr>
              <a:t>polymer</a:t>
            </a:r>
            <a:r>
              <a:rPr lang="en-US" sz="2400" dirty="0" smtClean="0">
                <a:solidFill>
                  <a:srgbClr val="080808"/>
                </a:solidFill>
              </a:rPr>
              <a:t> is a large molecule that is made up of high molecular-weight chain of small molecules. The small molecules that are </a:t>
            </a:r>
            <a:r>
              <a:rPr lang="en-US" sz="2400" b="1" dirty="0" smtClean="0">
                <a:solidFill>
                  <a:srgbClr val="080808"/>
                </a:solidFill>
              </a:rPr>
              <a:t>covalently</a:t>
            </a:r>
            <a:r>
              <a:rPr lang="en-US" sz="2400" dirty="0" smtClean="0">
                <a:solidFill>
                  <a:srgbClr val="080808"/>
                </a:solidFill>
              </a:rPr>
              <a:t> linked together to form polymer are called the </a:t>
            </a:r>
            <a:r>
              <a:rPr lang="en-US" sz="2400" b="1" dirty="0" smtClean="0">
                <a:solidFill>
                  <a:srgbClr val="080808"/>
                </a:solidFill>
              </a:rPr>
              <a:t>monomers</a:t>
            </a:r>
            <a:r>
              <a:rPr lang="en-US" sz="2400" dirty="0" smtClean="0">
                <a:solidFill>
                  <a:srgbClr val="080808"/>
                </a:solidFill>
              </a:rPr>
              <a:t>. </a:t>
            </a:r>
          </a:p>
          <a:p>
            <a:pPr algn="just"/>
            <a:r>
              <a:rPr lang="en-US" sz="2400" dirty="0" smtClean="0">
                <a:solidFill>
                  <a:srgbClr val="080808"/>
                </a:solidFill>
              </a:rPr>
              <a:t>These polymers are basically divided into two classes </a:t>
            </a:r>
            <a:r>
              <a:rPr lang="en-US" sz="2400" dirty="0" smtClean="0"/>
              <a:t>namely; </a:t>
            </a:r>
            <a:r>
              <a:rPr lang="en-US" sz="2400" b="1" dirty="0" smtClean="0">
                <a:solidFill>
                  <a:srgbClr val="080808"/>
                </a:solidFill>
              </a:rPr>
              <a:t>natural </a:t>
            </a:r>
            <a:r>
              <a:rPr lang="en-US" sz="2400" dirty="0" smtClean="0">
                <a:solidFill>
                  <a:srgbClr val="080808"/>
                </a:solidFill>
              </a:rPr>
              <a:t>and </a:t>
            </a:r>
            <a:r>
              <a:rPr lang="en-US" sz="2400" b="1" dirty="0" smtClean="0">
                <a:solidFill>
                  <a:srgbClr val="080808"/>
                </a:solidFill>
              </a:rPr>
              <a:t>synthetic </a:t>
            </a:r>
            <a:r>
              <a:rPr lang="en-US" sz="2400" dirty="0" smtClean="0">
                <a:solidFill>
                  <a:srgbClr val="080808"/>
                </a:solidFill>
              </a:rPr>
              <a:t>polymers.</a:t>
            </a:r>
          </a:p>
        </p:txBody>
      </p:sp>
      <p:grpSp>
        <p:nvGrpSpPr>
          <p:cNvPr id="7" name="Group 6"/>
          <p:cNvGrpSpPr/>
          <p:nvPr/>
        </p:nvGrpSpPr>
        <p:grpSpPr>
          <a:xfrm>
            <a:off x="4506" y="0"/>
            <a:ext cx="914400" cy="51435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2"/>
          <p:cNvSpPr>
            <a:spLocks noGrp="1"/>
          </p:cNvSpPr>
          <p:nvPr>
            <p:ph idx="1"/>
          </p:nvPr>
        </p:nvSpPr>
        <p:spPr>
          <a:xfrm>
            <a:off x="838200" y="315959"/>
            <a:ext cx="8229600" cy="4572000"/>
          </a:xfrm>
        </p:spPr>
        <p:txBody>
          <a:bodyPr>
            <a:noAutofit/>
          </a:bodyPr>
          <a:lstStyle/>
          <a:p>
            <a:pPr marL="0" indent="0" algn="just">
              <a:buNone/>
            </a:pPr>
            <a:endParaRPr lang="en-US" sz="2400" dirty="0" smtClean="0"/>
          </a:p>
          <a:p>
            <a:pPr marL="514350" indent="-514350" algn="just">
              <a:buFont typeface="+mj-lt"/>
              <a:buAutoNum type="arabicPeriod"/>
            </a:pPr>
            <a:r>
              <a:rPr lang="en-US" sz="2400" b="1" dirty="0" smtClean="0"/>
              <a:t>Natural polymer: </a:t>
            </a:r>
            <a:r>
              <a:rPr lang="en-US" sz="2400" dirty="0" smtClean="0"/>
              <a:t>Natural polymers occur naturally as important biological molecules such as proteins, nucleic acids, and polysaccharides (</a:t>
            </a:r>
            <a:r>
              <a:rPr lang="en-US" sz="2400" dirty="0" smtClean="0"/>
              <a:t>starch </a:t>
            </a:r>
            <a:r>
              <a:rPr lang="en-US" sz="2400" dirty="0" smtClean="0"/>
              <a:t>and cellulose in wood and cotton). Natural rubber and natural fibers such as silk and wool also belong to the class of naturally occurring polymers.</a:t>
            </a:r>
          </a:p>
          <a:p>
            <a:pPr marL="514350" indent="-514350" algn="just">
              <a:buFont typeface="+mj-lt"/>
              <a:buAutoNum type="arabicPeriod"/>
            </a:pPr>
            <a:endParaRPr lang="en-US" sz="2400" b="1" dirty="0" smtClean="0"/>
          </a:p>
          <a:p>
            <a:pPr marL="514350" indent="-514350" algn="just">
              <a:buFont typeface="+mj-lt"/>
              <a:buAutoNum type="arabicPeriod"/>
            </a:pPr>
            <a:r>
              <a:rPr lang="en-US" sz="2400" b="1" dirty="0" smtClean="0"/>
              <a:t>Synthetic polymers: </a:t>
            </a:r>
            <a:r>
              <a:rPr lang="en-US" sz="2400" dirty="0" smtClean="0"/>
              <a:t>Most </a:t>
            </a:r>
            <a:r>
              <a:rPr lang="en-US" sz="2400" dirty="0" smtClean="0"/>
              <a:t>of the synthetic </a:t>
            </a:r>
            <a:r>
              <a:rPr lang="en-US" sz="2400" dirty="0" smtClean="0"/>
              <a:t>polymers are organic compounds. Familiar  examples include plastics such as polyesters, Teflon, and Lucite (Plexiglass), and synthetic fibers such as nylon, Orlon, and Dacron.</a:t>
            </a:r>
          </a:p>
          <a:p>
            <a:pPr marL="514350" indent="-514350" algn="just">
              <a:buNone/>
            </a:pPr>
            <a:endParaRPr lang="en-US" sz="2400" dirty="0" smtClean="0"/>
          </a:p>
        </p:txBody>
      </p:sp>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txBox="1">
            <a:spLocks/>
          </p:cNvSpPr>
          <p:nvPr/>
        </p:nvSpPr>
        <p:spPr>
          <a:xfrm>
            <a:off x="533400" y="285750"/>
            <a:ext cx="8229600" cy="857250"/>
          </a:xfrm>
          <a:prstGeom prst="rect">
            <a:avLst/>
          </a:prstGeom>
        </p:spPr>
        <p:txBody>
          <a:bodyPr vert="horz" lIns="91440" tIns="45720" rIns="91440" bIns="45720" rtlCol="0" anchor="ctr">
            <a:normAutofit fontScale="85000" lnSpcReduction="10000"/>
          </a:bodyPr>
          <a:lstStyle/>
          <a:p>
            <a:pPr lvl="0" algn="ctr">
              <a:spcBef>
                <a:spcPct val="0"/>
              </a:spcBef>
              <a:defRPr/>
            </a:pPr>
            <a:r>
              <a:rPr lang="en-US" sz="4400" dirty="0" smtClean="0">
                <a:latin typeface="+mj-lt"/>
                <a:ea typeface="+mj-ea"/>
                <a:cs typeface="+mj-cs"/>
              </a:rPr>
              <a:t>  Structures of some Common Polymers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p:cNvPicPr>
            <a:picLocks noChangeAspect="1" noChangeArrowheads="1"/>
          </p:cNvPicPr>
          <p:nvPr/>
        </p:nvPicPr>
        <p:blipFill>
          <a:blip r:embed="rId2"/>
          <a:srcRect/>
          <a:stretch>
            <a:fillRect/>
          </a:stretch>
        </p:blipFill>
        <p:spPr bwMode="auto">
          <a:xfrm>
            <a:off x="1033852" y="1196511"/>
            <a:ext cx="7881548" cy="3585039"/>
          </a:xfrm>
          <a:prstGeom prst="rect">
            <a:avLst/>
          </a:prstGeom>
          <a:noFill/>
          <a:ln w="9525">
            <a:noFill/>
            <a:miter lim="800000"/>
            <a:headEnd/>
            <a:tailEnd/>
          </a:ln>
          <a:effectLst/>
        </p:spPr>
      </p:pic>
      <p:grpSp>
        <p:nvGrpSpPr>
          <p:cNvPr id="8" name="Group 7"/>
          <p:cNvGrpSpPr/>
          <p:nvPr/>
        </p:nvGrpSpPr>
        <p:grpSpPr>
          <a:xfrm>
            <a:off x="4506" y="0"/>
            <a:ext cx="914400" cy="51435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a:spLocks noGrp="1"/>
          </p:cNvSpPr>
          <p:nvPr>
            <p:ph idx="1"/>
          </p:nvPr>
        </p:nvSpPr>
        <p:spPr>
          <a:xfrm>
            <a:off x="850657" y="914400"/>
            <a:ext cx="8229600" cy="4095750"/>
          </a:xfrm>
          <a:solidFill>
            <a:schemeClr val="bg1"/>
          </a:solidFill>
          <a:ln>
            <a:solidFill>
              <a:schemeClr val="bg1"/>
            </a:solidFill>
          </a:ln>
        </p:spPr>
        <p:txBody>
          <a:bodyPr>
            <a:normAutofit fontScale="85000" lnSpcReduction="10000"/>
          </a:bodyPr>
          <a:lstStyle/>
          <a:p>
            <a:pPr algn="just">
              <a:buNone/>
            </a:pPr>
            <a:r>
              <a:rPr lang="en-US" sz="2400" dirty="0" smtClean="0">
                <a:solidFill>
                  <a:srgbClr val="080808"/>
                </a:solidFill>
              </a:rPr>
              <a:t>Polymerization is the combination of many small molecules (monomers) to form large molecules (polymers). </a:t>
            </a:r>
          </a:p>
          <a:p>
            <a:pPr algn="just">
              <a:buNone/>
            </a:pPr>
            <a:endParaRPr lang="en-US" sz="2400" dirty="0" smtClean="0"/>
          </a:p>
          <a:p>
            <a:pPr algn="just"/>
            <a:endParaRPr lang="en-US" sz="2400" dirty="0" smtClean="0"/>
          </a:p>
          <a:p>
            <a:pPr algn="just"/>
            <a:r>
              <a:rPr lang="en-US" sz="2400" dirty="0" smtClean="0"/>
              <a:t>Basically, polymerization processes are classified into (</a:t>
            </a:r>
            <a:r>
              <a:rPr lang="en-US" sz="2400" dirty="0" err="1" smtClean="0"/>
              <a:t>i</a:t>
            </a:r>
            <a:r>
              <a:rPr lang="en-US" sz="2400" dirty="0" smtClean="0"/>
              <a:t>) </a:t>
            </a:r>
            <a:r>
              <a:rPr lang="en-US" sz="2400" b="1" dirty="0" smtClean="0">
                <a:solidFill>
                  <a:srgbClr val="002060"/>
                </a:solidFill>
              </a:rPr>
              <a:t>addition reaction</a:t>
            </a:r>
            <a:r>
              <a:rPr lang="en-US" sz="2400" b="1" dirty="0" smtClean="0"/>
              <a:t> </a:t>
            </a:r>
            <a:r>
              <a:rPr lang="en-US" sz="2400" dirty="0" smtClean="0"/>
              <a:t>or polymerization and (ii) </a:t>
            </a:r>
            <a:r>
              <a:rPr lang="en-US" sz="2400" b="1" dirty="0" smtClean="0"/>
              <a:t>condensation reaction </a:t>
            </a:r>
            <a:r>
              <a:rPr lang="en-US" sz="2400" dirty="0" smtClean="0"/>
              <a:t>or polymerization.</a:t>
            </a:r>
          </a:p>
          <a:p>
            <a:pPr algn="just"/>
            <a:endParaRPr lang="en-US" sz="2400" dirty="0" smtClean="0"/>
          </a:p>
          <a:p>
            <a:pPr marL="457200" indent="-457200" algn="just">
              <a:buFont typeface="+mj-lt"/>
              <a:buAutoNum type="arabicPeriod"/>
            </a:pPr>
            <a:r>
              <a:rPr lang="en-US" sz="2400" b="1" dirty="0" smtClean="0"/>
              <a:t>Addition reactions or polymerization</a:t>
            </a:r>
          </a:p>
          <a:p>
            <a:pPr algn="just">
              <a:buNone/>
            </a:pPr>
            <a:r>
              <a:rPr lang="en-US" sz="2400" dirty="0" smtClean="0"/>
              <a:t> Addition reactions involve unsaturated compounds containing double or triple bonds, particularly C</a:t>
            </a:r>
            <a:r>
              <a:rPr lang="en-US" sz="2400" dirty="0" smtClean="0">
                <a:latin typeface="Calibri"/>
                <a:cs typeface="Calibri"/>
              </a:rPr>
              <a:t>=C and C≡C. The following processes describe simple addition reactions (a) hydrogenation of alkenes or alkynes (b) reaction of hydrogen halide with alkenes or alkynes (c) reaction of halogens with alkenes or alkynes. </a:t>
            </a:r>
            <a:endParaRPr lang="en-US" sz="2400" dirty="0" smtClean="0"/>
          </a:p>
          <a:p>
            <a:pPr>
              <a:buNone/>
            </a:pPr>
            <a:endParaRPr lang="en-IN" sz="2400" dirty="0" smtClean="0"/>
          </a:p>
        </p:txBody>
      </p:sp>
      <p:sp>
        <p:nvSpPr>
          <p:cNvPr id="6" name="Rectangle 5"/>
          <p:cNvSpPr/>
          <p:nvPr/>
        </p:nvSpPr>
        <p:spPr>
          <a:xfrm>
            <a:off x="1828800" y="1371602"/>
            <a:ext cx="6477000" cy="646331"/>
          </a:xfrm>
          <a:prstGeom prst="rect">
            <a:avLst/>
          </a:prstGeom>
        </p:spPr>
        <p:txBody>
          <a:bodyPr wrap="square">
            <a:spAutoFit/>
          </a:bodyPr>
          <a:lstStyle/>
          <a:p>
            <a:pPr algn="ctr"/>
            <a:r>
              <a:rPr lang="en-US" sz="3600" b="1" dirty="0" smtClean="0">
                <a:solidFill>
                  <a:srgbClr val="080808"/>
                </a:solidFill>
              </a:rPr>
              <a:t>Types of Polymerization</a:t>
            </a:r>
          </a:p>
        </p:txBody>
      </p:sp>
      <p:sp>
        <p:nvSpPr>
          <p:cNvPr id="8" name="Rectangle 2"/>
          <p:cNvSpPr txBox="1">
            <a:spLocks noChangeArrowheads="1"/>
          </p:cNvSpPr>
          <p:nvPr/>
        </p:nvSpPr>
        <p:spPr>
          <a:xfrm>
            <a:off x="1524000" y="57150"/>
            <a:ext cx="6172200" cy="62865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4400" b="1" i="0" u="none" strike="noStrike" kern="1200" cap="none" spc="0" normalizeH="0" baseline="0" noProof="0" dirty="0" smtClean="0">
                <a:ln>
                  <a:noFill/>
                </a:ln>
                <a:solidFill>
                  <a:schemeClr val="tx1"/>
                </a:solidFill>
                <a:effectLst/>
                <a:uLnTx/>
                <a:uFillTx/>
                <a:latin typeface="+mj-lt"/>
                <a:ea typeface="+mj-ea"/>
                <a:cs typeface="+mj-cs"/>
              </a:rPr>
              <a:t>Polymerization</a:t>
            </a:r>
          </a:p>
        </p:txBody>
      </p:sp>
      <p:grpSp>
        <p:nvGrpSpPr>
          <p:cNvPr id="9" name="Group 8"/>
          <p:cNvGrpSpPr/>
          <p:nvPr/>
        </p:nvGrpSpPr>
        <p:grpSpPr>
          <a:xfrm>
            <a:off x="4506" y="0"/>
            <a:ext cx="914400" cy="51435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txBox="1">
            <a:spLocks/>
          </p:cNvSpPr>
          <p:nvPr/>
        </p:nvSpPr>
        <p:spPr>
          <a:xfrm>
            <a:off x="381000" y="571500"/>
            <a:ext cx="8534400" cy="4343400"/>
          </a:xfrm>
          <a:prstGeom prst="rect">
            <a:avLst/>
          </a:prstGeom>
          <a:ln w="25400" cmpd="sng">
            <a:solidFill>
              <a:srgbClr val="C00000"/>
            </a:solidFill>
          </a:ln>
        </p:spPr>
        <p:txBody>
          <a:bodyPr vert="horz" lIns="91440" tIns="45720" rIns="91440" bIns="45720" rtlCol="0">
            <a:noAutofit/>
          </a:bodyPr>
          <a:lstStyle/>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i="0" u="none" strike="noStrike" kern="1200" cap="none" spc="0" normalizeH="0" baseline="0" noProof="0" dirty="0" smtClean="0">
                <a:ln>
                  <a:noFill/>
                </a:ln>
                <a:solidFill>
                  <a:srgbClr val="080808"/>
                </a:solidFill>
                <a:effectLst/>
                <a:uLnTx/>
                <a:uFillTx/>
                <a:latin typeface="+mn-lt"/>
                <a:ea typeface="+mn-ea"/>
                <a:cs typeface="+mn-cs"/>
              </a:rPr>
              <a:t>	Addition polymerization </a:t>
            </a:r>
            <a:r>
              <a:rPr kumimoji="0" lang="en-US" b="0" i="0" u="none" strike="noStrike" kern="1200" cap="none" spc="0" normalizeH="0" baseline="0" noProof="0" dirty="0" smtClean="0">
                <a:ln>
                  <a:noFill/>
                </a:ln>
                <a:solidFill>
                  <a:srgbClr val="080808"/>
                </a:solidFill>
                <a:effectLst/>
                <a:uLnTx/>
                <a:uFillTx/>
                <a:latin typeface="+mn-lt"/>
                <a:ea typeface="+mn-ea"/>
                <a:cs typeface="+mn-cs"/>
              </a:rPr>
              <a:t>is an important addition reaction of the alkenes and the polymers formed by this kind of reaction are called “addition polymers”. The formation of polyethylene is an important example of such processes.</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solidFill>
                  <a:srgbClr val="080808"/>
                </a:solidFill>
              </a:rPr>
              <a:t>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lang="en-US" b="1" dirty="0" smtClean="0">
                <a:solidFill>
                  <a:srgbClr val="080808"/>
                </a:solidFill>
              </a:rPr>
              <a:t>	Some of the Synthetically Produced Addition Polymers:</a:t>
            </a:r>
            <a:endParaRPr kumimoji="0" lang="en-US" b="1" i="0" u="none" strike="noStrike" kern="1200" cap="none" spc="0" normalizeH="0" baseline="0" noProof="0" dirty="0" smtClean="0">
              <a:ln>
                <a:noFill/>
              </a:ln>
              <a:solidFill>
                <a:srgbClr val="080808"/>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80808"/>
                </a:solidFill>
                <a:effectLst/>
                <a:uLnTx/>
                <a:uFillTx/>
                <a:latin typeface="+mn-lt"/>
                <a:ea typeface="+mn-ea"/>
                <a:cs typeface="+mn-cs"/>
              </a:rPr>
              <a:t>	1-Polyethylene: </a:t>
            </a:r>
            <a:r>
              <a:rPr kumimoji="0" lang="en-US" i="0" u="none" strike="noStrike" kern="1200" cap="none" spc="0" normalizeH="0" baseline="0" noProof="0" dirty="0" smtClean="0">
                <a:ln>
                  <a:noFill/>
                </a:ln>
                <a:solidFill>
                  <a:srgbClr val="080808"/>
                </a:solidFill>
                <a:effectLst/>
                <a:uLnTx/>
                <a:uFillTx/>
                <a:latin typeface="+mn-lt"/>
                <a:ea typeface="+mn-ea"/>
                <a:cs typeface="+mn-cs"/>
              </a:rPr>
              <a:t>in</a:t>
            </a:r>
            <a:r>
              <a:rPr kumimoji="0" lang="en-US" b="1" i="0" u="none" strike="noStrike" kern="1200" cap="none" spc="0" normalizeH="0" baseline="0" noProof="0" dirty="0" smtClean="0">
                <a:ln>
                  <a:noFill/>
                </a:ln>
                <a:solidFill>
                  <a:srgbClr val="080808"/>
                </a:solidFill>
                <a:effectLst/>
                <a:uLnTx/>
                <a:uFillTx/>
                <a:latin typeface="+mn-lt"/>
                <a:ea typeface="+mn-ea"/>
                <a:cs typeface="+mn-cs"/>
              </a:rPr>
              <a:t> </a:t>
            </a:r>
            <a:r>
              <a:rPr kumimoji="0" lang="en-US" b="0" i="0" u="none" strike="noStrike" kern="1200" cap="none" spc="0" normalizeH="0" baseline="0" noProof="0" dirty="0" smtClean="0">
                <a:ln>
                  <a:noFill/>
                </a:ln>
                <a:solidFill>
                  <a:srgbClr val="080808"/>
                </a:solidFill>
                <a:effectLst/>
                <a:uLnTx/>
                <a:uFillTx/>
                <a:latin typeface="+mn-lt"/>
                <a:ea typeface="+mn-ea"/>
                <a:cs typeface="+mn-cs"/>
              </a:rPr>
              <a:t>the presence of appropriate catalysts (a mixture of trialkyls, e.g.</a:t>
            </a:r>
            <a:r>
              <a:rPr kumimoji="0" lang="en-US" b="0" i="0" u="none" strike="noStrike" kern="1200" cap="none" spc="0" normalizeH="0" noProof="0" dirty="0" smtClean="0">
                <a:ln>
                  <a:noFill/>
                </a:ln>
                <a:solidFill>
                  <a:srgbClr val="080808"/>
                </a:solidFill>
                <a:effectLst/>
                <a:uLnTx/>
                <a:uFillTx/>
                <a:latin typeface="+mn-lt"/>
                <a:ea typeface="+mn-ea"/>
                <a:cs typeface="+mn-cs"/>
              </a:rPr>
              <a:t> </a:t>
            </a:r>
            <a:r>
              <a:rPr kumimoji="0" lang="en-US" b="0" i="0" u="none" strike="noStrike" kern="1200" cap="none" spc="0" normalizeH="0" baseline="0" noProof="0" dirty="0" smtClean="0">
                <a:ln>
                  <a:noFill/>
                </a:ln>
                <a:solidFill>
                  <a:srgbClr val="080808"/>
                </a:solidFill>
                <a:effectLst/>
                <a:uLnTx/>
                <a:uFillTx/>
                <a:latin typeface="+mn-lt"/>
                <a:ea typeface="+mn-ea"/>
                <a:cs typeface="+mn-cs"/>
              </a:rPr>
              <a:t>R</a:t>
            </a:r>
            <a:r>
              <a:rPr kumimoji="0" lang="en-US" b="0" i="0" u="none" strike="noStrike" kern="1200" cap="none" spc="0" normalizeH="0" baseline="-25000" noProof="0" dirty="0" smtClean="0">
                <a:ln>
                  <a:noFill/>
                </a:ln>
                <a:solidFill>
                  <a:srgbClr val="080808"/>
                </a:solidFill>
                <a:effectLst/>
                <a:uLnTx/>
                <a:uFillTx/>
                <a:latin typeface="+mn-lt"/>
                <a:ea typeface="+mn-ea"/>
                <a:cs typeface="+mn-cs"/>
              </a:rPr>
              <a:t>3</a:t>
            </a:r>
            <a:r>
              <a:rPr kumimoji="0" lang="en-US" b="0" i="0" u="none" strike="noStrike" kern="1200" cap="none" spc="0" normalizeH="0" baseline="0" noProof="0" dirty="0" smtClean="0">
                <a:ln>
                  <a:noFill/>
                </a:ln>
                <a:solidFill>
                  <a:srgbClr val="080808"/>
                </a:solidFill>
                <a:effectLst/>
                <a:uLnTx/>
                <a:uFillTx/>
                <a:latin typeface="+mn-lt"/>
                <a:ea typeface="+mn-ea"/>
                <a:cs typeface="+mn-cs"/>
              </a:rPr>
              <a:t>Al, and titanium tetrachloride, TiCl</a:t>
            </a:r>
            <a:r>
              <a:rPr kumimoji="0" lang="en-US" b="0" i="0" u="none" strike="noStrike" kern="1200" cap="none" spc="0" normalizeH="0" baseline="-25000" noProof="0" dirty="0" smtClean="0">
                <a:ln>
                  <a:noFill/>
                </a:ln>
                <a:solidFill>
                  <a:srgbClr val="080808"/>
                </a:solidFill>
                <a:effectLst/>
                <a:uLnTx/>
                <a:uFillTx/>
                <a:latin typeface="+mn-lt"/>
                <a:ea typeface="+mn-ea"/>
                <a:cs typeface="+mn-cs"/>
              </a:rPr>
              <a:t>4</a:t>
            </a:r>
            <a:r>
              <a:rPr kumimoji="0" lang="en-US" b="0" i="0" u="none" strike="noStrike" kern="1200" cap="none" spc="0" normalizeH="0" baseline="0" noProof="0" dirty="0" smtClean="0">
                <a:ln>
                  <a:noFill/>
                </a:ln>
                <a:solidFill>
                  <a:srgbClr val="080808"/>
                </a:solidFill>
                <a:effectLst/>
                <a:uLnTx/>
                <a:uFillTx/>
                <a:latin typeface="+mn-lt"/>
                <a:ea typeface="+mn-ea"/>
                <a:cs typeface="+mn-cs"/>
              </a:rPr>
              <a:t>), </a:t>
            </a:r>
            <a:r>
              <a:rPr kumimoji="0" lang="en-US" b="0" i="0" u="none" strike="noStrike" kern="1200" cap="none" spc="0" normalizeH="0" baseline="0" noProof="0" dirty="0" smtClean="0">
                <a:ln>
                  <a:noFill/>
                </a:ln>
                <a:solidFill>
                  <a:srgbClr val="080808"/>
                </a:solidFill>
                <a:effectLst/>
                <a:uLnTx/>
                <a:uFillTx/>
                <a:latin typeface="+mn-lt"/>
                <a:ea typeface="+mn-ea"/>
                <a:cs typeface="+mn-cs"/>
              </a:rPr>
              <a:t>ethylene monomers polymerize </a:t>
            </a:r>
            <a:r>
              <a:rPr kumimoji="0" lang="en-US" b="0" i="0" u="none" strike="noStrike" kern="1200" cap="none" spc="0" normalizeH="0" baseline="0" noProof="0" dirty="0" smtClean="0">
                <a:ln>
                  <a:noFill/>
                </a:ln>
                <a:solidFill>
                  <a:srgbClr val="080808"/>
                </a:solidFill>
                <a:effectLst/>
                <a:uLnTx/>
                <a:uFillTx/>
                <a:latin typeface="+mn-lt"/>
                <a:ea typeface="+mn-ea"/>
                <a:cs typeface="+mn-cs"/>
              </a:rPr>
              <a:t>into a </a:t>
            </a:r>
            <a:r>
              <a:rPr kumimoji="0" lang="en-US" b="0" i="0" u="none" strike="noStrike" kern="1200" cap="none" spc="0" normalizeH="0" baseline="0" noProof="0" dirty="0" smtClean="0">
                <a:ln>
                  <a:noFill/>
                </a:ln>
                <a:solidFill>
                  <a:srgbClr val="080808"/>
                </a:solidFill>
                <a:effectLst/>
                <a:uLnTx/>
                <a:uFillTx/>
                <a:latin typeface="+mn-lt"/>
                <a:ea typeface="+mn-ea"/>
                <a:cs typeface="+mn-cs"/>
              </a:rPr>
              <a:t>chain </a:t>
            </a:r>
            <a:r>
              <a:rPr kumimoji="0" lang="en-US" b="0" i="0" u="none" strike="noStrike" kern="1200" cap="none" spc="0" normalizeH="0" baseline="0" noProof="0" dirty="0" smtClean="0">
                <a:ln>
                  <a:noFill/>
                </a:ln>
                <a:solidFill>
                  <a:srgbClr val="080808"/>
                </a:solidFill>
                <a:effectLst/>
                <a:uLnTx/>
                <a:uFillTx/>
                <a:latin typeface="+mn-lt"/>
                <a:ea typeface="+mn-ea"/>
                <a:cs typeface="+mn-cs"/>
              </a:rPr>
              <a:t>containing about</a:t>
            </a:r>
            <a:r>
              <a:rPr kumimoji="0" lang="en-US" b="0" i="0" u="none" strike="noStrike" kern="1200" cap="none" spc="0" normalizeH="0" noProof="0" dirty="0" smtClean="0">
                <a:ln>
                  <a:noFill/>
                </a:ln>
                <a:solidFill>
                  <a:srgbClr val="080808"/>
                </a:solidFill>
                <a:effectLst/>
                <a:uLnTx/>
                <a:uFillTx/>
                <a:latin typeface="+mn-lt"/>
                <a:ea typeface="+mn-ea"/>
                <a:cs typeface="+mn-cs"/>
              </a:rPr>
              <a:t> </a:t>
            </a:r>
            <a:r>
              <a:rPr kumimoji="0" lang="en-US" b="0" i="0" u="none" strike="noStrike" kern="1200" cap="none" spc="0" normalizeH="0" baseline="0" noProof="0" dirty="0" smtClean="0">
                <a:ln>
                  <a:noFill/>
                </a:ln>
                <a:solidFill>
                  <a:srgbClr val="080808"/>
                </a:solidFill>
                <a:effectLst/>
                <a:uLnTx/>
                <a:uFillTx/>
                <a:latin typeface="+mn-lt"/>
                <a:ea typeface="+mn-ea"/>
                <a:cs typeface="+mn-cs"/>
              </a:rPr>
              <a:t>800 or more carbon atoms.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b="0" i="0" u="none" strike="noStrike" kern="1200" cap="none" spc="0" normalizeH="0" baseline="0" noProof="0" dirty="0" smtClean="0">
              <a:ln>
                <a:noFill/>
              </a:ln>
              <a:solidFill>
                <a:srgbClr val="080808"/>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b="0" i="0" u="none" strike="noStrike" kern="1200" cap="none" spc="0" normalizeH="0" baseline="0" noProof="0" dirty="0" smtClean="0">
              <a:ln>
                <a:noFill/>
              </a:ln>
              <a:solidFill>
                <a:srgbClr val="080808"/>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smtClean="0">
                <a:ln>
                  <a:noFill/>
                </a:ln>
                <a:solidFill>
                  <a:srgbClr val="080808"/>
                </a:solidFill>
                <a:effectLst/>
                <a:uLnTx/>
                <a:uFillTx/>
                <a:latin typeface="+mn-lt"/>
                <a:ea typeface="+mn-ea"/>
                <a:cs typeface="+mn-cs"/>
              </a:rPr>
              <a:t>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b="0" i="0" u="none" strike="noStrike" kern="1200" cap="none" spc="0" normalizeH="0" baseline="0" noProof="0" dirty="0" smtClean="0">
              <a:ln>
                <a:noFill/>
              </a:ln>
              <a:solidFill>
                <a:srgbClr val="080808"/>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smtClean="0">
                <a:ln>
                  <a:noFill/>
                </a:ln>
                <a:solidFill>
                  <a:srgbClr val="080808"/>
                </a:solidFill>
                <a:effectLst/>
                <a:uLnTx/>
                <a:uFillTx/>
                <a:latin typeface="+mn-lt"/>
                <a:ea typeface="+mn-ea"/>
                <a:cs typeface="+mn-cs"/>
              </a:rPr>
              <a:t>	The polymer </a:t>
            </a:r>
            <a:r>
              <a:rPr lang="en-US" dirty="0" smtClean="0">
                <a:solidFill>
                  <a:srgbClr val="080808"/>
                </a:solidFill>
              </a:rPr>
              <a:t>can also be</a:t>
            </a:r>
            <a:r>
              <a:rPr kumimoji="0" lang="en-US" b="0" i="0" u="none" strike="noStrike" kern="1200" cap="none" spc="0" normalizeH="0" baseline="0" noProof="0" dirty="0" smtClean="0">
                <a:ln>
                  <a:noFill/>
                </a:ln>
                <a:solidFill>
                  <a:srgbClr val="080808"/>
                </a:solidFill>
                <a:effectLst/>
                <a:uLnTx/>
                <a:uFillTx/>
                <a:latin typeface="+mn-lt"/>
                <a:ea typeface="+mn-ea"/>
                <a:cs typeface="+mn-cs"/>
              </a:rPr>
              <a:t> represented as CH</a:t>
            </a:r>
            <a:r>
              <a:rPr kumimoji="0" lang="en-US" b="0" i="0" u="none" strike="noStrike" kern="1200" cap="none" spc="0" normalizeH="0" baseline="-25000" noProof="0" dirty="0" smtClean="0">
                <a:ln>
                  <a:noFill/>
                </a:ln>
                <a:solidFill>
                  <a:srgbClr val="080808"/>
                </a:solidFill>
                <a:effectLst/>
                <a:uLnTx/>
                <a:uFillTx/>
                <a:latin typeface="+mn-lt"/>
                <a:ea typeface="+mn-ea"/>
                <a:cs typeface="+mn-cs"/>
              </a:rPr>
              <a:t>3</a:t>
            </a:r>
            <a:r>
              <a:rPr kumimoji="0" lang="en-US" b="0" i="0" u="none" strike="noStrike" kern="1200" cap="none" spc="0" normalizeH="0" baseline="0" noProof="0" dirty="0" smtClean="0">
                <a:ln>
                  <a:noFill/>
                </a:ln>
                <a:solidFill>
                  <a:srgbClr val="080808"/>
                </a:solidFill>
                <a:effectLst/>
                <a:uLnTx/>
                <a:uFillTx/>
                <a:latin typeface="+mn-lt"/>
                <a:ea typeface="+mn-ea"/>
                <a:cs typeface="+mn-cs"/>
              </a:rPr>
              <a:t>-(CH</a:t>
            </a:r>
            <a:r>
              <a:rPr kumimoji="0" lang="en-US" b="0" i="0" u="none" strike="noStrike" kern="1200" cap="none" spc="0" normalizeH="0" baseline="-25000" noProof="0" dirty="0" smtClean="0">
                <a:ln>
                  <a:noFill/>
                </a:ln>
                <a:solidFill>
                  <a:srgbClr val="080808"/>
                </a:solidFill>
                <a:effectLst/>
                <a:uLnTx/>
                <a:uFillTx/>
                <a:latin typeface="+mn-lt"/>
                <a:ea typeface="+mn-ea"/>
                <a:cs typeface="+mn-cs"/>
              </a:rPr>
              <a:t>2</a:t>
            </a:r>
            <a:r>
              <a:rPr kumimoji="0" lang="en-US" b="0" i="0" u="none" strike="noStrike" kern="1200" cap="none" spc="0" normalizeH="0" baseline="0" noProof="0" dirty="0" smtClean="0">
                <a:ln>
                  <a:noFill/>
                </a:ln>
                <a:solidFill>
                  <a:srgbClr val="080808"/>
                </a:solidFill>
                <a:effectLst/>
                <a:uLnTx/>
                <a:uFillTx/>
                <a:latin typeface="+mn-lt"/>
                <a:ea typeface="+mn-ea"/>
                <a:cs typeface="+mn-cs"/>
              </a:rPr>
              <a:t>-CH</a:t>
            </a:r>
            <a:r>
              <a:rPr kumimoji="0" lang="en-US" b="0" i="0" u="none" strike="noStrike" kern="1200" cap="none" spc="0" normalizeH="0" baseline="-25000" noProof="0" dirty="0" smtClean="0">
                <a:ln>
                  <a:noFill/>
                </a:ln>
                <a:solidFill>
                  <a:srgbClr val="080808"/>
                </a:solidFill>
                <a:effectLst/>
                <a:uLnTx/>
                <a:uFillTx/>
                <a:latin typeface="+mn-lt"/>
                <a:ea typeface="+mn-ea"/>
                <a:cs typeface="+mn-cs"/>
              </a:rPr>
              <a:t>2</a:t>
            </a:r>
            <a:r>
              <a:rPr kumimoji="0" lang="en-US" b="0" i="0" u="none" strike="noStrike" kern="1200" cap="none" spc="0" normalizeH="0" baseline="0" noProof="0" dirty="0" smtClean="0">
                <a:ln>
                  <a:noFill/>
                </a:ln>
                <a:solidFill>
                  <a:srgbClr val="080808"/>
                </a:solidFill>
                <a:effectLst/>
                <a:uLnTx/>
                <a:uFillTx/>
                <a:latin typeface="+mn-lt"/>
                <a:ea typeface="+mn-ea"/>
                <a:cs typeface="+mn-cs"/>
              </a:rPr>
              <a:t>)</a:t>
            </a:r>
            <a:r>
              <a:rPr kumimoji="0" lang="en-US" b="0" i="0" u="none" strike="noStrike" kern="1200" cap="none" spc="0" normalizeH="0" baseline="-25000" noProof="0" dirty="0" smtClean="0">
                <a:ln>
                  <a:noFill/>
                </a:ln>
                <a:solidFill>
                  <a:srgbClr val="080808"/>
                </a:solidFill>
                <a:effectLst/>
                <a:uLnTx/>
                <a:uFillTx/>
                <a:latin typeface="+mn-lt"/>
                <a:ea typeface="+mn-ea"/>
                <a:cs typeface="+mn-cs"/>
              </a:rPr>
              <a:t>n</a:t>
            </a:r>
            <a:r>
              <a:rPr kumimoji="0" lang="en-US" b="0" i="0" u="none" strike="noStrike" kern="1200" cap="none" spc="0" normalizeH="0" baseline="0" noProof="0" dirty="0" smtClean="0">
                <a:ln>
                  <a:noFill/>
                </a:ln>
                <a:solidFill>
                  <a:srgbClr val="080808"/>
                </a:solidFill>
                <a:effectLst/>
                <a:uLnTx/>
                <a:uFillTx/>
                <a:latin typeface="+mn-lt"/>
                <a:ea typeface="+mn-ea"/>
                <a:cs typeface="+mn-cs"/>
              </a:rPr>
              <a:t>-CH</a:t>
            </a:r>
            <a:r>
              <a:rPr kumimoji="0" lang="en-US" b="0" i="0" u="none" strike="noStrike" kern="1200" cap="none" spc="0" normalizeH="0" baseline="-25000" noProof="0" dirty="0" smtClean="0">
                <a:ln>
                  <a:noFill/>
                </a:ln>
                <a:solidFill>
                  <a:srgbClr val="080808"/>
                </a:solidFill>
                <a:effectLst/>
                <a:uLnTx/>
                <a:uFillTx/>
                <a:latin typeface="+mn-lt"/>
                <a:ea typeface="+mn-ea"/>
                <a:cs typeface="+mn-cs"/>
              </a:rPr>
              <a:t>3 </a:t>
            </a:r>
            <a:r>
              <a:rPr kumimoji="0" lang="en-US" b="0" i="0" u="none" strike="noStrike" kern="1200" cap="none" spc="0" normalizeH="0" baseline="0" noProof="0" dirty="0" smtClean="0">
                <a:ln>
                  <a:noFill/>
                </a:ln>
                <a:solidFill>
                  <a:srgbClr val="080808"/>
                </a:solidFill>
                <a:effectLst/>
                <a:uLnTx/>
                <a:uFillTx/>
                <a:latin typeface="+mn-lt"/>
                <a:ea typeface="+mn-ea"/>
                <a:cs typeface="+mn-cs"/>
              </a:rPr>
              <a:t>, where n is approximately 400.</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b="0" i="0" u="none" strike="noStrike" kern="1200" cap="none" spc="0" normalizeH="0" baseline="0" noProof="0" dirty="0">
              <a:ln>
                <a:noFill/>
              </a:ln>
              <a:solidFill>
                <a:srgbClr val="080808"/>
              </a:solidFill>
              <a:effectLst/>
              <a:uLnTx/>
              <a:uFillTx/>
              <a:latin typeface="+mn-lt"/>
              <a:ea typeface="+mn-ea"/>
              <a:cs typeface="+mn-cs"/>
            </a:endParaRPr>
          </a:p>
        </p:txBody>
      </p:sp>
      <p:pic>
        <p:nvPicPr>
          <p:cNvPr id="5" name="Picture 4"/>
          <p:cNvPicPr>
            <a:picLocks noChangeAspect="1" noChangeArrowheads="1"/>
          </p:cNvPicPr>
          <p:nvPr/>
        </p:nvPicPr>
        <p:blipFill>
          <a:blip r:embed="rId2">
            <a:duotone>
              <a:prstClr val="black"/>
              <a:srgbClr val="D9C3A5">
                <a:tint val="50000"/>
                <a:satMod val="180000"/>
              </a:srgbClr>
            </a:duotone>
          </a:blip>
          <a:srcRect/>
          <a:stretch>
            <a:fillRect/>
          </a:stretch>
        </p:blipFill>
        <p:spPr bwMode="auto">
          <a:xfrm>
            <a:off x="1828800" y="2981025"/>
            <a:ext cx="5943601" cy="1267125"/>
          </a:xfrm>
          <a:prstGeom prst="rect">
            <a:avLst/>
          </a:prstGeom>
          <a:noFill/>
          <a:ln w="9525">
            <a:noFill/>
            <a:miter lim="800000"/>
            <a:headEnd/>
            <a:tailEnd/>
          </a:ln>
          <a:effectLst/>
        </p:spPr>
      </p:pic>
      <p:grpSp>
        <p:nvGrpSpPr>
          <p:cNvPr id="6" name="Group 5"/>
          <p:cNvGrpSpPr/>
          <p:nvPr/>
        </p:nvGrpSpPr>
        <p:grpSpPr>
          <a:xfrm>
            <a:off x="4506" y="0"/>
            <a:ext cx="452694" cy="51435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duotone>
              <a:schemeClr val="accent6">
                <a:shade val="45000"/>
                <a:satMod val="135000"/>
              </a:schemeClr>
              <a:prstClr val="white"/>
            </a:duotone>
          </a:blip>
          <a:srcRect/>
          <a:stretch>
            <a:fillRect/>
          </a:stretch>
        </p:blipFill>
        <p:spPr bwMode="auto">
          <a:xfrm>
            <a:off x="1219200" y="2686051"/>
            <a:ext cx="6962775" cy="1878806"/>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838201" y="914401"/>
            <a:ext cx="7953375" cy="1443038"/>
          </a:xfrm>
          <a:prstGeom prst="rect">
            <a:avLst/>
          </a:prstGeom>
          <a:noFill/>
          <a:ln w="9525">
            <a:noFill/>
            <a:miter lim="800000"/>
            <a:headEnd/>
            <a:tailEnd/>
          </a:ln>
          <a:effectLst/>
        </p:spPr>
      </p:pic>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00050"/>
            <a:ext cx="7875842" cy="3543300"/>
          </a:xfrm>
        </p:spPr>
        <p:txBody>
          <a:bodyPr>
            <a:normAutofit/>
          </a:bodyPr>
          <a:lstStyle/>
          <a:p>
            <a:pPr algn="just">
              <a:buNone/>
            </a:pPr>
            <a:r>
              <a:rPr lang="en-US" sz="2000" b="1" dirty="0" smtClean="0">
                <a:solidFill>
                  <a:srgbClr val="080808"/>
                </a:solidFill>
              </a:rPr>
              <a:t>	2-Teflon: </a:t>
            </a:r>
            <a:r>
              <a:rPr lang="en-US" sz="2000" dirty="0" smtClean="0">
                <a:solidFill>
                  <a:srgbClr val="080808"/>
                </a:solidFill>
              </a:rPr>
              <a:t>polytetrafluoroethylene or Teflon is prepared from polymerization of </a:t>
            </a:r>
            <a:r>
              <a:rPr lang="en-US" sz="2000" dirty="0" smtClean="0"/>
              <a:t>tetrafluo</a:t>
            </a:r>
            <a:r>
              <a:rPr lang="en-US" sz="2000" dirty="0" smtClean="0">
                <a:solidFill>
                  <a:srgbClr val="080808"/>
                </a:solidFill>
              </a:rPr>
              <a:t>roethylene. </a:t>
            </a:r>
          </a:p>
          <a:p>
            <a:pPr algn="just">
              <a:buNone/>
            </a:pPr>
            <a:r>
              <a:rPr lang="en-US" sz="2000" dirty="0" smtClean="0"/>
              <a:t>	</a:t>
            </a:r>
          </a:p>
          <a:p>
            <a:pPr algn="just">
              <a:buNone/>
            </a:pPr>
            <a:r>
              <a:rPr lang="en-US" sz="2000" dirty="0" smtClean="0"/>
              <a:t>	The molecular weight of Teflon is about 2 x 10</a:t>
            </a:r>
            <a:r>
              <a:rPr lang="en-US" sz="2000" baseline="30000" dirty="0" smtClean="0"/>
              <a:t>6</a:t>
            </a:r>
            <a:r>
              <a:rPr lang="en-US" sz="2000" dirty="0" smtClean="0"/>
              <a:t>. Approximately 20,000 tetrafluoroethylene units polymerize to form a giant molecule. Teflon is a very useful polymer which does not react with concentrated acids and bases or with most of the oxidizing agents. It does not dissolve in most organic solvents.  </a:t>
            </a:r>
          </a:p>
          <a:p>
            <a:pPr algn="just"/>
            <a:endParaRPr lang="en-US" sz="2000" dirty="0" smtClean="0">
              <a:solidFill>
                <a:srgbClr val="080808"/>
              </a:solidFill>
            </a:endParaRPr>
          </a:p>
          <a:p>
            <a:pPr algn="just"/>
            <a:endParaRPr lang="en-US" sz="2000" dirty="0" smtClean="0">
              <a:solidFill>
                <a:srgbClr val="080808"/>
              </a:solidFill>
            </a:endParaRPr>
          </a:p>
        </p:txBody>
      </p:sp>
      <p:pic>
        <p:nvPicPr>
          <p:cNvPr id="2050" name="Picture 2"/>
          <p:cNvPicPr>
            <a:picLocks noChangeAspect="1" noChangeArrowheads="1"/>
          </p:cNvPicPr>
          <p:nvPr/>
        </p:nvPicPr>
        <p:blipFill>
          <a:blip r:embed="rId2"/>
          <a:srcRect/>
          <a:stretch>
            <a:fillRect/>
          </a:stretch>
        </p:blipFill>
        <p:spPr bwMode="auto">
          <a:xfrm>
            <a:off x="1828800" y="3181350"/>
            <a:ext cx="6172200" cy="1200150"/>
          </a:xfrm>
          <a:prstGeom prst="rect">
            <a:avLst/>
          </a:prstGeom>
          <a:noFill/>
          <a:ln w="9525">
            <a:noFill/>
            <a:miter lim="800000"/>
            <a:headEnd/>
            <a:tailEnd/>
          </a:ln>
          <a:effectLst/>
        </p:spPr>
      </p:pic>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990600" y="891137"/>
            <a:ext cx="7772400" cy="40005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tabLst/>
              <a:defRPr/>
            </a:pPr>
            <a:r>
              <a:rPr lang="en-US" altLang="en-US" sz="2000" dirty="0" smtClean="0">
                <a:effectLst>
                  <a:outerShdw blurRad="38100" dist="38100" dir="2700000" algn="tl">
                    <a:srgbClr val="000000"/>
                  </a:outerShdw>
                </a:effectLst>
              </a:rPr>
              <a:t>3- Polypropylene</a:t>
            </a:r>
            <a:r>
              <a:rPr kumimoji="0" lang="en-US" altLang="en-US" sz="2000" b="0" i="0" u="none" strike="noStrike" kern="1200" cap="none" spc="0" normalizeH="0" baseline="0" noProof="0" dirty="0" smtClean="0">
                <a:ln>
                  <a:noFill/>
                </a:ln>
                <a:effectLst>
                  <a:outerShdw blurRad="38100" dist="38100" dir="2700000" algn="tl">
                    <a:srgbClr val="000000"/>
                  </a:outerShdw>
                </a:effectLst>
                <a:uLnTx/>
                <a:uFillTx/>
                <a:latin typeface="+mn-lt"/>
                <a:ea typeface="+mn-ea"/>
                <a:cs typeface="+mn-cs"/>
              </a:rPr>
              <a:t>:</a:t>
            </a:r>
            <a:r>
              <a:rPr kumimoji="0" lang="en-US" altLang="en-US" sz="2000" b="0" i="0" u="none" strike="noStrike" kern="1200" cap="none" spc="0" normalizeH="0" baseline="0" noProof="0" dirty="0" smtClean="0">
                <a:ln>
                  <a:noFill/>
                </a:ln>
                <a:effectLst/>
                <a:uLnTx/>
                <a:uFillTx/>
                <a:latin typeface="+mn-lt"/>
                <a:ea typeface="+mn-ea"/>
                <a:cs typeface="+mn-cs"/>
              </a:rPr>
              <a:t> </a:t>
            </a:r>
          </a:p>
          <a:p>
            <a:pPr algn="just"/>
            <a:r>
              <a:rPr lang="en-US" sz="2000" dirty="0" smtClean="0">
                <a:solidFill>
                  <a:srgbClr val="C00000"/>
                </a:solidFill>
              </a:rPr>
              <a:t>Polypropylene i</a:t>
            </a:r>
            <a:r>
              <a:rPr lang="en-US" sz="2000" dirty="0" smtClean="0"/>
              <a:t>s formed from polymerization of propylene in a similar way to that of the previously mentioned process of ethylene transformation into polyethylene.</a:t>
            </a:r>
          </a:p>
          <a:p>
            <a:pPr algn="just"/>
            <a:r>
              <a:rPr lang="en-US" sz="2000" dirty="0" smtClean="0"/>
              <a:t>  </a:t>
            </a:r>
          </a:p>
          <a:p>
            <a:pPr algn="just"/>
            <a:r>
              <a:rPr lang="en-US" sz="2000" dirty="0" smtClean="0">
                <a:solidFill>
                  <a:srgbClr val="080808"/>
                </a:solidFill>
              </a:rPr>
              <a:t>Polypropylene is a tough, flexible plastic widely used as an electrical insulator and for the fabrication of such items as unbreakable refrigerator dishes, plastic cups, and squeeze bottles.</a:t>
            </a:r>
          </a:p>
          <a:p>
            <a:pPr algn="just"/>
            <a:endParaRPr lang="en-US" sz="2000" dirty="0" smtClean="0"/>
          </a:p>
          <a:p>
            <a:pPr algn="just"/>
            <a:endParaRPr lang="en-US" sz="2000" dirty="0" smtClean="0"/>
          </a:p>
          <a:p>
            <a:pPr algn="just"/>
            <a:endParaRPr lang="en-US" sz="2000" dirty="0" smtClean="0"/>
          </a:p>
          <a:p>
            <a:pPr algn="just"/>
            <a:r>
              <a:rPr lang="en-US" sz="2000" dirty="0" smtClean="0"/>
              <a:t> </a:t>
            </a:r>
            <a:endParaRPr kumimoji="0" lang="en-US" altLang="en-US" sz="20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8194" name="Picture 2" descr="C:\Users\user\Desktop\polymer\Polyethylene.png"/>
          <p:cNvPicPr>
            <a:picLocks noChangeAspect="1" noChangeArrowheads="1"/>
          </p:cNvPicPr>
          <p:nvPr/>
        </p:nvPicPr>
        <p:blipFill>
          <a:blip r:embed="rId2"/>
          <a:srcRect/>
          <a:stretch>
            <a:fillRect/>
          </a:stretch>
        </p:blipFill>
        <p:spPr bwMode="auto">
          <a:xfrm>
            <a:off x="2286000" y="3409950"/>
            <a:ext cx="5345251" cy="1405487"/>
          </a:xfrm>
          <a:prstGeom prst="rect">
            <a:avLst/>
          </a:prstGeom>
          <a:noFill/>
        </p:spPr>
      </p:pic>
      <p:pic>
        <p:nvPicPr>
          <p:cNvPr id="14339" name="Picture 3" descr="C:\Users\user\Desktop\polymer\istockphoto-515401181-612x612.jpg"/>
          <p:cNvPicPr>
            <a:picLocks noChangeAspect="1" noChangeArrowheads="1"/>
          </p:cNvPicPr>
          <p:nvPr/>
        </p:nvPicPr>
        <p:blipFill>
          <a:blip r:embed="rId3" cstate="print"/>
          <a:srcRect/>
          <a:stretch>
            <a:fillRect/>
          </a:stretch>
        </p:blipFill>
        <p:spPr bwMode="auto">
          <a:xfrm>
            <a:off x="7278690" y="0"/>
            <a:ext cx="1865313" cy="1257300"/>
          </a:xfrm>
          <a:prstGeom prst="rect">
            <a:avLst/>
          </a:prstGeom>
          <a:noFill/>
        </p:spPr>
      </p:pic>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990600" y="457200"/>
            <a:ext cx="7696200" cy="3486150"/>
          </a:xfrm>
        </p:spPr>
        <p:txBody>
          <a:bodyPr>
            <a:normAutofit/>
          </a:bodyPr>
          <a:lstStyle/>
          <a:p>
            <a:pPr algn="just"/>
            <a:r>
              <a:rPr lang="en-US" sz="2000" dirty="0" smtClean="0"/>
              <a:t>The chemistry of polymer is more complex if the starting units are asymmetric.  Several  geometrical isomers can result from addition of propene units. If the addition </a:t>
            </a:r>
            <a:r>
              <a:rPr lang="en-US" sz="2000" dirty="0" smtClean="0"/>
              <a:t>occurs </a:t>
            </a:r>
            <a:r>
              <a:rPr lang="en-US" sz="2000" dirty="0" smtClean="0"/>
              <a:t>randomly, atactic polypropylene  which does not park together well is obtained.</a:t>
            </a:r>
          </a:p>
          <a:p>
            <a:pPr algn="just"/>
            <a:r>
              <a:rPr lang="en-US" sz="2000" dirty="0" smtClean="0"/>
              <a:t>These polymers are rubbery, amorphous, and relatively weak. Two others include an isotactic structure, in which </a:t>
            </a:r>
            <a:r>
              <a:rPr lang="en-US" sz="2000" dirty="0" smtClean="0"/>
              <a:t>all </a:t>
            </a:r>
            <a:r>
              <a:rPr lang="en-US" sz="2000" dirty="0" smtClean="0"/>
              <a:t>the </a:t>
            </a:r>
            <a:r>
              <a:rPr lang="en-US" sz="2000" dirty="0" smtClean="0"/>
              <a:t>R groups are </a:t>
            </a:r>
            <a:r>
              <a:rPr lang="en-US" sz="2000" dirty="0" smtClean="0"/>
              <a:t>arranged on </a:t>
            </a:r>
            <a:r>
              <a:rPr lang="en-US" sz="2000" dirty="0" smtClean="0"/>
              <a:t>the same side of the asymmetric carbon atoms, and a syndiotactic form, in which the R groups alternate on the left and right of the asymmetric carbons. </a:t>
            </a:r>
          </a:p>
        </p:txBody>
      </p:sp>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pic>
        <p:nvPicPr>
          <p:cNvPr id="1026" name="Picture 2"/>
          <p:cNvPicPr>
            <a:picLocks noChangeAspect="1" noChangeArrowheads="1"/>
          </p:cNvPicPr>
          <p:nvPr/>
        </p:nvPicPr>
        <p:blipFill>
          <a:blip r:embed="rId3"/>
          <a:srcRect/>
          <a:stretch>
            <a:fillRect/>
          </a:stretch>
        </p:blipFill>
        <p:spPr bwMode="auto">
          <a:xfrm>
            <a:off x="2381250" y="3333750"/>
            <a:ext cx="4933950" cy="1638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14600" y="342900"/>
            <a:ext cx="5105400" cy="523220"/>
          </a:xfrm>
          <a:prstGeom prst="rect">
            <a:avLst/>
          </a:prstGeom>
        </p:spPr>
        <p:txBody>
          <a:bodyPr wrap="square">
            <a:spAutoFit/>
          </a:bodyPr>
          <a:lstStyle/>
          <a:p>
            <a:pPr algn="ctr"/>
            <a:endParaRPr lang="en-US" sz="2800" b="1" dirty="0"/>
          </a:p>
        </p:txBody>
      </p:sp>
      <p:pic>
        <p:nvPicPr>
          <p:cNvPr id="10" name="Picture 3"/>
          <p:cNvPicPr>
            <a:picLocks noChangeAspect="1" noChangeArrowheads="1"/>
          </p:cNvPicPr>
          <p:nvPr/>
        </p:nvPicPr>
        <p:blipFill>
          <a:blip r:embed="rId2"/>
          <a:srcRect/>
          <a:stretch>
            <a:fillRect/>
          </a:stretch>
        </p:blipFill>
        <p:spPr bwMode="auto">
          <a:xfrm>
            <a:off x="774460" y="2226469"/>
            <a:ext cx="8296275" cy="2021681"/>
          </a:xfrm>
          <a:prstGeom prst="rect">
            <a:avLst/>
          </a:prstGeom>
          <a:noFill/>
          <a:ln w="9525">
            <a:noFill/>
            <a:miter lim="800000"/>
            <a:headEnd/>
            <a:tailEnd/>
          </a:ln>
          <a:effectLst/>
        </p:spPr>
      </p:pic>
      <p:sp>
        <p:nvSpPr>
          <p:cNvPr id="11" name="Rectangle 10"/>
          <p:cNvSpPr/>
          <p:nvPr/>
        </p:nvSpPr>
        <p:spPr>
          <a:xfrm>
            <a:off x="1022773" y="895350"/>
            <a:ext cx="7696200" cy="1015663"/>
          </a:xfrm>
          <a:prstGeom prst="rect">
            <a:avLst/>
          </a:prstGeom>
        </p:spPr>
        <p:txBody>
          <a:bodyPr wrap="square">
            <a:spAutoFit/>
          </a:bodyPr>
          <a:lstStyle/>
          <a:p>
            <a:pPr algn="just"/>
            <a:r>
              <a:rPr lang="en-US" sz="2000" dirty="0" smtClean="0"/>
              <a:t>However, the isotactic isomer  has the highest melting point and greatest crystallinity and is endowed with superior mechanical properties. </a:t>
            </a:r>
          </a:p>
        </p:txBody>
      </p:sp>
      <p:grpSp>
        <p:nvGrpSpPr>
          <p:cNvPr id="8" name="Group 7"/>
          <p:cNvGrpSpPr/>
          <p:nvPr/>
        </p:nvGrpSpPr>
        <p:grpSpPr>
          <a:xfrm>
            <a:off x="4506" y="0"/>
            <a:ext cx="914400" cy="51435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990600" y="685801"/>
            <a:ext cx="8001000" cy="4286249"/>
          </a:xfrm>
        </p:spPr>
        <p:txBody>
          <a:bodyPr>
            <a:normAutofit/>
          </a:bodyPr>
          <a:lstStyle/>
          <a:p>
            <a:pPr algn="just">
              <a:buNone/>
            </a:pPr>
            <a:r>
              <a:rPr lang="en-US" sz="2000" b="1" dirty="0" smtClean="0"/>
              <a:t>	4- Neoprene</a:t>
            </a:r>
            <a:r>
              <a:rPr lang="en-US" sz="2000" dirty="0" smtClean="0"/>
              <a:t>: Some synthetic rubbers are superior to natural rubber in some ways. </a:t>
            </a:r>
            <a:r>
              <a:rPr lang="en-US" sz="2000" dirty="0"/>
              <a:t> </a:t>
            </a:r>
            <a:r>
              <a:rPr lang="en-US" sz="2000" dirty="0" smtClean="0"/>
              <a:t>Neoprene is a synthetic elastomer (an elastic polymer) with properties quite similar to those of natural rubber. </a:t>
            </a:r>
          </a:p>
          <a:p>
            <a:pPr algn="just"/>
            <a:endParaRPr lang="en-US" sz="2000" dirty="0" smtClean="0"/>
          </a:p>
          <a:p>
            <a:pPr algn="just">
              <a:buNone/>
            </a:pPr>
            <a:r>
              <a:rPr lang="en-US" sz="2000" dirty="0" smtClean="0"/>
              <a:t>     The basic structural unit is 2-chloro-1,3-butadiene, commonly called chloroprene, which differs from isoprene by incorporating a chlorine atom rather than a methyl group at carbon 2 of the 1,3-butadiene chain. </a:t>
            </a:r>
          </a:p>
          <a:p>
            <a:pPr algn="just">
              <a:buNone/>
            </a:pPr>
            <a:endParaRPr lang="en-US" sz="2000" dirty="0" smtClean="0"/>
          </a:p>
        </p:txBody>
      </p:sp>
      <p:pic>
        <p:nvPicPr>
          <p:cNvPr id="2051" name="Picture 3"/>
          <p:cNvPicPr>
            <a:picLocks noChangeAspect="1" noChangeArrowheads="1"/>
          </p:cNvPicPr>
          <p:nvPr/>
        </p:nvPicPr>
        <p:blipFill>
          <a:blip r:embed="rId2"/>
          <a:srcRect/>
          <a:stretch>
            <a:fillRect/>
          </a:stretch>
        </p:blipFill>
        <p:spPr bwMode="auto">
          <a:xfrm>
            <a:off x="1371600" y="3333750"/>
            <a:ext cx="7470775" cy="1293019"/>
          </a:xfrm>
          <a:prstGeom prst="rect">
            <a:avLst/>
          </a:prstGeom>
          <a:noFill/>
          <a:ln w="9525">
            <a:noFill/>
            <a:miter lim="800000"/>
            <a:headEnd/>
            <a:tailEnd/>
          </a:ln>
          <a:effectLst/>
        </p:spPr>
      </p:pic>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276350"/>
            <a:ext cx="8229600" cy="3394472"/>
          </a:xfrm>
        </p:spPr>
        <p:txBody>
          <a:bodyPr>
            <a:normAutofit/>
          </a:bodyPr>
          <a:lstStyle/>
          <a:p>
            <a:pPr algn="just"/>
            <a:r>
              <a:rPr lang="en-US" sz="2000" dirty="0" smtClean="0"/>
              <a:t>Neoprene is less affected by gasoline and oil and is more elastic than natural rubber. It </a:t>
            </a:r>
            <a:r>
              <a:rPr lang="en-US" sz="2000" dirty="0" smtClean="0"/>
              <a:t>resists </a:t>
            </a:r>
            <a:r>
              <a:rPr lang="en-US" sz="2000" dirty="0" smtClean="0"/>
              <a:t>abrasion well and is not swollen or dissolved by hydrocarbons.  It is widely used to make hoses for oil and gasoline, electrical insulation, and </a:t>
            </a:r>
            <a:r>
              <a:rPr lang="en-US" sz="2000" dirty="0" smtClean="0"/>
              <a:t>automotive </a:t>
            </a:r>
            <a:r>
              <a:rPr lang="en-US" sz="2000" dirty="0" smtClean="0"/>
              <a:t>and </a:t>
            </a:r>
            <a:r>
              <a:rPr lang="en-US" sz="2000" dirty="0" smtClean="0"/>
              <a:t>refrigerators’ </a:t>
            </a:r>
            <a:r>
              <a:rPr lang="en-US" sz="2000" dirty="0" smtClean="0"/>
              <a:t>parts.</a:t>
            </a:r>
            <a:endParaRPr lang="en-US" sz="2000" dirty="0"/>
          </a:p>
        </p:txBody>
      </p:sp>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srcRect/>
          <a:stretch>
            <a:fillRect/>
          </a:stretch>
        </p:blipFill>
        <p:spPr bwMode="auto">
          <a:xfrm>
            <a:off x="1295400" y="3333750"/>
            <a:ext cx="7620000" cy="1524000"/>
          </a:xfrm>
          <a:prstGeom prst="rect">
            <a:avLst/>
          </a:prstGeom>
          <a:noFill/>
          <a:ln w="9525">
            <a:noFill/>
            <a:miter lim="800000"/>
            <a:headEnd/>
            <a:tailEnd/>
          </a:ln>
          <a:effectLst/>
        </p:spPr>
      </p:pic>
      <p:sp>
        <p:nvSpPr>
          <p:cNvPr id="6" name="Rectangle 3"/>
          <p:cNvSpPr txBox="1">
            <a:spLocks noChangeArrowheads="1"/>
          </p:cNvSpPr>
          <p:nvPr/>
        </p:nvSpPr>
        <p:spPr>
          <a:xfrm>
            <a:off x="914400" y="457200"/>
            <a:ext cx="7924800" cy="4171950"/>
          </a:xfrm>
          <a:prstGeom prst="rect">
            <a:avLst/>
          </a:prstGeom>
          <a:noFill/>
        </p:spPr>
        <p:txBody>
          <a:bodyPr vert="horz" lIns="91440" tIns="45720" rIns="91440" bIns="45720" rtlCol="0">
            <a:normAutofit/>
          </a:bodyPr>
          <a:lstStyle/>
          <a:p>
            <a:pPr marL="457200" marR="0" lvl="0" indent="-457200" algn="just" defTabSz="914400" rtl="0" eaLnBrk="1" fontAlgn="auto" latinLnBrk="0" hangingPunct="1">
              <a:lnSpc>
                <a:spcPct val="100000"/>
              </a:lnSpc>
              <a:spcBef>
                <a:spcPct val="20000"/>
              </a:spcBef>
              <a:spcAft>
                <a:spcPts val="0"/>
              </a:spcAft>
              <a:buClrTx/>
              <a:buSzTx/>
              <a:tabLst/>
              <a:defRPr/>
            </a:pPr>
            <a:r>
              <a:rPr lang="en-US" altLang="en-US" sz="2000" b="1" dirty="0" smtClean="0"/>
              <a:t>2.  </a:t>
            </a:r>
            <a:r>
              <a:rPr kumimoji="0" lang="en-US" altLang="en-US" sz="2000" b="1" u="none" strike="noStrike" kern="1200" cap="none" spc="0" normalizeH="0" baseline="0" noProof="0" dirty="0" smtClean="0">
                <a:ln>
                  <a:noFill/>
                </a:ln>
                <a:solidFill>
                  <a:schemeClr val="tx1"/>
                </a:solidFill>
                <a:effectLst/>
                <a:uLnTx/>
                <a:uFillTx/>
                <a:latin typeface="+mn-lt"/>
                <a:ea typeface="+mn-ea"/>
                <a:cs typeface="+mn-cs"/>
              </a:rPr>
              <a:t>Condensation</a:t>
            </a:r>
            <a:r>
              <a:rPr kumimoji="0" lang="en-US" altLang="en-US" sz="2000" b="1" u="none" strike="noStrike" kern="1200" cap="none" spc="0" normalizeH="0" noProof="0" dirty="0" smtClean="0">
                <a:ln>
                  <a:noFill/>
                </a:ln>
                <a:solidFill>
                  <a:schemeClr val="tx1"/>
                </a:solidFill>
                <a:effectLst/>
                <a:uLnTx/>
                <a:uFillTx/>
                <a:latin typeface="+mn-lt"/>
                <a:ea typeface="+mn-ea"/>
                <a:cs typeface="+mn-cs"/>
              </a:rPr>
              <a:t> polymerization: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en-US" sz="2000" baseline="0" dirty="0" smtClean="0"/>
              <a:t>Some</a:t>
            </a:r>
            <a:r>
              <a:rPr lang="en-US" altLang="en-US" sz="2000" dirty="0" smtClean="0"/>
              <a:t> polymerization processes are based on condensation reactions, in which two molecules combine by splitting out or eliminating a small molecule.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en-US" sz="2000" dirty="0" smtClean="0"/>
              <a:t>For such a polymer to be formed, such monomer must have two reactive functional </a:t>
            </a:r>
            <a:r>
              <a:rPr lang="en-US" altLang="en-US" sz="2000" dirty="0" smtClean="0"/>
              <a:t>groups; </a:t>
            </a:r>
            <a:r>
              <a:rPr lang="en-US" altLang="en-US" sz="2000" dirty="0" smtClean="0"/>
              <a:t>one at each end.  A polymer formed in this way is called a condensation polymer. There are many examples of condensation polymers based on a wide variety of bifunctional molecules. </a:t>
            </a:r>
            <a:endParaRPr kumimoji="0" lang="en-US" altLang="en-US" sz="2000" b="0" u="none" strike="noStrike" kern="1200" cap="none" spc="0" normalizeH="0" baseline="0" noProof="0" dirty="0" smtClean="0">
              <a:ln>
                <a:noFill/>
              </a:ln>
              <a:solidFill>
                <a:schemeClr val="tx1"/>
              </a:solidFill>
              <a:effectLst/>
              <a:uLnTx/>
              <a:uFillTx/>
              <a:latin typeface="+mn-lt"/>
              <a:ea typeface="+mn-ea"/>
              <a:cs typeface="+mn-cs"/>
            </a:endParaRPr>
          </a:p>
        </p:txBody>
      </p:sp>
      <p:grpSp>
        <p:nvGrpSpPr>
          <p:cNvPr id="7" name="Group 6"/>
          <p:cNvGrpSpPr/>
          <p:nvPr/>
        </p:nvGrpSpPr>
        <p:grpSpPr>
          <a:xfrm>
            <a:off x="4506" y="0"/>
            <a:ext cx="914400" cy="51435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438150"/>
            <a:ext cx="8229600" cy="3394472"/>
          </a:xfrm>
        </p:spPr>
        <p:txBody>
          <a:bodyPr>
            <a:normAutofit fontScale="92500" lnSpcReduction="20000"/>
          </a:bodyPr>
          <a:lstStyle/>
          <a:p>
            <a:pPr lvl="0" algn="just">
              <a:buNone/>
            </a:pPr>
            <a:r>
              <a:rPr lang="en-US" sz="2000" b="1" dirty="0" smtClean="0">
                <a:solidFill>
                  <a:srgbClr val="080808"/>
                </a:solidFill>
              </a:rPr>
              <a:t>	Some of the Synthetically Produced Condensation Polymers:</a:t>
            </a:r>
            <a:endParaRPr lang="en-US" altLang="en-US" sz="2000" b="1" dirty="0" smtClean="0"/>
          </a:p>
          <a:p>
            <a:pPr lvl="0" algn="just"/>
            <a:endParaRPr lang="en-US" altLang="en-US" sz="2000" b="1" dirty="0" smtClean="0"/>
          </a:p>
          <a:p>
            <a:pPr lvl="0" algn="just"/>
            <a:r>
              <a:rPr lang="en-US" altLang="en-US" sz="2000" b="1" dirty="0" smtClean="0"/>
              <a:t>1- Polyesters</a:t>
            </a:r>
            <a:r>
              <a:rPr lang="en-US" altLang="en-US" sz="2000" dirty="0" smtClean="0"/>
              <a:t> (short for “polymeric esters”): These are condensation polymers that are formed usually when dihydroxy alcohols react with dicarboxylic acids. An ester linkage is formed at each end of the monomer molecule to build up large molecules. </a:t>
            </a:r>
            <a:r>
              <a:rPr lang="en-US" altLang="en-US" sz="2000" dirty="0" smtClean="0"/>
              <a:t>A </a:t>
            </a:r>
            <a:r>
              <a:rPr lang="en-US" altLang="en-US" sz="2000" dirty="0" smtClean="0"/>
              <a:t>highly useful polyester (called Dacron) is prepared from the reaction between terephthalic acid and ethylene glycol.</a:t>
            </a:r>
            <a:endParaRPr lang="en-US" sz="2000" b="1" dirty="0" smtClean="0"/>
          </a:p>
          <a:p>
            <a:pPr algn="just"/>
            <a:endParaRPr lang="en-US" sz="2000" b="1" dirty="0" smtClean="0"/>
          </a:p>
          <a:p>
            <a:pPr algn="just">
              <a:buNone/>
            </a:pPr>
            <a:r>
              <a:rPr lang="en-US" sz="2000" b="1" dirty="0" smtClean="0"/>
              <a:t>	Dacron</a:t>
            </a:r>
            <a:r>
              <a:rPr lang="en-US" sz="2000" dirty="0" smtClean="0"/>
              <a:t>: Dacron, a fiber produced as polyester, accounts for approximately 50 % of all synthetic fibers. It absorbs very little moisture, and its properties are nearly the same whether it is wet or dry.</a:t>
            </a:r>
          </a:p>
          <a:p>
            <a:pPr algn="just"/>
            <a:r>
              <a:rPr lang="en-US" sz="2000" dirty="0" smtClean="0"/>
              <a:t>Additionally, it possesses exceptional elastic recovery properties, so it is used to make “permanent-press” fabrics. </a:t>
            </a:r>
          </a:p>
          <a:p>
            <a:pPr algn="just"/>
            <a:endParaRPr lang="en-US" sz="2000" dirty="0" smtClean="0"/>
          </a:p>
        </p:txBody>
      </p:sp>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pic>
        <p:nvPicPr>
          <p:cNvPr id="10" name="Picture 3"/>
          <p:cNvPicPr>
            <a:picLocks noChangeAspect="1" noChangeArrowheads="1"/>
          </p:cNvPicPr>
          <p:nvPr/>
        </p:nvPicPr>
        <p:blipFill>
          <a:blip r:embed="rId3"/>
          <a:srcRect/>
          <a:stretch>
            <a:fillRect/>
          </a:stretch>
        </p:blipFill>
        <p:spPr bwMode="auto">
          <a:xfrm>
            <a:off x="1752600" y="3790950"/>
            <a:ext cx="6324600" cy="12649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33350"/>
            <a:ext cx="8077200" cy="3223022"/>
          </a:xfrm>
        </p:spPr>
        <p:txBody>
          <a:bodyPr>
            <a:noAutofit/>
          </a:bodyPr>
          <a:lstStyle/>
          <a:p>
            <a:pPr algn="just">
              <a:buNone/>
            </a:pPr>
            <a:endParaRPr lang="en-US" sz="1600" dirty="0" smtClean="0"/>
          </a:p>
          <a:p>
            <a:pPr algn="just"/>
            <a:r>
              <a:rPr lang="en-US" sz="1600" b="1" dirty="0" smtClean="0"/>
              <a:t>2- Nylons: </a:t>
            </a:r>
            <a:r>
              <a:rPr lang="en-US" sz="1600" dirty="0" smtClean="0"/>
              <a:t>Nylon is the best known polyamide. Polyamides are condensation polymers that contain amide functional group (CONH</a:t>
            </a:r>
            <a:r>
              <a:rPr lang="en-US" sz="1600" baseline="-25000" dirty="0" smtClean="0"/>
              <a:t>2</a:t>
            </a:r>
            <a:r>
              <a:rPr lang="en-US" sz="1600" dirty="0" smtClean="0"/>
              <a:t>) and are usually prepared from reaction of a diamine and dicarboxylic acid. </a:t>
            </a:r>
          </a:p>
          <a:p>
            <a:pPr algn="just">
              <a:buNone/>
            </a:pPr>
            <a:r>
              <a:rPr lang="en-US" sz="1600" dirty="0" smtClean="0"/>
              <a:t>	</a:t>
            </a:r>
            <a:r>
              <a:rPr lang="en-US" sz="1600" b="1" dirty="0" smtClean="0"/>
              <a:t>Nylon 6,6</a:t>
            </a:r>
          </a:p>
          <a:p>
            <a:pPr algn="just">
              <a:buNone/>
            </a:pPr>
            <a:r>
              <a:rPr lang="en-US" sz="1600" dirty="0" smtClean="0"/>
              <a:t>	One of the most commonly known polyamide called nylon 6,6 is prepared by heating anhydrous hexamethylenediamine with anhydrous adipic acid; a dicarboxylic acid. </a:t>
            </a:r>
          </a:p>
          <a:p>
            <a:pPr algn="just">
              <a:buNone/>
            </a:pPr>
            <a:r>
              <a:rPr lang="en-US" sz="1600" b="1" dirty="0" smtClean="0"/>
              <a:t>	</a:t>
            </a:r>
            <a:r>
              <a:rPr lang="en-US" sz="1600" dirty="0" smtClean="0"/>
              <a:t>This substance is called nylon 6,6 because the parent diamine and dicarboxylic acid each contains six carbon atoms.</a:t>
            </a:r>
            <a:endParaRPr lang="en-US" altLang="en-US" sz="1600" dirty="0" smtClean="0"/>
          </a:p>
          <a:p>
            <a:pPr lvl="0" algn="just"/>
            <a:endParaRPr lang="en-US" altLang="en-US" sz="1600" dirty="0" smtClean="0"/>
          </a:p>
          <a:p>
            <a:pPr algn="just"/>
            <a:endParaRPr lang="en-US" sz="1600" dirty="0"/>
          </a:p>
        </p:txBody>
      </p:sp>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pic>
        <p:nvPicPr>
          <p:cNvPr id="9" name="Picture 2"/>
          <p:cNvPicPr>
            <a:picLocks noChangeAspect="1" noChangeArrowheads="1"/>
          </p:cNvPicPr>
          <p:nvPr/>
        </p:nvPicPr>
        <p:blipFill>
          <a:blip r:embed="rId3">
            <a:lum bright="-40000"/>
          </a:blip>
          <a:srcRect/>
          <a:stretch>
            <a:fillRect/>
          </a:stretch>
        </p:blipFill>
        <p:spPr bwMode="auto">
          <a:xfrm>
            <a:off x="1676400" y="2724150"/>
            <a:ext cx="6594234" cy="2103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0516" y="742950"/>
            <a:ext cx="8229600" cy="3886199"/>
          </a:xfrm>
        </p:spPr>
        <p:txBody>
          <a:bodyPr>
            <a:normAutofit fontScale="92500" lnSpcReduction="20000"/>
          </a:bodyPr>
          <a:lstStyle/>
          <a:p>
            <a:pPr algn="just">
              <a:buNone/>
            </a:pPr>
            <a:r>
              <a:rPr lang="en-US" sz="1800" b="1" dirty="0" smtClean="0"/>
              <a:t>Natural Condensation Polymers:</a:t>
            </a:r>
          </a:p>
          <a:p>
            <a:pPr algn="just"/>
            <a:r>
              <a:rPr lang="en-US" sz="1800" dirty="0" smtClean="0"/>
              <a:t>Some naturally occurring condensation polymers such as proteins play crucial roles in living systems. Protein are polymeric chains of L-amino acids linked by peptide bonds. </a:t>
            </a:r>
          </a:p>
          <a:p>
            <a:pPr algn="just"/>
            <a:endParaRPr lang="en-US" sz="1800" dirty="0" smtClean="0"/>
          </a:p>
          <a:p>
            <a:pPr algn="just"/>
            <a:r>
              <a:rPr lang="en-US" sz="1800" dirty="0" smtClean="0"/>
              <a:t>A peptide bond is formed by the elimination of a molecule of water between amino group of one amino acid and the carboxylic group of another. </a:t>
            </a:r>
          </a:p>
          <a:p>
            <a:pPr algn="just"/>
            <a:endParaRPr lang="en-US" sz="1800" dirty="0" smtClean="0"/>
          </a:p>
          <a:p>
            <a:pPr algn="just"/>
            <a:endParaRPr lang="en-US" sz="1800" dirty="0" smtClean="0"/>
          </a:p>
          <a:p>
            <a:pPr algn="just"/>
            <a:endParaRPr lang="en-US" sz="1800" dirty="0" smtClean="0"/>
          </a:p>
          <a:p>
            <a:pPr algn="just"/>
            <a:endParaRPr lang="en-US" sz="1800" dirty="0" smtClean="0"/>
          </a:p>
          <a:p>
            <a:pPr algn="just"/>
            <a:endParaRPr lang="en-US" sz="1800" dirty="0" smtClean="0"/>
          </a:p>
          <a:p>
            <a:pPr algn="just"/>
            <a:endParaRPr lang="en-US" sz="1800" dirty="0" smtClean="0"/>
          </a:p>
          <a:p>
            <a:pPr algn="just"/>
            <a:endParaRPr lang="en-US" sz="1800" dirty="0" smtClean="0"/>
          </a:p>
          <a:p>
            <a:pPr algn="just"/>
            <a:r>
              <a:rPr lang="en-US" sz="1800" dirty="0" smtClean="0"/>
              <a:t>When this process is carried out repeatedly, a large molecule called a polypeptide is formed.</a:t>
            </a:r>
          </a:p>
          <a:p>
            <a:pPr algn="just"/>
            <a:endParaRPr lang="en-US" sz="1800" dirty="0" smtClean="0"/>
          </a:p>
          <a:p>
            <a:pPr algn="just"/>
            <a:endParaRPr lang="en-US" sz="1800" dirty="0" smtClean="0"/>
          </a:p>
          <a:p>
            <a:pPr algn="just"/>
            <a:endParaRPr lang="en-US" sz="1800" dirty="0" smtClean="0"/>
          </a:p>
          <a:p>
            <a:pPr algn="just">
              <a:buNone/>
            </a:pPr>
            <a:endParaRPr lang="en-US" sz="1800" dirty="0"/>
          </a:p>
        </p:txBody>
      </p:sp>
      <p:pic>
        <p:nvPicPr>
          <p:cNvPr id="9218" name="Picture 2"/>
          <p:cNvPicPr>
            <a:picLocks noChangeAspect="1" noChangeArrowheads="1"/>
          </p:cNvPicPr>
          <p:nvPr/>
        </p:nvPicPr>
        <p:blipFill>
          <a:blip r:embed="rId2"/>
          <a:srcRect/>
          <a:stretch>
            <a:fillRect/>
          </a:stretch>
        </p:blipFill>
        <p:spPr bwMode="auto">
          <a:xfrm>
            <a:off x="965553" y="2419350"/>
            <a:ext cx="8178447" cy="1385888"/>
          </a:xfrm>
          <a:prstGeom prst="rect">
            <a:avLst/>
          </a:prstGeom>
          <a:noFill/>
          <a:ln w="9525">
            <a:noFill/>
            <a:miter lim="800000"/>
            <a:headEnd/>
            <a:tailEnd/>
          </a:ln>
          <a:effectLst/>
        </p:spPr>
      </p:pic>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1075721" y="571501"/>
            <a:ext cx="8067142" cy="3800475"/>
          </a:xfrm>
          <a:prstGeom prst="rect">
            <a:avLst/>
          </a:prstGeom>
          <a:noFill/>
          <a:ln w="9525">
            <a:noFill/>
            <a:miter lim="800000"/>
            <a:headEnd/>
            <a:tailEnd/>
          </a:ln>
          <a:effectLst/>
        </p:spPr>
      </p:pic>
      <p:grpSp>
        <p:nvGrpSpPr>
          <p:cNvPr id="4" name="Group 3"/>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8906" y="1028701"/>
            <a:ext cx="7920294" cy="3139321"/>
          </a:xfrm>
          <a:prstGeom prst="rect">
            <a:avLst/>
          </a:prstGeom>
        </p:spPr>
        <p:txBody>
          <a:bodyPr wrap="square">
            <a:spAutoFit/>
          </a:bodyPr>
          <a:lstStyle/>
          <a:p>
            <a:pPr algn="just"/>
            <a:r>
              <a:rPr lang="en-US" b="1" dirty="0" smtClean="0"/>
              <a:t>Natural rubber: </a:t>
            </a:r>
            <a:r>
              <a:rPr lang="en-US" dirty="0" smtClean="0"/>
              <a:t>Natural</a:t>
            </a:r>
            <a:r>
              <a:rPr lang="en-US" b="1" dirty="0" smtClean="0"/>
              <a:t> </a:t>
            </a:r>
            <a:r>
              <a:rPr lang="en-US" dirty="0" smtClean="0"/>
              <a:t>rubber is a naturally occurring polymer obtained from the sap of rubber tree; a sticky liquid called latex.</a:t>
            </a:r>
          </a:p>
          <a:p>
            <a:pPr algn="just"/>
            <a:endParaRPr lang="en-US" dirty="0" smtClean="0"/>
          </a:p>
          <a:p>
            <a:pPr algn="just">
              <a:buFont typeface="Arial" pitchFamily="34" charset="0"/>
              <a:buChar char="•"/>
            </a:pPr>
            <a:r>
              <a:rPr lang="en-US" dirty="0" smtClean="0"/>
              <a:t>Rubber is a polymeric hydrocarbon formed in the sap by combination of about 2000 molecules of 2-methyl-1,3-butadiene, commonly called Isoprene. The molecular weight of rubber is about 136,000.</a:t>
            </a:r>
          </a:p>
          <a:p>
            <a:pPr algn="just">
              <a:buFont typeface="Arial" pitchFamily="34" charset="0"/>
              <a:buChar char="•"/>
            </a:pPr>
            <a:endParaRPr lang="en-US" dirty="0" smtClean="0"/>
          </a:p>
          <a:p>
            <a:pPr algn="just">
              <a:buFont typeface="Arial" pitchFamily="34" charset="0"/>
              <a:buChar char="•"/>
            </a:pPr>
            <a:r>
              <a:rPr lang="en-US" dirty="0" smtClean="0"/>
              <a:t>When natural rubber is warmed, it flows and becomes sticky. However, in order to eliminate this problem vulcanization is used. </a:t>
            </a:r>
          </a:p>
          <a:p>
            <a:pPr algn="just"/>
            <a:endParaRPr lang="en-US" dirty="0" smtClean="0"/>
          </a:p>
          <a:p>
            <a:pPr algn="just"/>
            <a:endParaRPr lang="en-US" dirty="0" smtClean="0"/>
          </a:p>
        </p:txBody>
      </p:sp>
      <p:pic>
        <p:nvPicPr>
          <p:cNvPr id="1028" name="Picture 4" descr="C:\Users\user\Desktop\polymer\images (4).png"/>
          <p:cNvPicPr>
            <a:picLocks noChangeAspect="1" noChangeArrowheads="1"/>
          </p:cNvPicPr>
          <p:nvPr/>
        </p:nvPicPr>
        <p:blipFill>
          <a:blip r:embed="rId2"/>
          <a:srcRect/>
          <a:stretch>
            <a:fillRect/>
          </a:stretch>
        </p:blipFill>
        <p:spPr bwMode="auto">
          <a:xfrm>
            <a:off x="1295400" y="3562350"/>
            <a:ext cx="7241485" cy="1439466"/>
          </a:xfrm>
          <a:prstGeom prst="rect">
            <a:avLst/>
          </a:prstGeom>
          <a:noFill/>
        </p:spPr>
      </p:pic>
      <p:pic>
        <p:nvPicPr>
          <p:cNvPr id="1031" name="Picture 7" descr="C:\Users\user\Desktop\polymer\istockphoto-1342626485-612x612.jpg"/>
          <p:cNvPicPr>
            <a:picLocks noChangeAspect="1" noChangeArrowheads="1"/>
          </p:cNvPicPr>
          <p:nvPr/>
        </p:nvPicPr>
        <p:blipFill>
          <a:blip r:embed="rId3"/>
          <a:srcRect/>
          <a:stretch>
            <a:fillRect/>
          </a:stretch>
        </p:blipFill>
        <p:spPr bwMode="auto">
          <a:xfrm>
            <a:off x="7278690" y="0"/>
            <a:ext cx="1865313" cy="932260"/>
          </a:xfrm>
          <a:prstGeom prst="rect">
            <a:avLst/>
          </a:prstGeom>
          <a:noFill/>
        </p:spPr>
      </p:pic>
      <p:sp>
        <p:nvSpPr>
          <p:cNvPr id="6" name="Title 1"/>
          <p:cNvSpPr txBox="1">
            <a:spLocks/>
          </p:cNvSpPr>
          <p:nvPr/>
        </p:nvSpPr>
        <p:spPr>
          <a:xfrm>
            <a:off x="360340" y="263128"/>
            <a:ext cx="7945460" cy="99417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sng" strike="noStrike" kern="1200" cap="none" spc="0" normalizeH="0" baseline="0" noProof="0" dirty="0" smtClean="0">
                <a:ln>
                  <a:noFill/>
                </a:ln>
                <a:solidFill>
                  <a:schemeClr val="tx1"/>
                </a:solidFill>
                <a:effectLst/>
                <a:uLnTx/>
                <a:uFillTx/>
                <a:latin typeface="+mj-lt"/>
                <a:ea typeface="+mj-ea"/>
                <a:cs typeface="+mj-cs"/>
              </a:rPr>
              <a:t>Vulcanization of Rubber</a:t>
            </a:r>
            <a:endParaRPr kumimoji="0" lang="en-US" sz="4400" b="0" i="0" u="sng" strike="noStrike" kern="1200" cap="none" spc="0" normalizeH="0" baseline="0" noProof="0" dirty="0">
              <a:ln>
                <a:noFill/>
              </a:ln>
              <a:solidFill>
                <a:schemeClr val="tx1"/>
              </a:solidFill>
              <a:effectLst/>
              <a:uLnTx/>
              <a:uFillTx/>
              <a:latin typeface="+mj-lt"/>
              <a:ea typeface="+mj-ea"/>
              <a:cs typeface="+mj-cs"/>
            </a:endParaRPr>
          </a:p>
        </p:txBody>
      </p:sp>
      <p:grpSp>
        <p:nvGrpSpPr>
          <p:cNvPr id="2" name="Group 6"/>
          <p:cNvGrpSpPr/>
          <p:nvPr/>
        </p:nvGrpSpPr>
        <p:grpSpPr>
          <a:xfrm>
            <a:off x="4506" y="0"/>
            <a:ext cx="914400" cy="51435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914400" y="571499"/>
            <a:ext cx="7620000" cy="3143251"/>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Vulcanization of rubber is the process in which sulfur is added to rubber and the mixture is heated to approximately 140 </a:t>
            </a:r>
            <a:r>
              <a:rPr kumimoji="0" lang="en-US" b="0" i="0" u="none" strike="noStrike" kern="1200" cap="none" spc="0" normalizeH="0" baseline="30000" noProof="0" dirty="0" err="1" smtClean="0">
                <a:ln>
                  <a:noFill/>
                </a:ln>
                <a:solidFill>
                  <a:schemeClr val="tx1"/>
                </a:solidFill>
                <a:effectLst/>
                <a:uLnTx/>
                <a:uFillTx/>
                <a:latin typeface="+mn-lt"/>
                <a:ea typeface="+mn-ea"/>
                <a:cs typeface="+mn-cs"/>
              </a:rPr>
              <a:t>o</a:t>
            </a:r>
            <a:r>
              <a:rPr kumimoji="0" lang="en-US" b="0" i="0" u="none" strike="noStrike" kern="1200" cap="none" spc="0" normalizeH="0" baseline="0" noProof="0" dirty="0" err="1" smtClean="0">
                <a:ln>
                  <a:noFill/>
                </a:ln>
                <a:solidFill>
                  <a:schemeClr val="tx1"/>
                </a:solidFill>
                <a:effectLst/>
                <a:uLnTx/>
                <a:uFillTx/>
                <a:latin typeface="+mn-lt"/>
                <a:ea typeface="+mn-ea"/>
                <a:cs typeface="+mn-cs"/>
              </a:rPr>
              <a:t>C</a:t>
            </a:r>
            <a:r>
              <a:rPr lang="en-US" dirty="0" smtClean="0"/>
              <a: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Sulfur atoms </a:t>
            </a:r>
            <a:r>
              <a:rPr lang="en-US" dirty="0" smtClean="0"/>
              <a:t>add</a:t>
            </a:r>
            <a:r>
              <a:rPr kumimoji="0" lang="en-US" b="0" i="0" u="none" strike="noStrike" kern="1200" cap="none" spc="0" normalizeH="0" baseline="0" noProof="0" dirty="0" smtClean="0">
                <a:ln>
                  <a:noFill/>
                </a:ln>
                <a:solidFill>
                  <a:schemeClr val="tx1"/>
                </a:solidFill>
                <a:effectLst/>
                <a:uLnTx/>
                <a:uFillTx/>
                <a:latin typeface="+mn-lt"/>
                <a:ea typeface="+mn-ea"/>
                <a:cs typeface="+mn-cs"/>
              </a:rPr>
              <a:t> to some of the double bonds in the linear polymer molecules to form bridges that bind one rubber molecule to another.  This cross-linking  by sulfur atoms convert the linear polymer into a three dimensional polymer.</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pic>
        <p:nvPicPr>
          <p:cNvPr id="1026" name="Picture 2"/>
          <p:cNvPicPr>
            <a:picLocks noChangeAspect="1" noChangeArrowheads="1"/>
          </p:cNvPicPr>
          <p:nvPr/>
        </p:nvPicPr>
        <p:blipFill>
          <a:blip r:embed="rId2"/>
          <a:srcRect/>
          <a:stretch>
            <a:fillRect/>
          </a:stretch>
        </p:blipFill>
        <p:spPr bwMode="auto">
          <a:xfrm>
            <a:off x="3124200" y="2636143"/>
            <a:ext cx="3810000" cy="2145407"/>
          </a:xfrm>
          <a:prstGeom prst="rect">
            <a:avLst/>
          </a:prstGeom>
          <a:noFill/>
          <a:ln w="9525">
            <a:noFill/>
            <a:miter lim="800000"/>
            <a:headEnd/>
            <a:tailEnd/>
          </a:ln>
          <a:effectLst/>
        </p:spPr>
      </p:pic>
      <p:grpSp>
        <p:nvGrpSpPr>
          <p:cNvPr id="2" name="Group 7"/>
          <p:cNvGrpSpPr/>
          <p:nvPr/>
        </p:nvGrpSpPr>
        <p:grpSpPr>
          <a:xfrm>
            <a:off x="4506" y="0"/>
            <a:ext cx="914400" cy="51435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1562100"/>
            <a:ext cx="8229600" cy="857250"/>
          </a:xfrm>
        </p:spPr>
        <p:txBody>
          <a:bodyPr>
            <a:normAutofit/>
          </a:bodyPr>
          <a:lstStyle/>
          <a:p>
            <a:r>
              <a:rPr lang="en-US" sz="4000" dirty="0" smtClean="0"/>
              <a:t>Some Raw Polymers</a:t>
            </a:r>
            <a:endParaRPr lang="en-US" sz="4000" dirty="0"/>
          </a:p>
        </p:txBody>
      </p:sp>
      <p:pic>
        <p:nvPicPr>
          <p:cNvPr id="5" name="Picture 2" descr="C:\Users\user\Desktop\polymer\istockphoto-489542679-612x612.jpg"/>
          <p:cNvPicPr>
            <a:picLocks noChangeAspect="1" noChangeArrowheads="1"/>
          </p:cNvPicPr>
          <p:nvPr/>
        </p:nvPicPr>
        <p:blipFill>
          <a:blip r:embed="rId2" cstate="print"/>
          <a:srcRect/>
          <a:stretch>
            <a:fillRect/>
          </a:stretch>
        </p:blipFill>
        <p:spPr bwMode="auto">
          <a:xfrm>
            <a:off x="6238546" y="3599153"/>
            <a:ext cx="1865313" cy="929878"/>
          </a:xfrm>
          <a:prstGeom prst="rect">
            <a:avLst/>
          </a:prstGeom>
          <a:noFill/>
        </p:spPr>
      </p:pic>
      <p:pic>
        <p:nvPicPr>
          <p:cNvPr id="6" name="Picture 5" descr="C:\Users\user\Desktop\polymer\istockphoto-183239643-612x612.jpg"/>
          <p:cNvPicPr>
            <a:picLocks noChangeAspect="1" noChangeArrowheads="1"/>
          </p:cNvPicPr>
          <p:nvPr/>
        </p:nvPicPr>
        <p:blipFill>
          <a:blip r:embed="rId3" cstate="print"/>
          <a:srcRect/>
          <a:stretch>
            <a:fillRect/>
          </a:stretch>
        </p:blipFill>
        <p:spPr bwMode="auto">
          <a:xfrm>
            <a:off x="1285546" y="2456152"/>
            <a:ext cx="1865313" cy="932260"/>
          </a:xfrm>
          <a:prstGeom prst="rect">
            <a:avLst/>
          </a:prstGeom>
          <a:noFill/>
        </p:spPr>
      </p:pic>
      <p:pic>
        <p:nvPicPr>
          <p:cNvPr id="9" name="Picture 9" descr="C:\Users\user\Desktop\polymer\istockphoto-482635985-612x612.jpg"/>
          <p:cNvPicPr>
            <a:picLocks noChangeAspect="1" noChangeArrowheads="1"/>
          </p:cNvPicPr>
          <p:nvPr/>
        </p:nvPicPr>
        <p:blipFill>
          <a:blip r:embed="rId4" cstate="print"/>
          <a:srcRect/>
          <a:stretch>
            <a:fillRect/>
          </a:stretch>
        </p:blipFill>
        <p:spPr bwMode="auto">
          <a:xfrm>
            <a:off x="1219200" y="3613744"/>
            <a:ext cx="1981200" cy="958257"/>
          </a:xfrm>
          <a:prstGeom prst="rect">
            <a:avLst/>
          </a:prstGeom>
          <a:noFill/>
        </p:spPr>
      </p:pic>
      <p:pic>
        <p:nvPicPr>
          <p:cNvPr id="10" name="Picture 11" descr="C:\Users\user\Desktop\polymer\istockphoto-488159231-612x612.jpg"/>
          <p:cNvPicPr>
            <a:picLocks noChangeAspect="1" noChangeArrowheads="1"/>
          </p:cNvPicPr>
          <p:nvPr/>
        </p:nvPicPr>
        <p:blipFill>
          <a:blip r:embed="rId5" cstate="print"/>
          <a:srcRect/>
          <a:stretch>
            <a:fillRect/>
          </a:stretch>
        </p:blipFill>
        <p:spPr bwMode="auto">
          <a:xfrm>
            <a:off x="3723946" y="2456152"/>
            <a:ext cx="1865313" cy="932260"/>
          </a:xfrm>
          <a:prstGeom prst="rect">
            <a:avLst/>
          </a:prstGeom>
          <a:noFill/>
        </p:spPr>
      </p:pic>
      <p:pic>
        <p:nvPicPr>
          <p:cNvPr id="11" name="Picture 13" descr="C:\Users\user\Desktop\polymer\istockphoto-515401181-612x612.jpg"/>
          <p:cNvPicPr>
            <a:picLocks noChangeAspect="1" noChangeArrowheads="1"/>
          </p:cNvPicPr>
          <p:nvPr/>
        </p:nvPicPr>
        <p:blipFill>
          <a:blip r:embed="rId6" cstate="print"/>
          <a:srcRect/>
          <a:stretch>
            <a:fillRect/>
          </a:stretch>
        </p:blipFill>
        <p:spPr bwMode="auto">
          <a:xfrm>
            <a:off x="6162343" y="2456152"/>
            <a:ext cx="1981200" cy="932260"/>
          </a:xfrm>
          <a:prstGeom prst="rect">
            <a:avLst/>
          </a:prstGeom>
          <a:noFill/>
        </p:spPr>
      </p:pic>
      <p:pic>
        <p:nvPicPr>
          <p:cNvPr id="13" name="Picture 18" descr="C:\Users\user\Desktop\polymer\istockphoto-1317080753-612x612.jpg"/>
          <p:cNvPicPr>
            <a:picLocks noChangeAspect="1" noChangeArrowheads="1"/>
          </p:cNvPicPr>
          <p:nvPr/>
        </p:nvPicPr>
        <p:blipFill>
          <a:blip r:embed="rId7" cstate="print"/>
          <a:srcRect/>
          <a:stretch>
            <a:fillRect/>
          </a:stretch>
        </p:blipFill>
        <p:spPr bwMode="auto">
          <a:xfrm>
            <a:off x="3800146" y="3599153"/>
            <a:ext cx="1865313" cy="932260"/>
          </a:xfrm>
          <a:prstGeom prst="rect">
            <a:avLst/>
          </a:prstGeom>
          <a:noFill/>
        </p:spPr>
      </p:pic>
      <p:grpSp>
        <p:nvGrpSpPr>
          <p:cNvPr id="2" name="Group 11"/>
          <p:cNvGrpSpPr/>
          <p:nvPr/>
        </p:nvGrpSpPr>
        <p:grpSpPr>
          <a:xfrm>
            <a:off x="4506" y="0"/>
            <a:ext cx="914400" cy="5143500"/>
            <a:chOff x="0" y="168206"/>
            <a:chExt cx="914400" cy="6689794"/>
          </a:xfrm>
        </p:grpSpPr>
        <p:sp>
          <p:nvSpPr>
            <p:cNvPr id="15" name="Rectangle 1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8" name="Picture 7" descr="logo"/>
            <p:cNvPicPr>
              <a:picLocks noChangeAspect="1" noChangeArrowheads="1"/>
            </p:cNvPicPr>
            <p:nvPr/>
          </p:nvPicPr>
          <p:blipFill>
            <a:blip r:embed="rId8"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14" name="Content Placeholder 2"/>
          <p:cNvSpPr txBox="1">
            <a:spLocks/>
          </p:cNvSpPr>
          <p:nvPr/>
        </p:nvSpPr>
        <p:spPr>
          <a:xfrm>
            <a:off x="762000" y="396478"/>
            <a:ext cx="8229600" cy="3394472"/>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Fillers and reinforcing agents are added during the mixing process to increase the durability of rubber and to form colored rubber. Carbon black is the most common reinforcing agents  whereas, zinc oxide, barium sulfate, titanium dioxide, and antimony sulfide are common fillers</a:t>
            </a:r>
            <a:r>
              <a:rPr kumimoji="0" lang="en-US" sz="2000" b="0" i="0" u="none" strike="noStrike" kern="1200" cap="none" spc="0" normalizeH="0" noProof="0" dirty="0" smtClean="0">
                <a:ln>
                  <a:noFill/>
                </a:ln>
                <a:solidFill>
                  <a:schemeClr val="tx1"/>
                </a:solidFill>
                <a:effectLst/>
                <a:uLnTx/>
                <a:uFillTx/>
                <a:latin typeface="+mn-lt"/>
                <a:ea typeface="+mn-ea"/>
                <a:cs typeface="+mn-cs"/>
              </a:rPr>
              <a:t> used</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838200" y="221456"/>
            <a:ext cx="8229600" cy="4743450"/>
          </a:xfrm>
          <a:prstGeom prst="rect">
            <a:avLst/>
          </a:prstGeom>
        </p:spPr>
        <p:txBody>
          <a:bodyPr vert="horz" lIns="91440" tIns="45720" rIns="91440" bIns="45720" rtlCol="0">
            <a:noAutofit/>
          </a:bodyPr>
          <a:lstStyle/>
          <a:p>
            <a:pPr marL="342900" indent="-342900" algn="just">
              <a:spcBef>
                <a:spcPct val="20000"/>
              </a:spcBef>
              <a:defRPr/>
            </a:pPr>
            <a:r>
              <a:rPr kumimoji="0" lang="en-US" b="1" i="0" u="none" strike="noStrike" kern="1200" cap="none" spc="0" normalizeH="0" baseline="0" noProof="0" dirty="0" smtClean="0">
                <a:ln>
                  <a:noFill/>
                </a:ln>
                <a:solidFill>
                  <a:schemeClr val="tx1"/>
                </a:solidFill>
                <a:effectLst/>
                <a:uLnTx/>
                <a:uFillTx/>
                <a:latin typeface="+mn-lt"/>
                <a:ea typeface="+mn-ea"/>
                <a:cs typeface="+mn-cs"/>
              </a:rPr>
              <a:t> 	</a:t>
            </a:r>
          </a:p>
          <a:p>
            <a:pPr marL="342900" indent="-342900" algn="just">
              <a:spcBef>
                <a:spcPct val="20000"/>
              </a:spcBef>
              <a:defRPr/>
            </a:pPr>
            <a:r>
              <a:rPr lang="en-US" dirty="0" smtClean="0"/>
              <a:t>	</a:t>
            </a:r>
          </a:p>
          <a:p>
            <a:pPr marL="342900" indent="-342900" algn="just">
              <a:spcBef>
                <a:spcPct val="20000"/>
              </a:spcBef>
              <a:defRPr/>
            </a:pPr>
            <a:r>
              <a:rPr lang="en-US" dirty="0" smtClean="0"/>
              <a:t>When two different monomers are mixed and polymerized, copolymers are formed and the process is called copolymerization. </a:t>
            </a:r>
          </a:p>
          <a:p>
            <a:pPr marL="342900" indent="-342900" algn="just">
              <a:spcBef>
                <a:spcPct val="20000"/>
              </a:spcBef>
              <a:defRPr/>
            </a:pPr>
            <a:endParaRPr lang="en-US" dirty="0" smtClean="0"/>
          </a:p>
          <a:p>
            <a:pPr marL="342900" indent="-342900" algn="just">
              <a:spcBef>
                <a:spcPct val="20000"/>
              </a:spcBef>
              <a:defRPr/>
            </a:pPr>
            <a:endParaRPr lang="en-US" dirty="0" smtClean="0"/>
          </a:p>
          <a:p>
            <a:pPr marL="342900" indent="-342900" algn="just">
              <a:spcBef>
                <a:spcPct val="20000"/>
              </a:spcBef>
              <a:defRPr/>
            </a:pPr>
            <a:endParaRPr lang="en-US" dirty="0" smtClean="0"/>
          </a:p>
          <a:p>
            <a:pPr marL="342900" indent="-342900" algn="just">
              <a:spcBef>
                <a:spcPct val="20000"/>
              </a:spcBef>
              <a:defRPr/>
            </a:pPr>
            <a:endParaRPr lang="en-US" dirty="0" smtClean="0"/>
          </a:p>
          <a:p>
            <a:pPr algn="just"/>
            <a:r>
              <a:rPr lang="en-US" dirty="0" smtClean="0"/>
              <a:t>SBR is an example of copolymer called styrene butadiene rubber which is formed by the addition of butadiene to styrene in a 3:1 ratio. Styrene and butadiene are two different monomers. The double bond in SBR can be cross-linked by vulcanization as described in the case of natural rubber. SBR is used primarily for making tires. </a:t>
            </a:r>
          </a:p>
          <a:p>
            <a:pPr algn="just"/>
            <a:endParaRPr lang="en-US" dirty="0" smtClean="0"/>
          </a:p>
          <a:p>
            <a:pPr algn="just"/>
            <a:r>
              <a:rPr lang="en-US" dirty="0" smtClean="0"/>
              <a:t>Other copolymers are used in making car bumpers, body and classic parts, wire insulation, spotting goods, sealants; caulking compounds.</a:t>
            </a:r>
          </a:p>
          <a:p>
            <a:pPr marL="342900" indent="-342900" algn="just">
              <a:spcBef>
                <a:spcPct val="20000"/>
              </a:spcBef>
              <a:defRPr/>
            </a:pPr>
            <a:endParaRPr lang="en-US" dirty="0" smtClean="0"/>
          </a:p>
          <a:p>
            <a:pPr marL="342900" indent="-342900" algn="just">
              <a:spcBef>
                <a:spcPct val="20000"/>
              </a:spcBef>
              <a:defRPr/>
            </a:pPr>
            <a:endParaRPr lang="en-US" dirty="0" smtClean="0"/>
          </a:p>
          <a:p>
            <a:pPr marL="342900" indent="-342900" algn="just">
              <a:spcBef>
                <a:spcPct val="20000"/>
              </a:spcBef>
              <a:defRPr/>
            </a:pPr>
            <a:endParaRPr lang="en-US" dirty="0" smtClean="0"/>
          </a:p>
          <a:p>
            <a:pPr marL="342900" marR="0" lvl="0" indent="-342900" algn="just" defTabSz="914400" rtl="0" eaLnBrk="1" fontAlgn="auto" latinLnBrk="0" hangingPunct="1">
              <a:lnSpc>
                <a:spcPct val="100000"/>
              </a:lnSpc>
              <a:spcBef>
                <a:spcPct val="20000"/>
              </a:spcBef>
              <a:spcAft>
                <a:spcPts val="0"/>
              </a:spcAft>
              <a:buClrTx/>
              <a:buSzTx/>
              <a:tabLst/>
              <a:defRPr/>
            </a:pPr>
            <a:endParaRPr kumimoji="0" lang="en-US" b="1" i="0" u="none" strike="noStrike" kern="1200" cap="none" spc="0" normalizeH="0" baseline="0" noProof="0" dirty="0" smtClean="0">
              <a:ln>
                <a:noFill/>
              </a:ln>
              <a:solidFill>
                <a:schemeClr val="tx1"/>
              </a:solidFill>
              <a:effectLst/>
              <a:uLnTx/>
              <a:uFillTx/>
              <a:latin typeface="+mn-lt"/>
              <a:ea typeface="+mn-ea"/>
              <a:cs typeface="+mn-cs"/>
            </a:endParaRPr>
          </a:p>
        </p:txBody>
      </p:sp>
      <p:grpSp>
        <p:nvGrpSpPr>
          <p:cNvPr id="2"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10" name="Rectangle 9"/>
          <p:cNvSpPr/>
          <p:nvPr/>
        </p:nvSpPr>
        <p:spPr>
          <a:xfrm>
            <a:off x="3048000" y="209550"/>
            <a:ext cx="3810000" cy="584775"/>
          </a:xfrm>
          <a:prstGeom prst="rect">
            <a:avLst/>
          </a:prstGeom>
        </p:spPr>
        <p:txBody>
          <a:bodyPr wrap="square">
            <a:spAutoFit/>
          </a:bodyPr>
          <a:lstStyle/>
          <a:p>
            <a:pPr algn="ctr"/>
            <a:r>
              <a:rPr lang="en-US" sz="3200" b="1" dirty="0" smtClean="0"/>
              <a:t>Copolymerization</a:t>
            </a:r>
            <a:endParaRPr lang="en-US" sz="3200" dirty="0"/>
          </a:p>
        </p:txBody>
      </p:sp>
      <p:pic>
        <p:nvPicPr>
          <p:cNvPr id="12" name="Picture 2"/>
          <p:cNvPicPr>
            <a:picLocks noChangeAspect="1" noChangeArrowheads="1"/>
          </p:cNvPicPr>
          <p:nvPr/>
        </p:nvPicPr>
        <p:blipFill>
          <a:blip r:embed="rId4"/>
          <a:srcRect/>
          <a:stretch>
            <a:fillRect/>
          </a:stretch>
        </p:blipFill>
        <p:spPr bwMode="auto">
          <a:xfrm>
            <a:off x="990600" y="1504950"/>
            <a:ext cx="8032500" cy="12501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742950"/>
            <a:ext cx="8229600" cy="3394472"/>
          </a:xfrm>
        </p:spPr>
        <p:txBody>
          <a:bodyPr>
            <a:normAutofit/>
          </a:bodyPr>
          <a:lstStyle/>
          <a:p>
            <a:pPr algn="just"/>
            <a:r>
              <a:rPr lang="en-US" sz="1800" dirty="0" smtClean="0"/>
              <a:t>Depending on the ratio of two monomers and the reaction conditions, the order of the units can range from quite regular (e.g. alternating) to completely random. In this way, polymers with a wide variety of properties can be produced.</a:t>
            </a:r>
            <a:endParaRPr lang="en-US" sz="1800" dirty="0"/>
          </a:p>
        </p:txBody>
      </p:sp>
      <p:grpSp>
        <p:nvGrpSpPr>
          <p:cNvPr id="2"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pic>
        <p:nvPicPr>
          <p:cNvPr id="1027" name="Picture 3"/>
          <p:cNvPicPr>
            <a:picLocks noChangeAspect="1" noChangeArrowheads="1"/>
          </p:cNvPicPr>
          <p:nvPr/>
        </p:nvPicPr>
        <p:blipFill>
          <a:blip r:embed="rId3"/>
          <a:srcRect/>
          <a:stretch>
            <a:fillRect/>
          </a:stretch>
        </p:blipFill>
        <p:spPr bwMode="auto">
          <a:xfrm>
            <a:off x="2438400" y="1733550"/>
            <a:ext cx="5105400" cy="2847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0"/>
            <a:ext cx="8229600" cy="857250"/>
          </a:xfrm>
        </p:spPr>
        <p:txBody>
          <a:bodyPr/>
          <a:lstStyle/>
          <a:p>
            <a:r>
              <a:rPr lang="en-US" dirty="0" smtClean="0"/>
              <a:t>Summary of Applications  </a:t>
            </a:r>
            <a:endParaRPr lang="en-US" dirty="0"/>
          </a:p>
        </p:txBody>
      </p:sp>
      <p:pic>
        <p:nvPicPr>
          <p:cNvPr id="17410" name="Picture 2" descr="C:\Users\user\Desktop\polymer\applications.png"/>
          <p:cNvPicPr>
            <a:picLocks noChangeAspect="1" noChangeArrowheads="1"/>
          </p:cNvPicPr>
          <p:nvPr/>
        </p:nvPicPr>
        <p:blipFill>
          <a:blip r:embed="rId2"/>
          <a:srcRect/>
          <a:stretch>
            <a:fillRect/>
          </a:stretch>
        </p:blipFill>
        <p:spPr bwMode="auto">
          <a:xfrm>
            <a:off x="762000" y="675718"/>
            <a:ext cx="8153400" cy="4447310"/>
          </a:xfrm>
          <a:prstGeom prst="rect">
            <a:avLst/>
          </a:prstGeom>
          <a:noFill/>
        </p:spPr>
      </p:pic>
      <p:grpSp>
        <p:nvGrpSpPr>
          <p:cNvPr id="4" name="Group 3"/>
          <p:cNvGrpSpPr/>
          <p:nvPr/>
        </p:nvGrpSpPr>
        <p:grpSpPr>
          <a:xfrm>
            <a:off x="4506" y="0"/>
            <a:ext cx="914400" cy="5143500"/>
            <a:chOff x="0" y="168206"/>
            <a:chExt cx="914400" cy="6689794"/>
          </a:xfrm>
        </p:grpSpPr>
        <p:sp>
          <p:nvSpPr>
            <p:cNvPr id="5" name="Rectangle 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295400" y="2228850"/>
            <a:ext cx="7239000" cy="857250"/>
          </a:xfrm>
          <a:noFill/>
          <a:ln cmpd="sng">
            <a:solidFill>
              <a:srgbClr val="C00000"/>
            </a:solidFill>
          </a:ln>
          <a:scene3d>
            <a:camera prst="orthographicFront"/>
            <a:lightRig rig="threePt" dir="t"/>
          </a:scene3d>
          <a:sp3d>
            <a:bevelT w="152400" h="50800" prst="softRound"/>
          </a:sp3d>
        </p:spPr>
        <p:txBody>
          <a:bodyPr>
            <a:noAutofit/>
          </a:bodyPr>
          <a:lstStyle/>
          <a:p>
            <a:r>
              <a:rPr lang="en-US" sz="4800" b="1" dirty="0" smtClean="0">
                <a:solidFill>
                  <a:srgbClr val="002060"/>
                </a:solidFill>
                <a:latin typeface="Times New Roman" pitchFamily="18" charset="0"/>
                <a:cs typeface="Times New Roman" pitchFamily="18" charset="0"/>
              </a:rPr>
              <a:t/>
            </a:r>
            <a:br>
              <a:rPr lang="en-US" sz="4800" b="1" dirty="0" smtClean="0">
                <a:solidFill>
                  <a:srgbClr val="002060"/>
                </a:solidFill>
                <a:latin typeface="Times New Roman" pitchFamily="18" charset="0"/>
                <a:cs typeface="Times New Roman" pitchFamily="18" charset="0"/>
              </a:rPr>
            </a:br>
            <a:r>
              <a:rPr lang="en-US" sz="4800" b="1" dirty="0" smtClean="0">
                <a:solidFill>
                  <a:srgbClr val="002060"/>
                </a:solidFill>
                <a:latin typeface="Times New Roman" pitchFamily="18" charset="0"/>
                <a:cs typeface="Times New Roman" pitchFamily="18" charset="0"/>
              </a:rPr>
              <a:t>THANK YOU</a:t>
            </a:r>
            <a:br>
              <a:rPr lang="en-US" sz="4800" b="1" dirty="0" smtClean="0">
                <a:solidFill>
                  <a:srgbClr val="002060"/>
                </a:solidFill>
                <a:latin typeface="Times New Roman" pitchFamily="18" charset="0"/>
                <a:cs typeface="Times New Roman" pitchFamily="18" charset="0"/>
              </a:rPr>
            </a:br>
            <a:endParaRPr lang="en-US" sz="4800" b="1" dirty="0">
              <a:solidFill>
                <a:srgbClr val="002060"/>
              </a:solidFill>
              <a:latin typeface="Times New Roman" pitchFamily="18" charset="0"/>
              <a:cs typeface="Times New Roman" pitchFamily="18" charset="0"/>
            </a:endParaRPr>
          </a:p>
        </p:txBody>
      </p:sp>
      <p:grpSp>
        <p:nvGrpSpPr>
          <p:cNvPr id="9" name="Group 8"/>
          <p:cNvGrpSpPr/>
          <p:nvPr/>
        </p:nvGrpSpPr>
        <p:grpSpPr>
          <a:xfrm>
            <a:off x="4506" y="0"/>
            <a:ext cx="914400" cy="51435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1391</TotalTime>
  <Words>1114</Words>
  <Application>Microsoft Office PowerPoint</Application>
  <PresentationFormat>On-screen Show (16:9)</PresentationFormat>
  <Paragraphs>119</Paragraphs>
  <Slides>27</Slides>
  <Notes>2</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Some Raw Polymers</vt:lpstr>
      <vt:lpstr>Slide 24</vt:lpstr>
      <vt:lpstr>Slide 25</vt:lpstr>
      <vt:lpstr>Summary of Applications  </vt:lpstr>
      <vt:lpstr> 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CHM 122 INTRODUCTORY ORGANIC CHEMISTRY  (2 UNITS)</dc:title>
  <dc:creator>user</dc:creator>
  <cp:lastModifiedBy>user</cp:lastModifiedBy>
  <cp:revision>197</cp:revision>
  <dcterms:created xsi:type="dcterms:W3CDTF">2023-10-24T23:32:35Z</dcterms:created>
  <dcterms:modified xsi:type="dcterms:W3CDTF">2023-11-18T15:05:03Z</dcterms:modified>
</cp:coreProperties>
</file>