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7" r:id="rId2"/>
    <p:sldId id="258" r:id="rId3"/>
    <p:sldId id="259" r:id="rId4"/>
    <p:sldId id="260" r:id="rId5"/>
    <p:sldId id="261" r:id="rId6"/>
    <p:sldId id="262" r:id="rId7"/>
    <p:sldId id="263" r:id="rId8"/>
    <p:sldId id="264" r:id="rId9"/>
    <p:sldId id="265" r:id="rId10"/>
    <p:sldId id="268" r:id="rId11"/>
    <p:sldId id="270" r:id="rId12"/>
    <p:sldId id="271" r:id="rId13"/>
    <p:sldId id="273" r:id="rId14"/>
    <p:sldId id="274" r:id="rId15"/>
    <p:sldId id="278" r:id="rId16"/>
    <p:sldId id="279" r:id="rId17"/>
    <p:sldId id="280" r:id="rId18"/>
    <p:sldId id="282" r:id="rId19"/>
    <p:sldId id="285" r:id="rId20"/>
    <p:sldId id="286" r:id="rId21"/>
    <p:sldId id="289" r:id="rId22"/>
    <p:sldId id="297" r:id="rId23"/>
    <p:sldId id="298" r:id="rId24"/>
    <p:sldId id="299" r:id="rId25"/>
    <p:sldId id="301" r:id="rId26"/>
    <p:sldId id="303" r:id="rId27"/>
    <p:sldId id="304" r:id="rId28"/>
    <p:sldId id="308" r:id="rId29"/>
    <p:sldId id="310" r:id="rId30"/>
    <p:sldId id="311" r:id="rId31"/>
    <p:sldId id="312" r:id="rId32"/>
    <p:sldId id="314" r:id="rId33"/>
    <p:sldId id="317" r:id="rId34"/>
    <p:sldId id="319" r:id="rId35"/>
    <p:sldId id="320" r:id="rId36"/>
    <p:sldId id="330"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D7D863F-F110-4E3A-9041-B7717E53A9A4}" type="datetimeFigureOut">
              <a:rPr lang="en-US" smtClean="0"/>
              <a:pPr/>
              <a:t>10/22/2023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C22AC7-95BB-4AF6-BF79-B624EF44C64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3A971A8-62E3-47C4-873E-DAB442ADC6DF}"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3A971A8-62E3-47C4-873E-DAB442ADC6DF}"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Note: </a:t>
            </a:r>
            <a:r>
              <a:rPr lang="en-US" b="0" dirty="0" smtClean="0"/>
              <a:t>polyethylene is both a polymer and macromolecule but chlorophyll is</a:t>
            </a:r>
            <a:r>
              <a:rPr lang="en-US" b="0" baseline="0" dirty="0" smtClean="0"/>
              <a:t> a macromolecule but not a polymer.</a:t>
            </a:r>
            <a:endParaRPr lang="en-US" b="0" dirty="0" smtClean="0"/>
          </a:p>
          <a:p>
            <a:r>
              <a:rPr lang="en-US" b="1" dirty="0" smtClean="0"/>
              <a:t>Question:</a:t>
            </a:r>
            <a:r>
              <a:rPr lang="en-US" b="1" baseline="0" dirty="0" smtClean="0"/>
              <a:t> </a:t>
            </a:r>
            <a:r>
              <a:rPr lang="en-US" b="0" baseline="0" dirty="0" smtClean="0"/>
              <a:t>All polymers are macromolecules but not all macromolecules are polymers. Explain.</a:t>
            </a:r>
            <a:endParaRPr lang="en-US" b="0" dirty="0" smtClean="0"/>
          </a:p>
          <a:p>
            <a:endParaRPr lang="en-US" b="1" dirty="0" smtClean="0"/>
          </a:p>
          <a:p>
            <a:endParaRPr lang="en-US" b="1" dirty="0" smtClean="0"/>
          </a:p>
          <a:p>
            <a:endParaRPr lang="en-US" b="1" dirty="0" smtClean="0"/>
          </a:p>
          <a:p>
            <a:endParaRPr lang="en-US" b="1" dirty="0" smtClean="0"/>
          </a:p>
          <a:p>
            <a:r>
              <a:rPr lang="en-US" b="1" dirty="0" smtClean="0"/>
              <a:t>Note:</a:t>
            </a:r>
            <a:r>
              <a:rPr lang="en-US" b="1" baseline="0" dirty="0" smtClean="0"/>
              <a:t> </a:t>
            </a:r>
            <a:r>
              <a:rPr lang="en-US" b="0" baseline="0" dirty="0" smtClean="0"/>
              <a:t>Polyethylene formed via the linkage of large number of ethylene repeating units.</a:t>
            </a:r>
            <a:endParaRPr lang="en-US" b="0" dirty="0" smtClean="0"/>
          </a:p>
          <a:p>
            <a:r>
              <a:rPr lang="en-US" b="1" dirty="0" smtClean="0"/>
              <a:t>Question:</a:t>
            </a:r>
            <a:r>
              <a:rPr lang="en-US" dirty="0" smtClean="0"/>
              <a:t> All polymers are macromolecules but not all macromolecules are polymers. Explain..</a:t>
            </a:r>
          </a:p>
          <a:p>
            <a:endParaRPr lang="en-US" dirty="0"/>
          </a:p>
        </p:txBody>
      </p:sp>
      <p:sp>
        <p:nvSpPr>
          <p:cNvPr id="4" name="Slide Number Placeholder 3"/>
          <p:cNvSpPr>
            <a:spLocks noGrp="1"/>
          </p:cNvSpPr>
          <p:nvPr>
            <p:ph type="sldNum" sz="quarter" idx="10"/>
          </p:nvPr>
        </p:nvSpPr>
        <p:spPr/>
        <p:txBody>
          <a:bodyPr/>
          <a:lstStyle/>
          <a:p>
            <a:fld id="{83A971A8-62E3-47C4-873E-DAB442ADC6DF}"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Note : </a:t>
            </a:r>
            <a:r>
              <a:rPr lang="en-US" sz="1200" dirty="0" err="1" smtClean="0"/>
              <a:t>C</a:t>
            </a:r>
            <a:r>
              <a:rPr lang="en-US" sz="1200" baseline="-25000" dirty="0" err="1" smtClean="0"/>
              <a:t>n</a:t>
            </a:r>
            <a:r>
              <a:rPr lang="en-US" sz="1200" dirty="0" smtClean="0"/>
              <a:t>(H</a:t>
            </a:r>
            <a:r>
              <a:rPr lang="en-US" sz="1200" baseline="-25000" dirty="0" smtClean="0"/>
              <a:t>2</a:t>
            </a:r>
            <a:r>
              <a:rPr lang="en-US" sz="1200" dirty="0" smtClean="0"/>
              <a:t>O)</a:t>
            </a:r>
            <a:r>
              <a:rPr lang="en-US" sz="1200" baseline="-25000" dirty="0" smtClean="0"/>
              <a:t>n</a:t>
            </a:r>
            <a:r>
              <a:rPr lang="en-US" sz="1200" dirty="0" smtClean="0"/>
              <a:t> or C</a:t>
            </a:r>
            <a:r>
              <a:rPr lang="en-US" sz="1200" baseline="-25000" dirty="0" smtClean="0"/>
              <a:t>n</a:t>
            </a:r>
            <a:r>
              <a:rPr lang="en-US" sz="1200" dirty="0" smtClean="0"/>
              <a:t>H</a:t>
            </a:r>
            <a:r>
              <a:rPr lang="en-US" sz="1200" baseline="-25000" dirty="0" smtClean="0"/>
              <a:t>2n</a:t>
            </a:r>
            <a:r>
              <a:rPr lang="en-US" sz="1200" dirty="0" smtClean="0"/>
              <a:t>O</a:t>
            </a:r>
            <a:r>
              <a:rPr lang="en-US" sz="1200" baseline="-25000" dirty="0" smtClean="0"/>
              <a:t>n</a:t>
            </a:r>
            <a:r>
              <a:rPr lang="en-US" sz="1200" dirty="0" smtClean="0"/>
              <a:t>  stands</a:t>
            </a:r>
            <a:r>
              <a:rPr lang="en-US" sz="1200" baseline="0" dirty="0" smtClean="0"/>
              <a:t> as a general formula for monosaccharides.</a:t>
            </a:r>
            <a:endParaRPr lang="en-US" dirty="0"/>
          </a:p>
        </p:txBody>
      </p:sp>
      <p:sp>
        <p:nvSpPr>
          <p:cNvPr id="4" name="Slide Number Placeholder 3"/>
          <p:cNvSpPr>
            <a:spLocks noGrp="1"/>
          </p:cNvSpPr>
          <p:nvPr>
            <p:ph type="sldNum" sz="quarter" idx="10"/>
          </p:nvPr>
        </p:nvSpPr>
        <p:spPr/>
        <p:txBody>
          <a:bodyPr/>
          <a:lstStyle/>
          <a:p>
            <a:fld id="{83A971A8-62E3-47C4-873E-DAB442ADC6DF}" type="slidenum">
              <a:rPr lang="en-US" smtClean="0"/>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Carbon</a:t>
            </a:r>
            <a:r>
              <a:rPr lang="en-US" baseline="0" dirty="0" smtClean="0"/>
              <a:t> 1 and 6 are non chiral as carbon 1 carries only three groups while carbon 5 carries two similar </a:t>
            </a:r>
            <a:r>
              <a:rPr lang="en-US" baseline="0" dirty="0" err="1" smtClean="0"/>
              <a:t>gropus</a:t>
            </a:r>
            <a:r>
              <a:rPr lang="en-US" baseline="0" dirty="0" smtClean="0"/>
              <a:t> (hydrogen atoms). </a:t>
            </a:r>
            <a:endParaRPr lang="en-US" dirty="0"/>
          </a:p>
        </p:txBody>
      </p:sp>
      <p:sp>
        <p:nvSpPr>
          <p:cNvPr id="4" name="Slide Number Placeholder 3"/>
          <p:cNvSpPr>
            <a:spLocks noGrp="1"/>
          </p:cNvSpPr>
          <p:nvPr>
            <p:ph type="sldNum" sz="quarter" idx="10"/>
          </p:nvPr>
        </p:nvSpPr>
        <p:spPr/>
        <p:txBody>
          <a:bodyPr/>
          <a:lstStyle/>
          <a:p>
            <a:fld id="{83A971A8-62E3-47C4-873E-DAB442ADC6DF}" type="slidenum">
              <a:rPr lang="en-US" smtClean="0"/>
              <a:pPr/>
              <a:t>10</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3A971A8-62E3-47C4-873E-DAB442ADC6DF}" type="slidenum">
              <a:rPr lang="en-US" smtClean="0"/>
              <a:pPr/>
              <a:t>18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3A971A8-62E3-47C4-873E-DAB442ADC6DF}" type="slidenum">
              <a:rPr lang="en-US" smtClean="0"/>
              <a:pPr/>
              <a:t>22</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a:t>
            </a:r>
            <a:r>
              <a:rPr lang="en-US" baseline="0" dirty="0" smtClean="0"/>
              <a:t> c</a:t>
            </a:r>
            <a:r>
              <a:rPr lang="en-US" dirty="0" smtClean="0"/>
              <a:t>yclic decapentide contains</a:t>
            </a:r>
            <a:r>
              <a:rPr lang="en-US" baseline="0" dirty="0" smtClean="0"/>
              <a:t> ten amino acids linked into a ring by peptide bonds. Gramicidin- S and </a:t>
            </a:r>
            <a:r>
              <a:rPr lang="en-US" baseline="0" dirty="0" err="1" smtClean="0"/>
              <a:t>Tyrocidin</a:t>
            </a:r>
            <a:r>
              <a:rPr lang="en-US" baseline="0" dirty="0" smtClean="0"/>
              <a:t>- A are produces by certain bacterium.</a:t>
            </a:r>
            <a:endParaRPr lang="en-US" dirty="0" smtClean="0"/>
          </a:p>
          <a:p>
            <a:endParaRPr lang="en-US" dirty="0"/>
          </a:p>
        </p:txBody>
      </p:sp>
      <p:sp>
        <p:nvSpPr>
          <p:cNvPr id="4" name="Slide Number Placeholder 3"/>
          <p:cNvSpPr>
            <a:spLocks noGrp="1"/>
          </p:cNvSpPr>
          <p:nvPr>
            <p:ph type="sldNum" sz="quarter" idx="10"/>
          </p:nvPr>
        </p:nvSpPr>
        <p:spPr/>
        <p:txBody>
          <a:bodyPr/>
          <a:lstStyle/>
          <a:p>
            <a:fld id="{83A971A8-62E3-47C4-873E-DAB442ADC6DF}" type="slidenum">
              <a:rPr lang="en-US" smtClean="0"/>
              <a:pPr/>
              <a:t>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21DC81D-1486-48D3-A3E2-9E6DB1B4D673}" type="datetimeFigureOut">
              <a:rPr lang="en-US" smtClean="0"/>
              <a:pPr/>
              <a:t>10/22/2023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1DC81D-1486-48D3-A3E2-9E6DB1B4D673}" type="datetimeFigureOut">
              <a:rPr lang="en-US" smtClean="0"/>
              <a:pPr/>
              <a:t>10/22/2023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21DC81D-1486-48D3-A3E2-9E6DB1B4D673}" type="datetimeFigureOut">
              <a:rPr lang="en-US" smtClean="0"/>
              <a:pPr/>
              <a:t>10/22/2023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21DC81D-1486-48D3-A3E2-9E6DB1B4D673}" type="datetimeFigureOut">
              <a:rPr lang="en-US" smtClean="0"/>
              <a:pPr/>
              <a:t>10/22/2023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21DC81D-1486-48D3-A3E2-9E6DB1B4D673}" type="datetimeFigureOut">
              <a:rPr lang="en-US" smtClean="0"/>
              <a:pPr/>
              <a:t>10/22/2023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21DC81D-1486-48D3-A3E2-9E6DB1B4D673}" type="datetimeFigureOut">
              <a:rPr lang="en-US" smtClean="0"/>
              <a:pPr/>
              <a:t>10/22/2023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1DC81D-1486-48D3-A3E2-9E6DB1B4D673}" type="datetimeFigureOut">
              <a:rPr lang="en-US" smtClean="0"/>
              <a:pPr/>
              <a:t>10/22/2023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1DC81D-1486-48D3-A3E2-9E6DB1B4D673}" type="datetimeFigureOut">
              <a:rPr lang="en-US" smtClean="0"/>
              <a:pPr/>
              <a:t>10/22/2023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1DC81D-1486-48D3-A3E2-9E6DB1B4D673}" type="datetimeFigureOut">
              <a:rPr lang="en-US" smtClean="0"/>
              <a:pPr/>
              <a:t>10/22/2023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1DC81D-1486-48D3-A3E2-9E6DB1B4D673}" type="datetimeFigureOut">
              <a:rPr lang="en-US" smtClean="0"/>
              <a:pPr/>
              <a:t>10/22/2023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1DC81D-1486-48D3-A3E2-9E6DB1B4D673}" type="datetimeFigureOut">
              <a:rPr lang="en-US" smtClean="0"/>
              <a:pPr/>
              <a:t>10/22/2023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3100B1-508B-49E4-AAEA-044455E89A1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1DC81D-1486-48D3-A3E2-9E6DB1B4D673}" type="datetimeFigureOut">
              <a:rPr lang="en-US" smtClean="0"/>
              <a:pPr/>
              <a:t>10/22/2023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3100B1-508B-49E4-AAEA-044455E89A1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wm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ctrTitle"/>
          </p:nvPr>
        </p:nvSpPr>
        <p:spPr>
          <a:xfrm>
            <a:off x="685800" y="1828802"/>
            <a:ext cx="7772400" cy="1470025"/>
          </a:xfrm>
        </p:spPr>
        <p:txBody>
          <a:bodyPr>
            <a:normAutofit fontScale="90000"/>
          </a:bodyPr>
          <a:lstStyle/>
          <a:p>
            <a:r>
              <a:rPr lang="en-US" sz="6700" b="1" dirty="0" smtClean="0"/>
              <a:t>C</a:t>
            </a:r>
            <a:r>
              <a:rPr lang="en-US" sz="6000" b="1" dirty="0" smtClean="0"/>
              <a:t>H</a:t>
            </a:r>
            <a:r>
              <a:rPr lang="en-US" b="1" dirty="0" smtClean="0"/>
              <a:t>M </a:t>
            </a:r>
            <a:r>
              <a:rPr lang="en-US" sz="5300" b="1" dirty="0" smtClean="0"/>
              <a:t>1</a:t>
            </a:r>
            <a:r>
              <a:rPr lang="en-US" sz="6700" b="1" dirty="0" smtClean="0"/>
              <a:t>2</a:t>
            </a:r>
            <a:r>
              <a:rPr lang="en-US" sz="7300" b="1" dirty="0" smtClean="0"/>
              <a:t>2</a:t>
            </a:r>
            <a:r>
              <a:rPr lang="en-US" b="1" dirty="0" smtClean="0"/>
              <a:t/>
            </a:r>
            <a:br>
              <a:rPr lang="en-US" b="1" dirty="0" smtClean="0"/>
            </a:br>
            <a:r>
              <a:rPr lang="en-US" sz="6700" b="1" dirty="0" smtClean="0"/>
              <a:t>I</a:t>
            </a:r>
            <a:r>
              <a:rPr lang="en-US" b="1" dirty="0" smtClean="0"/>
              <a:t>NTRODUCTORY </a:t>
            </a:r>
            <a:r>
              <a:rPr lang="en-US" sz="6700" b="1" dirty="0" smtClean="0"/>
              <a:t>O</a:t>
            </a:r>
            <a:r>
              <a:rPr lang="en-US" b="1" dirty="0" smtClean="0"/>
              <a:t>RGANIC </a:t>
            </a:r>
            <a:r>
              <a:rPr lang="en-US" sz="6700" b="1" dirty="0" smtClean="0"/>
              <a:t>C</a:t>
            </a:r>
            <a:r>
              <a:rPr lang="en-US" b="1" dirty="0" smtClean="0"/>
              <a:t>HEMISTRY  (2 UNITS)</a:t>
            </a:r>
            <a:endParaRPr lang="en-US" b="1" dirty="0"/>
          </a:p>
        </p:txBody>
      </p:sp>
      <p:pic>
        <p:nvPicPr>
          <p:cNvPr id="51201" name="Picture 1"/>
          <p:cNvPicPr>
            <a:picLocks noChangeAspect="1" noChangeArrowheads="1"/>
          </p:cNvPicPr>
          <p:nvPr/>
        </p:nvPicPr>
        <p:blipFill>
          <a:blip r:embed="rId3"/>
          <a:srcRect/>
          <a:stretch>
            <a:fillRect/>
          </a:stretch>
        </p:blipFill>
        <p:spPr bwMode="auto">
          <a:xfrm>
            <a:off x="5669924" y="0"/>
            <a:ext cx="3474076" cy="1408176"/>
          </a:xfrm>
          <a:prstGeom prst="rect">
            <a:avLst/>
          </a:prstGeom>
          <a:noFill/>
          <a:ln w="9525">
            <a:noFill/>
            <a:miter lim="800000"/>
            <a:headEnd/>
            <a:tailEnd/>
          </a:ln>
          <a:effectLst/>
        </p:spPr>
      </p:pic>
      <p:pic>
        <p:nvPicPr>
          <p:cNvPr id="20" name="Picture 4"/>
          <p:cNvPicPr>
            <a:picLocks noChangeAspect="1" noChangeArrowheads="1"/>
          </p:cNvPicPr>
          <p:nvPr/>
        </p:nvPicPr>
        <p:blipFill>
          <a:blip r:embed="rId4" cstate="print"/>
          <a:srcRect/>
          <a:stretch>
            <a:fillRect/>
          </a:stretch>
        </p:blipFill>
        <p:spPr bwMode="auto">
          <a:xfrm>
            <a:off x="7162800" y="3657600"/>
            <a:ext cx="1828800" cy="1564997"/>
          </a:xfrm>
          <a:prstGeom prst="rect">
            <a:avLst/>
          </a:prstGeom>
          <a:noFill/>
          <a:ln w="9525">
            <a:noFill/>
            <a:miter lim="800000"/>
            <a:headEnd/>
            <a:tailEnd/>
          </a:ln>
        </p:spPr>
      </p:pic>
      <p:pic>
        <p:nvPicPr>
          <p:cNvPr id="24" name="Picture 23"/>
          <p:cNvPicPr>
            <a:picLocks noChangeAspect="1" noChangeArrowheads="1"/>
          </p:cNvPicPr>
          <p:nvPr/>
        </p:nvPicPr>
        <p:blipFill>
          <a:blip r:embed="rId5"/>
          <a:srcRect/>
          <a:stretch>
            <a:fillRect/>
          </a:stretch>
        </p:blipFill>
        <p:spPr bwMode="auto">
          <a:xfrm>
            <a:off x="1066800" y="2895600"/>
            <a:ext cx="2438400" cy="1946275"/>
          </a:xfrm>
          <a:prstGeom prst="rect">
            <a:avLst/>
          </a:prstGeom>
          <a:noFill/>
          <a:ln w="12700">
            <a:noFill/>
            <a:miter lim="800000"/>
            <a:headEnd/>
            <a:tailEnd/>
          </a:ln>
        </p:spPr>
      </p:pic>
      <p:pic>
        <p:nvPicPr>
          <p:cNvPr id="51203" name="Picture 3"/>
          <p:cNvPicPr>
            <a:picLocks noChangeAspect="1" noChangeArrowheads="1"/>
          </p:cNvPicPr>
          <p:nvPr/>
        </p:nvPicPr>
        <p:blipFill>
          <a:blip r:embed="rId6"/>
          <a:srcRect/>
          <a:stretch>
            <a:fillRect/>
          </a:stretch>
        </p:blipFill>
        <p:spPr bwMode="auto">
          <a:xfrm>
            <a:off x="0" y="5578971"/>
            <a:ext cx="2667000" cy="1279031"/>
          </a:xfrm>
          <a:prstGeom prst="rect">
            <a:avLst/>
          </a:prstGeom>
          <a:noFill/>
          <a:ln w="9525">
            <a:noFill/>
            <a:miter lim="800000"/>
            <a:headEnd/>
            <a:tailEnd/>
          </a:ln>
          <a:effectLst/>
        </p:spPr>
      </p:pic>
      <p:sp>
        <p:nvSpPr>
          <p:cNvPr id="12" name="Subtitle 2"/>
          <p:cNvSpPr txBox="1">
            <a:spLocks/>
          </p:cNvSpPr>
          <p:nvPr/>
        </p:nvSpPr>
        <p:spPr>
          <a:xfrm>
            <a:off x="1676400" y="4191000"/>
            <a:ext cx="6400800" cy="1752600"/>
          </a:xfrm>
          <a:prstGeom prst="rect">
            <a:avLst/>
          </a:prstGeom>
        </p:spPr>
        <p:txBody>
          <a:bodyPr vert="horz" lIns="91440" tIns="45720" rIns="91440" bIns="45720" rtlCol="0">
            <a:normAutofit fontScale="700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600" b="1" i="0" u="none" strike="noStrike" kern="1200" cap="none" spc="0" normalizeH="0" baseline="0" noProof="0" dirty="0" smtClean="0">
                <a:ln>
                  <a:noFill/>
                </a:ln>
                <a:solidFill>
                  <a:srgbClr val="002060"/>
                </a:solidFill>
                <a:effectLst/>
                <a:uLnTx/>
                <a:uFillTx/>
                <a:latin typeface="+mn-lt"/>
                <a:ea typeface="+mn-ea"/>
                <a:cs typeface="+mn-cs"/>
              </a:rPr>
              <a:t>MODULE 11</a:t>
            </a:r>
            <a:r>
              <a:rPr kumimoji="0" lang="en-US" sz="4000" b="0" i="0" u="none" strike="noStrike" kern="1200" cap="none" spc="0" normalizeH="0" baseline="0" noProof="0" dirty="0" smtClean="0">
                <a:ln>
                  <a:noFill/>
                </a:ln>
                <a:solidFill>
                  <a:srgbClr val="002060"/>
                </a:solidFill>
                <a:effectLst/>
                <a:uLnTx/>
                <a:uFillTx/>
                <a:latin typeface="+mn-lt"/>
                <a:ea typeface="+mn-ea"/>
                <a:cs typeface="+mn-cs"/>
              </a:rPr>
              <a:t>:</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5200" b="0" i="0" u="none" strike="noStrike" kern="1200" cap="none" spc="0" normalizeH="0" baseline="0" noProof="0" dirty="0" smtClean="0">
                <a:ln>
                  <a:noFill/>
                </a:ln>
                <a:solidFill>
                  <a:srgbClr val="002060"/>
                </a:solidFill>
                <a:effectLst/>
                <a:uLnTx/>
                <a:uFillTx/>
                <a:latin typeface="+mn-lt"/>
                <a:ea typeface="+mn-ea"/>
                <a:cs typeface="+mn-cs"/>
              </a:rPr>
              <a:t>I</a:t>
            </a:r>
            <a:r>
              <a:rPr kumimoji="0" lang="en-US" sz="4000" b="0" i="0" u="none" strike="noStrike" kern="1200" cap="none" spc="0" normalizeH="0" baseline="0" noProof="0" dirty="0" smtClean="0">
                <a:ln>
                  <a:noFill/>
                </a:ln>
                <a:solidFill>
                  <a:srgbClr val="002060"/>
                </a:solidFill>
                <a:effectLst/>
                <a:uLnTx/>
                <a:uFillTx/>
                <a:latin typeface="+mn-lt"/>
                <a:ea typeface="+mn-ea"/>
                <a:cs typeface="+mn-cs"/>
              </a:rPr>
              <a:t>NTRODUCTION</a:t>
            </a:r>
            <a:r>
              <a:rPr kumimoji="0" lang="en-US" sz="5200" b="0" i="0" u="none" strike="noStrike" kern="1200" cap="none" spc="0" normalizeH="0" baseline="0" noProof="0" dirty="0" smtClean="0">
                <a:ln>
                  <a:noFill/>
                </a:ln>
                <a:solidFill>
                  <a:srgbClr val="002060"/>
                </a:solidFill>
                <a:effectLst/>
                <a:uLnTx/>
                <a:uFillTx/>
                <a:latin typeface="+mn-lt"/>
                <a:ea typeface="+mn-ea"/>
                <a:cs typeface="+mn-cs"/>
              </a:rPr>
              <a:t> </a:t>
            </a:r>
            <a:r>
              <a:rPr kumimoji="0" lang="en-US" sz="4600" b="0" i="0" u="none" strike="noStrike" kern="1200" cap="none" spc="0" normalizeH="0" baseline="0" noProof="0" dirty="0" smtClean="0">
                <a:ln>
                  <a:noFill/>
                </a:ln>
                <a:solidFill>
                  <a:srgbClr val="002060"/>
                </a:solidFill>
                <a:effectLst/>
                <a:uLnTx/>
                <a:uFillTx/>
                <a:latin typeface="+mn-lt"/>
                <a:ea typeface="+mn-ea"/>
                <a:cs typeface="+mn-cs"/>
              </a:rPr>
              <a:t>TO</a:t>
            </a:r>
            <a:endParaRPr kumimoji="0" lang="en-US" sz="5200" b="0" i="0" u="none" strike="noStrike" kern="1200" cap="none" spc="0" normalizeH="0" baseline="0" noProof="0" dirty="0" smtClean="0">
              <a:ln>
                <a:noFill/>
              </a:ln>
              <a:solidFill>
                <a:srgbClr val="002060"/>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5200" b="0" i="0" u="none" strike="noStrike" kern="1200" cap="none" spc="0" normalizeH="0" baseline="0" noProof="0" dirty="0" smtClean="0">
                <a:ln>
                  <a:noFill/>
                </a:ln>
                <a:solidFill>
                  <a:srgbClr val="002060"/>
                </a:solidFill>
                <a:effectLst/>
                <a:uLnTx/>
                <a:uFillTx/>
                <a:latin typeface="+mn-lt"/>
                <a:ea typeface="+mn-ea"/>
                <a:cs typeface="+mn-cs"/>
              </a:rPr>
              <a:t>C</a:t>
            </a:r>
            <a:r>
              <a:rPr kumimoji="0" lang="en-US" sz="3900" b="0" i="0" u="none" strike="noStrike" kern="1200" cap="none" spc="0" normalizeH="0" baseline="0" noProof="0" dirty="0" smtClean="0">
                <a:ln>
                  <a:noFill/>
                </a:ln>
                <a:solidFill>
                  <a:srgbClr val="002060"/>
                </a:solidFill>
                <a:effectLst/>
                <a:uLnTx/>
                <a:uFillTx/>
                <a:latin typeface="+mn-lt"/>
                <a:ea typeface="+mn-ea"/>
                <a:cs typeface="+mn-cs"/>
              </a:rPr>
              <a:t>HEMISTRY OF</a:t>
            </a:r>
            <a:r>
              <a:rPr kumimoji="0" lang="en-US" sz="4800" b="0" i="0" u="none" strike="noStrike" kern="1200" cap="none" spc="0" normalizeH="0" baseline="0" noProof="0" dirty="0" smtClean="0">
                <a:ln>
                  <a:noFill/>
                </a:ln>
                <a:solidFill>
                  <a:srgbClr val="002060"/>
                </a:solidFill>
                <a:effectLst/>
                <a:uLnTx/>
                <a:uFillTx/>
                <a:latin typeface="+mn-lt"/>
                <a:ea typeface="+mn-ea"/>
                <a:cs typeface="+mn-cs"/>
              </a:rPr>
              <a:t> MACROMOLECULES</a:t>
            </a:r>
            <a:endParaRPr kumimoji="0" lang="en-US" sz="4800" b="0" i="0" u="none" strike="noStrike" kern="1200" cap="none" spc="0" normalizeH="0" baseline="0" noProof="0" dirty="0">
              <a:ln>
                <a:noFill/>
              </a:ln>
              <a:solidFill>
                <a:srgbClr val="002060"/>
              </a:solidFill>
              <a:effectLst/>
              <a:uLnTx/>
              <a:uFillTx/>
              <a:latin typeface="+mn-lt"/>
              <a:ea typeface="+mn-ea"/>
              <a:cs typeface="+mn-cs"/>
            </a:endParaRPr>
          </a:p>
        </p:txBody>
      </p:sp>
      <p:pic>
        <p:nvPicPr>
          <p:cNvPr id="10" name="Picture 9"/>
          <p:cNvPicPr>
            <a:picLocks noChangeAspect="1"/>
          </p:cNvPicPr>
          <p:nvPr/>
        </p:nvPicPr>
        <p:blipFill>
          <a:blip r:embed="rId7">
            <a:extLst>
              <a:ext uri="{28A0092B-C50C-407E-A947-70E740481C1C}">
                <a14:useLocalDpi xmlns="" xmlns:a14="http://schemas.microsoft.com/office/drawing/2010/main" val="0"/>
              </a:ext>
            </a:extLst>
          </a:blip>
          <a:stretch>
            <a:fillRect/>
          </a:stretch>
        </p:blipFill>
        <p:spPr>
          <a:xfrm>
            <a:off x="9857" y="19455"/>
            <a:ext cx="2586398" cy="838317"/>
          </a:xfrm>
          <a:prstGeom prst="rect">
            <a:avLst/>
          </a:prstGeom>
        </p:spPr>
      </p:pic>
    </p:spTree>
  </p:cSld>
  <p:clrMapOvr>
    <a:masterClrMapping/>
  </p:clrMapOvr>
  <p:transition>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46239"/>
            <a:ext cx="8686800" cy="4525963"/>
          </a:xfrm>
        </p:spPr>
        <p:txBody>
          <a:bodyPr>
            <a:normAutofit/>
          </a:bodyPr>
          <a:lstStyle/>
          <a:p>
            <a:pPr>
              <a:buNone/>
            </a:pPr>
            <a:endParaRPr lang="en-US" sz="2400" dirty="0" smtClean="0"/>
          </a:p>
          <a:p>
            <a:pPr marL="514350" indent="-514350">
              <a:buFont typeface="+mj-lt"/>
              <a:buAutoNum type="arabicPeriod"/>
            </a:pPr>
            <a:r>
              <a:rPr lang="en-US" sz="2400" dirty="0" smtClean="0"/>
              <a:t>To recognize the existence and significance of macromolecules.</a:t>
            </a:r>
          </a:p>
          <a:p>
            <a:pPr marL="514350" indent="-514350">
              <a:buFont typeface="+mj-lt"/>
              <a:buAutoNum type="arabicPeriod"/>
            </a:pPr>
            <a:r>
              <a:rPr lang="en-US" sz="2400" dirty="0" smtClean="0"/>
              <a:t>To identify the structures of various types of  macromolecules.</a:t>
            </a:r>
          </a:p>
          <a:p>
            <a:pPr marL="514350" indent="-514350">
              <a:buFont typeface="+mj-lt"/>
              <a:buAutoNum type="arabicPeriod"/>
            </a:pPr>
            <a:r>
              <a:rPr lang="en-US" sz="2400" dirty="0" smtClean="0"/>
              <a:t>To identify the classifications of macromolecules.</a:t>
            </a:r>
          </a:p>
          <a:p>
            <a:pPr marL="514350" indent="-514350">
              <a:buFont typeface="+mj-lt"/>
              <a:buAutoNum type="arabicPeriod"/>
            </a:pPr>
            <a:r>
              <a:rPr lang="en-US" sz="2400" dirty="0" smtClean="0"/>
              <a:t>To distinguish between mono-, oligo-, and poly- saccharides.</a:t>
            </a:r>
          </a:p>
          <a:p>
            <a:pPr marL="514350" indent="-514350">
              <a:buFont typeface="+mj-lt"/>
              <a:buAutoNum type="arabicPeriod"/>
            </a:pPr>
            <a:r>
              <a:rPr lang="en-US" sz="2400" dirty="0" smtClean="0"/>
              <a:t>To distinguish between amino acids, peptides, and proteins.</a:t>
            </a:r>
            <a:endParaRPr lang="en-US" sz="2400" dirty="0"/>
          </a:p>
          <a:p>
            <a:pPr marL="514350" indent="-514350">
              <a:buFont typeface="+mj-lt"/>
              <a:buAutoNum type="arabicPeriod"/>
            </a:pPr>
            <a:endParaRPr lang="en-US" sz="2400" dirty="0" smtClean="0"/>
          </a:p>
        </p:txBody>
      </p:sp>
      <p:pic>
        <p:nvPicPr>
          <p:cNvPr id="4" name="Picture 3"/>
          <p:cNvPicPr>
            <a:picLocks noChangeAspect="1" noChangeArrowheads="1"/>
          </p:cNvPicPr>
          <p:nvPr/>
        </p:nvPicPr>
        <p:blipFill>
          <a:blip r:embed="rId2"/>
          <a:srcRect/>
          <a:stretch>
            <a:fillRect/>
          </a:stretch>
        </p:blipFill>
        <p:spPr bwMode="auto">
          <a:xfrm>
            <a:off x="6981826" y="2"/>
            <a:ext cx="2162175" cy="2162175"/>
          </a:xfrm>
          <a:prstGeom prst="rect">
            <a:avLst/>
          </a:prstGeom>
          <a:noFill/>
          <a:ln w="9525">
            <a:noFill/>
            <a:miter lim="800000"/>
            <a:headEnd/>
            <a:tailEnd/>
          </a:ln>
          <a:effectLst/>
        </p:spPr>
      </p:pic>
      <p:sp>
        <p:nvSpPr>
          <p:cNvPr id="5" name="TextBox 4"/>
          <p:cNvSpPr txBox="1"/>
          <p:nvPr/>
        </p:nvSpPr>
        <p:spPr>
          <a:xfrm>
            <a:off x="545809" y="766735"/>
            <a:ext cx="4565737" cy="584775"/>
          </a:xfrm>
          <a:prstGeom prst="rect">
            <a:avLst/>
          </a:prstGeom>
          <a:noFill/>
        </p:spPr>
        <p:txBody>
          <a:bodyPr wrap="square" rtlCol="0">
            <a:spAutoFit/>
          </a:bodyPr>
          <a:lstStyle/>
          <a:p>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OBJECTIVES</a:t>
            </a:r>
            <a:endParaRPr lang="en-US" sz="3200" b="1" dirty="0">
              <a:solidFill>
                <a:schemeClr val="accent4">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smtClean="0"/>
              <a:t>Keywords</a:t>
            </a:r>
            <a:endParaRPr lang="en-US" b="1" dirty="0"/>
          </a:p>
        </p:txBody>
      </p:sp>
      <p:sp>
        <p:nvSpPr>
          <p:cNvPr id="3" name="Content Placeholder 2"/>
          <p:cNvSpPr>
            <a:spLocks noGrp="1"/>
          </p:cNvSpPr>
          <p:nvPr>
            <p:ph idx="1"/>
          </p:nvPr>
        </p:nvSpPr>
        <p:spPr>
          <a:xfrm>
            <a:off x="381000" y="990600"/>
            <a:ext cx="8229600" cy="5715000"/>
          </a:xfrm>
          <a:noFill/>
          <a:ln w="25400" cmpd="sng">
            <a:solidFill>
              <a:srgbClr val="C00000"/>
            </a:solidFill>
          </a:ln>
        </p:spPr>
        <p:txBody>
          <a:bodyPr>
            <a:noAutofit/>
          </a:bodyPr>
          <a:lstStyle/>
          <a:p>
            <a:pPr algn="just"/>
            <a:r>
              <a:rPr lang="en-US" sz="2000" b="1" dirty="0" smtClean="0"/>
              <a:t>Conformation</a:t>
            </a:r>
            <a:r>
              <a:rPr lang="en-US" sz="2000" dirty="0" smtClean="0"/>
              <a:t>  = the shape or structure of a compound or substance.</a:t>
            </a:r>
          </a:p>
          <a:p>
            <a:pPr algn="just"/>
            <a:r>
              <a:rPr lang="en-US" sz="2000" b="1" dirty="0" smtClean="0"/>
              <a:t>Repeating unit</a:t>
            </a:r>
            <a:r>
              <a:rPr lang="en-US" sz="2000" dirty="0" smtClean="0"/>
              <a:t> = the recurring structural unit on a polymer chain structure.</a:t>
            </a:r>
          </a:p>
          <a:p>
            <a:pPr algn="just"/>
            <a:r>
              <a:rPr lang="en-US" sz="2000" b="1" dirty="0" smtClean="0"/>
              <a:t>Monomer</a:t>
            </a:r>
            <a:r>
              <a:rPr lang="en-US" sz="2000" dirty="0" smtClean="0"/>
              <a:t> = the building block of polymers which usually stands as the recurring  unit (repeating unit).</a:t>
            </a:r>
          </a:p>
          <a:p>
            <a:pPr algn="just"/>
            <a:r>
              <a:rPr lang="en-US" sz="2000" b="1" dirty="0" smtClean="0"/>
              <a:t>Polymer</a:t>
            </a:r>
            <a:r>
              <a:rPr lang="en-US" sz="2000" dirty="0" smtClean="0"/>
              <a:t> = a giant molecule with heavy molecular weight, formed by the covalent linkages of thousands of small molecules called the monomers.</a:t>
            </a:r>
          </a:p>
          <a:p>
            <a:pPr algn="just"/>
            <a:r>
              <a:rPr lang="en-US" sz="2000" b="1" dirty="0" smtClean="0"/>
              <a:t>Chiral carbon</a:t>
            </a:r>
            <a:r>
              <a:rPr lang="en-US" sz="2000" dirty="0" smtClean="0"/>
              <a:t> = a tetrahedral carbon that is attached to four different groups.</a:t>
            </a:r>
          </a:p>
          <a:p>
            <a:pPr algn="just"/>
            <a:r>
              <a:rPr lang="en-US" sz="2000" b="1" dirty="0" smtClean="0"/>
              <a:t>Significance</a:t>
            </a:r>
            <a:r>
              <a:rPr lang="en-US" sz="2000" dirty="0" smtClean="0"/>
              <a:t> = importance</a:t>
            </a:r>
          </a:p>
          <a:p>
            <a:pPr algn="just"/>
            <a:r>
              <a:rPr lang="en-US" sz="2000" b="1" dirty="0" smtClean="0"/>
              <a:t>Biochemical functions</a:t>
            </a:r>
            <a:r>
              <a:rPr lang="en-US" sz="2000" dirty="0" smtClean="0"/>
              <a:t> = chemical processes that occur in living organisms e.g. photosynthesis.</a:t>
            </a:r>
          </a:p>
          <a:p>
            <a:pPr algn="just"/>
            <a:r>
              <a:rPr lang="en-US" sz="2000" b="1" dirty="0" smtClean="0"/>
              <a:t>Covalent bonding</a:t>
            </a:r>
            <a:r>
              <a:rPr lang="en-US" sz="2000" dirty="0" smtClean="0"/>
              <a:t> = a strong form of bond existing in a molecule, which is formed between two atoms or groups through electron - sharing.</a:t>
            </a:r>
          </a:p>
          <a:p>
            <a:pPr algn="just"/>
            <a:r>
              <a:rPr lang="en-US" sz="2000" b="1" dirty="0" smtClean="0"/>
              <a:t>Optical isomers </a:t>
            </a:r>
            <a:r>
              <a:rPr lang="en-US" sz="2000" dirty="0" smtClean="0"/>
              <a:t>= two molecules with same formula but can rotate plane of polarized light in opposite directions and are termed as D and L –isomers.</a:t>
            </a:r>
          </a:p>
          <a:p>
            <a:pPr algn="just"/>
            <a:endParaRPr lang="en-US" sz="2000" dirty="0" smtClean="0"/>
          </a:p>
          <a:p>
            <a:pPr algn="just"/>
            <a:endParaRPr lang="en-US" sz="20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INTRODUCTION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562600"/>
          </a:xfrm>
        </p:spPr>
        <p:txBody>
          <a:bodyPr>
            <a:noAutofit/>
          </a:bodyPr>
          <a:lstStyle/>
          <a:p>
            <a:pPr algn="just"/>
            <a:r>
              <a:rPr lang="en-US" sz="2400" dirty="0" smtClean="0">
                <a:solidFill>
                  <a:srgbClr val="080808"/>
                </a:solidFill>
              </a:rPr>
              <a:t>Macromolecules are large molecules, most of which are carbon compounds. </a:t>
            </a:r>
          </a:p>
          <a:p>
            <a:pPr algn="just"/>
            <a:endParaRPr lang="en-US" sz="2400" dirty="0" smtClean="0">
              <a:solidFill>
                <a:srgbClr val="080808"/>
              </a:solidFill>
            </a:endParaRPr>
          </a:p>
          <a:p>
            <a:pPr algn="just"/>
            <a:r>
              <a:rPr lang="en-US" sz="2400" dirty="0" smtClean="0">
                <a:solidFill>
                  <a:srgbClr val="080808"/>
                </a:solidFill>
              </a:rPr>
              <a:t>On the structural basis, macromolecules can be of two types:</a:t>
            </a:r>
          </a:p>
          <a:p>
            <a:pPr algn="just"/>
            <a:endParaRPr lang="en-US" sz="2400" dirty="0" smtClean="0">
              <a:solidFill>
                <a:srgbClr val="080808"/>
              </a:solidFill>
            </a:endParaRPr>
          </a:p>
          <a:p>
            <a:pPr marL="571500" indent="-571500" algn="just">
              <a:buFont typeface="+mj-lt"/>
              <a:buAutoNum type="arabicPeriod"/>
            </a:pPr>
            <a:r>
              <a:rPr lang="en-US" sz="2400" dirty="0" smtClean="0">
                <a:solidFill>
                  <a:srgbClr val="080808"/>
                </a:solidFill>
              </a:rPr>
              <a:t>Polymers: those giant molecules that are made up of multiple repeating units e.g. polyethylene.</a:t>
            </a:r>
          </a:p>
          <a:p>
            <a:pPr marL="571500" indent="-571500" algn="just">
              <a:buFont typeface="+mj-lt"/>
              <a:buAutoNum type="arabicPeriod"/>
            </a:pPr>
            <a:r>
              <a:rPr lang="en-US" sz="2400" dirty="0" smtClean="0">
                <a:solidFill>
                  <a:srgbClr val="080808"/>
                </a:solidFill>
              </a:rPr>
              <a:t>Macromolecules: those large molecules containing no repeating unit e.g. chlorophyll.</a:t>
            </a:r>
          </a:p>
          <a:p>
            <a:pPr marL="571500" indent="-571500" algn="just">
              <a:buFont typeface="+mj-lt"/>
              <a:buAutoNum type="arabicPeriod"/>
            </a:pPr>
            <a:endParaRPr lang="en-US" sz="2400" dirty="0" smtClean="0">
              <a:solidFill>
                <a:srgbClr val="080808"/>
              </a:solidFill>
            </a:endParaRPr>
          </a:p>
          <a:p>
            <a:pPr marL="571500" indent="-571500" algn="just">
              <a:buNone/>
            </a:pPr>
            <a:r>
              <a:rPr lang="en-US" sz="2400" dirty="0" smtClean="0">
                <a:solidFill>
                  <a:srgbClr val="080808"/>
                </a:solidFill>
              </a:rPr>
              <a:t>Thus polyethylene or polyethene as known otherwise, is simultaneously a polymer and macromolecule while chlorophyll is just a macromolecule but not a polymer.</a:t>
            </a:r>
          </a:p>
          <a:p>
            <a:pPr marL="571500" indent="-571500" algn="just">
              <a:buNone/>
            </a:pPr>
            <a:endParaRPr lang="en-US" sz="2400" dirty="0" smtClean="0">
              <a:solidFill>
                <a:srgbClr val="080808"/>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3"/>
          <a:srcRect/>
          <a:stretch>
            <a:fillRect/>
          </a:stretch>
        </p:blipFill>
        <p:spPr bwMode="auto">
          <a:xfrm>
            <a:off x="157163" y="347665"/>
            <a:ext cx="8829675" cy="61626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6096000"/>
          </a:xfrm>
        </p:spPr>
        <p:txBody>
          <a:bodyPr>
            <a:noAutofit/>
          </a:bodyPr>
          <a:lstStyle/>
          <a:p>
            <a:pPr algn="just"/>
            <a:r>
              <a:rPr lang="en-US" sz="2400" dirty="0" smtClean="0"/>
              <a:t>According to source of availability macromolecules occur both naturally and synthetically.</a:t>
            </a:r>
          </a:p>
          <a:p>
            <a:pPr algn="just"/>
            <a:endParaRPr lang="en-US" sz="2400" dirty="0" smtClean="0"/>
          </a:p>
          <a:p>
            <a:pPr marL="514350" indent="-514350" algn="just">
              <a:buFont typeface="+mj-lt"/>
              <a:buAutoNum type="arabicPeriod"/>
            </a:pPr>
            <a:r>
              <a:rPr lang="en-US" sz="2400" dirty="0" smtClean="0"/>
              <a:t>Natural macromolecules: Naturally occurring macromolecules are of great significance in nature as </a:t>
            </a:r>
            <a:r>
              <a:rPr lang="en-US" sz="2400" dirty="0"/>
              <a:t>t</a:t>
            </a:r>
            <a:r>
              <a:rPr lang="en-US" sz="2400" dirty="0" smtClean="0"/>
              <a:t>hey form part of living organisms carrying out some important biological functions within the body system (plants and animals) e.g. carbohydrates, lipids (fats and oils), proteins and nucleic acids (such as RNA and DNA). For example enzymes which catalyzes biochemical reactions are proteins.</a:t>
            </a:r>
          </a:p>
          <a:p>
            <a:pPr marL="514350" indent="-514350" algn="just">
              <a:buFont typeface="+mj-lt"/>
              <a:buAutoNum type="arabicPeriod"/>
            </a:pPr>
            <a:endParaRPr lang="en-US" sz="2400" dirty="0" smtClean="0"/>
          </a:p>
          <a:p>
            <a:pPr marL="514350" indent="-514350" algn="just">
              <a:buFont typeface="+mj-lt"/>
              <a:buAutoNum type="arabicPeriod"/>
            </a:pPr>
            <a:r>
              <a:rPr lang="en-US" sz="2400" dirty="0" smtClean="0"/>
              <a:t>Synthetic macromolecules:  These synthetic compounds are of great industrial significance and include materials like plastics, both thermoplastics and thermosetting materials such as bakelite, melamine and some polyester resins.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0" y="0"/>
            <a:ext cx="7772400" cy="1447800"/>
          </a:xfrm>
        </p:spPr>
        <p:txBody>
          <a:bodyPr>
            <a:normAutofit fontScale="90000"/>
          </a:bodyPr>
          <a:lstStyle/>
          <a:p>
            <a:pPr algn="ctr">
              <a:defRPr/>
            </a:pPr>
            <a:r>
              <a:rPr lang="en-US" altLang="en-US" sz="6000" b="1" dirty="0" smtClean="0"/>
              <a:t/>
            </a:r>
            <a:br>
              <a:rPr lang="en-US" altLang="en-US" sz="6000" b="1" dirty="0" smtClean="0"/>
            </a:br>
            <a:r>
              <a:rPr lang="en-US" altLang="en-US" sz="6000" b="1" dirty="0" smtClean="0"/>
              <a:t>Carbohydrates</a:t>
            </a:r>
            <a:br>
              <a:rPr lang="en-US" altLang="en-US" sz="6000" b="1" dirty="0" smtClean="0"/>
            </a:br>
            <a:endParaRPr lang="en-US" altLang="en-US" sz="6000" b="1" dirty="0" smtClean="0"/>
          </a:p>
        </p:txBody>
      </p:sp>
      <p:pic>
        <p:nvPicPr>
          <p:cNvPr id="5" name="Picture 7" descr="Picture 2"/>
          <p:cNvPicPr>
            <a:picLocks noChangeAspect="1" noChangeArrowheads="1"/>
          </p:cNvPicPr>
          <p:nvPr/>
        </p:nvPicPr>
        <p:blipFill>
          <a:blip r:embed="rId3"/>
          <a:srcRect/>
          <a:stretch>
            <a:fillRect/>
          </a:stretch>
        </p:blipFill>
        <p:spPr bwMode="auto">
          <a:xfrm>
            <a:off x="6400800" y="43988"/>
            <a:ext cx="2743200" cy="1861013"/>
          </a:xfrm>
          <a:prstGeom prst="rect">
            <a:avLst/>
          </a:prstGeom>
          <a:noFill/>
          <a:ln w="9525">
            <a:noFill/>
            <a:miter lim="800000"/>
            <a:headEnd/>
            <a:tailEnd/>
          </a:ln>
        </p:spPr>
      </p:pic>
      <p:sp>
        <p:nvSpPr>
          <p:cNvPr id="6" name="Content Placeholder 5"/>
          <p:cNvSpPr>
            <a:spLocks noGrp="1"/>
          </p:cNvSpPr>
          <p:nvPr>
            <p:ph idx="1"/>
          </p:nvPr>
        </p:nvSpPr>
        <p:spPr>
          <a:xfrm>
            <a:off x="152400" y="1219200"/>
            <a:ext cx="8915400" cy="5486400"/>
          </a:xfrm>
        </p:spPr>
        <p:txBody>
          <a:bodyPr>
            <a:normAutofit/>
          </a:bodyPr>
          <a:lstStyle/>
          <a:p>
            <a:pPr algn="just">
              <a:buNone/>
            </a:pPr>
            <a:endParaRPr lang="en-US" sz="2400" dirty="0" smtClean="0"/>
          </a:p>
          <a:p>
            <a:pPr algn="just"/>
            <a:r>
              <a:rPr lang="en-US" sz="2400" dirty="0" smtClean="0"/>
              <a:t>Carbohydrates are</a:t>
            </a:r>
            <a:r>
              <a:rPr lang="en-US" altLang="en-US" sz="2400" dirty="0" smtClean="0"/>
              <a:t> </a:t>
            </a:r>
            <a:r>
              <a:rPr lang="en-US" altLang="en-US" sz="2400" dirty="0" smtClean="0">
                <a:solidFill>
                  <a:srgbClr val="002060"/>
                </a:solidFill>
              </a:rPr>
              <a:t>polyhydroxy</a:t>
            </a:r>
            <a:r>
              <a:rPr lang="en-US" altLang="en-US" sz="2400" dirty="0" smtClean="0">
                <a:solidFill>
                  <a:schemeClr val="accent3">
                    <a:lumMod val="50000"/>
                  </a:schemeClr>
                </a:solidFill>
              </a:rPr>
              <a:t>aldehydes</a:t>
            </a:r>
            <a:r>
              <a:rPr lang="en-US" altLang="en-US" sz="2400" dirty="0" smtClean="0"/>
              <a:t>, </a:t>
            </a:r>
            <a:r>
              <a:rPr lang="en-US" altLang="en-US" sz="2400" dirty="0" smtClean="0">
                <a:solidFill>
                  <a:srgbClr val="002060"/>
                </a:solidFill>
              </a:rPr>
              <a:t>polyhydroxy</a:t>
            </a:r>
            <a:r>
              <a:rPr lang="en-US" altLang="en-US" sz="2400" dirty="0" smtClean="0">
                <a:solidFill>
                  <a:schemeClr val="accent3">
                    <a:lumMod val="50000"/>
                  </a:schemeClr>
                </a:solidFill>
              </a:rPr>
              <a:t>ketones</a:t>
            </a:r>
            <a:r>
              <a:rPr lang="en-US" altLang="en-US" sz="2400" dirty="0" smtClean="0"/>
              <a:t>, or any compound that gives either of these compounds after hydrolysis (e.g. sucrose). </a:t>
            </a:r>
            <a:r>
              <a:rPr lang="en-US" sz="2400" dirty="0" smtClean="0"/>
              <a:t>Carbohydrates or sugars have the general formula </a:t>
            </a:r>
            <a:r>
              <a:rPr lang="en-US" sz="2400" dirty="0" err="1" smtClean="0"/>
              <a:t>C</a:t>
            </a:r>
            <a:r>
              <a:rPr lang="en-US" sz="2400" baseline="-25000" dirty="0" err="1" smtClean="0"/>
              <a:t>n</a:t>
            </a:r>
            <a:r>
              <a:rPr lang="en-US" sz="2400" dirty="0" smtClean="0"/>
              <a:t>(H</a:t>
            </a:r>
            <a:r>
              <a:rPr lang="en-US" sz="2400" baseline="-25000" dirty="0" smtClean="0"/>
              <a:t>2</a:t>
            </a:r>
            <a:r>
              <a:rPr lang="en-US" sz="2400" dirty="0" smtClean="0"/>
              <a:t>O)</a:t>
            </a:r>
            <a:r>
              <a:rPr lang="en-US" sz="2400" baseline="-25000" dirty="0" smtClean="0"/>
              <a:t>n</a:t>
            </a:r>
            <a:r>
              <a:rPr lang="en-US" sz="2400" dirty="0" smtClean="0"/>
              <a:t> or C</a:t>
            </a:r>
            <a:r>
              <a:rPr lang="en-US" sz="2400" baseline="-25000" dirty="0" smtClean="0"/>
              <a:t>n</a:t>
            </a:r>
            <a:r>
              <a:rPr lang="en-US" sz="2400" dirty="0" smtClean="0"/>
              <a:t>H</a:t>
            </a:r>
            <a:r>
              <a:rPr lang="en-US" sz="2400" baseline="-25000" dirty="0" smtClean="0"/>
              <a:t>2n</a:t>
            </a:r>
            <a:r>
              <a:rPr lang="en-US" sz="2400" dirty="0" smtClean="0"/>
              <a:t>O</a:t>
            </a:r>
            <a:r>
              <a:rPr lang="en-US" sz="2400" baseline="-25000" dirty="0" smtClean="0"/>
              <a:t>n</a:t>
            </a:r>
            <a:r>
              <a:rPr lang="en-US" sz="2400" dirty="0" smtClean="0"/>
              <a:t> and as a result they are called hydrated carbon or as more commonly known , carbohydrates. </a:t>
            </a:r>
            <a:endParaRPr lang="en-US" altLang="en-US" sz="2400" dirty="0" smtClean="0"/>
          </a:p>
          <a:p>
            <a:pPr algn="just"/>
            <a:endParaRPr lang="en-US" altLang="en-US" sz="2400" dirty="0" smtClean="0"/>
          </a:p>
          <a:p>
            <a:pPr algn="just"/>
            <a:endParaRPr lang="en-US" altLang="en-US" sz="2400" dirty="0" smtClean="0"/>
          </a:p>
          <a:p>
            <a:pPr algn="just"/>
            <a:endParaRPr lang="en-US" altLang="en-US" sz="2400" dirty="0" smtClean="0"/>
          </a:p>
          <a:p>
            <a:pPr algn="just"/>
            <a:endParaRPr lang="en-US" altLang="en-US" sz="2400" dirty="0" smtClean="0"/>
          </a:p>
          <a:p>
            <a:pPr algn="just">
              <a:buNone/>
            </a:pPr>
            <a:endParaRPr lang="en-US" altLang="en-US" sz="2400" dirty="0" smtClean="0"/>
          </a:p>
          <a:p>
            <a:pPr algn="just"/>
            <a:r>
              <a:rPr lang="en-US" sz="2400" dirty="0" smtClean="0"/>
              <a:t>Carbohydrates are basically classified into monosaccharides, trisaccharides, oligosaccharides, and polysaccharides.</a:t>
            </a:r>
          </a:p>
          <a:p>
            <a:pPr algn="just"/>
            <a:endParaRPr lang="en-US" sz="2400" dirty="0" smtClean="0"/>
          </a:p>
          <a:p>
            <a:pPr algn="just"/>
            <a:endParaRPr lang="en-US" sz="2400" dirty="0" smtClean="0"/>
          </a:p>
          <a:p>
            <a:pPr>
              <a:buNone/>
            </a:pPr>
            <a:endParaRPr lang="en-IN" sz="2400" dirty="0" smtClean="0"/>
          </a:p>
        </p:txBody>
      </p:sp>
      <p:pic>
        <p:nvPicPr>
          <p:cNvPr id="39937" name="Picture 1"/>
          <p:cNvPicPr>
            <a:picLocks noChangeAspect="1" noChangeArrowheads="1"/>
          </p:cNvPicPr>
          <p:nvPr/>
        </p:nvPicPr>
        <p:blipFill>
          <a:blip r:embed="rId4"/>
          <a:srcRect/>
          <a:stretch>
            <a:fillRect/>
          </a:stretch>
        </p:blipFill>
        <p:spPr bwMode="auto">
          <a:xfrm>
            <a:off x="2286000" y="3668684"/>
            <a:ext cx="4572000" cy="19701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458200" cy="5257800"/>
          </a:xfrm>
          <a:ln w="25400" cmpd="sng">
            <a:solidFill>
              <a:srgbClr val="C00000"/>
            </a:solidFill>
          </a:ln>
        </p:spPr>
        <p:txBody>
          <a:bodyPr>
            <a:noAutofit/>
          </a:bodyPr>
          <a:lstStyle/>
          <a:p>
            <a:pPr marL="514350" indent="-514350" algn="just">
              <a:buFont typeface="+mj-lt"/>
              <a:buAutoNum type="arabicPeriod"/>
            </a:pPr>
            <a:endParaRPr lang="en-US" sz="2400" b="1" dirty="0" smtClean="0">
              <a:solidFill>
                <a:srgbClr val="080808"/>
              </a:solidFill>
            </a:endParaRPr>
          </a:p>
          <a:p>
            <a:pPr marL="514350" indent="-514350" algn="just">
              <a:buFont typeface="+mj-lt"/>
              <a:buAutoNum type="arabicPeriod"/>
            </a:pPr>
            <a:r>
              <a:rPr lang="en-US" sz="2400" b="1" dirty="0" smtClean="0">
                <a:solidFill>
                  <a:srgbClr val="080808"/>
                </a:solidFill>
              </a:rPr>
              <a:t>Monosaccharides:</a:t>
            </a:r>
            <a:r>
              <a:rPr lang="en-US" sz="2400" dirty="0" smtClean="0">
                <a:solidFill>
                  <a:srgbClr val="080808"/>
                </a:solidFill>
              </a:rPr>
              <a:t> a carbohydrate that contains only one monomer of simple sugar is called monosaccharide. </a:t>
            </a:r>
            <a:endParaRPr lang="en-US" sz="2400" b="1" dirty="0" smtClean="0">
              <a:solidFill>
                <a:srgbClr val="080808"/>
              </a:solidFill>
            </a:endParaRPr>
          </a:p>
          <a:p>
            <a:pPr marL="514350" indent="-514350" algn="just">
              <a:buFont typeface="+mj-lt"/>
              <a:buAutoNum type="arabicPeriod"/>
            </a:pPr>
            <a:r>
              <a:rPr lang="en-US" sz="2400" b="1" dirty="0" smtClean="0">
                <a:solidFill>
                  <a:srgbClr val="080808"/>
                </a:solidFill>
              </a:rPr>
              <a:t>Disaccharides:</a:t>
            </a:r>
            <a:r>
              <a:rPr lang="en-US" sz="2400" dirty="0" smtClean="0">
                <a:solidFill>
                  <a:srgbClr val="080808"/>
                </a:solidFill>
              </a:rPr>
              <a:t> a carbohydrate that contains two monosaccharides is called disaccharide. </a:t>
            </a:r>
          </a:p>
          <a:p>
            <a:pPr marL="514350" indent="-514350" algn="just">
              <a:buFont typeface="+mj-lt"/>
              <a:buAutoNum type="arabicPeriod"/>
            </a:pPr>
            <a:r>
              <a:rPr lang="en-US" sz="2400" b="1" dirty="0" smtClean="0">
                <a:solidFill>
                  <a:srgbClr val="080808"/>
                </a:solidFill>
              </a:rPr>
              <a:t>Trisaccharides:</a:t>
            </a:r>
            <a:r>
              <a:rPr lang="en-US" sz="2400" dirty="0" smtClean="0">
                <a:solidFill>
                  <a:srgbClr val="080808"/>
                </a:solidFill>
              </a:rPr>
              <a:t> a carbohydrate that contains three monosaccharides is called trisaccharide. </a:t>
            </a:r>
          </a:p>
          <a:p>
            <a:pPr marL="514350" indent="-514350" algn="just">
              <a:buFont typeface="+mj-lt"/>
              <a:buAutoNum type="arabicPeriod"/>
            </a:pPr>
            <a:r>
              <a:rPr lang="en-US" sz="2400" b="1" dirty="0" smtClean="0">
                <a:solidFill>
                  <a:srgbClr val="080808"/>
                </a:solidFill>
              </a:rPr>
              <a:t>Oligosaccharides:</a:t>
            </a:r>
            <a:r>
              <a:rPr lang="en-US" sz="2400" dirty="0" smtClean="0">
                <a:solidFill>
                  <a:srgbClr val="080808"/>
                </a:solidFill>
              </a:rPr>
              <a:t> those carbohydrates containing 4 to 10 monosaccharides are generally called oligosaccharides </a:t>
            </a:r>
          </a:p>
          <a:p>
            <a:pPr marL="514350" indent="-514350" algn="just">
              <a:buFont typeface="+mj-lt"/>
              <a:buAutoNum type="arabicPeriod"/>
            </a:pPr>
            <a:r>
              <a:rPr lang="en-US" sz="2400" b="1" dirty="0" smtClean="0">
                <a:solidFill>
                  <a:srgbClr val="080808"/>
                </a:solidFill>
              </a:rPr>
              <a:t>Polysaccharides:</a:t>
            </a:r>
            <a:r>
              <a:rPr lang="en-US" sz="2400" dirty="0" smtClean="0">
                <a:solidFill>
                  <a:srgbClr val="080808"/>
                </a:solidFill>
              </a:rPr>
              <a:t> those carbohydrates with large number of monosaccharide monomer units are termed as polysaccharides. Examples of polysaccharides include </a:t>
            </a:r>
            <a:r>
              <a:rPr lang="en-US" sz="2400" b="1" dirty="0" smtClean="0">
                <a:solidFill>
                  <a:srgbClr val="080808"/>
                </a:solidFill>
              </a:rPr>
              <a:t>starch </a:t>
            </a:r>
            <a:r>
              <a:rPr lang="en-US" sz="2400" dirty="0" smtClean="0">
                <a:solidFill>
                  <a:srgbClr val="080808"/>
                </a:solidFill>
              </a:rPr>
              <a:t>and </a:t>
            </a:r>
            <a:r>
              <a:rPr lang="en-US" sz="2400" b="1" dirty="0" smtClean="0">
                <a:solidFill>
                  <a:srgbClr val="080808"/>
                </a:solidFill>
              </a:rPr>
              <a:t>cellulose</a:t>
            </a:r>
            <a:r>
              <a:rPr lang="en-US" sz="2400" dirty="0" smtClean="0">
                <a:solidFill>
                  <a:srgbClr val="080808"/>
                </a:solidFill>
              </a:rPr>
              <a:t>. </a:t>
            </a:r>
            <a:endParaRPr lang="en-US" sz="2400" dirty="0">
              <a:solidFill>
                <a:srgbClr val="080808"/>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0" y="152400"/>
            <a:ext cx="8915400" cy="5562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en-US" sz="2400" b="0" i="0" u="none" strike="noStrike" kern="1200" cap="none" spc="0" normalizeH="0" baseline="0" noProof="0" dirty="0" smtClean="0">
                <a:ln>
                  <a:noFill/>
                </a:ln>
                <a:effectLst>
                  <a:outerShdw blurRad="38100" dist="38100" dir="2700000" algn="tl">
                    <a:srgbClr val="000000"/>
                  </a:outerShdw>
                </a:effectLst>
                <a:uLnTx/>
                <a:uFillTx/>
                <a:latin typeface="+mn-lt"/>
                <a:ea typeface="+mn-ea"/>
                <a:cs typeface="+mn-cs"/>
              </a:rPr>
              <a:t>Monosaccharide</a:t>
            </a:r>
            <a:r>
              <a:rPr kumimoji="0" lang="en-US" altLang="en-US" sz="2000" b="0" i="0" u="none" strike="noStrike" kern="1200" cap="none" spc="0" normalizeH="0" baseline="0" noProof="0" dirty="0" smtClean="0">
                <a:ln>
                  <a:noFill/>
                </a:ln>
                <a:effectLst>
                  <a:outerShdw blurRad="38100" dist="38100" dir="2700000" algn="tl">
                    <a:srgbClr val="000000"/>
                  </a:outerShdw>
                </a:effectLst>
                <a:uLnTx/>
                <a:uFillTx/>
                <a:latin typeface="+mn-lt"/>
                <a:ea typeface="+mn-ea"/>
                <a:cs typeface="+mn-cs"/>
              </a:rPr>
              <a:t>:</a:t>
            </a:r>
            <a:r>
              <a:rPr kumimoji="0" lang="en-US" altLang="en-US" sz="2000" b="0" i="0" u="none" strike="noStrike" kern="1200" cap="none" spc="0" normalizeH="0" baseline="0" noProof="0" dirty="0" smtClean="0">
                <a:ln>
                  <a:noFill/>
                </a:ln>
                <a:effectLst/>
                <a:uLnTx/>
                <a:uFillTx/>
                <a:latin typeface="+mn-lt"/>
                <a:ea typeface="+mn-ea"/>
                <a:cs typeface="+mn-cs"/>
              </a:rPr>
              <a:t> </a:t>
            </a:r>
          </a:p>
          <a:p>
            <a:pPr marL="0" lvl="1" algn="just">
              <a:buFont typeface="Arial" pitchFamily="34" charset="0"/>
              <a:buChar char="•"/>
            </a:pPr>
            <a:r>
              <a:rPr lang="en-US" sz="2000" dirty="0" smtClean="0"/>
              <a:t>Monosaccharides or simple sugars are the monomers from which more complex sugars such as sucrose and starch are produced. </a:t>
            </a:r>
            <a:r>
              <a:rPr lang="en-US" altLang="en-US" sz="2000" dirty="0" smtClean="0"/>
              <a:t>A monosaccharide is a carbohydrate that cannot be hydrolyzed to a simpler carbohydrate. They have the general formula </a:t>
            </a:r>
            <a:r>
              <a:rPr lang="en-US" altLang="en-US" sz="2000" dirty="0" smtClean="0">
                <a:solidFill>
                  <a:srgbClr val="1184AC"/>
                </a:solidFill>
                <a:effectLst>
                  <a:outerShdw blurRad="38100" dist="38100" dir="2700000" algn="tl">
                    <a:srgbClr val="000000"/>
                  </a:outerShdw>
                </a:effectLst>
              </a:rPr>
              <a:t>C</a:t>
            </a:r>
            <a:r>
              <a:rPr lang="en-US" altLang="en-US" sz="2000" baseline="-25000" dirty="0" smtClean="0">
                <a:solidFill>
                  <a:srgbClr val="1184AC"/>
                </a:solidFill>
                <a:effectLst>
                  <a:outerShdw blurRad="38100" dist="38100" dir="2700000" algn="tl">
                    <a:srgbClr val="000000"/>
                  </a:outerShdw>
                </a:effectLst>
              </a:rPr>
              <a:t>n</a:t>
            </a:r>
            <a:r>
              <a:rPr lang="en-US" altLang="en-US" sz="2000" dirty="0" smtClean="0">
                <a:solidFill>
                  <a:srgbClr val="1184AC"/>
                </a:solidFill>
                <a:effectLst>
                  <a:outerShdw blurRad="38100" dist="38100" dir="2700000" algn="tl">
                    <a:srgbClr val="000000"/>
                  </a:outerShdw>
                </a:effectLst>
              </a:rPr>
              <a:t>H</a:t>
            </a:r>
            <a:r>
              <a:rPr lang="en-US" altLang="en-US" sz="2000" baseline="-25000" dirty="0" smtClean="0">
                <a:solidFill>
                  <a:srgbClr val="1184AC"/>
                </a:solidFill>
                <a:effectLst>
                  <a:outerShdw blurRad="38100" dist="38100" dir="2700000" algn="tl">
                    <a:srgbClr val="000000"/>
                  </a:outerShdw>
                </a:effectLst>
              </a:rPr>
              <a:t>2n</a:t>
            </a:r>
            <a:r>
              <a:rPr lang="en-US" altLang="en-US" sz="2000" dirty="0" smtClean="0">
                <a:solidFill>
                  <a:srgbClr val="1184AC"/>
                </a:solidFill>
                <a:effectLst>
                  <a:outerShdw blurRad="38100" dist="38100" dir="2700000" algn="tl">
                    <a:srgbClr val="000000"/>
                  </a:outerShdw>
                </a:effectLst>
              </a:rPr>
              <a:t>O</a:t>
            </a:r>
            <a:r>
              <a:rPr lang="en-US" altLang="en-US" sz="2000" baseline="-25000" dirty="0" smtClean="0">
                <a:solidFill>
                  <a:srgbClr val="1184AC"/>
                </a:solidFill>
                <a:effectLst>
                  <a:outerShdw blurRad="38100" dist="38100" dir="2700000" algn="tl">
                    <a:srgbClr val="000000"/>
                  </a:outerShdw>
                </a:effectLst>
              </a:rPr>
              <a:t>n</a:t>
            </a:r>
            <a:r>
              <a:rPr lang="en-US" altLang="en-US" sz="2000" dirty="0" smtClean="0"/>
              <a:t>, where </a:t>
            </a:r>
            <a:r>
              <a:rPr lang="en-US" altLang="en-US" sz="2000" dirty="0" smtClean="0">
                <a:solidFill>
                  <a:srgbClr val="1184AC"/>
                </a:solidFill>
                <a:effectLst>
                  <a:outerShdw blurRad="38100" dist="38100" dir="2700000" algn="tl">
                    <a:srgbClr val="000000"/>
                  </a:outerShdw>
                </a:effectLst>
              </a:rPr>
              <a:t>n</a:t>
            </a:r>
            <a:r>
              <a:rPr lang="en-US" altLang="en-US" sz="2000" dirty="0" smtClean="0"/>
              <a:t> varies from 3 to 8.</a:t>
            </a:r>
          </a:p>
          <a:p>
            <a:pPr marL="0" lvl="1" algn="just">
              <a:buFont typeface="Arial" pitchFamily="34" charset="0"/>
              <a:buChar char="•"/>
            </a:pPr>
            <a:r>
              <a:rPr lang="en-US" sz="2000" dirty="0" smtClean="0"/>
              <a:t>The most commonly encountered monosaccharide is glucose (C</a:t>
            </a:r>
            <a:r>
              <a:rPr lang="en-US" sz="2000" baseline="-25000" dirty="0" smtClean="0"/>
              <a:t>6</a:t>
            </a:r>
            <a:r>
              <a:rPr lang="en-US" sz="2000" dirty="0" smtClean="0"/>
              <a:t>H</a:t>
            </a:r>
            <a:r>
              <a:rPr lang="en-US" sz="2000" baseline="-25000" dirty="0" smtClean="0"/>
              <a:t>12</a:t>
            </a:r>
            <a:r>
              <a:rPr lang="en-US" sz="2000" dirty="0" smtClean="0"/>
              <a:t>O</a:t>
            </a:r>
            <a:r>
              <a:rPr lang="en-US" sz="2000" baseline="-25000" dirty="0" smtClean="0"/>
              <a:t>6</a:t>
            </a:r>
            <a:r>
              <a:rPr lang="en-US" sz="2000" dirty="0" smtClean="0"/>
              <a:t>) also known as dextrose or blood sugar.</a:t>
            </a:r>
            <a:r>
              <a:rPr lang="en-US" sz="2000" b="1" dirty="0" smtClean="0"/>
              <a:t> </a:t>
            </a:r>
          </a:p>
          <a:p>
            <a:pPr marL="0" lvl="1" algn="just">
              <a:buFont typeface="Arial" pitchFamily="34" charset="0"/>
              <a:buChar char="•"/>
            </a:pPr>
            <a:r>
              <a:rPr lang="en-US" sz="2000" dirty="0" smtClean="0"/>
              <a:t>Monosaccharides with aldehyde group are called aldoses while those with ketone group are termed as ketoses.</a:t>
            </a:r>
          </a:p>
          <a:p>
            <a:pPr marL="0" lvl="1" algn="just">
              <a:buFont typeface="Arial" pitchFamily="34" charset="0"/>
              <a:buChar char="•"/>
            </a:pPr>
            <a:r>
              <a:rPr lang="en-US" sz="2000" dirty="0" smtClean="0"/>
              <a:t>Besides aldehyde and ketone forms, these saccharides can also exist in a cyclic form.</a:t>
            </a:r>
          </a:p>
          <a:p>
            <a:pPr algn="just"/>
            <a:endParaRPr lang="en-US" altLang="en-US" sz="2000" dirty="0" smtClean="0"/>
          </a:p>
          <a:p>
            <a:pPr marL="742950" marR="0" lvl="1" indent="-285750" algn="just" defTabSz="914400" rtl="0" eaLnBrk="1" fontAlgn="auto" latinLnBrk="0" hangingPunct="1">
              <a:lnSpc>
                <a:spcPct val="100000"/>
              </a:lnSpc>
              <a:spcBef>
                <a:spcPct val="20000"/>
              </a:spcBef>
              <a:spcAft>
                <a:spcPts val="0"/>
              </a:spcAft>
              <a:buClrTx/>
              <a:buSzTx/>
              <a:tabLst/>
              <a:defRPr/>
            </a:pPr>
            <a:endParaRPr kumimoji="0" lang="en-US" altLang="en-US" sz="2000"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7" name="Picture 1"/>
          <p:cNvPicPr>
            <a:picLocks noChangeAspect="1" noChangeArrowheads="1"/>
          </p:cNvPicPr>
          <p:nvPr/>
        </p:nvPicPr>
        <p:blipFill>
          <a:blip r:embed="rId2"/>
          <a:srcRect/>
          <a:stretch>
            <a:fillRect/>
          </a:stretch>
        </p:blipFill>
        <p:spPr bwMode="auto">
          <a:xfrm>
            <a:off x="228599" y="3657600"/>
            <a:ext cx="4495801" cy="2978623"/>
          </a:xfrm>
          <a:prstGeom prst="rect">
            <a:avLst/>
          </a:prstGeom>
          <a:noFill/>
          <a:ln w="9525">
            <a:noFill/>
            <a:miter lim="800000"/>
            <a:headEnd/>
            <a:tailEnd/>
          </a:ln>
          <a:effectLst/>
        </p:spPr>
      </p:pic>
      <p:pic>
        <p:nvPicPr>
          <p:cNvPr id="9" name="Picture 2"/>
          <p:cNvPicPr>
            <a:picLocks noChangeAspect="1" noChangeArrowheads="1"/>
          </p:cNvPicPr>
          <p:nvPr/>
        </p:nvPicPr>
        <p:blipFill>
          <a:blip r:embed="rId3"/>
          <a:srcRect/>
          <a:stretch>
            <a:fillRect/>
          </a:stretch>
        </p:blipFill>
        <p:spPr bwMode="auto">
          <a:xfrm>
            <a:off x="4572000" y="3429000"/>
            <a:ext cx="4506686" cy="1752600"/>
          </a:xfrm>
          <a:prstGeom prst="rect">
            <a:avLst/>
          </a:prstGeom>
          <a:noFill/>
          <a:ln w="9525">
            <a:noFill/>
            <a:miter lim="800000"/>
            <a:headEnd/>
            <a:tailEnd/>
          </a:ln>
          <a:effectLst/>
        </p:spPr>
      </p:pic>
      <p:pic>
        <p:nvPicPr>
          <p:cNvPr id="10" name="Picture 4"/>
          <p:cNvPicPr>
            <a:picLocks noChangeAspect="1" noChangeArrowheads="1"/>
          </p:cNvPicPr>
          <p:nvPr/>
        </p:nvPicPr>
        <p:blipFill>
          <a:blip r:embed="rId4"/>
          <a:srcRect/>
          <a:stretch>
            <a:fillRect/>
          </a:stretch>
        </p:blipFill>
        <p:spPr bwMode="auto">
          <a:xfrm>
            <a:off x="4825440" y="5334000"/>
            <a:ext cx="4024646" cy="1269999"/>
          </a:xfrm>
          <a:prstGeom prst="rect">
            <a:avLst/>
          </a:prstGeom>
          <a:noFill/>
          <a:ln w="12700">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639" y="223459"/>
            <a:ext cx="7945460" cy="1325563"/>
          </a:xfrm>
        </p:spPr>
        <p:txBody>
          <a:bodyPr/>
          <a:lstStyle/>
          <a:p>
            <a:r>
              <a:rPr lang="en-US" dirty="0" smtClean="0"/>
              <a:t>The Cyclization Process</a:t>
            </a:r>
            <a:endParaRPr lang="en-US" dirty="0"/>
          </a:p>
        </p:txBody>
      </p:sp>
      <p:sp>
        <p:nvSpPr>
          <p:cNvPr id="3" name="Content Placeholder 2"/>
          <p:cNvSpPr>
            <a:spLocks noGrp="1"/>
          </p:cNvSpPr>
          <p:nvPr>
            <p:ph idx="1"/>
          </p:nvPr>
        </p:nvSpPr>
        <p:spPr>
          <a:xfrm>
            <a:off x="381000" y="1371602"/>
            <a:ext cx="8229600" cy="4525963"/>
          </a:xfrm>
        </p:spPr>
        <p:txBody>
          <a:bodyPr>
            <a:normAutofit/>
          </a:bodyPr>
          <a:lstStyle/>
          <a:p>
            <a:pPr algn="just"/>
            <a:r>
              <a:rPr lang="en-US" sz="2400" dirty="0" smtClean="0"/>
              <a:t>A reversible reaction occurs in which a hydrogen atom is moved from the hydroxyl group (-OH) to the carbonyl oxygen to form an ether bond between the two carbons involved.</a:t>
            </a:r>
          </a:p>
          <a:p>
            <a:pPr algn="just"/>
            <a:r>
              <a:rPr lang="en-US" sz="2400" dirty="0" smtClean="0"/>
              <a:t>In the process, a ring is also formed and carbon atom 1 becomes chiral. The chiral center can exist as either of two isomers, and the resulting stereoisomers are termed as alpha- or beta- form of structures.</a:t>
            </a:r>
          </a:p>
          <a:p>
            <a:pPr algn="just"/>
            <a:endParaRPr lang="en-US" sz="2400" dirty="0" smtClean="0"/>
          </a:p>
          <a:p>
            <a:pPr algn="just"/>
            <a:endParaRPr lang="en-US" sz="2400" b="1" dirty="0" smtClean="0"/>
          </a:p>
          <a:p>
            <a:pPr algn="just"/>
            <a:endParaRPr lang="en-US" sz="2400" dirty="0" smtClean="0"/>
          </a:p>
          <a:p>
            <a:pPr algn="just"/>
            <a:endParaRPr lang="en-US" sz="2400" dirty="0"/>
          </a:p>
        </p:txBody>
      </p:sp>
      <p:sp>
        <p:nvSpPr>
          <p:cNvPr id="4" name="Rectangle 3"/>
          <p:cNvSpPr/>
          <p:nvPr/>
        </p:nvSpPr>
        <p:spPr>
          <a:xfrm>
            <a:off x="3200400" y="4602541"/>
            <a:ext cx="5410200" cy="1569660"/>
          </a:xfrm>
          <a:prstGeom prst="rect">
            <a:avLst/>
          </a:prstGeom>
          <a:solidFill>
            <a:schemeClr val="bg1"/>
          </a:solidFill>
          <a:ln cmpd="sng">
            <a:solidFill>
              <a:schemeClr val="tx1"/>
            </a:solidFill>
          </a:ln>
        </p:spPr>
        <p:txBody>
          <a:bodyPr wrap="square">
            <a:spAutoFit/>
          </a:bodyPr>
          <a:lstStyle/>
          <a:p>
            <a:pPr algn="just"/>
            <a:r>
              <a:rPr lang="en-US" sz="2400" dirty="0" smtClean="0"/>
              <a:t>We can also notice from the linear form of glucose that carbon 2, 3, 4 and 5 each have four different groups attached to it and are therefore chiral carbons. </a:t>
            </a:r>
            <a:endParaRPr lang="en-US" sz="2400" dirty="0"/>
          </a:p>
        </p:txBody>
      </p:sp>
      <p:pic>
        <p:nvPicPr>
          <p:cNvPr id="91138" name="Picture 2"/>
          <p:cNvPicPr>
            <a:picLocks noChangeAspect="1" noChangeArrowheads="1"/>
          </p:cNvPicPr>
          <p:nvPr/>
        </p:nvPicPr>
        <p:blipFill>
          <a:blip r:embed="rId3"/>
          <a:srcRect/>
          <a:stretch>
            <a:fillRect/>
          </a:stretch>
        </p:blipFill>
        <p:spPr bwMode="auto">
          <a:xfrm>
            <a:off x="914400" y="4114800"/>
            <a:ext cx="1905000" cy="25019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2"/>
          <a:srcRect/>
          <a:stretch>
            <a:fillRect/>
          </a:stretch>
        </p:blipFill>
        <p:spPr bwMode="auto">
          <a:xfrm>
            <a:off x="838200" y="3016468"/>
            <a:ext cx="7772400" cy="3841532"/>
          </a:xfrm>
          <a:prstGeom prst="rect">
            <a:avLst/>
          </a:prstGeom>
          <a:noFill/>
          <a:ln w="9525">
            <a:noFill/>
            <a:miter lim="800000"/>
            <a:headEnd/>
            <a:tailEnd/>
          </a:ln>
          <a:effectLst/>
        </p:spPr>
      </p:pic>
      <p:sp>
        <p:nvSpPr>
          <p:cNvPr id="6" name="Content Placeholder 2"/>
          <p:cNvSpPr txBox="1">
            <a:spLocks/>
          </p:cNvSpPr>
          <p:nvPr/>
        </p:nvSpPr>
        <p:spPr>
          <a:xfrm>
            <a:off x="304800" y="533400"/>
            <a:ext cx="8229600" cy="1752600"/>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tabLst/>
              <a:defRPr/>
            </a:pPr>
            <a:r>
              <a:rPr kumimoji="0" lang="en-US" sz="2000" b="1" i="0" u="none" strike="noStrike" kern="1200" cap="none" spc="0" normalizeH="0" baseline="0" noProof="0" dirty="0" smtClean="0">
                <a:ln>
                  <a:noFill/>
                </a:ln>
                <a:solidFill>
                  <a:schemeClr val="tx1"/>
                </a:solidFill>
                <a:effectLst/>
                <a:uLnTx/>
                <a:uFillTx/>
                <a:latin typeface="+mn-lt"/>
                <a:ea typeface="+mn-ea"/>
                <a:cs typeface="+mn-cs"/>
              </a:rPr>
              <a:t>We can also explain the same glucose cyclization process</a:t>
            </a:r>
            <a:r>
              <a:rPr kumimoji="0" lang="en-US" sz="2000" b="1" i="0" u="none" strike="noStrike" kern="1200" cap="none" spc="0" normalizeH="0" noProof="0" dirty="0" smtClean="0">
                <a:ln>
                  <a:noFill/>
                </a:ln>
                <a:solidFill>
                  <a:schemeClr val="tx1"/>
                </a:solidFill>
                <a:effectLst/>
                <a:uLnTx/>
                <a:uFillTx/>
                <a:latin typeface="+mn-lt"/>
                <a:ea typeface="+mn-ea"/>
                <a:cs typeface="+mn-cs"/>
              </a:rPr>
              <a:t> using chair conformation.</a:t>
            </a:r>
            <a:endParaRPr lang="en-US" sz="2000" b="1" baseline="0" dirty="0" smtClean="0"/>
          </a:p>
          <a:p>
            <a:pPr marL="342900" marR="0" lvl="0" indent="-342900" algn="just" defTabSz="914400" rtl="0" eaLnBrk="1" fontAlgn="auto" latinLnBrk="0" hangingPunct="1">
              <a:lnSpc>
                <a:spcPct val="100000"/>
              </a:lnSpc>
              <a:spcBef>
                <a:spcPct val="20000"/>
              </a:spcBef>
              <a:spcAft>
                <a:spcPts val="0"/>
              </a:spcAft>
              <a:buClrTx/>
              <a:buSzTx/>
              <a:tabLst/>
              <a:defRPr/>
            </a:pPr>
            <a:r>
              <a:rPr kumimoji="0" lang="en-US" sz="2000" b="1" i="0" u="none" strike="noStrike" kern="1200" cap="none" spc="0" normalizeH="0" baseline="0" noProof="0" dirty="0" smtClean="0">
                <a:ln>
                  <a:noFill/>
                </a:ln>
                <a:solidFill>
                  <a:schemeClr val="tx1"/>
                </a:solidFill>
                <a:effectLst/>
                <a:uLnTx/>
                <a:uFillTx/>
                <a:latin typeface="+mn-lt"/>
                <a:ea typeface="+mn-ea"/>
                <a:cs typeface="+mn-cs"/>
              </a:rPr>
              <a:t>(a) Shows glucose structure in its aldehyde form.</a:t>
            </a:r>
          </a:p>
          <a:p>
            <a:pPr marL="342900" marR="0" lvl="0" indent="-342900" algn="just" defTabSz="914400" rtl="0" eaLnBrk="1" fontAlgn="auto" latinLnBrk="0" hangingPunct="1">
              <a:lnSpc>
                <a:spcPct val="100000"/>
              </a:lnSpc>
              <a:spcBef>
                <a:spcPct val="20000"/>
              </a:spcBef>
              <a:spcAft>
                <a:spcPts val="0"/>
              </a:spcAft>
              <a:buClrTx/>
              <a:buSzTx/>
              <a:tabLst/>
              <a:defRPr/>
            </a:pPr>
            <a:r>
              <a:rPr kumimoji="0" lang="en-US" sz="2000" b="1" i="0" u="none" strike="noStrike" kern="1200" cap="none" spc="0" normalizeH="0" baseline="0" noProof="0" dirty="0" smtClean="0">
                <a:ln>
                  <a:noFill/>
                </a:ln>
                <a:solidFill>
                  <a:schemeClr val="tx1"/>
                </a:solidFill>
                <a:effectLst/>
                <a:uLnTx/>
                <a:uFillTx/>
                <a:latin typeface="+mn-lt"/>
                <a:ea typeface="+mn-ea"/>
                <a:cs typeface="+mn-cs"/>
              </a:rPr>
              <a:t>(b) Shows glucose molecule rotated into conformation that brings the hydroxyl group (-OH) of carbon 5 near aldehyde carbon. </a:t>
            </a:r>
          </a:p>
          <a:p>
            <a:pPr marL="342900" marR="0" lvl="0" indent="-342900" algn="just" defTabSz="914400" rtl="0" eaLnBrk="1" fontAlgn="auto" latinLnBrk="0" hangingPunct="1">
              <a:lnSpc>
                <a:spcPct val="100000"/>
              </a:lnSpc>
              <a:spcBef>
                <a:spcPct val="20000"/>
              </a:spcBef>
              <a:spcAft>
                <a:spcPts val="0"/>
              </a:spcAft>
              <a:buClrTx/>
              <a:buSzTx/>
              <a:tabLst/>
              <a:defRPr/>
            </a:pPr>
            <a:r>
              <a:rPr kumimoji="0" lang="en-US" sz="2000" b="1" i="0" u="none" strike="noStrike" kern="1200" cap="none" spc="0" normalizeH="0" baseline="0" noProof="0" dirty="0" smtClean="0">
                <a:ln>
                  <a:noFill/>
                </a:ln>
                <a:solidFill>
                  <a:schemeClr val="tx1"/>
                </a:solidFill>
                <a:effectLst/>
                <a:uLnTx/>
                <a:uFillTx/>
                <a:latin typeface="+mn-lt"/>
                <a:ea typeface="+mn-ea"/>
                <a:cs typeface="+mn-cs"/>
              </a:rPr>
              <a:t>(c) Shows the two cyclic forms of glucose</a:t>
            </a:r>
            <a:r>
              <a:rPr lang="en-US" sz="2000" b="1" dirty="0" smtClean="0"/>
              <a:t> with </a:t>
            </a:r>
            <a:r>
              <a:rPr kumimoji="0" lang="en-US" sz="2000" b="1" i="0" u="none" strike="noStrike" kern="1200" cap="none" spc="0" normalizeH="0" baseline="0" noProof="0" dirty="0" smtClean="0">
                <a:ln>
                  <a:noFill/>
                </a:ln>
                <a:solidFill>
                  <a:schemeClr val="tx1"/>
                </a:solidFill>
                <a:effectLst/>
                <a:uLnTx/>
                <a:uFillTx/>
                <a:latin typeface="+mn-lt"/>
                <a:ea typeface="+mn-ea"/>
                <a:cs typeface="+mn-cs"/>
              </a:rPr>
              <a:t>(</a:t>
            </a:r>
            <a:r>
              <a:rPr kumimoji="0" lang="en-US" sz="2000" b="1" i="0" u="none" strike="noStrike" kern="1200" cap="none" spc="0" normalizeH="0" baseline="0" noProof="0" dirty="0" err="1" smtClean="0">
                <a:ln>
                  <a:noFill/>
                </a:ln>
                <a:solidFill>
                  <a:schemeClr val="tx1"/>
                </a:solidFill>
                <a:effectLst/>
                <a:uLnTx/>
                <a:uFillTx/>
                <a:latin typeface="+mn-lt"/>
                <a:ea typeface="+mn-ea"/>
                <a:cs typeface="+mn-cs"/>
              </a:rPr>
              <a:t>i</a:t>
            </a:r>
            <a:r>
              <a:rPr kumimoji="0" lang="en-US" sz="2000" b="1" i="0" u="none" strike="noStrike" kern="1200" cap="none" spc="0" normalizeH="0" baseline="0" noProof="0" dirty="0" smtClean="0">
                <a:ln>
                  <a:noFill/>
                </a:ln>
                <a:solidFill>
                  <a:schemeClr val="tx1"/>
                </a:solidFill>
                <a:effectLst/>
                <a:uLnTx/>
                <a:uFillTx/>
                <a:latin typeface="+mn-lt"/>
                <a:ea typeface="+mn-ea"/>
                <a:cs typeface="+mn-cs"/>
              </a:rPr>
              <a:t>) –OH at axial position,</a:t>
            </a:r>
            <a:r>
              <a:rPr kumimoji="0" lang="en-US" sz="2000" b="1" i="0" u="none" strike="noStrike" kern="1200" cap="none" spc="0" normalizeH="0" noProof="0" dirty="0" smtClean="0">
                <a:ln>
                  <a:noFill/>
                </a:ln>
                <a:solidFill>
                  <a:schemeClr val="tx1"/>
                </a:solidFill>
                <a:effectLst/>
                <a:uLnTx/>
                <a:uFillTx/>
                <a:latin typeface="+mn-lt"/>
                <a:ea typeface="+mn-ea"/>
                <a:cs typeface="+mn-cs"/>
              </a:rPr>
              <a:t> a</a:t>
            </a:r>
            <a:r>
              <a:rPr kumimoji="0" lang="en-US" sz="2000" b="1" i="0" u="none" strike="noStrike" kern="1200" cap="none" spc="0" normalizeH="0" baseline="0" noProof="0" dirty="0" smtClean="0">
                <a:ln>
                  <a:noFill/>
                </a:ln>
                <a:solidFill>
                  <a:schemeClr val="tx1"/>
                </a:solidFill>
                <a:effectLst/>
                <a:uLnTx/>
                <a:uFillTx/>
                <a:latin typeface="+mn-lt"/>
                <a:ea typeface="+mn-ea"/>
                <a:cs typeface="+mn-cs"/>
              </a:rPr>
              <a:t>nd (ii)  -OH at equatorial (horizontal) position.</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0" y="533400"/>
            <a:ext cx="8915400" cy="5562600"/>
          </a:xfrm>
          <a:prstGeom prst="rect">
            <a:avLst/>
          </a:prstGeom>
          <a:noFill/>
        </p:spPr>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Another</a:t>
            </a:r>
            <a:r>
              <a:rPr kumimoji="0" lang="en-US" altLang="en-US" sz="2400" b="0" i="0" u="none" strike="noStrike" kern="1200" cap="none" spc="0" normalizeH="0" noProof="0" dirty="0" smtClean="0">
                <a:ln>
                  <a:noFill/>
                </a:ln>
                <a:solidFill>
                  <a:schemeClr val="tx1"/>
                </a:solidFill>
                <a:effectLst/>
                <a:uLnTx/>
                <a:uFillTx/>
                <a:latin typeface="+mn-lt"/>
                <a:ea typeface="+mn-ea"/>
                <a:cs typeface="+mn-cs"/>
              </a:rPr>
              <a:t> criterion followed for the classification of</a:t>
            </a:r>
            <a:r>
              <a:rPr lang="en-US" altLang="en-US" sz="2400" dirty="0" smtClean="0"/>
              <a:t> m</a:t>
            </a:r>
            <a:r>
              <a:rPr kumimoji="0" lang="en-US" altLang="en-US" sz="2400" b="0" i="0" u="none" strike="noStrike" kern="1200" cap="none" spc="0" normalizeH="0" baseline="0" noProof="0" dirty="0" err="1" smtClean="0">
                <a:ln>
                  <a:noFill/>
                </a:ln>
                <a:solidFill>
                  <a:schemeClr val="tx1"/>
                </a:solidFill>
                <a:effectLst/>
                <a:uLnTx/>
                <a:uFillTx/>
                <a:latin typeface="+mn-lt"/>
                <a:ea typeface="+mn-ea"/>
                <a:cs typeface="+mn-cs"/>
              </a:rPr>
              <a:t>onosaccharide</a:t>
            </a:r>
            <a:r>
              <a:rPr lang="en-US" altLang="en-US" sz="2400" baseline="0" dirty="0" smtClean="0"/>
              <a:t>s</a:t>
            </a: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 is based upon the number of carbon atoms contained within such</a:t>
            </a:r>
            <a:r>
              <a:rPr kumimoji="0" lang="en-US" altLang="en-US" sz="2400" b="0" i="0" u="none" strike="noStrike" kern="1200" cap="none" spc="0" normalizeH="0" noProof="0" dirty="0" smtClean="0">
                <a:ln>
                  <a:noFill/>
                </a:ln>
                <a:solidFill>
                  <a:schemeClr val="tx1"/>
                </a:solidFill>
                <a:effectLst/>
                <a:uLnTx/>
                <a:uFillTx/>
                <a:latin typeface="+mn-lt"/>
                <a:ea typeface="+mn-ea"/>
                <a:cs typeface="+mn-cs"/>
              </a:rPr>
              <a:t> sugar molecules</a:t>
            </a: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a:t>
            </a:r>
          </a:p>
          <a:p>
            <a:pPr marL="342900" indent="-342900" algn="just">
              <a:spcBef>
                <a:spcPct val="20000"/>
              </a:spcBef>
              <a:buFont typeface="Arial" pitchFamily="34" charset="0"/>
              <a:buChar char="•"/>
              <a:defRPr/>
            </a:pPr>
            <a:r>
              <a:rPr lang="en-US" altLang="en-US" sz="2400" dirty="0" smtClean="0"/>
              <a:t>On this basis, compounds are simply referred to as trioses, tetroses, and so forth telling the number of carbon atoms present. </a:t>
            </a:r>
            <a:r>
              <a:rPr lang="en-US" sz="2400" dirty="0" smtClean="0"/>
              <a:t>However, the most important simple sugars contain either five or six carbon atoms. These sugars are generally referred to as pentoses and hexoses respectively.</a:t>
            </a:r>
            <a:endParaRPr lang="en-US" altLang="en-US" sz="2400" dirty="0" smtClean="0"/>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en-US" sz="2400"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6" name="Picture 4"/>
          <p:cNvPicPr>
            <a:picLocks noChangeAspect="1" noChangeArrowheads="1"/>
          </p:cNvPicPr>
          <p:nvPr/>
        </p:nvPicPr>
        <p:blipFill>
          <a:blip r:embed="rId2"/>
          <a:srcRect/>
          <a:stretch>
            <a:fillRect/>
          </a:stretch>
        </p:blipFill>
        <p:spPr bwMode="auto">
          <a:xfrm>
            <a:off x="533400" y="3810000"/>
            <a:ext cx="2565043" cy="2676567"/>
          </a:xfrm>
          <a:prstGeom prst="rect">
            <a:avLst/>
          </a:prstGeom>
          <a:noFill/>
          <a:ln w="12700">
            <a:noFill/>
            <a:miter lim="800000"/>
            <a:headEnd/>
            <a:tailEnd/>
          </a:ln>
        </p:spPr>
      </p:pic>
      <p:pic>
        <p:nvPicPr>
          <p:cNvPr id="4" name="Picture 6"/>
          <p:cNvPicPr>
            <a:picLocks noChangeAspect="1" noChangeArrowheads="1"/>
          </p:cNvPicPr>
          <p:nvPr/>
        </p:nvPicPr>
        <p:blipFill>
          <a:blip r:embed="rId3"/>
          <a:srcRect/>
          <a:stretch>
            <a:fillRect/>
          </a:stretch>
        </p:blipFill>
        <p:spPr bwMode="auto">
          <a:xfrm>
            <a:off x="3429000" y="3886200"/>
            <a:ext cx="5345894" cy="2133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2"/>
            <a:ext cx="8229600" cy="4525963"/>
          </a:xfrm>
        </p:spPr>
        <p:txBody>
          <a:bodyPr>
            <a:normAutofit/>
          </a:bodyPr>
          <a:lstStyle/>
          <a:p>
            <a:pPr lvl="0" algn="just"/>
            <a:r>
              <a:rPr lang="en-US" altLang="en-US" sz="2400" dirty="0" smtClean="0">
                <a:solidFill>
                  <a:srgbClr val="080808"/>
                </a:solidFill>
              </a:rPr>
              <a:t>Parts of the most abundant pentoses and hexoses include the following structures:</a:t>
            </a:r>
            <a:endParaRPr lang="en-US" sz="2400" dirty="0">
              <a:solidFill>
                <a:srgbClr val="080808"/>
              </a:solidFill>
            </a:endParaRPr>
          </a:p>
        </p:txBody>
      </p:sp>
      <p:pic>
        <p:nvPicPr>
          <p:cNvPr id="88067" name="Picture 3"/>
          <p:cNvPicPr>
            <a:picLocks noChangeAspect="1" noChangeArrowheads="1"/>
          </p:cNvPicPr>
          <p:nvPr/>
        </p:nvPicPr>
        <p:blipFill>
          <a:blip r:embed="rId2"/>
          <a:srcRect/>
          <a:stretch>
            <a:fillRect/>
          </a:stretch>
        </p:blipFill>
        <p:spPr bwMode="auto">
          <a:xfrm>
            <a:off x="2286000" y="1295400"/>
            <a:ext cx="4648200" cy="2707027"/>
          </a:xfrm>
          <a:prstGeom prst="rect">
            <a:avLst/>
          </a:prstGeom>
          <a:noFill/>
          <a:ln w="9525">
            <a:noFill/>
            <a:miter lim="800000"/>
            <a:headEnd/>
            <a:tailEnd/>
          </a:ln>
          <a:effectLst/>
        </p:spPr>
      </p:pic>
      <p:pic>
        <p:nvPicPr>
          <p:cNvPr id="88068" name="Picture 4"/>
          <p:cNvPicPr>
            <a:picLocks noChangeAspect="1" noChangeArrowheads="1"/>
          </p:cNvPicPr>
          <p:nvPr/>
        </p:nvPicPr>
        <p:blipFill>
          <a:blip r:embed="rId3"/>
          <a:srcRect/>
          <a:stretch>
            <a:fillRect/>
          </a:stretch>
        </p:blipFill>
        <p:spPr bwMode="auto">
          <a:xfrm>
            <a:off x="1451020" y="3660063"/>
            <a:ext cx="6629400" cy="304339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686800" cy="4520596"/>
          </a:xfrm>
        </p:spPr>
        <p:txBody>
          <a:bodyPr>
            <a:normAutofit/>
          </a:bodyPr>
          <a:lstStyle/>
          <a:p>
            <a:pPr algn="just">
              <a:defRPr/>
            </a:pPr>
            <a:r>
              <a:rPr lang="en-US" altLang="en-US" sz="2400" dirty="0" smtClean="0">
                <a:solidFill>
                  <a:srgbClr val="080808"/>
                </a:solidFill>
              </a:rPr>
              <a:t>In 1891, Emil Fischer made the arbitrary assignments of D- and L- to the enantiomers of glyceraldehyde as two</a:t>
            </a:r>
            <a:r>
              <a:rPr lang="en-US" sz="2400" dirty="0" smtClean="0">
                <a:solidFill>
                  <a:srgbClr val="080808"/>
                </a:solidFill>
              </a:rPr>
              <a:t> optical isomers can be found with each of such monosaccharide structures.</a:t>
            </a:r>
            <a:r>
              <a:rPr lang="en-US" altLang="en-US" sz="2400" dirty="0"/>
              <a:t> According to the conventions proposed by Fischer:</a:t>
            </a:r>
          </a:p>
          <a:p>
            <a:pPr lvl="1" algn="just">
              <a:defRPr/>
            </a:pPr>
            <a:r>
              <a:rPr lang="en-US" altLang="en-US" sz="2000" dirty="0">
                <a:solidFill>
                  <a:srgbClr val="1184AC"/>
                </a:solidFill>
                <a:effectLst>
                  <a:outerShdw blurRad="38100" dist="38100" dir="2700000" algn="tl">
                    <a:srgbClr val="000000"/>
                  </a:outerShdw>
                </a:effectLst>
              </a:rPr>
              <a:t>D-monosaccharide:</a:t>
            </a:r>
            <a:r>
              <a:rPr lang="en-US" altLang="en-US" sz="2000" dirty="0"/>
              <a:t> A monosaccharide that has the same configuration at its penultimate (next to bottom) carbon as D- glyceraldehyde; that is, its -OH is on the right when written as a Fischer projection. </a:t>
            </a:r>
          </a:p>
          <a:p>
            <a:pPr lvl="1" algn="just">
              <a:defRPr/>
            </a:pPr>
            <a:r>
              <a:rPr lang="en-US" altLang="en-US" sz="2000" dirty="0">
                <a:solidFill>
                  <a:srgbClr val="1184AC"/>
                </a:solidFill>
                <a:effectLst>
                  <a:outerShdw blurRad="38100" dist="38100" dir="2700000" algn="tl">
                    <a:srgbClr val="000000"/>
                  </a:outerShdw>
                </a:effectLst>
              </a:rPr>
              <a:t>L-monosaccharide:</a:t>
            </a:r>
            <a:r>
              <a:rPr lang="en-US" altLang="en-US" sz="2000" dirty="0"/>
              <a:t> A monosaccharide that has the same configuration at its penultimate carbon as L- glyceraldehyde; that is, its -OH is on the left when written as a Fischer projection.</a:t>
            </a:r>
          </a:p>
          <a:p>
            <a:pPr algn="just"/>
            <a:endParaRPr lang="en-US" sz="2400" dirty="0" smtClean="0">
              <a:solidFill>
                <a:srgbClr val="080808"/>
              </a:solidFill>
            </a:endParaRPr>
          </a:p>
        </p:txBody>
      </p:sp>
      <p:sp>
        <p:nvSpPr>
          <p:cNvPr id="5" name="Rectangle 2"/>
          <p:cNvSpPr>
            <a:spLocks noGrp="1" noChangeArrowheads="1"/>
          </p:cNvSpPr>
          <p:nvPr>
            <p:ph type="title"/>
          </p:nvPr>
        </p:nvSpPr>
        <p:spPr>
          <a:xfrm>
            <a:off x="457200" y="0"/>
            <a:ext cx="7886700" cy="1325563"/>
          </a:xfrm>
        </p:spPr>
        <p:txBody>
          <a:bodyPr/>
          <a:lstStyle/>
          <a:p>
            <a:pPr>
              <a:defRPr/>
            </a:pPr>
            <a:r>
              <a:rPr lang="en-US" altLang="en-US" b="1" dirty="0" smtClean="0"/>
              <a:t>D,L Monosaccharides</a:t>
            </a:r>
          </a:p>
        </p:txBody>
      </p:sp>
      <p:pic>
        <p:nvPicPr>
          <p:cNvPr id="4" name="Picture 3"/>
          <p:cNvPicPr>
            <a:picLocks noChangeAspect="1" noChangeArrowheads="1"/>
          </p:cNvPicPr>
          <p:nvPr/>
        </p:nvPicPr>
        <p:blipFill>
          <a:blip r:embed="rId2"/>
          <a:srcRect/>
          <a:stretch>
            <a:fillRect/>
          </a:stretch>
        </p:blipFill>
        <p:spPr bwMode="auto">
          <a:xfrm>
            <a:off x="2438400" y="4600575"/>
            <a:ext cx="4724400" cy="2257425"/>
          </a:xfrm>
          <a:prstGeom prst="rect">
            <a:avLst/>
          </a:prstGeom>
          <a:noFill/>
          <a:ln w="12700">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Disaccharides</a:t>
            </a:r>
            <a:endParaRPr lang="en-US" b="1" dirty="0"/>
          </a:p>
        </p:txBody>
      </p:sp>
      <p:sp>
        <p:nvSpPr>
          <p:cNvPr id="3" name="Content Placeholder 2"/>
          <p:cNvSpPr>
            <a:spLocks noGrp="1"/>
          </p:cNvSpPr>
          <p:nvPr>
            <p:ph idx="1"/>
          </p:nvPr>
        </p:nvSpPr>
        <p:spPr>
          <a:xfrm>
            <a:off x="457200" y="1600200"/>
            <a:ext cx="8382000" cy="4953000"/>
          </a:xfrm>
        </p:spPr>
        <p:txBody>
          <a:bodyPr>
            <a:noAutofit/>
          </a:bodyPr>
          <a:lstStyle/>
          <a:p>
            <a:pPr algn="just"/>
            <a:r>
              <a:rPr lang="en-US" sz="2400" dirty="0" smtClean="0"/>
              <a:t>A Disaccharide incorporates two monosaccharide molecules within its chemical structure. </a:t>
            </a:r>
          </a:p>
          <a:p>
            <a:pPr algn="just"/>
            <a:r>
              <a:rPr lang="en-US" sz="2400" dirty="0" smtClean="0"/>
              <a:t>The following combinations lead to formation of larger molecules, known  as disaccharides which form through what is known as glycosidic bond.</a:t>
            </a:r>
            <a:endParaRPr lang="en-US" sz="2400" dirty="0" smtClean="0">
              <a:solidFill>
                <a:srgbClr val="002060"/>
              </a:solidFill>
            </a:endParaRPr>
          </a:p>
          <a:p>
            <a:pPr marL="457200" indent="-457200">
              <a:buFont typeface="+mj-lt"/>
              <a:buAutoNum type="arabicPeriod"/>
            </a:pPr>
            <a:r>
              <a:rPr lang="en-US" sz="2400" dirty="0" smtClean="0">
                <a:solidFill>
                  <a:srgbClr val="002060"/>
                </a:solidFill>
              </a:rPr>
              <a:t>glucose + fructose = sucrose</a:t>
            </a:r>
          </a:p>
          <a:p>
            <a:pPr marL="457200" indent="-457200">
              <a:buFont typeface="+mj-lt"/>
              <a:buAutoNum type="arabicPeriod"/>
            </a:pPr>
            <a:r>
              <a:rPr lang="en-US" sz="2400" dirty="0" smtClean="0">
                <a:solidFill>
                  <a:srgbClr val="002060"/>
                </a:solidFill>
              </a:rPr>
              <a:t>glucose + glucose = maltose</a:t>
            </a:r>
          </a:p>
          <a:p>
            <a:pPr marL="457200" indent="-457200">
              <a:buFont typeface="+mj-lt"/>
              <a:buAutoNum type="arabicPeriod"/>
            </a:pPr>
            <a:r>
              <a:rPr lang="en-US" sz="2400" dirty="0" smtClean="0">
                <a:solidFill>
                  <a:srgbClr val="002060"/>
                </a:solidFill>
              </a:rPr>
              <a:t>glucose + galactose = lactose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457200" y="685802"/>
            <a:ext cx="8229600" cy="5440363"/>
          </a:xfrm>
        </p:spPr>
        <p:txBody>
          <a:bodyPr>
            <a:normAutofit fontScale="70000" lnSpcReduction="20000"/>
          </a:bodyPr>
          <a:lstStyle/>
          <a:p>
            <a:pPr algn="just"/>
            <a:r>
              <a:rPr lang="en-US" dirty="0" smtClean="0">
                <a:solidFill>
                  <a:srgbClr val="080808"/>
                </a:solidFill>
              </a:rPr>
              <a:t>Most of the naturally occurring carbohydrates contain more than one monosaccharide units.</a:t>
            </a:r>
          </a:p>
          <a:p>
            <a:pPr algn="just"/>
            <a:r>
              <a:rPr lang="en-US" dirty="0" smtClean="0">
                <a:solidFill>
                  <a:srgbClr val="080808"/>
                </a:solidFill>
              </a:rPr>
              <a:t>Complex sugars are formed when two or more monosaccharides are linked to develop a larger molecule.</a:t>
            </a:r>
          </a:p>
          <a:p>
            <a:pPr algn="just"/>
            <a:r>
              <a:rPr lang="en-US" dirty="0" smtClean="0">
                <a:solidFill>
                  <a:srgbClr val="080808"/>
                </a:solidFill>
              </a:rPr>
              <a:t>This linkage between each two monosaccharides occurs by the elimination of water molecule to form an ether bond (C-O) known as glycosidic bond.  For example, sucrose is formed from formation of glycosidic bond between alpha-glucose and beta-fructose.</a:t>
            </a:r>
          </a:p>
          <a:p>
            <a:pPr algn="just"/>
            <a:endParaRPr lang="en-US" dirty="0" smtClean="0">
              <a:solidFill>
                <a:srgbClr val="080808"/>
              </a:solidFill>
            </a:endParaRPr>
          </a:p>
          <a:p>
            <a:pPr algn="just"/>
            <a:r>
              <a:rPr lang="en-US" dirty="0" smtClean="0">
                <a:solidFill>
                  <a:srgbClr val="080808"/>
                </a:solidFill>
              </a:rPr>
              <a:t>Note: Fructose is a ketone - containing  monosaccharide that can exist in a  cyclic form. The cyclization involves carbon 2 and 5 instead of  1 and 5 since the carbonyl carbon (C=O) occurs as carbon two unlike in aldoses where carbonyl carbon (C=O) always maintains position 1.</a:t>
            </a:r>
          </a:p>
          <a:p>
            <a:pPr algn="just"/>
            <a:r>
              <a:rPr lang="en-US" dirty="0" smtClean="0">
                <a:solidFill>
                  <a:srgbClr val="080808"/>
                </a:solidFill>
              </a:rPr>
              <a:t>The C-O-C linkage in disaccharides that forms between two molecules of monosaccharides, involves carbon 1 or 2 of one monosaccharides and carbon 1, 2, 4, or 6 of the other monosaccharide.</a:t>
            </a:r>
          </a:p>
          <a:p>
            <a:pPr algn="just"/>
            <a:endParaRPr lang="en-US" dirty="0" smtClean="0">
              <a:solidFill>
                <a:srgbClr val="080808"/>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152400" y="533401"/>
            <a:ext cx="8839200" cy="1420249"/>
          </a:xfrm>
          <a:prstGeom prst="rect">
            <a:avLst/>
          </a:prstGeom>
          <a:noFill/>
          <a:ln w="9525">
            <a:noFill/>
            <a:miter lim="800000"/>
            <a:headEnd/>
            <a:tailEnd/>
          </a:ln>
        </p:spPr>
        <p:txBody>
          <a:bodyPr lIns="17457" tIns="17457" rIns="17457" bIns="17457" anchor="ctr">
            <a:spAutoFit/>
          </a:bodyPr>
          <a:lstStyle/>
          <a:p>
            <a:pPr algn="just"/>
            <a:r>
              <a:rPr lang="en-US" sz="2400" dirty="0">
                <a:solidFill>
                  <a:srgbClr val="221601"/>
                </a:solidFill>
              </a:rPr>
              <a:t>The three common disaccharides </a:t>
            </a:r>
            <a:r>
              <a:rPr lang="en-US" sz="2400" dirty="0" smtClean="0">
                <a:solidFill>
                  <a:srgbClr val="221601"/>
                </a:solidFill>
              </a:rPr>
              <a:t>include </a:t>
            </a:r>
            <a:r>
              <a:rPr lang="en-US" sz="2400" b="1" i="1" dirty="0" smtClean="0">
                <a:solidFill>
                  <a:srgbClr val="CC0000"/>
                </a:solidFill>
              </a:rPr>
              <a:t>lactose</a:t>
            </a:r>
            <a:r>
              <a:rPr lang="en-US" sz="2400" dirty="0" smtClean="0">
                <a:solidFill>
                  <a:srgbClr val="221601"/>
                </a:solidFill>
              </a:rPr>
              <a:t>, </a:t>
            </a:r>
            <a:r>
              <a:rPr lang="en-US" sz="2400" b="1" i="1" dirty="0" smtClean="0">
                <a:solidFill>
                  <a:srgbClr val="CC0000"/>
                </a:solidFill>
              </a:rPr>
              <a:t>sucrose</a:t>
            </a:r>
            <a:r>
              <a:rPr lang="en-US" sz="2400" i="1" dirty="0" smtClean="0">
                <a:solidFill>
                  <a:srgbClr val="CC0000"/>
                </a:solidFill>
              </a:rPr>
              <a:t> </a:t>
            </a:r>
            <a:r>
              <a:rPr lang="en-US" sz="2400" dirty="0">
                <a:solidFill>
                  <a:srgbClr val="221601"/>
                </a:solidFill>
              </a:rPr>
              <a:t>and </a:t>
            </a:r>
            <a:r>
              <a:rPr lang="en-US" sz="2400" b="1" i="1" dirty="0">
                <a:solidFill>
                  <a:srgbClr val="CC0000"/>
                </a:solidFill>
              </a:rPr>
              <a:t>maltose</a:t>
            </a:r>
            <a:r>
              <a:rPr lang="en-US" sz="2400" dirty="0">
                <a:solidFill>
                  <a:srgbClr val="221601"/>
                </a:solidFill>
              </a:rPr>
              <a:t> </a:t>
            </a:r>
            <a:r>
              <a:rPr lang="en-US" sz="2400" dirty="0" smtClean="0">
                <a:solidFill>
                  <a:srgbClr val="221601"/>
                </a:solidFill>
              </a:rPr>
              <a:t>all of which have the </a:t>
            </a:r>
            <a:r>
              <a:rPr lang="en-US" sz="2400" dirty="0">
                <a:solidFill>
                  <a:srgbClr val="221601"/>
                </a:solidFill>
              </a:rPr>
              <a:t>same molecular formula but </a:t>
            </a:r>
            <a:r>
              <a:rPr lang="en-US" sz="2400" dirty="0" smtClean="0">
                <a:solidFill>
                  <a:srgbClr val="221601"/>
                </a:solidFill>
              </a:rPr>
              <a:t>differ </a:t>
            </a:r>
            <a:r>
              <a:rPr lang="en-US" sz="2400" dirty="0">
                <a:solidFill>
                  <a:srgbClr val="221601"/>
                </a:solidFill>
              </a:rPr>
              <a:t>in their formula structure</a:t>
            </a:r>
            <a:r>
              <a:rPr lang="en-US" sz="2400" dirty="0" smtClean="0">
                <a:solidFill>
                  <a:srgbClr val="221601"/>
                </a:solidFill>
              </a:rPr>
              <a:t>.</a:t>
            </a:r>
            <a:endParaRPr lang="en-US" sz="2400" dirty="0">
              <a:solidFill>
                <a:srgbClr val="221601"/>
              </a:solidFill>
            </a:endParaRPr>
          </a:p>
          <a:p>
            <a:pPr algn="just"/>
            <a:r>
              <a:rPr lang="en-US" dirty="0">
                <a:solidFill>
                  <a:srgbClr val="221601"/>
                </a:solidFill>
                <a:latin typeface="Times New Roman" pitchFamily="18" charset="0"/>
              </a:rPr>
              <a:t>                                                    </a:t>
            </a:r>
          </a:p>
        </p:txBody>
      </p:sp>
      <p:pic>
        <p:nvPicPr>
          <p:cNvPr id="8" name="Picture 5" descr="disaccharides"/>
          <p:cNvPicPr>
            <a:picLocks noChangeAspect="1" noChangeArrowheads="1"/>
          </p:cNvPicPr>
          <p:nvPr/>
        </p:nvPicPr>
        <p:blipFill>
          <a:blip r:embed="rId2"/>
          <a:srcRect/>
          <a:stretch>
            <a:fillRect/>
          </a:stretch>
        </p:blipFill>
        <p:spPr bwMode="auto">
          <a:xfrm>
            <a:off x="1828800" y="1676400"/>
            <a:ext cx="5284198" cy="2431511"/>
          </a:xfrm>
          <a:prstGeom prst="rect">
            <a:avLst/>
          </a:prstGeom>
          <a:noFill/>
          <a:ln w="50800">
            <a:solidFill>
              <a:srgbClr val="CC0000"/>
            </a:solidFill>
            <a:miter lim="800000"/>
            <a:headEnd/>
            <a:tailEnd/>
          </a:ln>
        </p:spPr>
      </p:pic>
      <p:sp>
        <p:nvSpPr>
          <p:cNvPr id="4" name="Rectangle 3"/>
          <p:cNvSpPr/>
          <p:nvPr/>
        </p:nvSpPr>
        <p:spPr>
          <a:xfrm>
            <a:off x="0" y="4267200"/>
            <a:ext cx="9144000" cy="923330"/>
          </a:xfrm>
          <a:prstGeom prst="rect">
            <a:avLst/>
          </a:prstGeom>
        </p:spPr>
        <p:txBody>
          <a:bodyPr wrap="square">
            <a:spAutoFit/>
          </a:bodyPr>
          <a:lstStyle/>
          <a:p>
            <a:pPr lvl="0" algn="just">
              <a:defRPr/>
            </a:pPr>
            <a:r>
              <a:rPr lang="en-US" dirty="0"/>
              <a:t>This is to say that disaccharide can always be hydrolyzed back to the individual monomer units from which the sugars are made. In other words, disaccharides </a:t>
            </a:r>
            <a:r>
              <a:rPr lang="en-US" altLang="en-US" dirty="0"/>
              <a:t>can be hydrolyzed (addition of water molecule) into a simpler carbohydrate.</a:t>
            </a:r>
          </a:p>
        </p:txBody>
      </p:sp>
      <p:pic>
        <p:nvPicPr>
          <p:cNvPr id="5" name="Picture 1"/>
          <p:cNvPicPr>
            <a:picLocks noChangeAspect="1" noChangeArrowheads="1"/>
          </p:cNvPicPr>
          <p:nvPr/>
        </p:nvPicPr>
        <p:blipFill>
          <a:blip r:embed="rId3"/>
          <a:srcRect/>
          <a:stretch>
            <a:fillRect/>
          </a:stretch>
        </p:blipFill>
        <p:spPr bwMode="auto">
          <a:xfrm>
            <a:off x="2133600" y="5298356"/>
            <a:ext cx="4191000" cy="15596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51" name="Picture 7"/>
          <p:cNvPicPr>
            <a:picLocks noChangeAspect="1" noChangeArrowheads="1"/>
          </p:cNvPicPr>
          <p:nvPr/>
        </p:nvPicPr>
        <p:blipFill>
          <a:blip r:embed="rId3"/>
          <a:srcRect/>
          <a:stretch>
            <a:fillRect/>
          </a:stretch>
        </p:blipFill>
        <p:spPr bwMode="auto">
          <a:xfrm>
            <a:off x="990600" y="2895600"/>
            <a:ext cx="7162800" cy="3505199"/>
          </a:xfrm>
          <a:prstGeom prst="rect">
            <a:avLst/>
          </a:prstGeom>
          <a:noFill/>
          <a:ln w="9525">
            <a:noFill/>
            <a:miter lim="800000"/>
            <a:headEnd/>
            <a:tailEnd/>
          </a:ln>
          <a:effectLst/>
        </p:spPr>
      </p:pic>
      <p:sp>
        <p:nvSpPr>
          <p:cNvPr id="17" name="Text Box 7"/>
          <p:cNvSpPr txBox="1">
            <a:spLocks noChangeArrowheads="1"/>
          </p:cNvSpPr>
          <p:nvPr/>
        </p:nvSpPr>
        <p:spPr bwMode="auto">
          <a:xfrm>
            <a:off x="228600" y="381002"/>
            <a:ext cx="8610600" cy="3323987"/>
          </a:xfrm>
          <a:prstGeom prst="rect">
            <a:avLst/>
          </a:prstGeom>
          <a:noFill/>
          <a:ln w="9525">
            <a:noFill/>
            <a:miter lim="800000"/>
            <a:headEnd/>
            <a:tailEnd/>
          </a:ln>
          <a:effectLst/>
        </p:spPr>
        <p:txBody>
          <a:bodyPr>
            <a:spAutoFit/>
          </a:bodyPr>
          <a:lstStyle/>
          <a:p>
            <a:pPr algn="just">
              <a:spcBef>
                <a:spcPct val="50000"/>
              </a:spcBef>
              <a:defRPr/>
            </a:pPr>
            <a:r>
              <a:rPr lang="en-US" sz="2000" b="1" dirty="0" smtClean="0">
                <a:solidFill>
                  <a:srgbClr val="C00000"/>
                </a:solidFill>
              </a:rPr>
              <a:t>Sucrose</a:t>
            </a:r>
            <a:r>
              <a:rPr lang="en-US" sz="2000" dirty="0" smtClean="0"/>
              <a:t> </a:t>
            </a:r>
            <a:r>
              <a:rPr lang="en-US" sz="2000" dirty="0"/>
              <a:t>is a </a:t>
            </a:r>
            <a:r>
              <a:rPr lang="en-US" sz="2000" i="1" dirty="0"/>
              <a:t>common table sugar</a:t>
            </a:r>
            <a:r>
              <a:rPr lang="en-US" sz="2000" dirty="0"/>
              <a:t> which is a sweet white crystalline solid that is widely used  as </a:t>
            </a:r>
            <a:r>
              <a:rPr lang="en-US" sz="2000" i="1" dirty="0"/>
              <a:t>food additive</a:t>
            </a:r>
            <a:r>
              <a:rPr lang="en-US" sz="2000" dirty="0"/>
              <a:t>.</a:t>
            </a:r>
          </a:p>
          <a:p>
            <a:pPr algn="just">
              <a:spcBef>
                <a:spcPct val="50000"/>
              </a:spcBef>
              <a:defRPr/>
            </a:pPr>
            <a:r>
              <a:rPr lang="en-US" sz="2000" b="1" dirty="0" smtClean="0">
                <a:solidFill>
                  <a:srgbClr val="C00000"/>
                </a:solidFill>
              </a:rPr>
              <a:t>Sucrose </a:t>
            </a:r>
            <a:r>
              <a:rPr lang="en-US" sz="2000" dirty="0" smtClean="0"/>
              <a:t>is made up of the two simple sugars </a:t>
            </a:r>
            <a:r>
              <a:rPr lang="en-US" sz="2000" b="1" i="1" dirty="0" smtClean="0">
                <a:solidFill>
                  <a:srgbClr val="CC0000"/>
                </a:solidFill>
                <a:effectLst>
                  <a:outerShdw blurRad="38100" dist="38100" dir="2700000" algn="tl">
                    <a:srgbClr val="000000"/>
                  </a:outerShdw>
                </a:effectLst>
              </a:rPr>
              <a:t>glucose and fructose</a:t>
            </a:r>
            <a:r>
              <a:rPr lang="en-US" sz="2000" dirty="0" smtClean="0"/>
              <a:t> which are joined together by a chemical bond known as a glycosidic bond. </a:t>
            </a:r>
          </a:p>
          <a:p>
            <a:pPr algn="just">
              <a:spcBef>
                <a:spcPct val="50000"/>
              </a:spcBef>
              <a:defRPr/>
            </a:pPr>
            <a:r>
              <a:rPr lang="en-US" sz="2000" dirty="0" smtClean="0"/>
              <a:t>Note: when a hydroxyl group (-OH) in one monosaccharide reacts with another hydroxyl group of another monosaccharide a </a:t>
            </a:r>
            <a:r>
              <a:rPr lang="en-US" sz="2000" u="sng" dirty="0" smtClean="0"/>
              <a:t>glycosidic </a:t>
            </a:r>
            <a:r>
              <a:rPr lang="en-US" sz="2000" dirty="0" smtClean="0"/>
              <a:t>bond (C-O) is forms and the product is a </a:t>
            </a:r>
            <a:r>
              <a:rPr lang="en-US" sz="2000" u="sng" dirty="0" smtClean="0"/>
              <a:t>disaccharide</a:t>
            </a:r>
            <a:r>
              <a:rPr lang="en-US" sz="2000" dirty="0" smtClean="0"/>
              <a:t>.  However, this reaction is reversible through </a:t>
            </a:r>
            <a:r>
              <a:rPr lang="en-US" sz="2000" u="sng" dirty="0" smtClean="0"/>
              <a:t>hydrolysis</a:t>
            </a:r>
            <a:r>
              <a:rPr lang="en-US" sz="2000" dirty="0" smtClean="0"/>
              <a:t>.</a:t>
            </a:r>
          </a:p>
          <a:p>
            <a:pPr algn="just">
              <a:spcBef>
                <a:spcPct val="50000"/>
              </a:spcBef>
              <a:defRPr/>
            </a:pP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additive="base">
                                        <p:cTn id="7"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anim calcmode="lin" valueType="num">
                                      <p:cBhvr additive="base">
                                        <p:cTn id="13"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xEl>
                                              <p:pRg st="2" end="2"/>
                                            </p:txEl>
                                          </p:spTgt>
                                        </p:tgtEl>
                                        <p:attrNameLst>
                                          <p:attrName>style.visibility</p:attrName>
                                        </p:attrNameLst>
                                      </p:cBhvr>
                                      <p:to>
                                        <p:strVal val="visible"/>
                                      </p:to>
                                    </p:set>
                                    <p:anim calcmode="lin" valueType="num">
                                      <p:cBhvr additive="base">
                                        <p:cTn id="19"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1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srcRect/>
          <a:stretch>
            <a:fillRect/>
          </a:stretch>
        </p:blipFill>
        <p:spPr bwMode="auto">
          <a:xfrm>
            <a:off x="776288" y="23815"/>
            <a:ext cx="7591425" cy="68103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06362"/>
            <a:ext cx="8229600" cy="1189038"/>
          </a:xfrm>
        </p:spPr>
        <p:txBody>
          <a:bodyPr/>
          <a:lstStyle/>
          <a:p>
            <a:r>
              <a:rPr lang="en-US" b="1" dirty="0" smtClean="0">
                <a:latin typeface="Calibri Light" pitchFamily="34" charset="0"/>
                <a:cs typeface="Calibri Light" pitchFamily="34" charset="0"/>
              </a:rPr>
              <a:t>Starch</a:t>
            </a:r>
            <a:endParaRPr lang="en-US" b="1" dirty="0">
              <a:latin typeface="Calibri Light" pitchFamily="34" charset="0"/>
              <a:cs typeface="Calibri Light" pitchFamily="34" charset="0"/>
            </a:endParaRPr>
          </a:p>
        </p:txBody>
      </p:sp>
      <p:sp>
        <p:nvSpPr>
          <p:cNvPr id="3" name="Content Placeholder 2"/>
          <p:cNvSpPr>
            <a:spLocks noGrp="1"/>
          </p:cNvSpPr>
          <p:nvPr>
            <p:ph idx="1"/>
          </p:nvPr>
        </p:nvSpPr>
        <p:spPr>
          <a:xfrm>
            <a:off x="304800" y="1066802"/>
            <a:ext cx="8229600" cy="4525963"/>
          </a:xfrm>
        </p:spPr>
        <p:txBody>
          <a:bodyPr>
            <a:normAutofit fontScale="92500" lnSpcReduction="20000"/>
          </a:bodyPr>
          <a:lstStyle/>
          <a:p>
            <a:pPr algn="just"/>
            <a:r>
              <a:rPr lang="en-US" sz="2000" dirty="0" smtClean="0"/>
              <a:t>Starch is a polysaccharide with relative molecular mass of 15000 to 300,000 made up of repeating glucose units linked together to form a giant branched or unbranched molecule. Starch occur naturally in most plants as a storage carbohydrate for example in maize (corn), cassava, yam and cocoyam tuber, potatoes, rice, wheat barley and other cereals.</a:t>
            </a:r>
          </a:p>
          <a:p>
            <a:pPr algn="just"/>
            <a:endParaRPr lang="en-US" sz="2000" dirty="0" smtClean="0"/>
          </a:p>
          <a:p>
            <a:pPr algn="just"/>
            <a:r>
              <a:rPr lang="en-US" sz="2000" dirty="0" smtClean="0"/>
              <a:t>Starch contains entirely alpha (+)–glucose units linked via carbon 1 and carbon 4 atoms and/or carbon 1 and carbon 6 atoms. Starch does not reduce Fehling’s solution, Tollen’s reagent or ammoniacal silver(I)nitrate, nor does it form an osazone with phenyl hydrazine.</a:t>
            </a:r>
          </a:p>
          <a:p>
            <a:pPr algn="just"/>
            <a:endParaRPr lang="en-US" sz="2000" dirty="0" smtClean="0"/>
          </a:p>
          <a:p>
            <a:pPr algn="just"/>
            <a:r>
              <a:rPr lang="en-US" sz="2000" dirty="0" smtClean="0"/>
              <a:t>Starch forms an intense dark blue substance with iodine, and the colour disappears on warming but reappears on cooling. This provides a sensitive test for both iodine and starch.</a:t>
            </a:r>
          </a:p>
          <a:p>
            <a:pPr algn="just"/>
            <a:endParaRPr lang="en-US" sz="2000" dirty="0"/>
          </a:p>
          <a:p>
            <a:pPr algn="just"/>
            <a:r>
              <a:rPr lang="en-US" sz="2000" dirty="0" smtClean="0"/>
              <a:t>The relationship between mono-, </a:t>
            </a:r>
            <a:r>
              <a:rPr lang="en-US" sz="2000" dirty="0" err="1" smtClean="0"/>
              <a:t>di</a:t>
            </a:r>
            <a:r>
              <a:rPr lang="en-US" sz="2000" dirty="0" smtClean="0"/>
              <a:t>-, and poly-saccharides is represented by the chemical equation below:</a:t>
            </a:r>
          </a:p>
          <a:p>
            <a:pPr algn="just"/>
            <a:endParaRPr lang="en-US" sz="2000" dirty="0" smtClean="0"/>
          </a:p>
          <a:p>
            <a:pPr algn="just">
              <a:buNone/>
            </a:pPr>
            <a:endParaRPr lang="en-US" sz="2000" dirty="0" smtClean="0"/>
          </a:p>
          <a:p>
            <a:pPr algn="just"/>
            <a:endParaRPr lang="en-US" sz="2000" dirty="0" smtClean="0"/>
          </a:p>
          <a:p>
            <a:pPr algn="just"/>
            <a:endParaRPr lang="en-US" sz="2000" dirty="0" smtClean="0"/>
          </a:p>
          <a:p>
            <a:pPr algn="just"/>
            <a:endParaRPr lang="en-US" sz="2000" dirty="0"/>
          </a:p>
        </p:txBody>
      </p:sp>
      <p:pic>
        <p:nvPicPr>
          <p:cNvPr id="6" name="Picture 1"/>
          <p:cNvPicPr>
            <a:picLocks noChangeAspect="1" noChangeArrowheads="1"/>
          </p:cNvPicPr>
          <p:nvPr/>
        </p:nvPicPr>
        <p:blipFill>
          <a:blip r:embed="rId2"/>
          <a:srcRect/>
          <a:stretch>
            <a:fillRect/>
          </a:stretch>
        </p:blipFill>
        <p:spPr bwMode="auto">
          <a:xfrm>
            <a:off x="685800" y="5486400"/>
            <a:ext cx="7823915" cy="109825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srcRect/>
          <a:stretch>
            <a:fillRect/>
          </a:stretch>
        </p:blipFill>
        <p:spPr>
          <a:xfrm>
            <a:off x="-6350" y="4343400"/>
            <a:ext cx="9150350" cy="2233612"/>
          </a:xfrm>
          <a:prstGeom prst="rect">
            <a:avLst/>
          </a:prstGeom>
          <a:noFill/>
        </p:spPr>
      </p:pic>
      <p:pic>
        <p:nvPicPr>
          <p:cNvPr id="5122" name="Picture 2"/>
          <p:cNvPicPr>
            <a:picLocks noChangeAspect="1" noChangeArrowheads="1"/>
          </p:cNvPicPr>
          <p:nvPr/>
        </p:nvPicPr>
        <p:blipFill>
          <a:blip r:embed="rId3"/>
          <a:srcRect/>
          <a:stretch>
            <a:fillRect/>
          </a:stretch>
        </p:blipFill>
        <p:spPr bwMode="auto">
          <a:xfrm>
            <a:off x="-9525" y="2362200"/>
            <a:ext cx="3819525" cy="1485900"/>
          </a:xfrm>
          <a:prstGeom prst="rect">
            <a:avLst/>
          </a:prstGeom>
          <a:noFill/>
          <a:ln w="9525">
            <a:noFill/>
            <a:miter lim="800000"/>
            <a:headEnd/>
            <a:tailEnd/>
          </a:ln>
          <a:effectLst/>
        </p:spPr>
      </p:pic>
      <p:pic>
        <p:nvPicPr>
          <p:cNvPr id="5123" name="Picture 3"/>
          <p:cNvPicPr>
            <a:picLocks noChangeAspect="1" noChangeArrowheads="1"/>
          </p:cNvPicPr>
          <p:nvPr/>
        </p:nvPicPr>
        <p:blipFill>
          <a:blip r:embed="rId4"/>
          <a:srcRect/>
          <a:stretch>
            <a:fillRect/>
          </a:stretch>
        </p:blipFill>
        <p:spPr bwMode="auto">
          <a:xfrm>
            <a:off x="0" y="0"/>
            <a:ext cx="7429500" cy="2047875"/>
          </a:xfrm>
          <a:prstGeom prst="rect">
            <a:avLst/>
          </a:prstGeom>
          <a:noFill/>
          <a:ln w="9525">
            <a:noFill/>
            <a:miter lim="800000"/>
            <a:headEnd/>
            <a:tailEnd/>
          </a:ln>
          <a:effectLst/>
        </p:spPr>
      </p:pic>
      <p:pic>
        <p:nvPicPr>
          <p:cNvPr id="9" name="Picture 8"/>
          <p:cNvPicPr>
            <a:picLocks noChangeAspect="1" noChangeArrowheads="1"/>
          </p:cNvPicPr>
          <p:nvPr/>
        </p:nvPicPr>
        <p:blipFill>
          <a:blip r:embed="rId5">
            <a:grayscl/>
          </a:blip>
          <a:srcRect/>
          <a:stretch>
            <a:fillRect/>
          </a:stretch>
        </p:blipFill>
        <p:spPr bwMode="auto">
          <a:xfrm>
            <a:off x="3810000" y="2133600"/>
            <a:ext cx="5203671" cy="18676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PROTEINS AND PEPTIDES</a:t>
            </a:r>
            <a:endParaRPr lang="en-US" b="1" dirty="0"/>
          </a:p>
        </p:txBody>
      </p:sp>
      <p:sp>
        <p:nvSpPr>
          <p:cNvPr id="3" name="Content Placeholder 2"/>
          <p:cNvSpPr>
            <a:spLocks noGrp="1"/>
          </p:cNvSpPr>
          <p:nvPr>
            <p:ph idx="1"/>
          </p:nvPr>
        </p:nvSpPr>
        <p:spPr/>
        <p:txBody>
          <a:bodyPr>
            <a:normAutofit fontScale="55000" lnSpcReduction="20000"/>
          </a:bodyPr>
          <a:lstStyle/>
          <a:p>
            <a:pPr algn="just" eaLnBrk="0" hangingPunct="0">
              <a:spcBef>
                <a:spcPct val="50000"/>
              </a:spcBef>
              <a:buNone/>
              <a:defRPr/>
            </a:pPr>
            <a:r>
              <a:rPr lang="en-US" altLang="en-US" dirty="0" smtClean="0">
                <a:solidFill>
                  <a:srgbClr val="080808"/>
                </a:solidFill>
                <a:latin typeface="Times" charset="0"/>
              </a:rPr>
              <a:t> Amino Acids are the building units of proteins. Proteins  are polymers of amino acids linked together by what is called “ peptide bond”.</a:t>
            </a:r>
          </a:p>
          <a:p>
            <a:pPr algn="just" eaLnBrk="0" hangingPunct="0">
              <a:spcBef>
                <a:spcPct val="50000"/>
              </a:spcBef>
              <a:buNone/>
              <a:defRPr/>
            </a:pPr>
            <a:r>
              <a:rPr lang="en-US" altLang="en-US" dirty="0" smtClean="0">
                <a:solidFill>
                  <a:srgbClr val="080808"/>
                </a:solidFill>
                <a:latin typeface="Times" charset="0"/>
              </a:rPr>
              <a:t>Amino acids are recognized as monomers of both peptides  and polypeptides or proteins.</a:t>
            </a:r>
          </a:p>
          <a:p>
            <a:pPr algn="just"/>
            <a:r>
              <a:rPr lang="en-US" altLang="en-US" dirty="0" smtClean="0">
                <a:solidFill>
                  <a:srgbClr val="080808"/>
                </a:solidFill>
                <a:latin typeface="Times" charset="0"/>
              </a:rPr>
              <a:t>Two amino acids molecules can react through amide bond called the peptide bond to form a larger compound. A compound formed by the linkage of small number of amino acid is called peptide. Prefixes </a:t>
            </a:r>
            <a:r>
              <a:rPr lang="en-US" altLang="en-US" dirty="0" err="1" smtClean="0">
                <a:solidFill>
                  <a:srgbClr val="080808"/>
                </a:solidFill>
                <a:latin typeface="Times" charset="0"/>
              </a:rPr>
              <a:t>di</a:t>
            </a:r>
            <a:r>
              <a:rPr lang="en-US" altLang="en-US" dirty="0" smtClean="0">
                <a:solidFill>
                  <a:srgbClr val="080808"/>
                </a:solidFill>
                <a:latin typeface="Times" charset="0"/>
              </a:rPr>
              <a:t>-, tri-, tetra-, and so on could be used to indicate the number of amino acid monomer contained within peptides.</a:t>
            </a:r>
            <a:r>
              <a:rPr lang="en-US" dirty="0" smtClean="0"/>
              <a:t> Peptide bond forms when the acid group (COOH) of one amino acid joins with the amine group (NH</a:t>
            </a:r>
            <a:r>
              <a:rPr lang="en-US" baseline="-25000" dirty="0" smtClean="0"/>
              <a:t>2</a:t>
            </a:r>
            <a:r>
              <a:rPr lang="en-US" dirty="0" smtClean="0"/>
              <a:t>) of a second amino acid.</a:t>
            </a:r>
          </a:p>
          <a:p>
            <a:pPr algn="just">
              <a:buNone/>
            </a:pPr>
            <a:endParaRPr lang="en-US" dirty="0" smtClean="0"/>
          </a:p>
          <a:p>
            <a:pPr algn="just"/>
            <a:r>
              <a:rPr lang="en-US" b="1" dirty="0" smtClean="0">
                <a:solidFill>
                  <a:schemeClr val="accent2">
                    <a:lumMod val="75000"/>
                  </a:schemeClr>
                </a:solidFill>
              </a:rPr>
              <a:t>Formed</a:t>
            </a:r>
            <a:r>
              <a:rPr lang="en-US" dirty="0" smtClean="0"/>
              <a:t> through </a:t>
            </a:r>
            <a:r>
              <a:rPr lang="en-US" b="1" dirty="0" smtClean="0">
                <a:solidFill>
                  <a:schemeClr val="accent2">
                    <a:lumMod val="75000"/>
                  </a:schemeClr>
                </a:solidFill>
              </a:rPr>
              <a:t>condensation</a:t>
            </a:r>
            <a:r>
              <a:rPr lang="en-US" dirty="0" smtClean="0">
                <a:solidFill>
                  <a:srgbClr val="FF0000"/>
                </a:solidFill>
              </a:rPr>
              <a:t> </a:t>
            </a:r>
          </a:p>
          <a:p>
            <a:pPr algn="just"/>
            <a:r>
              <a:rPr lang="en-US" b="1" dirty="0" smtClean="0">
                <a:solidFill>
                  <a:schemeClr val="accent2">
                    <a:lumMod val="75000"/>
                  </a:schemeClr>
                </a:solidFill>
              </a:rPr>
              <a:t>Broken</a:t>
            </a:r>
            <a:r>
              <a:rPr lang="en-US" dirty="0" smtClean="0"/>
              <a:t> through </a:t>
            </a:r>
            <a:r>
              <a:rPr lang="en-US" b="1" dirty="0" smtClean="0">
                <a:solidFill>
                  <a:schemeClr val="accent2">
                    <a:lumMod val="75000"/>
                  </a:schemeClr>
                </a:solidFill>
              </a:rPr>
              <a:t>hydrolysis</a:t>
            </a:r>
          </a:p>
          <a:p>
            <a:pPr algn="just" eaLnBrk="0" hangingPunct="0">
              <a:spcBef>
                <a:spcPct val="50000"/>
              </a:spcBef>
              <a:buNone/>
              <a:defRPr/>
            </a:pPr>
            <a:endParaRPr lang="en-US" altLang="en-US" dirty="0" smtClean="0">
              <a:solidFill>
                <a:srgbClr val="080808"/>
              </a:solidFill>
              <a:latin typeface="Times" charset="0"/>
            </a:endParaRPr>
          </a:p>
          <a:p>
            <a:pPr algn="just" eaLnBrk="0" hangingPunct="0">
              <a:spcBef>
                <a:spcPct val="50000"/>
              </a:spcBef>
              <a:buNone/>
              <a:defRPr/>
            </a:pPr>
            <a:r>
              <a:rPr lang="en-US" altLang="en-US" dirty="0" smtClean="0">
                <a:solidFill>
                  <a:srgbClr val="080808"/>
                </a:solidFill>
                <a:latin typeface="Times" charset="0"/>
              </a:rPr>
              <a:t>However, when large number of amino acids linked to form a giant molecule, such molecules are referred to as proteins.</a:t>
            </a:r>
          </a:p>
          <a:p>
            <a:pPr algn="just" eaLnBrk="0" hangingPunct="0">
              <a:spcBef>
                <a:spcPct val="50000"/>
              </a:spcBef>
              <a:buNone/>
              <a:defRPr/>
            </a:pPr>
            <a:endParaRPr lang="en-US" altLang="en-US" dirty="0" smtClean="0">
              <a:solidFill>
                <a:srgbClr val="080808"/>
              </a:solidFill>
              <a:latin typeface="Times" charset="0"/>
            </a:endParaRPr>
          </a:p>
          <a:p>
            <a:pPr algn="just" eaLnBrk="0" hangingPunct="0">
              <a:spcBef>
                <a:spcPct val="50000"/>
              </a:spcBef>
              <a:buNone/>
              <a:defRPr/>
            </a:pPr>
            <a:endParaRPr lang="en-US" altLang="en-US" dirty="0" smtClean="0">
              <a:solidFill>
                <a:srgbClr val="080808"/>
              </a:solidFill>
              <a:latin typeface="Times" charset="0"/>
            </a:endParaRPr>
          </a:p>
          <a:p>
            <a:pPr algn="just" eaLnBrk="0" hangingPunct="0">
              <a:spcBef>
                <a:spcPct val="50000"/>
              </a:spcBef>
              <a:buNone/>
              <a:defRPr/>
            </a:pPr>
            <a:endParaRPr lang="en-US" altLang="en-US" u="sng" dirty="0" smtClean="0">
              <a:solidFill>
                <a:srgbClr val="080808"/>
              </a:solidFill>
              <a:latin typeface="Times" charset="0"/>
            </a:endParaRPr>
          </a:p>
          <a:p>
            <a:endParaRPr lang="en-US" dirty="0">
              <a:solidFill>
                <a:srgbClr val="080808"/>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0" y="304800"/>
            <a:ext cx="5817300" cy="1143000"/>
          </a:xfrm>
          <a:prstGeom prst="rect">
            <a:avLst/>
          </a:prstGeom>
        </p:spPr>
        <p:txBody>
          <a:bodyPr vert="horz" lIns="91440" tIns="45720" rIns="91440" bIns="45720" rtlCol="0" anchor="ctr">
            <a:normAutofit fontScale="82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4400" b="1" i="0" u="sng" strike="noStrike" kern="1200" cap="none" spc="0" normalizeH="0" baseline="0" noProof="0" dirty="0" smtClean="0">
                <a:ln>
                  <a:noFill/>
                </a:ln>
                <a:solidFill>
                  <a:srgbClr val="C00000"/>
                </a:solidFill>
                <a:effectLst/>
                <a:uLnTx/>
                <a:uFillTx/>
                <a:latin typeface="Times" charset="0"/>
                <a:ea typeface="+mj-ea"/>
                <a:cs typeface="+mj-cs"/>
              </a:rPr>
              <a:t>Structure of Amino Acids:</a:t>
            </a:r>
            <a:br>
              <a:rPr kumimoji="0" lang="en-US" altLang="en-US" sz="4400" b="1" i="0" u="sng" strike="noStrike" kern="1200" cap="none" spc="0" normalizeH="0" baseline="0" noProof="0" dirty="0" smtClean="0">
                <a:ln>
                  <a:noFill/>
                </a:ln>
                <a:solidFill>
                  <a:srgbClr val="C00000"/>
                </a:solidFill>
                <a:effectLst/>
                <a:uLnTx/>
                <a:uFillTx/>
                <a:latin typeface="Times" charset="0"/>
                <a:ea typeface="+mj-ea"/>
                <a:cs typeface="+mj-cs"/>
              </a:rPr>
            </a:b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6" name="Content Placeholder 2"/>
          <p:cNvSpPr txBox="1">
            <a:spLocks/>
          </p:cNvSpPr>
          <p:nvPr/>
        </p:nvSpPr>
        <p:spPr>
          <a:xfrm>
            <a:off x="55668" y="995143"/>
            <a:ext cx="5562600" cy="5862857"/>
          </a:xfrm>
          <a:prstGeom prst="rect">
            <a:avLst/>
          </a:prstGeom>
          <a:noFill/>
          <a:ln w="28575">
            <a:solidFill>
              <a:srgbClr val="C00000"/>
            </a:solidFill>
          </a:ln>
        </p:spPr>
        <p:txBody>
          <a:bodyPr vert="horz" lIns="91440" tIns="45720" rIns="91440" bIns="45720" rtlCol="0">
            <a:noAutofit/>
          </a:bodyPr>
          <a:lstStyle/>
          <a:p>
            <a:pPr marL="342900" marR="0" lvl="0" indent="-342900" algn="just" defTabSz="914400" rtl="0" eaLnBrk="0" fontAlgn="auto" latinLnBrk="0" hangingPunct="0">
              <a:lnSpc>
                <a:spcPct val="100000"/>
              </a:lnSpc>
              <a:spcBef>
                <a:spcPct val="50000"/>
              </a:spcBef>
              <a:spcAft>
                <a:spcPts val="0"/>
              </a:spcAft>
              <a:buClrTx/>
              <a:buSzTx/>
              <a:buFont typeface="Arial" pitchFamily="34" charset="0"/>
              <a:buNone/>
              <a:tabLst/>
              <a:defRPr/>
            </a:pPr>
            <a:r>
              <a:rPr kumimoji="0" lang="en-US" altLang="en-US" b="0" i="0" u="none" strike="noStrike" kern="1200" cap="none" spc="0" normalizeH="0" baseline="0" noProof="0" dirty="0" smtClean="0">
                <a:ln>
                  <a:noFill/>
                </a:ln>
                <a:solidFill>
                  <a:srgbClr val="080808"/>
                </a:solidFill>
                <a:effectLst/>
                <a:uLnTx/>
                <a:uFillTx/>
                <a:latin typeface="+mn-lt"/>
                <a:ea typeface="+mn-ea"/>
                <a:cs typeface="+mn-cs"/>
              </a:rPr>
              <a:t>There are about 300 amino acids occurring in nature. Only 20 of them occur in proteins. </a:t>
            </a:r>
            <a:r>
              <a:rPr kumimoji="0" lang="en-US" b="0" i="0" u="none" strike="noStrike" kern="1200" cap="none" spc="0" normalizeH="0" baseline="0" noProof="0" dirty="0" smtClean="0">
                <a:ln>
                  <a:noFill/>
                </a:ln>
                <a:solidFill>
                  <a:srgbClr val="080808"/>
                </a:solidFill>
                <a:effectLst/>
                <a:uLnTx/>
                <a:uFillTx/>
                <a:latin typeface="+mn-lt"/>
                <a:ea typeface="+mn-ea"/>
                <a:cs typeface="+mn-cs"/>
              </a:rPr>
              <a:t>These twenty different alpha- amino acids are found widely in nature and are often referred to as “the mighty twenty”. Each acid is commonly given a three letter abbreviation e.g. “Val” for Valine. These acid have a general structure as represented below:</a:t>
            </a:r>
            <a:endParaRPr kumimoji="0" lang="en-US" altLang="en-US" b="0" i="0" u="sng" strike="noStrike" kern="1200" cap="none" spc="0" normalizeH="0" baseline="0" noProof="0" dirty="0" smtClean="0">
              <a:ln>
                <a:noFill/>
              </a:ln>
              <a:solidFill>
                <a:srgbClr val="080808"/>
              </a:solidFill>
              <a:effectLst/>
              <a:uLnTx/>
              <a:uFillTx/>
              <a:latin typeface="+mn-lt"/>
              <a:ea typeface="+mn-ea"/>
              <a:cs typeface="+mn-cs"/>
            </a:endParaRPr>
          </a:p>
          <a:p>
            <a:pPr marL="342900" marR="0" lvl="0" indent="-342900" algn="just" defTabSz="914400" rtl="0" eaLnBrk="0" fontAlgn="auto" latinLnBrk="0" hangingPunct="0">
              <a:lnSpc>
                <a:spcPct val="100000"/>
              </a:lnSpc>
              <a:spcBef>
                <a:spcPct val="50000"/>
              </a:spcBef>
              <a:spcAft>
                <a:spcPts val="0"/>
              </a:spcAft>
              <a:buClrTx/>
              <a:buSzTx/>
              <a:buFont typeface="Arial" pitchFamily="34" charset="0"/>
              <a:buChar char="•"/>
              <a:tabLst/>
              <a:defRPr/>
            </a:pPr>
            <a:r>
              <a:rPr kumimoji="0" lang="en-US" altLang="en-US" b="0" i="0" u="none" strike="noStrike" kern="1200" cap="none" spc="0" normalizeH="0" baseline="0" noProof="0" dirty="0" smtClean="0">
                <a:ln>
                  <a:noFill/>
                </a:ln>
                <a:solidFill>
                  <a:srgbClr val="080808"/>
                </a:solidFill>
                <a:effectLst/>
                <a:uLnTx/>
                <a:uFillTx/>
                <a:latin typeface="+mn-lt"/>
                <a:ea typeface="+mn-ea"/>
                <a:cs typeface="+mn-cs"/>
              </a:rPr>
              <a:t>Each amino acid has 4 different groups attached to </a:t>
            </a:r>
            <a:r>
              <a:rPr kumimoji="0" lang="el-GR" altLang="en-US" b="0" i="0" u="none" strike="noStrike" kern="1200" cap="none" spc="0" normalizeH="0" baseline="0" noProof="0" dirty="0" smtClean="0">
                <a:ln>
                  <a:noFill/>
                </a:ln>
                <a:solidFill>
                  <a:srgbClr val="080808"/>
                </a:solidFill>
                <a:effectLst/>
                <a:uLnTx/>
                <a:uFillTx/>
                <a:latin typeface="+mn-lt"/>
                <a:ea typeface="+mn-ea"/>
                <a:cs typeface="+mn-cs"/>
              </a:rPr>
              <a:t>α</a:t>
            </a:r>
            <a:r>
              <a:rPr kumimoji="0" lang="en-US" altLang="en-US" b="0" i="0" u="none" strike="noStrike" kern="1200" cap="none" spc="0" normalizeH="0" baseline="0" noProof="0" dirty="0" smtClean="0">
                <a:ln>
                  <a:noFill/>
                </a:ln>
                <a:solidFill>
                  <a:srgbClr val="080808"/>
                </a:solidFill>
                <a:effectLst/>
                <a:uLnTx/>
                <a:uFillTx/>
                <a:latin typeface="+mn-lt"/>
                <a:ea typeface="+mn-ea"/>
                <a:cs typeface="+mn-cs"/>
              </a:rPr>
              <a:t>- carbon ( which is C-atom next to –COOH group). These 4 groups are: amino group (-NH</a:t>
            </a:r>
            <a:r>
              <a:rPr kumimoji="0" lang="en-US" altLang="en-US" b="0" i="0" u="none" strike="noStrike" kern="1200" cap="none" spc="0" normalizeH="0" baseline="-25000" noProof="0" dirty="0" smtClean="0">
                <a:ln>
                  <a:noFill/>
                </a:ln>
                <a:solidFill>
                  <a:srgbClr val="080808"/>
                </a:solidFill>
                <a:effectLst/>
                <a:uLnTx/>
                <a:uFillTx/>
                <a:latin typeface="+mn-lt"/>
                <a:ea typeface="+mn-ea"/>
                <a:cs typeface="+mn-cs"/>
              </a:rPr>
              <a:t>2</a:t>
            </a:r>
            <a:r>
              <a:rPr kumimoji="0" lang="en-US" altLang="en-US" b="0" i="0" u="none" strike="noStrike" kern="1200" cap="none" spc="0" normalizeH="0" baseline="0" noProof="0" dirty="0" smtClean="0">
                <a:ln>
                  <a:noFill/>
                </a:ln>
                <a:solidFill>
                  <a:srgbClr val="080808"/>
                </a:solidFill>
                <a:effectLst/>
                <a:uLnTx/>
                <a:uFillTx/>
                <a:latin typeface="+mn-lt"/>
                <a:ea typeface="+mn-ea"/>
                <a:cs typeface="+mn-cs"/>
              </a:rPr>
              <a:t>), Carboxylic acid group (-COOH), hydrogen atom (H) and a side chain (R).</a:t>
            </a:r>
          </a:p>
          <a:p>
            <a:pPr marL="342900" marR="0" lvl="0" indent="-342900" algn="just" defTabSz="914400" rtl="0" eaLnBrk="0" fontAlgn="auto" latinLnBrk="0" hangingPunct="0">
              <a:lnSpc>
                <a:spcPct val="100000"/>
              </a:lnSpc>
              <a:spcBef>
                <a:spcPct val="50000"/>
              </a:spcBef>
              <a:spcAft>
                <a:spcPts val="0"/>
              </a:spcAft>
              <a:buClrTx/>
              <a:buSzTx/>
              <a:buFont typeface="Arial" pitchFamily="34" charset="0"/>
              <a:buChar char="•"/>
              <a:tabLst/>
              <a:defRPr/>
            </a:pPr>
            <a:r>
              <a:rPr kumimoji="0" lang="en-US" altLang="en-US" b="0" i="0" u="none" strike="noStrike" kern="1200" cap="none" spc="0" normalizeH="0" baseline="0" noProof="0" dirty="0" smtClean="0">
                <a:ln>
                  <a:noFill/>
                </a:ln>
                <a:solidFill>
                  <a:srgbClr val="080808"/>
                </a:solidFill>
                <a:effectLst/>
                <a:uLnTx/>
                <a:uFillTx/>
                <a:latin typeface="+mn-lt"/>
                <a:ea typeface="+mn-ea"/>
                <a:cs typeface="+mn-cs"/>
              </a:rPr>
              <a:t>The side chain (R) varies from one amino acid to another leading to differences in the properties of alpha-amino acids.</a:t>
            </a:r>
          </a:p>
          <a:p>
            <a:pPr marL="342900" marR="0" lvl="0" indent="-342900" algn="just" defTabSz="914400" rtl="0" eaLnBrk="0" fontAlgn="auto" latinLnBrk="0" hangingPunct="0">
              <a:lnSpc>
                <a:spcPct val="100000"/>
              </a:lnSpc>
              <a:spcBef>
                <a:spcPct val="50000"/>
              </a:spcBef>
              <a:spcAft>
                <a:spcPts val="0"/>
              </a:spcAft>
              <a:buClrTx/>
              <a:buSzTx/>
              <a:buFont typeface="Arial" pitchFamily="34" charset="0"/>
              <a:buChar char="•"/>
              <a:tabLst/>
              <a:defRPr/>
            </a:pPr>
            <a:endParaRPr kumimoji="0" lang="en-US" altLang="en-US" b="0" i="0" u="none" strike="noStrike" kern="1200" cap="none" spc="0" normalizeH="0" baseline="0" noProof="0" dirty="0" smtClean="0">
              <a:ln>
                <a:noFill/>
              </a:ln>
              <a:solidFill>
                <a:srgbClr val="080808"/>
              </a:solidFill>
              <a:effectLst/>
              <a:uLnTx/>
              <a:uFillTx/>
              <a:latin typeface="+mn-lt"/>
              <a:ea typeface="+mn-ea"/>
              <a:cs typeface="+mn-cs"/>
            </a:endParaRPr>
          </a:p>
          <a:p>
            <a:pPr marL="342900" marR="0" lvl="0" indent="-342900" algn="just" defTabSz="914400" rtl="0" eaLnBrk="0" fontAlgn="auto" latinLnBrk="0" hangingPunct="0">
              <a:lnSpc>
                <a:spcPct val="100000"/>
              </a:lnSpc>
              <a:spcBef>
                <a:spcPct val="50000"/>
              </a:spcBef>
              <a:spcAft>
                <a:spcPts val="0"/>
              </a:spcAft>
              <a:buClrTx/>
              <a:buSzTx/>
              <a:buFont typeface="Arial" pitchFamily="34" charset="0"/>
              <a:buChar char="•"/>
              <a:tabLst/>
              <a:defRPr/>
            </a:pPr>
            <a:endParaRPr kumimoji="0" lang="en-US" altLang="en-US" b="0" i="0" u="none" strike="noStrike" kern="1200" cap="none" spc="0" normalizeH="0" baseline="0" noProof="0" dirty="0" smtClean="0">
              <a:ln>
                <a:noFill/>
              </a:ln>
              <a:solidFill>
                <a:srgbClr val="080808"/>
              </a:solidFill>
              <a:effectLst/>
              <a:uLnTx/>
              <a:uFillTx/>
              <a:latin typeface="+mn-lt"/>
              <a:ea typeface="+mn-ea"/>
              <a:cs typeface="+mn-cs"/>
            </a:endParaRPr>
          </a:p>
          <a:p>
            <a:pPr marL="342900" marR="0" lvl="0" indent="-342900" algn="just" defTabSz="914400" rtl="0" eaLnBrk="0" fontAlgn="auto" latinLnBrk="0" hangingPunct="0">
              <a:lnSpc>
                <a:spcPct val="100000"/>
              </a:lnSpc>
              <a:spcBef>
                <a:spcPct val="50000"/>
              </a:spcBef>
              <a:spcAft>
                <a:spcPts val="0"/>
              </a:spcAft>
              <a:buClrTx/>
              <a:buSzTx/>
              <a:buFont typeface="Arial" pitchFamily="34" charset="0"/>
              <a:buChar char="•"/>
              <a:tabLst/>
              <a:defRPr/>
            </a:pPr>
            <a:endParaRPr kumimoji="0" lang="en-US" altLang="en-US" b="0" i="0" u="none" strike="noStrike" kern="1200" cap="none" spc="0" normalizeH="0" baseline="0" noProof="0" dirty="0" smtClean="0">
              <a:ln>
                <a:noFill/>
              </a:ln>
              <a:solidFill>
                <a:srgbClr val="080808"/>
              </a:solidFill>
              <a:effectLst/>
              <a:uLnTx/>
              <a:uFillTx/>
              <a:latin typeface="+mn-lt"/>
              <a:ea typeface="+mn-ea"/>
              <a:cs typeface="+mn-cs"/>
            </a:endParaRPr>
          </a:p>
          <a:p>
            <a:pPr marL="342900" marR="0" lvl="0" indent="-342900" algn="just" defTabSz="914400" rtl="0" eaLnBrk="0" fontAlgn="auto" latinLnBrk="0" hangingPunct="0">
              <a:lnSpc>
                <a:spcPct val="100000"/>
              </a:lnSpc>
              <a:spcBef>
                <a:spcPct val="50000"/>
              </a:spcBef>
              <a:spcAft>
                <a:spcPts val="0"/>
              </a:spcAft>
              <a:buClrTx/>
              <a:buSzTx/>
              <a:buFont typeface="Arial" pitchFamily="34" charset="0"/>
              <a:buChar char="•"/>
              <a:tabLst/>
              <a:defRPr/>
            </a:pPr>
            <a:endParaRPr kumimoji="0" lang="en-US" altLang="en-US" b="0" i="0" u="none" strike="noStrike" kern="1200" cap="none" spc="0" normalizeH="0" baseline="0" noProof="0" dirty="0" smtClean="0">
              <a:ln>
                <a:noFill/>
              </a:ln>
              <a:solidFill>
                <a:srgbClr val="080808"/>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dirty="0">
              <a:ln>
                <a:noFill/>
              </a:ln>
              <a:solidFill>
                <a:srgbClr val="080808"/>
              </a:solidFill>
              <a:effectLst/>
              <a:uLnTx/>
              <a:uFillTx/>
              <a:latin typeface="+mn-lt"/>
              <a:ea typeface="+mn-ea"/>
              <a:cs typeface="+mn-cs"/>
            </a:endParaRPr>
          </a:p>
        </p:txBody>
      </p:sp>
      <p:pic>
        <p:nvPicPr>
          <p:cNvPr id="11" name="Picture 3"/>
          <p:cNvPicPr>
            <a:picLocks noChangeAspect="1" noChangeArrowheads="1"/>
          </p:cNvPicPr>
          <p:nvPr/>
        </p:nvPicPr>
        <p:blipFill>
          <a:blip r:embed="rId2"/>
          <a:srcRect/>
          <a:stretch>
            <a:fillRect/>
          </a:stretch>
        </p:blipFill>
        <p:spPr bwMode="auto">
          <a:xfrm>
            <a:off x="1295400" y="5410200"/>
            <a:ext cx="3133725" cy="1219200"/>
          </a:xfrm>
          <a:prstGeom prst="rect">
            <a:avLst/>
          </a:prstGeom>
          <a:noFill/>
          <a:ln w="9525">
            <a:noFill/>
            <a:miter lim="800000"/>
            <a:headEnd/>
            <a:tailEnd/>
          </a:ln>
          <a:effectLst/>
        </p:spPr>
      </p:pic>
      <p:pic>
        <p:nvPicPr>
          <p:cNvPr id="12" name="Picture 5" descr="figure_06_02b_labeled.jpg                                      000028C2ServDisk_02                    C66E6659:"/>
          <p:cNvPicPr>
            <a:picLocks noChangeAspect="1" noChangeArrowheads="1"/>
          </p:cNvPicPr>
          <p:nvPr/>
        </p:nvPicPr>
        <p:blipFill>
          <a:blip r:embed="rId3"/>
          <a:srcRect/>
          <a:stretch>
            <a:fillRect/>
          </a:stretch>
        </p:blipFill>
        <p:spPr bwMode="auto">
          <a:xfrm>
            <a:off x="5638800" y="1016761"/>
            <a:ext cx="3505200" cy="54863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p:cNvPicPr>
            <a:picLocks noChangeAspect="1" noChangeArrowheads="1"/>
          </p:cNvPicPr>
          <p:nvPr/>
        </p:nvPicPr>
        <p:blipFill>
          <a:blip r:embed="rId2"/>
          <a:srcRect/>
          <a:stretch>
            <a:fillRect/>
          </a:stretch>
        </p:blipFill>
        <p:spPr bwMode="auto">
          <a:xfrm>
            <a:off x="304801" y="381002"/>
            <a:ext cx="8380447" cy="6095999"/>
          </a:xfrm>
          <a:prstGeom prst="rect">
            <a:avLst/>
          </a:prstGeom>
          <a:noFill/>
          <a:ln w="9525">
            <a:noFill/>
            <a:miter lim="800000"/>
            <a:headEnd/>
            <a:tailEnd/>
          </a:ln>
          <a:effectLst/>
        </p:spPr>
      </p:pic>
      <p:sp>
        <p:nvSpPr>
          <p:cNvPr id="6" name="TextBox 5"/>
          <p:cNvSpPr txBox="1">
            <a:spLocks noChangeArrowheads="1"/>
          </p:cNvSpPr>
          <p:nvPr/>
        </p:nvSpPr>
        <p:spPr bwMode="auto">
          <a:xfrm>
            <a:off x="381000" y="0"/>
            <a:ext cx="1066800" cy="400110"/>
          </a:xfrm>
          <a:prstGeom prst="rect">
            <a:avLst/>
          </a:prstGeom>
          <a:noFill/>
          <a:ln w="9525">
            <a:noFill/>
            <a:miter lim="800000"/>
            <a:headEnd/>
            <a:tailEnd/>
          </a:ln>
        </p:spPr>
        <p:txBody>
          <a:bodyPr wrap="square">
            <a:spAutoFit/>
          </a:bodyPr>
          <a:lstStyle/>
          <a:p>
            <a:r>
              <a:rPr lang="en-US" sz="2000" b="1" dirty="0" smtClean="0"/>
              <a:t>Table 1</a:t>
            </a:r>
            <a:endParaRPr lang="en-US" sz="2000" b="1"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5564" y="333375"/>
            <a:ext cx="8693150" cy="719138"/>
          </a:xfrm>
        </p:spPr>
        <p:txBody>
          <a:bodyPr>
            <a:normAutofit fontScale="90000"/>
          </a:bodyPr>
          <a:lstStyle/>
          <a:p>
            <a:pPr eaLnBrk="1" hangingPunct="1"/>
            <a:r>
              <a:rPr lang="en-US" smtClean="0"/>
              <a:t>Condensation and Hydrolytic Reactions</a:t>
            </a:r>
          </a:p>
        </p:txBody>
      </p:sp>
      <p:sp>
        <p:nvSpPr>
          <p:cNvPr id="5" name="Rectangle 4"/>
          <p:cNvSpPr/>
          <p:nvPr/>
        </p:nvSpPr>
        <p:spPr>
          <a:xfrm>
            <a:off x="152400" y="1371601"/>
            <a:ext cx="2362200" cy="4893647"/>
          </a:xfrm>
          <a:prstGeom prst="rect">
            <a:avLst/>
          </a:prstGeom>
          <a:ln w="25400" cmpd="sng">
            <a:solidFill>
              <a:srgbClr val="C00000"/>
            </a:solidFill>
          </a:ln>
        </p:spPr>
        <p:txBody>
          <a:bodyPr wrap="square">
            <a:spAutoFit/>
          </a:bodyPr>
          <a:lstStyle/>
          <a:p>
            <a:pPr algn="just"/>
            <a:r>
              <a:rPr lang="en-US" sz="2400" dirty="0" smtClean="0">
                <a:solidFill>
                  <a:srgbClr val="080808"/>
                </a:solidFill>
                <a:latin typeface="Times New Roman" pitchFamily="18" charset="0"/>
                <a:cs typeface="Times New Roman" pitchFamily="18" charset="0"/>
              </a:rPr>
              <a:t>Prefixes  </a:t>
            </a:r>
            <a:r>
              <a:rPr lang="en-US" sz="2400" dirty="0" err="1" smtClean="0">
                <a:solidFill>
                  <a:srgbClr val="080808"/>
                </a:solidFill>
                <a:latin typeface="Times New Roman" pitchFamily="18" charset="0"/>
                <a:cs typeface="Times New Roman" pitchFamily="18" charset="0"/>
              </a:rPr>
              <a:t>di</a:t>
            </a:r>
            <a:r>
              <a:rPr lang="en-US" sz="2400" dirty="0" smtClean="0">
                <a:solidFill>
                  <a:srgbClr val="080808"/>
                </a:solidFill>
                <a:latin typeface="Times New Roman" pitchFamily="18" charset="0"/>
                <a:cs typeface="Times New Roman" pitchFamily="18" charset="0"/>
              </a:rPr>
              <a:t>-, tri-,and so on are used to indicate the number of amino acid monomers that are joint to form peptides, and the amide bond linking the amino acid monomers is called </a:t>
            </a:r>
            <a:r>
              <a:rPr lang="en-US" sz="2400" i="1" dirty="0" smtClean="0">
                <a:solidFill>
                  <a:srgbClr val="080808"/>
                </a:solidFill>
                <a:latin typeface="Times New Roman" pitchFamily="18" charset="0"/>
                <a:cs typeface="Times New Roman" pitchFamily="18" charset="0"/>
              </a:rPr>
              <a:t>peptide bond</a:t>
            </a:r>
            <a:r>
              <a:rPr lang="en-US" sz="2400" dirty="0" smtClean="0">
                <a:solidFill>
                  <a:srgbClr val="080808"/>
                </a:solidFill>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pic>
        <p:nvPicPr>
          <p:cNvPr id="94210" name="Picture 2"/>
          <p:cNvPicPr>
            <a:picLocks noChangeAspect="1" noChangeArrowheads="1"/>
          </p:cNvPicPr>
          <p:nvPr/>
        </p:nvPicPr>
        <p:blipFill>
          <a:blip r:embed="rId2"/>
          <a:srcRect/>
          <a:stretch>
            <a:fillRect/>
          </a:stretch>
        </p:blipFill>
        <p:spPr bwMode="auto">
          <a:xfrm>
            <a:off x="2543176" y="1371602"/>
            <a:ext cx="6448425" cy="4810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Applications of Peptides</a:t>
            </a:r>
            <a:endParaRPr lang="en-US" b="1" dirty="0"/>
          </a:p>
        </p:txBody>
      </p:sp>
      <p:sp>
        <p:nvSpPr>
          <p:cNvPr id="3" name="Content Placeholder 2"/>
          <p:cNvSpPr>
            <a:spLocks noGrp="1"/>
          </p:cNvSpPr>
          <p:nvPr>
            <p:ph idx="1"/>
          </p:nvPr>
        </p:nvSpPr>
        <p:spPr>
          <a:xfrm>
            <a:off x="381000" y="1447802"/>
            <a:ext cx="8229600" cy="4525963"/>
          </a:xfrm>
        </p:spPr>
        <p:txBody>
          <a:bodyPr>
            <a:normAutofit/>
          </a:bodyPr>
          <a:lstStyle/>
          <a:p>
            <a:r>
              <a:rPr lang="en-US" sz="2800" dirty="0" smtClean="0"/>
              <a:t>Many small peptides are known to have physiological significance.</a:t>
            </a:r>
            <a:endParaRPr lang="en-US" sz="2800" dirty="0"/>
          </a:p>
        </p:txBody>
      </p:sp>
      <p:graphicFrame>
        <p:nvGraphicFramePr>
          <p:cNvPr id="4" name="Table 3"/>
          <p:cNvGraphicFramePr>
            <a:graphicFrameLocks noGrp="1"/>
          </p:cNvGraphicFramePr>
          <p:nvPr/>
        </p:nvGraphicFramePr>
        <p:xfrm>
          <a:off x="685800" y="2971800"/>
          <a:ext cx="7924800" cy="3688080"/>
        </p:xfrm>
        <a:graphic>
          <a:graphicData uri="http://schemas.openxmlformats.org/drawingml/2006/table">
            <a:tbl>
              <a:tblPr firstRow="1" bandRow="1">
                <a:tableStyleId>{16D9F66E-5EB9-4882-86FB-DCBF35E3C3E4}</a:tableStyleId>
              </a:tblPr>
              <a:tblGrid>
                <a:gridCol w="1447800"/>
                <a:gridCol w="1524000"/>
                <a:gridCol w="4953000"/>
              </a:tblGrid>
              <a:tr h="457200">
                <a:tc>
                  <a:txBody>
                    <a:bodyPr/>
                    <a:lstStyle/>
                    <a:p>
                      <a:r>
                        <a:rPr lang="en-US" dirty="0" smtClean="0"/>
                        <a:t>Peptide</a:t>
                      </a:r>
                      <a:endParaRPr lang="en-US" dirty="0"/>
                    </a:p>
                  </a:txBody>
                  <a:tcPr/>
                </a:tc>
                <a:tc>
                  <a:txBody>
                    <a:bodyPr/>
                    <a:lstStyle/>
                    <a:p>
                      <a:r>
                        <a:rPr lang="en-US" dirty="0" smtClean="0"/>
                        <a:t>Type</a:t>
                      </a:r>
                      <a:endParaRPr lang="en-US" dirty="0"/>
                    </a:p>
                  </a:txBody>
                  <a:tcPr/>
                </a:tc>
                <a:tc>
                  <a:txBody>
                    <a:bodyPr/>
                    <a:lstStyle/>
                    <a:p>
                      <a:r>
                        <a:rPr lang="en-US" dirty="0" smtClean="0"/>
                        <a:t>Application</a:t>
                      </a:r>
                      <a:endParaRPr lang="en-US" dirty="0"/>
                    </a:p>
                  </a:txBody>
                  <a:tcPr/>
                </a:tc>
              </a:tr>
              <a:tr h="396240">
                <a:tc>
                  <a:txBody>
                    <a:bodyPr/>
                    <a:lstStyle/>
                    <a:p>
                      <a:r>
                        <a:rPr lang="en-US" dirty="0" smtClean="0"/>
                        <a:t>Aspartame</a:t>
                      </a:r>
                      <a:endParaRPr lang="en-US" dirty="0"/>
                    </a:p>
                  </a:txBody>
                  <a:tcPr/>
                </a:tc>
                <a:tc>
                  <a:txBody>
                    <a:bodyPr/>
                    <a:lstStyle/>
                    <a:p>
                      <a:r>
                        <a:rPr lang="en-US" dirty="0" smtClean="0"/>
                        <a:t>Dipeptide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Serves as common sweetener.</a:t>
                      </a:r>
                    </a:p>
                  </a:txBody>
                  <a:tcPr/>
                </a:tc>
              </a:tr>
              <a:tr h="370840">
                <a:tc>
                  <a:txBody>
                    <a:bodyPr/>
                    <a:lstStyle/>
                    <a:p>
                      <a:r>
                        <a:rPr lang="en-US" dirty="0" smtClean="0"/>
                        <a:t>Glutathione</a:t>
                      </a:r>
                      <a:endParaRPr lang="en-US" dirty="0"/>
                    </a:p>
                  </a:txBody>
                  <a:tcPr/>
                </a:tc>
                <a:tc>
                  <a:txBody>
                    <a:bodyPr/>
                    <a:lstStyle/>
                    <a:p>
                      <a:r>
                        <a:rPr lang="en-US" dirty="0" smtClean="0"/>
                        <a:t>Tripeptide</a:t>
                      </a:r>
                      <a:endParaRPr lang="en-US" dirty="0"/>
                    </a:p>
                  </a:txBody>
                  <a:tcPr/>
                </a:tc>
                <a:tc>
                  <a:txBody>
                    <a:bodyPr/>
                    <a:lstStyle/>
                    <a:p>
                      <a:r>
                        <a:rPr lang="en-US" dirty="0" smtClean="0"/>
                        <a:t>Stands as a</a:t>
                      </a:r>
                      <a:r>
                        <a:rPr lang="en-US" baseline="0" dirty="0" smtClean="0"/>
                        <a:t> scavenging agent for harmful oxidizing agents. It is believe to cause cancer.</a:t>
                      </a:r>
                      <a:endParaRPr lang="en-US" dirty="0"/>
                    </a:p>
                  </a:txBody>
                  <a:tcPr/>
                </a:tc>
              </a:tr>
              <a:tr h="370840">
                <a:tc>
                  <a:txBody>
                    <a:bodyPr/>
                    <a:lstStyle/>
                    <a:p>
                      <a:r>
                        <a:rPr lang="en-US" dirty="0" err="1" smtClean="0"/>
                        <a:t>Enkephalins</a:t>
                      </a:r>
                      <a:endParaRPr lang="en-US" dirty="0"/>
                    </a:p>
                  </a:txBody>
                  <a:tcPr/>
                </a:tc>
                <a:tc>
                  <a:txBody>
                    <a:bodyPr/>
                    <a:lstStyle/>
                    <a:p>
                      <a:r>
                        <a:rPr lang="en-US" dirty="0" smtClean="0"/>
                        <a:t>Pentapeptides</a:t>
                      </a:r>
                      <a:endParaRPr lang="en-US" dirty="0"/>
                    </a:p>
                  </a:txBody>
                  <a:tcPr/>
                </a:tc>
                <a:tc>
                  <a:txBody>
                    <a:bodyPr/>
                    <a:lstStyle/>
                    <a:p>
                      <a:r>
                        <a:rPr lang="en-US" dirty="0" smtClean="0"/>
                        <a:t>Stand</a:t>
                      </a:r>
                      <a:r>
                        <a:rPr lang="en-US" baseline="0" dirty="0" smtClean="0"/>
                        <a:t> as a group of naturally occurring analgesics (pain relievers) that occur in the brain.</a:t>
                      </a:r>
                      <a:endParaRPr lang="en-US" dirty="0"/>
                    </a:p>
                  </a:txBody>
                  <a:tcPr/>
                </a:tc>
              </a:tr>
              <a:tr h="370840">
                <a:tc>
                  <a:txBody>
                    <a:bodyPr/>
                    <a:lstStyle/>
                    <a:p>
                      <a:r>
                        <a:rPr lang="en-US" dirty="0" smtClean="0"/>
                        <a:t>Gramicidin-</a:t>
                      </a:r>
                      <a:r>
                        <a:rPr lang="en-US" baseline="0" dirty="0" smtClean="0"/>
                        <a:t> S</a:t>
                      </a:r>
                      <a:endParaRPr lang="en-US" dirty="0"/>
                    </a:p>
                  </a:txBody>
                  <a:tcPr/>
                </a:tc>
                <a:tc>
                  <a:txBody>
                    <a:bodyPr/>
                    <a:lstStyle/>
                    <a:p>
                      <a:r>
                        <a:rPr lang="en-US" dirty="0" smtClean="0"/>
                        <a:t>Cyclic decapentide</a:t>
                      </a:r>
                      <a:endParaRPr lang="en-US" dirty="0"/>
                    </a:p>
                  </a:txBody>
                  <a:tcPr/>
                </a:tc>
                <a:tc>
                  <a:txBody>
                    <a:bodyPr/>
                    <a:lstStyle/>
                    <a:p>
                      <a:r>
                        <a:rPr lang="en-US" dirty="0" smtClean="0"/>
                        <a:t>Serves as antibiotics.</a:t>
                      </a:r>
                      <a:endParaRPr lang="en-US" dirty="0"/>
                    </a:p>
                  </a:txBody>
                  <a:tcPr/>
                </a:tc>
              </a:tr>
              <a:tr h="370840">
                <a:tc>
                  <a:txBody>
                    <a:bodyPr/>
                    <a:lstStyle/>
                    <a:p>
                      <a:r>
                        <a:rPr lang="en-US" dirty="0" err="1" smtClean="0"/>
                        <a:t>Tyrocidin</a:t>
                      </a:r>
                      <a:r>
                        <a:rPr lang="en-US" baseline="0" dirty="0" smtClean="0"/>
                        <a:t>- A</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Cyclic decapentide</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Serves as antibiotics.</a:t>
                      </a:r>
                    </a:p>
                  </a:txBody>
                  <a:tcPr/>
                </a:tc>
              </a:tr>
            </a:tbl>
          </a:graphicData>
        </a:graphic>
      </p:graphicFrame>
      <p:sp>
        <p:nvSpPr>
          <p:cNvPr id="5" name="TextBox 4"/>
          <p:cNvSpPr txBox="1">
            <a:spLocks noChangeArrowheads="1"/>
          </p:cNvSpPr>
          <p:nvPr/>
        </p:nvSpPr>
        <p:spPr bwMode="auto">
          <a:xfrm>
            <a:off x="685800" y="2514600"/>
            <a:ext cx="1066800" cy="400110"/>
          </a:xfrm>
          <a:prstGeom prst="rect">
            <a:avLst/>
          </a:prstGeom>
          <a:noFill/>
          <a:ln w="9525">
            <a:noFill/>
            <a:miter lim="800000"/>
            <a:headEnd/>
            <a:tailEnd/>
          </a:ln>
        </p:spPr>
        <p:txBody>
          <a:bodyPr wrap="square">
            <a:spAutoFit/>
          </a:bodyPr>
          <a:lstStyle/>
          <a:p>
            <a:r>
              <a:rPr lang="en-US" sz="2000" b="1" dirty="0" smtClean="0"/>
              <a:t>Table 2</a:t>
            </a:r>
            <a:endParaRPr lang="en-US" sz="2000" b="1"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Classification of Amino Acids </a:t>
            </a:r>
            <a:endParaRPr lang="en-US" b="1" dirty="0"/>
          </a:p>
        </p:txBody>
      </p:sp>
      <p:sp>
        <p:nvSpPr>
          <p:cNvPr id="3" name="Content Placeholder 2"/>
          <p:cNvSpPr>
            <a:spLocks noGrp="1"/>
          </p:cNvSpPr>
          <p:nvPr>
            <p:ph idx="1"/>
          </p:nvPr>
        </p:nvSpPr>
        <p:spPr>
          <a:xfrm>
            <a:off x="533400" y="1600202"/>
            <a:ext cx="8229600" cy="4525963"/>
          </a:xfrm>
          <a:solidFill>
            <a:schemeClr val="bg1"/>
          </a:solidFill>
          <a:ln w="28575">
            <a:solidFill>
              <a:srgbClr val="C00000"/>
            </a:solidFill>
          </a:ln>
        </p:spPr>
        <p:txBody>
          <a:bodyPr/>
          <a:lstStyle/>
          <a:p>
            <a:pPr algn="just">
              <a:buNone/>
            </a:pPr>
            <a:r>
              <a:rPr lang="en-US" dirty="0" smtClean="0"/>
              <a:t>Amino acids are usually classified according two criteria.</a:t>
            </a:r>
          </a:p>
          <a:p>
            <a:pPr marL="514350" indent="-514350" algn="just">
              <a:buFont typeface="+mj-lt"/>
              <a:buAutoNum type="arabicPeriod"/>
            </a:pPr>
            <a:r>
              <a:rPr lang="en-US" dirty="0" smtClean="0"/>
              <a:t>The first classification depends on whether the R groups are polar or non polar chains.</a:t>
            </a:r>
          </a:p>
          <a:p>
            <a:pPr marL="514350" indent="-514350" algn="just">
              <a:buFont typeface="+mj-lt"/>
              <a:buAutoNum type="arabicPeriod"/>
            </a:pPr>
            <a:endParaRPr lang="en-US" dirty="0" smtClean="0"/>
          </a:p>
          <a:p>
            <a:pPr marL="514350" indent="-514350" algn="just">
              <a:buFont typeface="+mj-lt"/>
              <a:buAutoNum type="arabicPeriod"/>
            </a:pPr>
            <a:r>
              <a:rPr lang="en-US" dirty="0" smtClean="0"/>
              <a:t>The second classification is based on whether R group contains acidic or basic group. </a:t>
            </a:r>
          </a:p>
          <a:p>
            <a:pPr marL="514350" indent="-514350" algn="just">
              <a:buNone/>
            </a:pP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5"/>
          <p:cNvSpPr>
            <a:spLocks noChangeArrowheads="1"/>
          </p:cNvSpPr>
          <p:nvPr/>
        </p:nvSpPr>
        <p:spPr bwMode="auto">
          <a:xfrm>
            <a:off x="76200" y="152400"/>
            <a:ext cx="8839200" cy="1600438"/>
          </a:xfrm>
          <a:prstGeom prst="rect">
            <a:avLst/>
          </a:prstGeom>
          <a:noFill/>
          <a:ln w="9525">
            <a:noFill/>
            <a:miter lim="800000"/>
            <a:headEnd/>
            <a:tailEnd/>
          </a:ln>
        </p:spPr>
        <p:txBody>
          <a:bodyPr wrap="square">
            <a:spAutoFit/>
          </a:bodyPr>
          <a:lstStyle/>
          <a:p>
            <a:pPr marL="342900" indent="-342900">
              <a:spcBef>
                <a:spcPct val="60000"/>
              </a:spcBef>
              <a:buClr>
                <a:srgbClr val="339933"/>
              </a:buClr>
              <a:tabLst>
                <a:tab pos="2743200" algn="l"/>
              </a:tabLst>
              <a:defRPr/>
            </a:pPr>
            <a:r>
              <a:rPr lang="en-US" altLang="en-US" b="1" u="sng" dirty="0" smtClean="0">
                <a:solidFill>
                  <a:srgbClr val="000000"/>
                </a:solidFill>
              </a:rPr>
              <a:t>Neutral amino </a:t>
            </a:r>
            <a:r>
              <a:rPr lang="en-US" altLang="en-US" b="1" u="sng" dirty="0" smtClean="0">
                <a:solidFill>
                  <a:srgbClr val="000000"/>
                </a:solidFill>
              </a:rPr>
              <a:t>acids: </a:t>
            </a:r>
            <a:r>
              <a:rPr lang="en-US" altLang="en-US" u="sng" dirty="0" smtClean="0">
                <a:solidFill>
                  <a:srgbClr val="000000"/>
                </a:solidFill>
              </a:rPr>
              <a:t>Have equal amount of carboxylic  and amino groups.</a:t>
            </a:r>
            <a:endParaRPr lang="en-US" altLang="en-US" u="sng" dirty="0">
              <a:solidFill>
                <a:srgbClr val="000000"/>
              </a:solidFill>
            </a:endParaRPr>
          </a:p>
          <a:p>
            <a:pPr marL="2514600" indent="-2514600">
              <a:spcBef>
                <a:spcPct val="60000"/>
              </a:spcBef>
              <a:buClr>
                <a:srgbClr val="339933"/>
              </a:buClr>
              <a:tabLst>
                <a:tab pos="2743200" algn="l"/>
              </a:tabLst>
              <a:defRPr/>
            </a:pPr>
            <a:endParaRPr lang="en-US" altLang="en-US" dirty="0">
              <a:solidFill>
                <a:schemeClr val="tx2"/>
              </a:solidFill>
            </a:endParaRPr>
          </a:p>
          <a:p>
            <a:pPr marL="342900" indent="-342900">
              <a:spcBef>
                <a:spcPct val="60000"/>
              </a:spcBef>
              <a:buClr>
                <a:srgbClr val="339933"/>
              </a:buClr>
              <a:tabLst>
                <a:tab pos="2743200" algn="l"/>
              </a:tabLst>
              <a:defRPr/>
            </a:pPr>
            <a:r>
              <a:rPr lang="en-US" altLang="en-US" sz="3200" b="1" dirty="0">
                <a:solidFill>
                  <a:srgbClr val="000000"/>
                </a:solidFill>
              </a:rPr>
              <a:t> </a:t>
            </a:r>
          </a:p>
        </p:txBody>
      </p:sp>
      <p:sp>
        <p:nvSpPr>
          <p:cNvPr id="9219" name="Rectangle 6"/>
          <p:cNvSpPr>
            <a:spLocks noChangeArrowheads="1"/>
          </p:cNvSpPr>
          <p:nvPr/>
        </p:nvSpPr>
        <p:spPr bwMode="auto">
          <a:xfrm>
            <a:off x="533400" y="6553200"/>
            <a:ext cx="6781800" cy="228600"/>
          </a:xfrm>
          <a:prstGeom prst="rect">
            <a:avLst/>
          </a:prstGeom>
          <a:noFill/>
          <a:ln w="9525">
            <a:noFill/>
            <a:miter lim="800000"/>
            <a:headEnd/>
            <a:tailEnd/>
          </a:ln>
        </p:spPr>
        <p:txBody>
          <a:bodyPr/>
          <a:lstStyle/>
          <a:p>
            <a:pPr eaLnBrk="0" hangingPunct="0"/>
            <a:endParaRPr lang="en-US" altLang="en-US" sz="1200">
              <a:latin typeface="Times" pitchFamily="18" charset="0"/>
            </a:endParaRPr>
          </a:p>
        </p:txBody>
      </p:sp>
      <p:pic>
        <p:nvPicPr>
          <p:cNvPr id="6" name="Picture 1"/>
          <p:cNvPicPr>
            <a:picLocks noChangeAspect="1" noChangeArrowheads="1"/>
          </p:cNvPicPr>
          <p:nvPr/>
        </p:nvPicPr>
        <p:blipFill>
          <a:blip r:embed="rId2"/>
          <a:srcRect/>
          <a:stretch>
            <a:fillRect/>
          </a:stretch>
        </p:blipFill>
        <p:spPr bwMode="auto">
          <a:xfrm>
            <a:off x="1524000" y="533400"/>
            <a:ext cx="6191250" cy="2171700"/>
          </a:xfrm>
          <a:prstGeom prst="rect">
            <a:avLst/>
          </a:prstGeom>
          <a:noFill/>
          <a:ln w="9525">
            <a:noFill/>
            <a:miter lim="800000"/>
            <a:headEnd/>
            <a:tailEnd/>
          </a:ln>
          <a:effectLst/>
        </p:spPr>
      </p:pic>
      <p:sp>
        <p:nvSpPr>
          <p:cNvPr id="5" name="Rectangle 2"/>
          <p:cNvSpPr>
            <a:spLocks noChangeArrowheads="1"/>
          </p:cNvSpPr>
          <p:nvPr/>
        </p:nvSpPr>
        <p:spPr bwMode="auto">
          <a:xfrm>
            <a:off x="76200" y="2514600"/>
            <a:ext cx="8458200" cy="1495794"/>
          </a:xfrm>
          <a:prstGeom prst="rect">
            <a:avLst/>
          </a:prstGeom>
          <a:noFill/>
          <a:ln w="9525">
            <a:noFill/>
            <a:miter lim="800000"/>
            <a:headEnd/>
            <a:tailEnd/>
          </a:ln>
        </p:spPr>
        <p:txBody>
          <a:bodyPr>
            <a:spAutoFit/>
          </a:bodyPr>
          <a:lstStyle/>
          <a:p>
            <a:pPr marL="3314700" indent="-3314700" algn="just">
              <a:spcBef>
                <a:spcPct val="20000"/>
              </a:spcBef>
              <a:buClr>
                <a:srgbClr val="339933"/>
              </a:buClr>
              <a:tabLst>
                <a:tab pos="2743200" algn="l"/>
              </a:tabLst>
              <a:defRPr/>
            </a:pPr>
            <a:endParaRPr lang="en-US" altLang="en-US" b="1" u="sng" dirty="0">
              <a:solidFill>
                <a:srgbClr val="000000"/>
              </a:solidFill>
            </a:endParaRPr>
          </a:p>
          <a:p>
            <a:pPr marL="3314700" indent="-3314700" algn="just">
              <a:spcBef>
                <a:spcPct val="20000"/>
              </a:spcBef>
              <a:buClr>
                <a:srgbClr val="339933"/>
              </a:buClr>
              <a:tabLst>
                <a:tab pos="2743200" algn="l"/>
              </a:tabLst>
              <a:defRPr/>
            </a:pPr>
            <a:r>
              <a:rPr lang="en-US" altLang="en-US" b="1" u="sng" dirty="0">
                <a:solidFill>
                  <a:srgbClr val="000000"/>
                </a:solidFill>
                <a:latin typeface="Times"/>
              </a:rPr>
              <a:t>B- Basic amino acids: </a:t>
            </a:r>
            <a:r>
              <a:rPr lang="en-US" altLang="en-US" dirty="0">
                <a:solidFill>
                  <a:srgbClr val="000000"/>
                </a:solidFill>
              </a:rPr>
              <a:t>Contain two or more </a:t>
            </a:r>
            <a:r>
              <a:rPr lang="en-US" dirty="0"/>
              <a:t>NH</a:t>
            </a:r>
            <a:r>
              <a:rPr lang="en-US" baseline="-25000" dirty="0"/>
              <a:t>2 </a:t>
            </a:r>
            <a:r>
              <a:rPr lang="en-US" altLang="en-US" dirty="0">
                <a:solidFill>
                  <a:srgbClr val="000000"/>
                </a:solidFill>
              </a:rPr>
              <a:t>groups or nitrogen atoms that act as base i.e. can bind proton.</a:t>
            </a:r>
          </a:p>
          <a:p>
            <a:pPr marL="3314700" indent="-3314700" algn="just">
              <a:spcBef>
                <a:spcPct val="20000"/>
              </a:spcBef>
              <a:buClr>
                <a:srgbClr val="339933"/>
              </a:buClr>
              <a:tabLst>
                <a:tab pos="2743200" algn="l"/>
              </a:tabLst>
              <a:defRPr/>
            </a:pPr>
            <a:endParaRPr lang="en-US" altLang="en-US" sz="2800" dirty="0">
              <a:solidFill>
                <a:srgbClr val="000000"/>
              </a:solidFill>
            </a:endParaRPr>
          </a:p>
        </p:txBody>
      </p:sp>
      <p:pic>
        <p:nvPicPr>
          <p:cNvPr id="7" name="Picture 2"/>
          <p:cNvPicPr>
            <a:picLocks noChangeAspect="1" noChangeArrowheads="1"/>
          </p:cNvPicPr>
          <p:nvPr/>
        </p:nvPicPr>
        <p:blipFill>
          <a:blip r:embed="rId3"/>
          <a:srcRect/>
          <a:stretch>
            <a:fillRect/>
          </a:stretch>
        </p:blipFill>
        <p:spPr bwMode="auto">
          <a:xfrm>
            <a:off x="2743200" y="3505200"/>
            <a:ext cx="4419600" cy="302572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2"/>
          <p:cNvSpPr txBox="1">
            <a:spLocks noChangeArrowheads="1"/>
          </p:cNvSpPr>
          <p:nvPr/>
        </p:nvSpPr>
        <p:spPr bwMode="auto">
          <a:xfrm>
            <a:off x="142876" y="357189"/>
            <a:ext cx="9001125" cy="3016210"/>
          </a:xfrm>
          <a:prstGeom prst="rect">
            <a:avLst/>
          </a:prstGeom>
          <a:noFill/>
          <a:ln w="9525">
            <a:noFill/>
            <a:miter lim="800000"/>
            <a:headEnd/>
            <a:tailEnd/>
          </a:ln>
        </p:spPr>
        <p:txBody>
          <a:bodyPr>
            <a:spAutoFit/>
          </a:bodyPr>
          <a:lstStyle/>
          <a:p>
            <a:r>
              <a:rPr lang="en-US" b="1" dirty="0"/>
              <a:t>C</a:t>
            </a:r>
            <a:r>
              <a:rPr lang="en-US" sz="2800" b="1" dirty="0"/>
              <a:t>- </a:t>
            </a:r>
            <a:r>
              <a:rPr lang="en-US" b="1" u="sng" dirty="0">
                <a:solidFill>
                  <a:srgbClr val="C00000"/>
                </a:solidFill>
                <a:latin typeface="Times" pitchFamily="18" charset="0"/>
              </a:rPr>
              <a:t>Acidic Amino acids</a:t>
            </a:r>
            <a:r>
              <a:rPr lang="en-US" b="1" u="sng" dirty="0" smtClean="0">
                <a:solidFill>
                  <a:srgbClr val="C00000"/>
                </a:solidFill>
                <a:latin typeface="Times" pitchFamily="18" charset="0"/>
              </a:rPr>
              <a:t>: </a:t>
            </a:r>
            <a:r>
              <a:rPr lang="en-US" altLang="en-US" dirty="0" smtClean="0">
                <a:solidFill>
                  <a:srgbClr val="000000"/>
                </a:solidFill>
              </a:rPr>
              <a:t>Contain two or more </a:t>
            </a:r>
            <a:r>
              <a:rPr lang="en-US" altLang="en-US" dirty="0" smtClean="0">
                <a:solidFill>
                  <a:srgbClr val="000000"/>
                </a:solidFill>
              </a:rPr>
              <a:t>–COOH groups  </a:t>
            </a:r>
            <a:r>
              <a:rPr lang="en-US" altLang="en-US" dirty="0" smtClean="0">
                <a:solidFill>
                  <a:srgbClr val="000000"/>
                </a:solidFill>
              </a:rPr>
              <a:t>that act as </a:t>
            </a:r>
            <a:r>
              <a:rPr lang="en-US" altLang="en-US" dirty="0" smtClean="0">
                <a:solidFill>
                  <a:srgbClr val="000000"/>
                </a:solidFill>
              </a:rPr>
              <a:t>acid </a:t>
            </a:r>
            <a:r>
              <a:rPr lang="en-US" altLang="en-US" dirty="0" smtClean="0">
                <a:solidFill>
                  <a:srgbClr val="000000"/>
                </a:solidFill>
              </a:rPr>
              <a:t>i.e. can </a:t>
            </a:r>
            <a:r>
              <a:rPr lang="en-US" altLang="en-US" dirty="0" smtClean="0">
                <a:solidFill>
                  <a:srgbClr val="000000"/>
                </a:solidFill>
              </a:rPr>
              <a:t>donate proton</a:t>
            </a:r>
            <a:r>
              <a:rPr lang="en-US" altLang="en-US" b="1" dirty="0" smtClean="0">
                <a:solidFill>
                  <a:srgbClr val="C00000"/>
                </a:solidFill>
                <a:latin typeface="Times" pitchFamily="18" charset="0"/>
              </a:rPr>
              <a:t>. </a:t>
            </a:r>
            <a:r>
              <a:rPr lang="en-US" altLang="en-US" b="1" dirty="0" smtClean="0">
                <a:solidFill>
                  <a:srgbClr val="C00000"/>
                </a:solidFill>
                <a:latin typeface="Times" pitchFamily="18" charset="0"/>
              </a:rPr>
              <a:t> </a:t>
            </a:r>
            <a:r>
              <a:rPr lang="en-US" altLang="en-US" b="1" dirty="0" smtClean="0">
                <a:solidFill>
                  <a:srgbClr val="C00000"/>
                </a:solidFill>
                <a:latin typeface="Times" pitchFamily="18" charset="0"/>
              </a:rPr>
              <a:t>A</a:t>
            </a:r>
            <a:r>
              <a:rPr lang="en-US" dirty="0" smtClean="0">
                <a:latin typeface="Times" pitchFamily="18" charset="0"/>
              </a:rPr>
              <a:t>t </a:t>
            </a:r>
            <a:r>
              <a:rPr lang="en-US" dirty="0">
                <a:latin typeface="Times" pitchFamily="18" charset="0"/>
              </a:rPr>
              <a:t>physiological pH will carry </a:t>
            </a:r>
            <a:r>
              <a:rPr lang="en-US" dirty="0" smtClean="0">
                <a:latin typeface="Times" pitchFamily="18" charset="0"/>
              </a:rPr>
              <a:t>negative charge.</a:t>
            </a:r>
            <a:r>
              <a:rPr lang="en-US" dirty="0">
                <a:latin typeface="Times" pitchFamily="18" charset="0"/>
              </a:rPr>
              <a:t> </a:t>
            </a:r>
            <a:r>
              <a:rPr lang="en-US" dirty="0" smtClean="0">
                <a:latin typeface="Times" pitchFamily="18" charset="0"/>
              </a:rPr>
              <a:t>e.g</a:t>
            </a:r>
            <a:r>
              <a:rPr lang="en-US" dirty="0">
                <a:latin typeface="Times" pitchFamily="18" charset="0"/>
              </a:rPr>
              <a:t>. Aspartic acid (</a:t>
            </a:r>
            <a:r>
              <a:rPr lang="en-US" dirty="0" err="1">
                <a:latin typeface="Times" pitchFamily="18" charset="0"/>
              </a:rPr>
              <a:t>aspartate</a:t>
            </a:r>
            <a:r>
              <a:rPr lang="en-US" dirty="0">
                <a:latin typeface="Times" pitchFamily="18" charset="0"/>
              </a:rPr>
              <a:t>) and </a:t>
            </a:r>
            <a:r>
              <a:rPr lang="en-US" dirty="0" err="1">
                <a:latin typeface="Times" pitchFamily="18" charset="0"/>
              </a:rPr>
              <a:t>Glutamic</a:t>
            </a:r>
            <a:r>
              <a:rPr lang="en-US" dirty="0">
                <a:latin typeface="Times" pitchFamily="18" charset="0"/>
              </a:rPr>
              <a:t> acid (glutamate</a:t>
            </a:r>
            <a:r>
              <a:rPr lang="en-US" dirty="0" smtClean="0">
                <a:latin typeface="Times" pitchFamily="18" charset="0"/>
              </a:rPr>
              <a:t>).</a:t>
            </a:r>
            <a:endParaRPr lang="en-US" dirty="0">
              <a:latin typeface="Times" pitchFamily="18" charset="0"/>
            </a:endParaRPr>
          </a:p>
          <a:p>
            <a:endParaRPr lang="en-US" dirty="0">
              <a:latin typeface="Times" pitchFamily="18" charset="0"/>
            </a:endParaRPr>
          </a:p>
          <a:p>
            <a:r>
              <a:rPr lang="en-US" b="1" u="sng" dirty="0" err="1">
                <a:solidFill>
                  <a:srgbClr val="C00000"/>
                </a:solidFill>
                <a:latin typeface="Times" pitchFamily="18" charset="0"/>
              </a:rPr>
              <a:t>Asparagine</a:t>
            </a:r>
            <a:r>
              <a:rPr lang="en-US" b="1" u="sng" dirty="0">
                <a:solidFill>
                  <a:srgbClr val="C00000"/>
                </a:solidFill>
                <a:latin typeface="Times" pitchFamily="18" charset="0"/>
              </a:rPr>
              <a:t> and Glutamine:</a:t>
            </a:r>
            <a:r>
              <a:rPr lang="en-US" b="1" dirty="0">
                <a:solidFill>
                  <a:srgbClr val="C00000"/>
                </a:solidFill>
                <a:latin typeface="Times" pitchFamily="18" charset="0"/>
              </a:rPr>
              <a:t> </a:t>
            </a:r>
            <a:r>
              <a:rPr lang="en-US" dirty="0">
                <a:latin typeface="Times" pitchFamily="18" charset="0"/>
              </a:rPr>
              <a:t>They are amide forms of </a:t>
            </a:r>
            <a:r>
              <a:rPr lang="en-US" dirty="0" err="1">
                <a:latin typeface="Times" pitchFamily="18" charset="0"/>
              </a:rPr>
              <a:t>aspartate</a:t>
            </a:r>
            <a:r>
              <a:rPr lang="en-US" dirty="0">
                <a:latin typeface="Times" pitchFamily="18" charset="0"/>
              </a:rPr>
              <a:t> and glutamate in which side chain COOH groups are </a:t>
            </a:r>
            <a:r>
              <a:rPr lang="en-US" dirty="0" err="1" smtClean="0">
                <a:latin typeface="Times" pitchFamily="18" charset="0"/>
              </a:rPr>
              <a:t>amidated</a:t>
            </a:r>
            <a:r>
              <a:rPr lang="en-US" dirty="0" smtClean="0">
                <a:latin typeface="Times" pitchFamily="18" charset="0"/>
              </a:rPr>
              <a:t>. They </a:t>
            </a:r>
            <a:r>
              <a:rPr lang="en-US" dirty="0">
                <a:latin typeface="Times" pitchFamily="18" charset="0"/>
              </a:rPr>
              <a:t>are classified as neutral amino acids.</a:t>
            </a:r>
          </a:p>
          <a:p>
            <a:endParaRPr lang="en-US" dirty="0">
              <a:latin typeface="Times" pitchFamily="18" charset="0"/>
            </a:endParaRPr>
          </a:p>
          <a:p>
            <a:endParaRPr lang="en-US" b="1" u="sng" dirty="0">
              <a:latin typeface="Times" pitchFamily="18" charset="0"/>
            </a:endParaRPr>
          </a:p>
          <a:p>
            <a:endParaRPr lang="ar-SA" dirty="0">
              <a:latin typeface="Times" pitchFamily="18" charset="0"/>
            </a:endParaRPr>
          </a:p>
        </p:txBody>
      </p:sp>
      <p:pic>
        <p:nvPicPr>
          <p:cNvPr id="11267" name="Picture 4"/>
          <p:cNvPicPr>
            <a:picLocks noChangeAspect="1" noChangeArrowheads="1"/>
          </p:cNvPicPr>
          <p:nvPr/>
        </p:nvPicPr>
        <p:blipFill>
          <a:blip r:embed="rId2"/>
          <a:srcRect/>
          <a:stretch>
            <a:fillRect/>
          </a:stretch>
        </p:blipFill>
        <p:spPr bwMode="auto">
          <a:xfrm>
            <a:off x="697585" y="2743202"/>
            <a:ext cx="3132137" cy="2132013"/>
          </a:xfrm>
          <a:prstGeom prst="rect">
            <a:avLst/>
          </a:prstGeom>
          <a:noFill/>
          <a:ln w="9525">
            <a:noFill/>
            <a:miter lim="800000"/>
            <a:headEnd/>
            <a:tailEnd/>
          </a:ln>
        </p:spPr>
      </p:pic>
      <p:pic>
        <p:nvPicPr>
          <p:cNvPr id="11268" name="Picture 5"/>
          <p:cNvPicPr>
            <a:picLocks noChangeAspect="1" noChangeArrowheads="1"/>
          </p:cNvPicPr>
          <p:nvPr/>
        </p:nvPicPr>
        <p:blipFill>
          <a:blip r:embed="rId3"/>
          <a:srcRect/>
          <a:stretch>
            <a:fillRect/>
          </a:stretch>
        </p:blipFill>
        <p:spPr bwMode="auto">
          <a:xfrm>
            <a:off x="5257800" y="2743200"/>
            <a:ext cx="2641600" cy="2209800"/>
          </a:xfrm>
          <a:prstGeom prst="rect">
            <a:avLst/>
          </a:prstGeom>
          <a:noFill/>
          <a:ln w="9525">
            <a:noFill/>
            <a:miter lim="800000"/>
            <a:headEnd/>
            <a:tailEnd/>
          </a:ln>
        </p:spPr>
      </p:pic>
      <p:sp>
        <p:nvSpPr>
          <p:cNvPr id="11269" name="TextBox 5"/>
          <p:cNvSpPr txBox="1">
            <a:spLocks noChangeArrowheads="1"/>
          </p:cNvSpPr>
          <p:nvPr/>
        </p:nvSpPr>
        <p:spPr bwMode="auto">
          <a:xfrm>
            <a:off x="1524000" y="5181600"/>
            <a:ext cx="6337300" cy="369332"/>
          </a:xfrm>
          <a:prstGeom prst="rect">
            <a:avLst/>
          </a:prstGeom>
          <a:noFill/>
          <a:ln w="9525">
            <a:noFill/>
            <a:miter lim="800000"/>
            <a:headEnd/>
            <a:tailEnd/>
          </a:ln>
        </p:spPr>
        <p:txBody>
          <a:bodyPr>
            <a:spAutoFit/>
          </a:bodyPr>
          <a:lstStyle/>
          <a:p>
            <a:r>
              <a:rPr lang="en-US" dirty="0"/>
              <a:t>Aspartic </a:t>
            </a:r>
            <a:r>
              <a:rPr lang="en-US" dirty="0" smtClean="0"/>
              <a:t>acid                                                            </a:t>
            </a:r>
            <a:r>
              <a:rPr lang="en-US" dirty="0" err="1" smtClean="0"/>
              <a:t>Glutamic</a:t>
            </a:r>
            <a:r>
              <a:rPr lang="en-US" dirty="0" smtClean="0"/>
              <a:t> </a:t>
            </a:r>
            <a:r>
              <a:rPr lang="en-US" dirty="0" smtClean="0"/>
              <a:t>acid</a:t>
            </a:r>
            <a:endParaRPr lang="en-IN"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
          <p:cNvSpPr>
            <a:spLocks noChangeArrowheads="1"/>
          </p:cNvSpPr>
          <p:nvPr/>
        </p:nvSpPr>
        <p:spPr bwMode="auto">
          <a:xfrm>
            <a:off x="304800" y="228602"/>
            <a:ext cx="8382000" cy="523875"/>
          </a:xfrm>
          <a:prstGeom prst="rect">
            <a:avLst/>
          </a:prstGeom>
          <a:noFill/>
          <a:ln w="9525">
            <a:noFill/>
            <a:miter lim="800000"/>
            <a:headEnd/>
            <a:tailEnd/>
          </a:ln>
        </p:spPr>
        <p:txBody>
          <a:bodyPr>
            <a:spAutoFit/>
          </a:bodyPr>
          <a:lstStyle/>
          <a:p>
            <a:pPr marL="342900" indent="-342900" algn="just">
              <a:spcBef>
                <a:spcPct val="20000"/>
              </a:spcBef>
              <a:buClr>
                <a:srgbClr val="339933"/>
              </a:buClr>
              <a:buFontTx/>
              <a:buChar char="•"/>
              <a:tabLst>
                <a:tab pos="2743200" algn="l"/>
              </a:tabLst>
            </a:pPr>
            <a:endParaRPr lang="en-US" altLang="en-US" sz="2800">
              <a:solidFill>
                <a:srgbClr val="000000"/>
              </a:solidFill>
            </a:endParaRPr>
          </a:p>
        </p:txBody>
      </p:sp>
      <p:sp>
        <p:nvSpPr>
          <p:cNvPr id="13" name="TextBox 12"/>
          <p:cNvSpPr txBox="1"/>
          <p:nvPr/>
        </p:nvSpPr>
        <p:spPr>
          <a:xfrm>
            <a:off x="0" y="228600"/>
            <a:ext cx="9144000" cy="5355312"/>
          </a:xfrm>
          <a:prstGeom prst="rect">
            <a:avLst/>
          </a:prstGeom>
          <a:noFill/>
        </p:spPr>
        <p:txBody>
          <a:bodyPr wrap="square" rtlCol="1">
            <a:spAutoFit/>
          </a:bodyPr>
          <a:lstStyle/>
          <a:p>
            <a:pPr>
              <a:defRPr/>
            </a:pPr>
            <a:endParaRPr lang="en-US" dirty="0">
              <a:latin typeface="Times"/>
            </a:endParaRPr>
          </a:p>
          <a:p>
            <a:pPr>
              <a:defRPr/>
            </a:pPr>
            <a:r>
              <a:rPr lang="en-US" b="1" u="sng" dirty="0" smtClean="0">
                <a:solidFill>
                  <a:schemeClr val="accent2">
                    <a:lumMod val="75000"/>
                  </a:schemeClr>
                </a:solidFill>
                <a:latin typeface="Times"/>
              </a:rPr>
              <a:t>II- </a:t>
            </a:r>
            <a:r>
              <a:rPr lang="en-US" b="1" u="sng" dirty="0">
                <a:solidFill>
                  <a:schemeClr val="accent2">
                    <a:lumMod val="75000"/>
                  </a:schemeClr>
                </a:solidFill>
                <a:latin typeface="Times"/>
              </a:rPr>
              <a:t>Classification according to polarity of side chain (R):</a:t>
            </a:r>
          </a:p>
          <a:p>
            <a:pPr>
              <a:defRPr/>
            </a:pPr>
            <a:endParaRPr lang="en-US" b="1" u="sng" dirty="0">
              <a:latin typeface="Times"/>
            </a:endParaRPr>
          </a:p>
          <a:p>
            <a:pPr>
              <a:defRPr/>
            </a:pPr>
            <a:r>
              <a:rPr lang="en-US" b="1" u="sng" dirty="0">
                <a:solidFill>
                  <a:srgbClr val="C00000"/>
                </a:solidFill>
                <a:latin typeface="Times"/>
              </a:rPr>
              <a:t>A- Polar amino acids: </a:t>
            </a:r>
            <a:r>
              <a:rPr lang="en-US" dirty="0">
                <a:latin typeface="Times"/>
              </a:rPr>
              <a:t>in which R contains polar hydrophilic group so can forms hydrogen bond with H</a:t>
            </a:r>
            <a:r>
              <a:rPr lang="en-US" baseline="-25000" dirty="0">
                <a:latin typeface="Times"/>
              </a:rPr>
              <a:t>2</a:t>
            </a:r>
            <a:r>
              <a:rPr lang="en-US" dirty="0">
                <a:latin typeface="Times"/>
              </a:rPr>
              <a:t>O. In those amino acids, R may contain:</a:t>
            </a:r>
          </a:p>
          <a:p>
            <a:pPr>
              <a:defRPr/>
            </a:pPr>
            <a:r>
              <a:rPr lang="en-US" dirty="0">
                <a:latin typeface="Times"/>
              </a:rPr>
              <a:t>  </a:t>
            </a:r>
          </a:p>
          <a:p>
            <a:pPr>
              <a:defRPr/>
            </a:pPr>
            <a:endParaRPr lang="en-US" u="sng" dirty="0"/>
          </a:p>
          <a:p>
            <a:pPr>
              <a:defRPr/>
            </a:pPr>
            <a:endParaRPr lang="en-US" b="1" u="sng" dirty="0" smtClean="0">
              <a:solidFill>
                <a:srgbClr val="C00000"/>
              </a:solidFill>
              <a:latin typeface="Times"/>
            </a:endParaRPr>
          </a:p>
          <a:p>
            <a:pPr>
              <a:defRPr/>
            </a:pPr>
            <a:endParaRPr lang="en-US" b="1" u="sng" dirty="0">
              <a:solidFill>
                <a:srgbClr val="C00000"/>
              </a:solidFill>
              <a:latin typeface="Times"/>
            </a:endParaRPr>
          </a:p>
          <a:p>
            <a:pPr>
              <a:defRPr/>
            </a:pPr>
            <a:endParaRPr lang="en-US" b="1" u="sng" dirty="0" smtClean="0">
              <a:solidFill>
                <a:srgbClr val="C00000"/>
              </a:solidFill>
              <a:latin typeface="Times"/>
            </a:endParaRPr>
          </a:p>
          <a:p>
            <a:pPr>
              <a:defRPr/>
            </a:pPr>
            <a:endParaRPr lang="en-US" b="1" u="sng" dirty="0">
              <a:solidFill>
                <a:srgbClr val="C00000"/>
              </a:solidFill>
              <a:latin typeface="Times"/>
            </a:endParaRPr>
          </a:p>
          <a:p>
            <a:pPr>
              <a:defRPr/>
            </a:pPr>
            <a:endParaRPr lang="en-US" b="1" u="sng" dirty="0" smtClean="0">
              <a:solidFill>
                <a:srgbClr val="C00000"/>
              </a:solidFill>
              <a:latin typeface="Times"/>
            </a:endParaRPr>
          </a:p>
          <a:p>
            <a:pPr>
              <a:defRPr/>
            </a:pPr>
            <a:endParaRPr lang="en-US" b="1" u="sng" dirty="0" smtClean="0">
              <a:solidFill>
                <a:srgbClr val="C00000"/>
              </a:solidFill>
              <a:latin typeface="Times"/>
            </a:endParaRPr>
          </a:p>
          <a:p>
            <a:pPr>
              <a:defRPr/>
            </a:pPr>
            <a:endParaRPr lang="en-US" b="1" u="sng" dirty="0">
              <a:solidFill>
                <a:srgbClr val="C00000"/>
              </a:solidFill>
              <a:latin typeface="Times"/>
            </a:endParaRPr>
          </a:p>
          <a:p>
            <a:pPr>
              <a:defRPr/>
            </a:pPr>
            <a:endParaRPr lang="en-US" b="1" u="sng" dirty="0" smtClean="0">
              <a:solidFill>
                <a:srgbClr val="C00000"/>
              </a:solidFill>
              <a:latin typeface="Times"/>
            </a:endParaRPr>
          </a:p>
          <a:p>
            <a:pPr>
              <a:defRPr/>
            </a:pPr>
            <a:r>
              <a:rPr lang="en-US" b="1" u="sng" dirty="0" smtClean="0">
                <a:solidFill>
                  <a:srgbClr val="C00000"/>
                </a:solidFill>
                <a:latin typeface="Times"/>
              </a:rPr>
              <a:t>B- </a:t>
            </a:r>
            <a:r>
              <a:rPr lang="en-US" b="1" u="sng" dirty="0">
                <a:solidFill>
                  <a:srgbClr val="C00000"/>
                </a:solidFill>
                <a:latin typeface="Times"/>
              </a:rPr>
              <a:t>Non polar amino acids: </a:t>
            </a:r>
          </a:p>
          <a:p>
            <a:pPr>
              <a:defRPr/>
            </a:pPr>
            <a:r>
              <a:rPr lang="en-US" dirty="0">
                <a:latin typeface="Times"/>
              </a:rPr>
              <a:t>R is alkyl hydrophobic group which can’t  enter in hydrogen </a:t>
            </a:r>
            <a:r>
              <a:rPr lang="en-US" dirty="0" smtClean="0">
                <a:latin typeface="Times"/>
              </a:rPr>
              <a:t>bond </a:t>
            </a:r>
            <a:r>
              <a:rPr lang="en-US" dirty="0">
                <a:latin typeface="Times"/>
              </a:rPr>
              <a:t>formation. </a:t>
            </a:r>
            <a:endParaRPr lang="en-US" dirty="0"/>
          </a:p>
          <a:p>
            <a:pPr>
              <a:defRPr/>
            </a:pPr>
            <a:endParaRPr lang="en-US" dirty="0"/>
          </a:p>
          <a:p>
            <a:pPr>
              <a:defRPr/>
            </a:pPr>
            <a:endParaRPr lang="ar-SA" dirty="0"/>
          </a:p>
        </p:txBody>
      </p:sp>
      <p:pic>
        <p:nvPicPr>
          <p:cNvPr id="4" name="Picture 1"/>
          <p:cNvPicPr>
            <a:picLocks noChangeAspect="1" noChangeArrowheads="1"/>
          </p:cNvPicPr>
          <p:nvPr/>
        </p:nvPicPr>
        <p:blipFill>
          <a:blip r:embed="rId2"/>
          <a:srcRect/>
          <a:stretch>
            <a:fillRect/>
          </a:stretch>
        </p:blipFill>
        <p:spPr bwMode="auto">
          <a:xfrm>
            <a:off x="304800" y="1828800"/>
            <a:ext cx="8514522" cy="228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srcRect/>
          <a:stretch>
            <a:fillRect/>
          </a:stretch>
        </p:blipFill>
        <p:spPr bwMode="auto">
          <a:xfrm>
            <a:off x="838200" y="228600"/>
            <a:ext cx="7391400" cy="3332334"/>
          </a:xfrm>
          <a:prstGeom prst="rect">
            <a:avLst/>
          </a:prstGeom>
          <a:noFill/>
          <a:ln w="9525">
            <a:noFill/>
            <a:miter lim="800000"/>
            <a:headEnd/>
            <a:tailEnd/>
          </a:ln>
          <a:effectLst/>
        </p:spPr>
      </p:pic>
      <p:pic>
        <p:nvPicPr>
          <p:cNvPr id="5" name="Picture 3"/>
          <p:cNvPicPr>
            <a:picLocks noChangeAspect="1" noChangeArrowheads="1"/>
          </p:cNvPicPr>
          <p:nvPr/>
        </p:nvPicPr>
        <p:blipFill>
          <a:blip r:embed="rId3"/>
          <a:srcRect l="1347" t="4605" r="1617" b="7663"/>
          <a:stretch>
            <a:fillRect/>
          </a:stretch>
        </p:blipFill>
        <p:spPr bwMode="auto">
          <a:xfrm>
            <a:off x="762000" y="3525895"/>
            <a:ext cx="7696200" cy="333210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321" y="1"/>
            <a:ext cx="8071029" cy="1690688"/>
          </a:xfrm>
        </p:spPr>
        <p:txBody>
          <a:bodyPr>
            <a:normAutofit/>
          </a:bodyPr>
          <a:lstStyle/>
          <a:p>
            <a:r>
              <a:rPr lang="en-US" sz="5400" b="1" dirty="0" smtClean="0"/>
              <a:t>Proteins</a:t>
            </a:r>
            <a:endParaRPr lang="en-US" sz="5400" b="1" dirty="0"/>
          </a:p>
        </p:txBody>
      </p:sp>
      <p:pic>
        <p:nvPicPr>
          <p:cNvPr id="6" name="Picture 2"/>
          <p:cNvPicPr>
            <a:picLocks noChangeAspect="1" noChangeArrowheads="1"/>
          </p:cNvPicPr>
          <p:nvPr/>
        </p:nvPicPr>
        <p:blipFill>
          <a:blip r:embed="rId2"/>
          <a:srcRect/>
          <a:stretch>
            <a:fillRect/>
          </a:stretch>
        </p:blipFill>
        <p:spPr bwMode="auto">
          <a:xfrm>
            <a:off x="0" y="3505200"/>
            <a:ext cx="9067800" cy="2905125"/>
          </a:xfrm>
          <a:prstGeom prst="rect">
            <a:avLst/>
          </a:prstGeom>
          <a:noFill/>
          <a:ln w="9525">
            <a:noFill/>
            <a:miter lim="800000"/>
            <a:headEnd/>
            <a:tailEnd/>
          </a:ln>
          <a:effectLst/>
        </p:spPr>
      </p:pic>
      <p:sp>
        <p:nvSpPr>
          <p:cNvPr id="9" name="Content Placeholder 2"/>
          <p:cNvSpPr>
            <a:spLocks noGrp="1"/>
          </p:cNvSpPr>
          <p:nvPr>
            <p:ph idx="1"/>
          </p:nvPr>
        </p:nvSpPr>
        <p:spPr>
          <a:xfrm>
            <a:off x="0" y="1219200"/>
            <a:ext cx="8727584" cy="4525963"/>
          </a:xfrm>
        </p:spPr>
        <p:txBody>
          <a:bodyPr>
            <a:normAutofit/>
          </a:bodyPr>
          <a:lstStyle/>
          <a:p>
            <a:pPr algn="just"/>
            <a:r>
              <a:rPr lang="en-US" sz="2400" dirty="0" smtClean="0"/>
              <a:t>A protein is a biopolymer of molecular weight typically of 5000 g/mol or greater, and is made up of one or more polypeptide chains.</a:t>
            </a:r>
          </a:p>
          <a:p>
            <a:pPr algn="just"/>
            <a:r>
              <a:rPr lang="en-US" sz="2400" dirty="0" smtClean="0"/>
              <a:t>The alpha-amino acids that occurs in nearly all proteins are L optical isomers.</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685800" y="2209800"/>
          <a:ext cx="8000999" cy="4462874"/>
        </p:xfrm>
        <a:graphic>
          <a:graphicData uri="http://schemas.openxmlformats.org/drawingml/2006/table">
            <a:tbl>
              <a:tblPr firstRow="1" bandRow="1">
                <a:tableStyleId>{F5AB1C69-6EDB-4FF4-983F-18BD219EF322}</a:tableStyleId>
              </a:tblPr>
              <a:tblGrid>
                <a:gridCol w="1941419"/>
                <a:gridCol w="1941419"/>
                <a:gridCol w="4118161"/>
              </a:tblGrid>
              <a:tr h="289748">
                <a:tc>
                  <a:txBody>
                    <a:bodyPr/>
                    <a:lstStyle/>
                    <a:p>
                      <a:r>
                        <a:rPr lang="en-US" sz="1400" dirty="0" smtClean="0"/>
                        <a:t>Class</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Example</a:t>
                      </a:r>
                    </a:p>
                  </a:txBody>
                  <a:tcPr/>
                </a:tc>
                <a:tc>
                  <a:txBody>
                    <a:bodyPr/>
                    <a:lstStyle/>
                    <a:p>
                      <a:r>
                        <a:rPr lang="en-US" sz="1400" dirty="0" smtClean="0"/>
                        <a:t>Function</a:t>
                      </a:r>
                      <a:endParaRPr lang="en-US" sz="1400" dirty="0"/>
                    </a:p>
                  </a:txBody>
                  <a:tcPr/>
                </a:tc>
              </a:tr>
              <a:tr h="289748">
                <a:tc>
                  <a:txBody>
                    <a:bodyPr/>
                    <a:lstStyle/>
                    <a:p>
                      <a:r>
                        <a:rPr lang="en-US" sz="1400" dirty="0" smtClean="0"/>
                        <a:t>Enzymes</a:t>
                      </a:r>
                    </a:p>
                  </a:txBody>
                  <a:tcPr/>
                </a:tc>
                <a:tc>
                  <a:txBody>
                    <a:bodyPr/>
                    <a:lstStyle/>
                    <a:p>
                      <a:r>
                        <a:rPr lang="en-US" sz="1400" dirty="0" smtClean="0"/>
                        <a:t>amylase</a:t>
                      </a:r>
                      <a:endParaRPr lang="en-US" sz="1400" dirty="0"/>
                    </a:p>
                  </a:txBody>
                  <a:tcPr/>
                </a:tc>
                <a:tc>
                  <a:txBody>
                    <a:bodyPr/>
                    <a:lstStyle/>
                    <a:p>
                      <a:r>
                        <a:rPr lang="en-US" sz="1400" dirty="0" smtClean="0"/>
                        <a:t>Converts starch to glucose</a:t>
                      </a:r>
                      <a:endParaRPr lang="en-US" sz="1400" dirty="0"/>
                    </a:p>
                  </a:txBody>
                  <a:tcPr/>
                </a:tc>
              </a:tr>
              <a:tr h="289748">
                <a:tc>
                  <a:txBody>
                    <a:bodyPr/>
                    <a:lstStyle/>
                    <a:p>
                      <a:endParaRPr lang="en-US" sz="1400"/>
                    </a:p>
                  </a:txBody>
                  <a:tcPr/>
                </a:tc>
                <a:tc>
                  <a:txBody>
                    <a:bodyPr/>
                    <a:lstStyle/>
                    <a:p>
                      <a:r>
                        <a:rPr lang="en-US" sz="1400" dirty="0" smtClean="0"/>
                        <a:t>DNA polymerase I</a:t>
                      </a:r>
                      <a:endParaRPr lang="en-US" sz="1400" dirty="0"/>
                    </a:p>
                  </a:txBody>
                  <a:tcPr/>
                </a:tc>
                <a:tc>
                  <a:txBody>
                    <a:bodyPr/>
                    <a:lstStyle/>
                    <a:p>
                      <a:r>
                        <a:rPr lang="en-US" sz="1400" dirty="0" smtClean="0"/>
                        <a:t>Repairs DNA molecule</a:t>
                      </a:r>
                      <a:endParaRPr lang="en-US" sz="1400" dirty="0"/>
                    </a:p>
                  </a:txBody>
                  <a:tcPr/>
                </a:tc>
              </a:tr>
              <a:tr h="500474">
                <a:tc>
                  <a:txBody>
                    <a:bodyPr/>
                    <a:lstStyle/>
                    <a:p>
                      <a:endParaRPr lang="en-US" sz="1400" dirty="0"/>
                    </a:p>
                  </a:txBody>
                  <a:tcPr/>
                </a:tc>
                <a:tc>
                  <a:txBody>
                    <a:bodyPr/>
                    <a:lstStyle/>
                    <a:p>
                      <a:r>
                        <a:rPr lang="en-US" sz="1400" dirty="0" smtClean="0"/>
                        <a:t>Trans amine</a:t>
                      </a:r>
                      <a:endParaRPr lang="en-US" sz="1400" dirty="0"/>
                    </a:p>
                  </a:txBody>
                  <a:tcPr/>
                </a:tc>
                <a:tc>
                  <a:txBody>
                    <a:bodyPr/>
                    <a:lstStyle/>
                    <a:p>
                      <a:r>
                        <a:rPr lang="en-US" sz="1400" dirty="0" smtClean="0"/>
                        <a:t>Transfer amino group from one amino acid to another</a:t>
                      </a:r>
                      <a:endParaRPr lang="en-US" sz="1400" dirty="0"/>
                    </a:p>
                  </a:txBody>
                  <a:tcPr/>
                </a:tc>
              </a:tr>
              <a:tr h="289748">
                <a:tc>
                  <a:txBody>
                    <a:bodyPr/>
                    <a:lstStyle/>
                    <a:p>
                      <a:r>
                        <a:rPr lang="en-US" sz="1400" dirty="0" smtClean="0"/>
                        <a:t>Structural proteins</a:t>
                      </a:r>
                      <a:endParaRPr lang="en-US" sz="1400" dirty="0"/>
                    </a:p>
                  </a:txBody>
                  <a:tcPr/>
                </a:tc>
                <a:tc>
                  <a:txBody>
                    <a:bodyPr/>
                    <a:lstStyle/>
                    <a:p>
                      <a:r>
                        <a:rPr lang="en-US" sz="1400" dirty="0" smtClean="0"/>
                        <a:t>Viral coat protein</a:t>
                      </a:r>
                      <a:endParaRPr lang="en-US" sz="1400" dirty="0"/>
                    </a:p>
                  </a:txBody>
                  <a:tcPr/>
                </a:tc>
                <a:tc>
                  <a:txBody>
                    <a:bodyPr/>
                    <a:lstStyle/>
                    <a:p>
                      <a:r>
                        <a:rPr lang="en-US" sz="1400" dirty="0" smtClean="0"/>
                        <a:t>Outer covering of virus</a:t>
                      </a:r>
                      <a:endParaRPr lang="en-US" sz="1400" dirty="0"/>
                    </a:p>
                  </a:txBody>
                  <a:tcPr/>
                </a:tc>
              </a:tr>
              <a:tr h="289748">
                <a:tc>
                  <a:txBody>
                    <a:bodyPr/>
                    <a:lstStyle/>
                    <a:p>
                      <a:endParaRPr lang="en-US" sz="1400" dirty="0"/>
                    </a:p>
                  </a:txBody>
                  <a:tcPr/>
                </a:tc>
                <a:tc>
                  <a:txBody>
                    <a:bodyPr/>
                    <a:lstStyle/>
                    <a:p>
                      <a:r>
                        <a:rPr lang="en-US" sz="1400" dirty="0" smtClean="0"/>
                        <a:t>keratin</a:t>
                      </a:r>
                      <a:endParaRPr lang="en-US" sz="1400" dirty="0"/>
                    </a:p>
                  </a:txBody>
                  <a:tcPr/>
                </a:tc>
                <a:tc>
                  <a:txBody>
                    <a:bodyPr/>
                    <a:lstStyle/>
                    <a:p>
                      <a:r>
                        <a:rPr lang="en-US" sz="1400" dirty="0" smtClean="0"/>
                        <a:t>Hairs, nails, horns,</a:t>
                      </a:r>
                      <a:r>
                        <a:rPr lang="en-US" sz="1400" baseline="0" dirty="0" smtClean="0"/>
                        <a:t> hoofs</a:t>
                      </a:r>
                      <a:endParaRPr lang="en-US" sz="1400" dirty="0"/>
                    </a:p>
                  </a:txBody>
                  <a:tcPr/>
                </a:tc>
              </a:tr>
              <a:tr h="289748">
                <a:tc>
                  <a:txBody>
                    <a:bodyPr/>
                    <a:lstStyle/>
                    <a:p>
                      <a:endParaRPr lang="en-US" sz="1400"/>
                    </a:p>
                  </a:txBody>
                  <a:tcPr/>
                </a:tc>
                <a:tc>
                  <a:txBody>
                    <a:bodyPr/>
                    <a:lstStyle/>
                    <a:p>
                      <a:r>
                        <a:rPr lang="en-US" sz="1400" dirty="0" smtClean="0"/>
                        <a:t>collagen</a:t>
                      </a:r>
                      <a:endParaRPr lang="en-US" sz="1400" dirty="0"/>
                    </a:p>
                  </a:txBody>
                  <a:tcPr/>
                </a:tc>
                <a:tc>
                  <a:txBody>
                    <a:bodyPr/>
                    <a:lstStyle/>
                    <a:p>
                      <a:r>
                        <a:rPr lang="en-US" sz="1400" dirty="0" smtClean="0"/>
                        <a:t>Tendons, cartilage</a:t>
                      </a:r>
                      <a:endParaRPr lang="en-US" sz="1400" dirty="0"/>
                    </a:p>
                  </a:txBody>
                  <a:tcPr/>
                </a:tc>
              </a:tr>
              <a:tr h="289748">
                <a:tc>
                  <a:txBody>
                    <a:bodyPr/>
                    <a:lstStyle/>
                    <a:p>
                      <a:r>
                        <a:rPr lang="en-US" sz="1400" dirty="0" smtClean="0"/>
                        <a:t>Hormones</a:t>
                      </a:r>
                      <a:endParaRPr lang="en-US" sz="1400" dirty="0"/>
                    </a:p>
                  </a:txBody>
                  <a:tcPr/>
                </a:tc>
                <a:tc>
                  <a:txBody>
                    <a:bodyPr/>
                    <a:lstStyle/>
                    <a:p>
                      <a:r>
                        <a:rPr lang="en-US" sz="1400" dirty="0" smtClean="0"/>
                        <a:t>Insulin, glucagon</a:t>
                      </a:r>
                      <a:endParaRPr lang="en-US" sz="1400" dirty="0"/>
                    </a:p>
                  </a:txBody>
                  <a:tcPr/>
                </a:tc>
                <a:tc>
                  <a:txBody>
                    <a:bodyPr/>
                    <a:lstStyle/>
                    <a:p>
                      <a:r>
                        <a:rPr lang="en-US" sz="1400" dirty="0" smtClean="0"/>
                        <a:t>Regulates glucose metabolism</a:t>
                      </a:r>
                      <a:endParaRPr lang="en-US" sz="1400" dirty="0"/>
                    </a:p>
                  </a:txBody>
                  <a:tcPr/>
                </a:tc>
              </a:tr>
              <a:tr h="289748">
                <a:tc>
                  <a:txBody>
                    <a:bodyPr/>
                    <a:lstStyle/>
                    <a:p>
                      <a:endParaRPr lang="en-US" sz="1400" dirty="0"/>
                    </a:p>
                  </a:txBody>
                  <a:tcPr/>
                </a:tc>
                <a:tc>
                  <a:txBody>
                    <a:bodyPr/>
                    <a:lstStyle/>
                    <a:p>
                      <a:r>
                        <a:rPr lang="en-US" sz="1400" dirty="0" err="1" smtClean="0"/>
                        <a:t>oxytocin</a:t>
                      </a:r>
                      <a:endParaRPr lang="en-US" sz="1400" dirty="0"/>
                    </a:p>
                  </a:txBody>
                  <a:tcPr/>
                </a:tc>
                <a:tc>
                  <a:txBody>
                    <a:bodyPr/>
                    <a:lstStyle/>
                    <a:p>
                      <a:r>
                        <a:rPr lang="en-US" sz="1400" dirty="0" smtClean="0"/>
                        <a:t>Regulates milk production in mammals</a:t>
                      </a:r>
                      <a:endParaRPr lang="en-US" sz="1400" dirty="0"/>
                    </a:p>
                  </a:txBody>
                  <a:tcPr/>
                </a:tc>
              </a:tr>
              <a:tr h="289748">
                <a:tc>
                  <a:txBody>
                    <a:bodyPr/>
                    <a:lstStyle/>
                    <a:p>
                      <a:endParaRPr lang="en-US" sz="1400" dirty="0"/>
                    </a:p>
                  </a:txBody>
                  <a:tcPr/>
                </a:tc>
                <a:tc>
                  <a:txBody>
                    <a:bodyPr/>
                    <a:lstStyle/>
                    <a:p>
                      <a:r>
                        <a:rPr lang="en-US" sz="1400" dirty="0" smtClean="0"/>
                        <a:t>vasopressin</a:t>
                      </a:r>
                      <a:endParaRPr lang="en-US" sz="1400" dirty="0"/>
                    </a:p>
                  </a:txBody>
                  <a:tcPr/>
                </a:tc>
                <a:tc>
                  <a:txBody>
                    <a:bodyPr/>
                    <a:lstStyle/>
                    <a:p>
                      <a:r>
                        <a:rPr lang="en-US" sz="1400" dirty="0" smtClean="0"/>
                        <a:t>Increase retention</a:t>
                      </a:r>
                      <a:r>
                        <a:rPr lang="en-US" sz="1400" baseline="0" dirty="0" smtClean="0"/>
                        <a:t> of water by kidney</a:t>
                      </a:r>
                      <a:endParaRPr lang="en-US" sz="1400" dirty="0"/>
                    </a:p>
                  </a:txBody>
                  <a:tcPr/>
                </a:tc>
              </a:tr>
              <a:tr h="289748">
                <a:tc>
                  <a:txBody>
                    <a:bodyPr/>
                    <a:lstStyle/>
                    <a:p>
                      <a:r>
                        <a:rPr lang="en-US" sz="1400" dirty="0" smtClean="0"/>
                        <a:t>Contractile proteins</a:t>
                      </a:r>
                      <a:endParaRPr lang="en-US" sz="1400" dirty="0"/>
                    </a:p>
                  </a:txBody>
                  <a:tcPr/>
                </a:tc>
                <a:tc>
                  <a:txBody>
                    <a:bodyPr/>
                    <a:lstStyle/>
                    <a:p>
                      <a:r>
                        <a:rPr lang="en-US" sz="1400" dirty="0" err="1" smtClean="0"/>
                        <a:t>aucin</a:t>
                      </a:r>
                      <a:endParaRPr lang="en-US" sz="1400" dirty="0">
                        <a:solidFill>
                          <a:srgbClr val="FF0000"/>
                        </a:solidFill>
                      </a:endParaRPr>
                    </a:p>
                  </a:txBody>
                  <a:tcPr/>
                </a:tc>
                <a:tc>
                  <a:txBody>
                    <a:bodyPr/>
                    <a:lstStyle/>
                    <a:p>
                      <a:r>
                        <a:rPr lang="en-US" sz="1400" dirty="0" smtClean="0"/>
                        <a:t>Thin contractile</a:t>
                      </a:r>
                      <a:r>
                        <a:rPr lang="en-US" sz="1400" baseline="0" dirty="0" smtClean="0"/>
                        <a:t> filaments in muscle</a:t>
                      </a:r>
                      <a:endParaRPr lang="en-US" sz="1400" dirty="0"/>
                    </a:p>
                  </a:txBody>
                  <a:tcPr/>
                </a:tc>
              </a:tr>
              <a:tr h="289748">
                <a:tc>
                  <a:txBody>
                    <a:bodyPr/>
                    <a:lstStyle/>
                    <a:p>
                      <a:endParaRPr lang="en-US" sz="1400" dirty="0"/>
                    </a:p>
                  </a:txBody>
                  <a:tcPr/>
                </a:tc>
                <a:tc>
                  <a:txBody>
                    <a:bodyPr/>
                    <a:lstStyle/>
                    <a:p>
                      <a:r>
                        <a:rPr lang="en-US" sz="1400" dirty="0" smtClean="0"/>
                        <a:t>myosin</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Thick </a:t>
                      </a:r>
                      <a:r>
                        <a:rPr lang="en-US" sz="1400" baseline="0" dirty="0" smtClean="0"/>
                        <a:t> filaments in muscle</a:t>
                      </a:r>
                      <a:endParaRPr lang="en-US" sz="1400" dirty="0" smtClean="0"/>
                    </a:p>
                  </a:txBody>
                  <a:tcPr/>
                </a:tc>
              </a:tr>
              <a:tr h="289748">
                <a:tc>
                  <a:txBody>
                    <a:bodyPr/>
                    <a:lstStyle/>
                    <a:p>
                      <a:r>
                        <a:rPr lang="en-US" sz="1400" dirty="0" smtClean="0"/>
                        <a:t>Storage proteins</a:t>
                      </a:r>
                      <a:endParaRPr lang="en-US" sz="1400" dirty="0"/>
                    </a:p>
                  </a:txBody>
                  <a:tcPr/>
                </a:tc>
                <a:tc>
                  <a:txBody>
                    <a:bodyPr/>
                    <a:lstStyle/>
                    <a:p>
                      <a:r>
                        <a:rPr lang="en-US" sz="1400" dirty="0" smtClean="0"/>
                        <a:t>casein</a:t>
                      </a:r>
                      <a:endParaRPr lang="en-US" sz="1400" dirty="0">
                        <a:solidFill>
                          <a:srgbClr val="FF0000"/>
                        </a:solidFill>
                      </a:endParaRPr>
                    </a:p>
                  </a:txBody>
                  <a:tcPr/>
                </a:tc>
                <a:tc>
                  <a:txBody>
                    <a:bodyPr/>
                    <a:lstStyle/>
                    <a:p>
                      <a:r>
                        <a:rPr lang="en-US" sz="1400" dirty="0" smtClean="0"/>
                        <a:t>A nutrient</a:t>
                      </a:r>
                      <a:r>
                        <a:rPr lang="en-US" sz="1400" baseline="0" dirty="0" smtClean="0"/>
                        <a:t> protein in milk</a:t>
                      </a:r>
                      <a:endParaRPr lang="en-US" sz="1400" dirty="0"/>
                    </a:p>
                  </a:txBody>
                  <a:tcPr/>
                </a:tc>
              </a:tr>
              <a:tr h="289748">
                <a:tc>
                  <a:txBody>
                    <a:bodyPr/>
                    <a:lstStyle/>
                    <a:p>
                      <a:endParaRPr lang="en-US" sz="1400" dirty="0"/>
                    </a:p>
                  </a:txBody>
                  <a:tcPr/>
                </a:tc>
                <a:tc>
                  <a:txBody>
                    <a:bodyPr/>
                    <a:lstStyle/>
                    <a:p>
                      <a:r>
                        <a:rPr lang="en-US" sz="1400" dirty="0" err="1" smtClean="0"/>
                        <a:t>ferritin</a:t>
                      </a:r>
                      <a:endParaRPr lang="en-US" sz="1400" dirty="0"/>
                    </a:p>
                  </a:txBody>
                  <a:tcPr/>
                </a:tc>
                <a:tc>
                  <a:txBody>
                    <a:bodyPr/>
                    <a:lstStyle/>
                    <a:p>
                      <a:r>
                        <a:rPr lang="en-US" sz="1400" dirty="0" smtClean="0"/>
                        <a:t>Stores</a:t>
                      </a:r>
                      <a:r>
                        <a:rPr lang="en-US" sz="1400" baseline="0" dirty="0" smtClean="0"/>
                        <a:t> iron in spleen and egg yolk</a:t>
                      </a:r>
                      <a:endParaRPr lang="en-US" sz="1400" dirty="0"/>
                    </a:p>
                  </a:txBody>
                  <a:tcPr/>
                </a:tc>
              </a:tr>
            </a:tbl>
          </a:graphicData>
        </a:graphic>
      </p:graphicFrame>
      <p:sp>
        <p:nvSpPr>
          <p:cNvPr id="5" name="TextBox 4"/>
          <p:cNvSpPr txBox="1">
            <a:spLocks noChangeArrowheads="1"/>
          </p:cNvSpPr>
          <p:nvPr/>
        </p:nvSpPr>
        <p:spPr bwMode="auto">
          <a:xfrm>
            <a:off x="609600" y="1905000"/>
            <a:ext cx="3962400" cy="707886"/>
          </a:xfrm>
          <a:prstGeom prst="rect">
            <a:avLst/>
          </a:prstGeom>
          <a:noFill/>
          <a:ln w="9525">
            <a:noFill/>
            <a:miter lim="800000"/>
            <a:headEnd/>
            <a:tailEnd/>
          </a:ln>
        </p:spPr>
        <p:txBody>
          <a:bodyPr wrap="square">
            <a:spAutoFit/>
          </a:bodyPr>
          <a:lstStyle/>
          <a:p>
            <a:r>
              <a:rPr lang="en-US" sz="2000" b="1" dirty="0" smtClean="0"/>
              <a:t>Table 3: </a:t>
            </a:r>
            <a:r>
              <a:rPr lang="en-US" sz="2000" dirty="0" smtClean="0"/>
              <a:t>Functions of </a:t>
            </a:r>
            <a:r>
              <a:rPr lang="en-US" sz="2000" dirty="0" smtClean="0"/>
              <a:t>som</a:t>
            </a:r>
            <a:r>
              <a:rPr lang="en-US" sz="2000" dirty="0" smtClean="0"/>
              <a:t>e </a:t>
            </a:r>
            <a:r>
              <a:rPr lang="en-US" sz="2000" dirty="0" smtClean="0"/>
              <a:t>proteins </a:t>
            </a:r>
            <a:endParaRPr lang="en-US" sz="2000" dirty="0" smtClean="0"/>
          </a:p>
          <a:p>
            <a:endParaRPr lang="en-US" sz="2000" b="1" dirty="0"/>
          </a:p>
        </p:txBody>
      </p:sp>
      <p:sp>
        <p:nvSpPr>
          <p:cNvPr id="6" name="Content Placeholder 2"/>
          <p:cNvSpPr txBox="1">
            <a:spLocks/>
          </p:cNvSpPr>
          <p:nvPr/>
        </p:nvSpPr>
        <p:spPr>
          <a:xfrm>
            <a:off x="0" y="0"/>
            <a:ext cx="9144000" cy="4351338"/>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tabLst/>
              <a:defRPr/>
            </a:pPr>
            <a:r>
              <a:rPr kumimoji="0" lang="en-US" sz="2000" b="1" i="0" u="none" strike="noStrike" kern="1200" cap="none" spc="0" normalizeH="0" baseline="0" noProof="0" dirty="0" smtClean="0">
                <a:ln>
                  <a:noFill/>
                </a:ln>
                <a:solidFill>
                  <a:schemeClr val="tx1"/>
                </a:solidFill>
                <a:effectLst/>
                <a:uLnTx/>
                <a:uFillTx/>
                <a:latin typeface="+mn-lt"/>
                <a:ea typeface="+mn-ea"/>
                <a:cs typeface="+mn-cs"/>
              </a:rPr>
              <a:t>	Functions</a:t>
            </a:r>
            <a:r>
              <a:rPr kumimoji="0" lang="en-US" sz="2000" b="1" i="0" u="none" strike="noStrike" kern="1200" cap="none" spc="0" normalizeH="0" noProof="0" dirty="0" smtClean="0">
                <a:ln>
                  <a:noFill/>
                </a:ln>
                <a:solidFill>
                  <a:schemeClr val="tx1"/>
                </a:solidFill>
                <a:effectLst/>
                <a:uLnTx/>
                <a:uFillTx/>
                <a:latin typeface="+mn-lt"/>
                <a:ea typeface="+mn-ea"/>
                <a:cs typeface="+mn-cs"/>
              </a:rPr>
              <a:t> of Proteins</a:t>
            </a:r>
          </a:p>
          <a:p>
            <a:pPr marL="342900" marR="0" lvl="0" indent="-342900" algn="just" defTabSz="9144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	Proteins make up more than 50 % of the dry weight of animals and bacteria. Proteins perform so many important functions in living organisms a few of which are indicated in table below. Each protein carries out a specific biochemical function. For example, an enzyme is a protein that catalyses a biochemical reaction. Each enzyme is having a specific function.</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Structures of Proteins</a:t>
            </a:r>
            <a:endParaRPr lang="en-US" dirty="0"/>
          </a:p>
        </p:txBody>
      </p:sp>
      <p:sp>
        <p:nvSpPr>
          <p:cNvPr id="3" name="Content Placeholder 2"/>
          <p:cNvSpPr>
            <a:spLocks noGrp="1"/>
          </p:cNvSpPr>
          <p:nvPr>
            <p:ph idx="1"/>
          </p:nvPr>
        </p:nvSpPr>
        <p:spPr>
          <a:xfrm>
            <a:off x="533400" y="838200"/>
            <a:ext cx="8229600" cy="4867141"/>
          </a:xfrm>
        </p:spPr>
        <p:txBody>
          <a:bodyPr>
            <a:noAutofit/>
          </a:bodyPr>
          <a:lstStyle/>
          <a:p>
            <a:pPr marL="514350" indent="-514350" algn="just">
              <a:buFont typeface="+mj-lt"/>
              <a:buAutoNum type="arabicPeriod"/>
            </a:pPr>
            <a:r>
              <a:rPr lang="en-US" sz="1800" b="1" dirty="0" smtClean="0"/>
              <a:t>Primary structure</a:t>
            </a:r>
            <a:r>
              <a:rPr lang="en-US" sz="1800" dirty="0" smtClean="0"/>
              <a:t>: Each protein consists of one or more polypeptide chains with unique sequence of amino acids. The order of sequence of amino acids monomers on the polypeptide chain of a protein, is termed as the primary structure of such protein.</a:t>
            </a:r>
          </a:p>
          <a:p>
            <a:pPr marL="514350" indent="-514350" algn="just">
              <a:buFont typeface="+mj-lt"/>
              <a:buAutoNum type="arabicPeriod"/>
            </a:pPr>
            <a:r>
              <a:rPr lang="en-US" sz="1800" b="1" dirty="0" smtClean="0"/>
              <a:t>Secondary structure</a:t>
            </a:r>
            <a:r>
              <a:rPr lang="en-US" sz="1800" dirty="0" smtClean="0"/>
              <a:t>: The many possible interactions between different amino acids in the polypeptide chain cause each protein molecule to adopt a characteristic shape, usually depending on its environment. The secondary structure of protein is the arrangement in space of the polypeptide backbone, without reference to conformations of the side chain (R). In general proteins fold into two broad classes of structure termed, globular proteins and fibrous proteins. Globular proteins are compactly folded and coiled, whereas, fibrous proteins are more filamentous or elongated.  It can be helices, sheets, turns/loops e.g. Myoglobin is referred to as globular protein.</a:t>
            </a:r>
          </a:p>
          <a:p>
            <a:pPr marL="514350" indent="-514350" algn="just">
              <a:buFont typeface="+mj-lt"/>
              <a:buAutoNum type="arabicPeriod"/>
            </a:pPr>
            <a:r>
              <a:rPr lang="en-US" sz="1800" b="1" dirty="0" smtClean="0"/>
              <a:t>Tertiary structure</a:t>
            </a:r>
            <a:r>
              <a:rPr lang="en-US" sz="1800" dirty="0" smtClean="0"/>
              <a:t>: A tertiary structure of protein describes the overall shape of the protein, including side chain and any other non-peptide components of proteins. </a:t>
            </a:r>
          </a:p>
          <a:p>
            <a:pPr marL="514350" indent="-514350" algn="just">
              <a:buFont typeface="+mj-lt"/>
              <a:buAutoNum type="arabicPeriod"/>
            </a:pPr>
            <a:r>
              <a:rPr lang="en-US" sz="1800" b="1" dirty="0" smtClean="0"/>
              <a:t>Quaternary structure</a:t>
            </a:r>
            <a:r>
              <a:rPr lang="en-US" sz="1800" dirty="0" smtClean="0"/>
              <a:t>: Some proteins consists of multiple polypeptides units called subunits which are held together by  non covalent interactions such as hydrogen bonding, dipole-dipole interactions or ionic attractions to form a quaternary structure of protein.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endParaRPr lang="en-US" dirty="0"/>
          </a:p>
        </p:txBody>
      </p:sp>
      <p:pic>
        <p:nvPicPr>
          <p:cNvPr id="4" name="Picture 2"/>
          <p:cNvPicPr>
            <a:picLocks noChangeAspect="1" noChangeArrowheads="1"/>
          </p:cNvPicPr>
          <p:nvPr/>
        </p:nvPicPr>
        <p:blipFill>
          <a:blip r:embed="rId2"/>
          <a:srcRect/>
          <a:stretch>
            <a:fillRect/>
          </a:stretch>
        </p:blipFill>
        <p:spPr bwMode="auto">
          <a:xfrm>
            <a:off x="0" y="404815"/>
            <a:ext cx="9144000" cy="6048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2"/>
            <a:ext cx="8229600" cy="4906963"/>
          </a:xfrm>
        </p:spPr>
        <p:txBody>
          <a:bodyPr>
            <a:normAutofit/>
          </a:bodyPr>
          <a:lstStyle/>
          <a:p>
            <a:pPr algn="ctr">
              <a:buNone/>
            </a:pPr>
            <a:endParaRPr lang="en-US" sz="8800" dirty="0" smtClean="0">
              <a:latin typeface="Times New Roman" pitchFamily="18" charset="0"/>
              <a:cs typeface="Times New Roman" pitchFamily="18" charset="0"/>
            </a:endParaRPr>
          </a:p>
          <a:p>
            <a:pPr algn="ctr">
              <a:buNone/>
            </a:pPr>
            <a:r>
              <a:rPr lang="en-US" sz="8800" dirty="0" smtClean="0">
                <a:latin typeface="Times New Roman" pitchFamily="18" charset="0"/>
                <a:cs typeface="Times New Roman" pitchFamily="18" charset="0"/>
              </a:rPr>
              <a:t>Thank You</a:t>
            </a:r>
            <a:endParaRPr lang="en-US" sz="8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2720</Words>
  <Application>Microsoft Office PowerPoint</Application>
  <PresentationFormat>On-screen Show (4:3)</PresentationFormat>
  <Paragraphs>242</Paragraphs>
  <Slides>36</Slides>
  <Notes>8</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CHM 122 INTRODUCTORY ORGANIC CHEMISTRY  (2 UNITS)</vt:lpstr>
      <vt:lpstr>Slide 2</vt:lpstr>
      <vt:lpstr>Keywords</vt:lpstr>
      <vt:lpstr>INTRODUCTION</vt:lpstr>
      <vt:lpstr>Slide 5</vt:lpstr>
      <vt:lpstr>Slide 6</vt:lpstr>
      <vt:lpstr> Carbohydrates </vt:lpstr>
      <vt:lpstr>Slide 8</vt:lpstr>
      <vt:lpstr>Slide 9</vt:lpstr>
      <vt:lpstr>The Cyclization Process</vt:lpstr>
      <vt:lpstr>Slide 11</vt:lpstr>
      <vt:lpstr>Slide 12</vt:lpstr>
      <vt:lpstr>Slide 13</vt:lpstr>
      <vt:lpstr>D,L Monosaccharides</vt:lpstr>
      <vt:lpstr>Disaccharides</vt:lpstr>
      <vt:lpstr>Slide 16</vt:lpstr>
      <vt:lpstr>Slide 17</vt:lpstr>
      <vt:lpstr>Slide 18</vt:lpstr>
      <vt:lpstr>Slide 19</vt:lpstr>
      <vt:lpstr>Starch</vt:lpstr>
      <vt:lpstr>Slide 21</vt:lpstr>
      <vt:lpstr>PROTEINS AND PEPTIDES</vt:lpstr>
      <vt:lpstr>Slide 23</vt:lpstr>
      <vt:lpstr>Slide 24</vt:lpstr>
      <vt:lpstr>Condensation and Hydrolytic Reactions</vt:lpstr>
      <vt:lpstr>Applications of Peptides</vt:lpstr>
      <vt:lpstr>Classification of Amino Acids </vt:lpstr>
      <vt:lpstr>Slide 28</vt:lpstr>
      <vt:lpstr>Slide 29</vt:lpstr>
      <vt:lpstr>Slide 30</vt:lpstr>
      <vt:lpstr>Slide 31</vt:lpstr>
      <vt:lpstr>Proteins</vt:lpstr>
      <vt:lpstr>Slide 33</vt:lpstr>
      <vt:lpstr>Structures of Proteins</vt:lpstr>
      <vt:lpstr>References</vt:lpstr>
      <vt:lpstr>Slide 36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CHM 122 INTRODUCTORY ORGANIC CHEMISTRY  (2 UNITS)</dc:title>
  <dc:creator>user</dc:creator>
  <cp:lastModifiedBy>user</cp:lastModifiedBy>
  <cp:revision>29</cp:revision>
  <dcterms:created xsi:type="dcterms:W3CDTF">2023-10-22T20:52:26Z</dcterms:created>
  <dcterms:modified xsi:type="dcterms:W3CDTF">2023-10-23T06:33:02Z</dcterms:modified>
</cp:coreProperties>
</file>