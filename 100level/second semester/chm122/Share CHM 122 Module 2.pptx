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89" r:id="rId3"/>
    <p:sldId id="291" r:id="rId4"/>
    <p:sldId id="262" r:id="rId5"/>
    <p:sldId id="292" r:id="rId6"/>
    <p:sldId id="293" r:id="rId7"/>
    <p:sldId id="294" r:id="rId8"/>
    <p:sldId id="295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296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60"/>
  </p:normalViewPr>
  <p:slideViewPr>
    <p:cSldViewPr snapToGrid="0">
      <p:cViewPr varScale="1">
        <p:scale>
          <a:sx n="72" d="100"/>
          <a:sy n="72" d="100"/>
        </p:scale>
        <p:origin x="82" y="4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705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76233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2241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88114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916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60427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756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76347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815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0722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0014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057BD0-7BA3-49E9-A070-1EDF6E2D77F0}" type="datetimeFigureOut">
              <a:rPr lang="en-US" smtClean="0"/>
              <a:t>12/14/2023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859299-BCB5-46A5-A228-8653C1B0A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684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jpe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jpeg"/><Relationship Id="rId4" Type="http://schemas.openxmlformats.org/officeDocument/2006/relationships/image" Target="../media/image35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17829" y="1250550"/>
            <a:ext cx="10674171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code: CHM 122</a:t>
            </a:r>
          </a:p>
          <a:p>
            <a:pPr algn="ctr"/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 Course Title: Introductory Organic Chemistry</a:t>
            </a:r>
          </a:p>
          <a:p>
            <a:pPr algn="ctr"/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Course Unit: (2 Units)</a:t>
            </a:r>
          </a:p>
          <a:p>
            <a:pPr algn="ctr"/>
            <a:r>
              <a:rPr lang="en-GB" sz="3200" b="1" dirty="0" smtClean="0">
                <a:solidFill>
                  <a:schemeClr val="accent4">
                    <a:lumMod val="50000"/>
                  </a:schemeClr>
                </a:solidFill>
                <a:cs typeface="Arial" panose="020B0604020202020204" pitchFamily="34" charset="0"/>
              </a:rPr>
              <a:t>Module 2: </a:t>
            </a:r>
            <a:r>
              <a:rPr lang="en-US" sz="3200" dirty="0" smtClean="0">
                <a:solidFill>
                  <a:schemeClr val="accent4">
                    <a:lumMod val="50000"/>
                  </a:schemeClr>
                </a:solidFill>
              </a:rPr>
              <a:t>Nomenclature, Classes and chemistry of organic compounds </a:t>
            </a:r>
            <a:r>
              <a:rPr lang="en-US" sz="3200" dirty="0" smtClean="0"/>
              <a:t/>
            </a:r>
            <a:br>
              <a:rPr lang="en-US" sz="3200" dirty="0" smtClean="0"/>
            </a:br>
            <a:endParaRPr lang="en-US" sz="3200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926857" y="5417916"/>
            <a:ext cx="3958529" cy="1440084"/>
          </a:xfrm>
        </p:spPr>
        <p:txBody>
          <a:bodyPr/>
          <a:lstStyle/>
          <a:p>
            <a:pPr algn="l"/>
            <a:r>
              <a:rPr lang="en-GB" sz="2000" dirty="0" err="1" smtClean="0">
                <a:latin typeface="3ds Condensed" panose="02000503020000020004" pitchFamily="2" charset="0"/>
              </a:rPr>
              <a:t>Dr.</a:t>
            </a:r>
            <a:r>
              <a:rPr lang="en-GB" sz="2000" dirty="0" smtClean="0">
                <a:latin typeface="3ds Condensed" panose="02000503020000020004" pitchFamily="2" charset="0"/>
              </a:rPr>
              <a:t> AYOMIDE HASSAN, LABULO</a:t>
            </a:r>
          </a:p>
          <a:p>
            <a:pPr algn="l"/>
            <a:r>
              <a:rPr lang="en-GB" sz="2000" dirty="0" smtClean="0">
                <a:latin typeface="3ds Condensed" panose="02000503020000020004" pitchFamily="2" charset="0"/>
              </a:rPr>
              <a:t>DEPARTMENT OF CHEMISTRY</a:t>
            </a:r>
          </a:p>
          <a:p>
            <a:pPr algn="l"/>
            <a:r>
              <a:rPr lang="en-GB" sz="2000" dirty="0" smtClean="0">
                <a:latin typeface="3ds Condensed" panose="02000503020000020004" pitchFamily="2" charset="0"/>
              </a:rPr>
              <a:t>FEDERAL UNIVERSITY OF LAFIA</a:t>
            </a:r>
          </a:p>
          <a:p>
            <a:endParaRPr lang="en-GB" dirty="0"/>
          </a:p>
        </p:txBody>
      </p:sp>
      <p:grpSp>
        <p:nvGrpSpPr>
          <p:cNvPr id="7" name="Group 6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8" name="Rectangle 7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9" name="Rectangle 8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0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1808679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96981" y="1609859"/>
            <a:ext cx="9994005" cy="37548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</a:rPr>
              <a:t>• The compounds in solid, liquid or gaseous </a:t>
            </a:r>
            <a:r>
              <a:rPr lang="en-US" sz="2800" dirty="0" smtClean="0">
                <a:solidFill>
                  <a:srgbClr val="191B0E"/>
                </a:solidFill>
              </a:rPr>
              <a:t>state which </a:t>
            </a:r>
            <a:r>
              <a:rPr lang="en-US" sz="2800" dirty="0">
                <a:solidFill>
                  <a:srgbClr val="191B0E"/>
                </a:solidFill>
              </a:rPr>
              <a:t>contain carbon in their molecules </a:t>
            </a:r>
            <a:r>
              <a:rPr lang="en-US" sz="2800" dirty="0" smtClean="0">
                <a:solidFill>
                  <a:srgbClr val="191B0E"/>
                </a:solidFill>
              </a:rPr>
              <a:t>are known </a:t>
            </a:r>
            <a:r>
              <a:rPr lang="en-US" sz="2800" dirty="0">
                <a:solidFill>
                  <a:srgbClr val="191B0E"/>
                </a:solidFill>
              </a:rPr>
              <a:t>as organic compounds.</a:t>
            </a:r>
            <a:br>
              <a:rPr lang="en-US" sz="2800" dirty="0">
                <a:solidFill>
                  <a:srgbClr val="191B0E"/>
                </a:solidFill>
              </a:rPr>
            </a:br>
            <a:r>
              <a:rPr lang="en-US" sz="2800" dirty="0">
                <a:solidFill>
                  <a:srgbClr val="191B0E"/>
                </a:solidFill>
              </a:rPr>
              <a:t>• There are a large number of organic </a:t>
            </a:r>
            <a:r>
              <a:rPr lang="en-US" sz="2800" dirty="0" smtClean="0">
                <a:solidFill>
                  <a:srgbClr val="191B0E"/>
                </a:solidFill>
              </a:rPr>
              <a:t>compounds and </a:t>
            </a:r>
            <a:r>
              <a:rPr lang="en-US" sz="2800" dirty="0">
                <a:solidFill>
                  <a:srgbClr val="191B0E"/>
                </a:solidFill>
              </a:rPr>
              <a:t>therefore a proper systematic </a:t>
            </a:r>
            <a:r>
              <a:rPr lang="en-US" sz="2800" dirty="0" smtClean="0">
                <a:solidFill>
                  <a:srgbClr val="191B0E"/>
                </a:solidFill>
              </a:rPr>
              <a:t>classification was </a:t>
            </a:r>
            <a:r>
              <a:rPr lang="en-US" sz="2800" dirty="0">
                <a:solidFill>
                  <a:srgbClr val="191B0E"/>
                </a:solidFill>
              </a:rPr>
              <a:t>required.</a:t>
            </a:r>
            <a:br>
              <a:rPr lang="en-US" sz="2800" dirty="0">
                <a:solidFill>
                  <a:srgbClr val="191B0E"/>
                </a:solidFill>
              </a:rPr>
            </a:br>
            <a:r>
              <a:rPr lang="en-US" sz="2800" dirty="0">
                <a:solidFill>
                  <a:srgbClr val="191B0E"/>
                </a:solidFill>
              </a:rPr>
              <a:t>• Organic compounds can be broadly classified as</a:t>
            </a:r>
            <a:br>
              <a:rPr lang="en-US" sz="2800" dirty="0">
                <a:solidFill>
                  <a:srgbClr val="191B0E"/>
                </a:solidFill>
              </a:rPr>
            </a:br>
            <a:r>
              <a:rPr lang="en-US" sz="2800" dirty="0">
                <a:solidFill>
                  <a:srgbClr val="191B0E"/>
                </a:solidFill>
              </a:rPr>
              <a:t>acyclic (open chain) or cyclic (closed chain).</a:t>
            </a:r>
            <a:br>
              <a:rPr lang="en-US" sz="2800" dirty="0">
                <a:solidFill>
                  <a:srgbClr val="191B0E"/>
                </a:solidFill>
              </a:rPr>
            </a:br>
            <a:r>
              <a:rPr lang="en-US" sz="2800" dirty="0">
                <a:solidFill>
                  <a:srgbClr val="191B0E"/>
                </a:solidFill>
              </a:rPr>
              <a:t>• Let’s move on to their classification in detail.</a:t>
            </a:r>
            <a:r>
              <a:rPr lang="en-US" sz="2800" dirty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3325361" y="591286"/>
            <a:ext cx="7335278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What are Organic Compounds?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39853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41927" y="1096166"/>
            <a:ext cx="1041042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These compounds are also known as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aliphatic compounds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, they have branched or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straight chains.</a:t>
            </a:r>
          </a:p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Following are the examples in this category.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884318" y="299282"/>
            <a:ext cx="66036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Acyclic or Open Chain Compounds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789" y="1987774"/>
            <a:ext cx="7199289" cy="4689921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607032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1289797" y="1155937"/>
            <a:ext cx="4801909" cy="59093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111111"/>
                </a:solidFill>
              </a:rPr>
              <a:t>Two main types: acyclic </a:t>
            </a:r>
            <a:r>
              <a:rPr lang="en-US" dirty="0">
                <a:solidFill>
                  <a:srgbClr val="111111"/>
                </a:solidFill>
              </a:rPr>
              <a:t>and cyclic</a:t>
            </a:r>
            <a:r>
              <a:rPr lang="en-US" dirty="0" smtClean="0">
                <a:solidFill>
                  <a:srgbClr val="111111"/>
                </a:solidFill>
              </a:rPr>
              <a:t>.</a:t>
            </a:r>
          </a:p>
          <a:p>
            <a:endParaRPr lang="en-US" dirty="0">
              <a:solidFill>
                <a:srgbClr val="111111"/>
              </a:solidFill>
            </a:endParaRPr>
          </a:p>
          <a:p>
            <a:r>
              <a:rPr lang="en-US" dirty="0" smtClean="0">
                <a:solidFill>
                  <a:srgbClr val="111111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Acyclic compounds </a:t>
            </a:r>
            <a:r>
              <a:rPr lang="en-US" dirty="0">
                <a:solidFill>
                  <a:srgbClr val="111111"/>
                </a:solidFill>
              </a:rPr>
              <a:t>are those that have open chains of carbon atoms, which may be straight or branched. </a:t>
            </a:r>
            <a:endParaRPr lang="en-US" dirty="0" smtClean="0">
              <a:solidFill>
                <a:srgbClr val="111111"/>
              </a:solidFill>
            </a:endParaRPr>
          </a:p>
          <a:p>
            <a:endParaRPr lang="en-US" dirty="0" smtClean="0">
              <a:solidFill>
                <a:srgbClr val="111111"/>
              </a:solidFill>
            </a:endParaRPr>
          </a:p>
          <a:p>
            <a:endParaRPr lang="en-US" dirty="0">
              <a:solidFill>
                <a:srgbClr val="111111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Alicyclic (</a:t>
            </a:r>
            <a:r>
              <a:rPr lang="en-US" dirty="0" err="1">
                <a:solidFill>
                  <a:srgbClr val="FF0000"/>
                </a:solidFill>
              </a:rPr>
              <a:t>Homocyclic</a:t>
            </a:r>
            <a:r>
              <a:rPr lang="en-US" dirty="0">
                <a:solidFill>
                  <a:srgbClr val="FF0000"/>
                </a:solidFill>
              </a:rPr>
              <a:t>) Compounds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These are cyclic compounds which contain</a:t>
            </a:r>
            <a:br>
              <a:rPr lang="en-US" dirty="0"/>
            </a:br>
            <a:r>
              <a:rPr lang="en-US" dirty="0"/>
              <a:t>carbon atoms connected to each other in a</a:t>
            </a:r>
            <a:br>
              <a:rPr lang="en-US" dirty="0"/>
            </a:br>
            <a:r>
              <a:rPr lang="en-US" dirty="0"/>
              <a:t>ring. Examples of this type are as follows: </a:t>
            </a:r>
            <a:br>
              <a:rPr lang="en-US" dirty="0"/>
            </a:br>
            <a:r>
              <a:rPr lang="en-US" dirty="0" smtClean="0">
                <a:solidFill>
                  <a:srgbClr val="111111"/>
                </a:solidFill>
              </a:rPr>
              <a:t>. </a:t>
            </a:r>
          </a:p>
          <a:p>
            <a:endParaRPr lang="en-US" dirty="0">
              <a:solidFill>
                <a:srgbClr val="111111"/>
              </a:solidFill>
            </a:endParaRPr>
          </a:p>
          <a:p>
            <a:endParaRPr lang="en-US" dirty="0" smtClean="0">
              <a:solidFill>
                <a:srgbClr val="111111"/>
              </a:solidFill>
            </a:endParaRPr>
          </a:p>
          <a:p>
            <a:endParaRPr lang="en-US" dirty="0">
              <a:solidFill>
                <a:srgbClr val="111111"/>
              </a:solidFill>
            </a:endParaRPr>
          </a:p>
          <a:p>
            <a:endParaRPr lang="en-US" dirty="0" smtClean="0">
              <a:solidFill>
                <a:srgbClr val="111111"/>
              </a:solidFill>
            </a:endParaRPr>
          </a:p>
          <a:p>
            <a:r>
              <a:rPr lang="en-US" dirty="0" smtClean="0">
                <a:solidFill>
                  <a:srgbClr val="FF0000"/>
                </a:solidFill>
              </a:rPr>
              <a:t>Heterocyclic </a:t>
            </a:r>
            <a:r>
              <a:rPr lang="en-US" dirty="0">
                <a:solidFill>
                  <a:srgbClr val="FF0000"/>
                </a:solidFill>
              </a:rPr>
              <a:t>Compounds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• These are cyclic compounds which contain</a:t>
            </a:r>
            <a:br>
              <a:rPr lang="en-US" dirty="0"/>
            </a:br>
            <a:r>
              <a:rPr lang="en-US" dirty="0"/>
              <a:t>atoms other than carbon in the ring. Examples</a:t>
            </a:r>
            <a:br>
              <a:rPr lang="en-US" dirty="0"/>
            </a:br>
            <a:r>
              <a:rPr lang="en-US" dirty="0"/>
              <a:t>of this type are as follows: </a:t>
            </a:r>
            <a:br>
              <a:rPr lang="en-US" dirty="0"/>
            </a:br>
            <a:endParaRPr lang="en-US" dirty="0" smtClean="0">
              <a:solidFill>
                <a:srgbClr val="111111"/>
              </a:solidFill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952122" y="317620"/>
            <a:ext cx="85411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000" dirty="0" smtClean="0">
                <a:solidFill>
                  <a:srgbClr val="FF0000"/>
                </a:solidFill>
                <a:latin typeface="-apple-system"/>
              </a:rPr>
              <a:t>Classification of organic compounds </a:t>
            </a:r>
            <a:endParaRPr lang="en-US" sz="4000" dirty="0">
              <a:solidFill>
                <a:srgbClr val="FF0000"/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5780" y="3263023"/>
            <a:ext cx="4147835" cy="1684857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>
          <a:xfrm>
            <a:off x="5988676" y="2253803"/>
            <a:ext cx="682580" cy="257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>
            <a:off x="5904313" y="3923441"/>
            <a:ext cx="682580" cy="257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6399500" y="5850658"/>
            <a:ext cx="682580" cy="2575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0592" y="1247927"/>
            <a:ext cx="3629993" cy="1833931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1243" y="5190327"/>
            <a:ext cx="3772341" cy="1190331"/>
          </a:xfrm>
          <a:prstGeom prst="rect">
            <a:avLst/>
          </a:prstGeom>
        </p:spPr>
      </p:pic>
      <p:grpSp>
        <p:nvGrpSpPr>
          <p:cNvPr id="14" name="Group 1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15" name="Rectangle 1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6" name="Rectangle 1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7" name="Picture 7" descr="logo"/>
            <p:cNvPicPr>
              <a:picLocks noChangeAspect="1" noChangeArrowheads="1"/>
            </p:cNvPicPr>
            <p:nvPr/>
          </p:nvPicPr>
          <p:blipFill>
            <a:blip r:embed="rId5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9278040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26523" y="1434921"/>
            <a:ext cx="1027734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They are a special type of compounds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which contain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benzene and other ring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related compounds.</a:t>
            </a:r>
          </a:p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Similar to alicyclic, they can also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have heteroatoms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in the ring.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4314840" y="343579"/>
            <a:ext cx="5155642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dirty="0">
                <a:solidFill>
                  <a:srgbClr val="FF0000"/>
                </a:solidFill>
              </a:rPr>
              <a:t>Aromatic Compounds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1151" y="2957151"/>
            <a:ext cx="6276975" cy="220980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869109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74253" y="700654"/>
            <a:ext cx="996824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rgbClr val="FF0000"/>
                </a:solidFill>
              </a:rPr>
              <a:t>IUPAC Nomenclature </a:t>
            </a:r>
            <a:r>
              <a:rPr lang="en-US" sz="4000" dirty="0" smtClean="0">
                <a:solidFill>
                  <a:srgbClr val="FF0000"/>
                </a:solidFill>
              </a:rPr>
              <a:t>of Organic </a:t>
            </a:r>
            <a:r>
              <a:rPr lang="en-US" sz="4000" dirty="0">
                <a:solidFill>
                  <a:srgbClr val="FF0000"/>
                </a:solidFill>
              </a:rPr>
              <a:t>Compounds </a:t>
            </a:r>
            <a:br>
              <a:rPr lang="en-US" sz="4000" dirty="0">
                <a:solidFill>
                  <a:srgbClr val="FF0000"/>
                </a:solidFill>
              </a:rPr>
            </a:br>
            <a:endParaRPr lang="en-US" sz="4000" dirty="0">
              <a:solidFill>
                <a:srgbClr val="FF0000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081825" y="1813173"/>
            <a:ext cx="10560675" cy="2400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  <a:latin typeface="FranklinGothic-Book"/>
              </a:rPr>
              <a:t>IUPAC Nomenclature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In chemical nomenclature, the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IUPAC nomenclature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of organic chemistry is a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method as recommended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by the International Union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of Pure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and Applied Chemistry (IUPAC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).</a:t>
            </a:r>
          </a:p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Ideally, every possible organic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compound should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have a name from which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an unambiguous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structural formula can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be created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.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81825" y="4213830"/>
            <a:ext cx="43225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FranklinGothic-Book"/>
              </a:rPr>
              <a:t>Basic Principles of IUPAC Nomenclature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352282" y="4827861"/>
            <a:ext cx="1029021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>In chemistry, a number of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prefixes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and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suffixes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are used to describe the type and position of functional groups in the compound.</a:t>
            </a:r>
          </a:p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The steps for naming an organic compound are as follows.</a:t>
            </a:r>
            <a:r>
              <a:rPr lang="en-US" dirty="0"/>
              <a:t>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52199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270713" y="1077347"/>
            <a:ext cx="10500576" cy="32932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1. Identification of the parent hydrocarbon chain.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This chain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must obey the following rules, in order of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precedence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:</a:t>
            </a:r>
          </a:p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–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It should have the maximum length.</a:t>
            </a:r>
            <a:br>
              <a:rPr lang="en-US" i="1" dirty="0">
                <a:solidFill>
                  <a:srgbClr val="191B0E"/>
                </a:solidFill>
                <a:latin typeface="FranklinGothic-BookItalic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–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It should have the maximum number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of substituents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of the suffix functional group.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By suffix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,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it is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meant that the parent functional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group should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have a suffix.</a:t>
            </a:r>
            <a:br>
              <a:rPr lang="en-US" i="1" dirty="0">
                <a:solidFill>
                  <a:srgbClr val="191B0E"/>
                </a:solidFill>
                <a:latin typeface="FranklinGothic-BookItalic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–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It should have the maximum number of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multiple bonds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.</a:t>
            </a:r>
            <a:br>
              <a:rPr lang="en-US" i="1" dirty="0">
                <a:solidFill>
                  <a:srgbClr val="191B0E"/>
                </a:solidFill>
                <a:latin typeface="FranklinGothic-BookItalic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– 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It should have the maximum number of </a:t>
            </a:r>
            <a:r>
              <a:rPr lang="en-US" i="1" dirty="0" smtClean="0">
                <a:solidFill>
                  <a:srgbClr val="191B0E"/>
                </a:solidFill>
                <a:latin typeface="FranklinGothic-BookItalic"/>
              </a:rPr>
              <a:t>single bonds</a:t>
            </a:r>
            <a:r>
              <a:rPr lang="en-US" i="1" dirty="0">
                <a:solidFill>
                  <a:srgbClr val="191B0E"/>
                </a:solidFill>
                <a:latin typeface="FranklinGothic-BookItalic"/>
              </a:rPr>
              <a:t>.</a:t>
            </a:r>
            <a:br>
              <a:rPr lang="en-US" i="1" dirty="0">
                <a:solidFill>
                  <a:srgbClr val="191B0E"/>
                </a:solidFill>
                <a:latin typeface="FranklinGothic-BookItalic"/>
              </a:rPr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Rectangle 8"/>
          <p:cNvSpPr/>
          <p:nvPr/>
        </p:nvSpPr>
        <p:spPr>
          <a:xfrm>
            <a:off x="1390918" y="220967"/>
            <a:ext cx="77144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Basic Principles of IUPAC Nomenclature 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8489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68521" y="0"/>
            <a:ext cx="5512158" cy="32316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2. Identification of the parent functional group,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if any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, with the highest order of precedence.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3. Identification of the side-chains. Side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chains are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the carbon chains that are not in the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parent chain but are branched off from it.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4. Identification of the remaining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functional groups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, if any, and naming them by their ionic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prefixes (such as </a:t>
            </a:r>
            <a:r>
              <a:rPr lang="en-US" dirty="0" err="1">
                <a:solidFill>
                  <a:srgbClr val="191B0E"/>
                </a:solidFill>
                <a:latin typeface="FranklinGothic-Book"/>
              </a:rPr>
              <a:t>hydroxy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 for -OH, oxy for =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O, etc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.).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 smtClean="0"/>
              <a:t> 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457" y="3231654"/>
            <a:ext cx="6253850" cy="2005952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293" y="193527"/>
            <a:ext cx="5661707" cy="6242647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1802722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59167" y="1395700"/>
            <a:ext cx="9890974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Different side-chains and functional groups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will be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grouped together in alphabetical order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 (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The prefixes di-, tri-, etc. are not taken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into consideration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for grouping alphabetically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>
              <a:solidFill>
                <a:srgbClr val="191B0E"/>
              </a:solidFill>
              <a:latin typeface="FranklinGothic-Book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For example, ethyl comes before </a:t>
            </a: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dihydroxy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or dimethyl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, as the "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 in "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ethyl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 precedes the "</a:t>
            </a:r>
            <a:r>
              <a:rPr lang="en-US" sz="2800" i="1" dirty="0" smtClean="0">
                <a:solidFill>
                  <a:srgbClr val="7030A0"/>
                </a:solidFill>
                <a:latin typeface="FranklinGothic-BookItalic"/>
              </a:rPr>
              <a:t>h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“ in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</a:t>
            </a:r>
            <a:r>
              <a:rPr lang="en-US" sz="2800" i="1" dirty="0" err="1">
                <a:solidFill>
                  <a:srgbClr val="7030A0"/>
                </a:solidFill>
                <a:latin typeface="FranklinGothic-BookItalic"/>
              </a:rPr>
              <a:t>dihydroxy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 and the "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m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 in "</a:t>
            </a:r>
            <a:r>
              <a:rPr lang="en-US" sz="2800" i="1" dirty="0" smtClean="0">
                <a:solidFill>
                  <a:srgbClr val="7030A0"/>
                </a:solidFill>
                <a:latin typeface="FranklinGothic-BookItalic"/>
              </a:rPr>
              <a:t>dimethyl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“ alphabetically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.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The "di" is not considered in either case).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/>
              <a:t/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1390918" y="220967"/>
            <a:ext cx="7714446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</a:rPr>
              <a:t>Basic Principles of IUPAC Nomenclature </a:t>
            </a:r>
            <a:br>
              <a:rPr lang="en-US" sz="3200" dirty="0">
                <a:solidFill>
                  <a:srgbClr val="FF0000"/>
                </a:solidFill>
              </a:rPr>
            </a:br>
            <a:endParaRPr lang="en-US" sz="3200" dirty="0">
              <a:solidFill>
                <a:srgbClr val="FF0000"/>
              </a:solidFill>
            </a:endParaRPr>
          </a:p>
        </p:txBody>
      </p:sp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813448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828801" y="1070354"/>
            <a:ext cx="1012279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5. Identification of double/triple bonds.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6. Numbering of the chain. This is done by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first numbering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the chain in both directions (left to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right and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right to left), and then choosing the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numbering which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follows these rules, in order of precedence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Wingdings-Regular"/>
              </a:rPr>
              <a:t>✓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Has the lowest-number to the carbon to which the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suffix substituent is directly attached.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Wingdings-Regular"/>
              </a:rPr>
              <a:t>✓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Has the lowest-number to the carbon attached to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suffix multiple bonds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Wingdings-Regular"/>
              </a:rPr>
              <a:t>✓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Has the lowest-numbers to substituents for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prefixes.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1</a:t>
            </a:r>
            <a:r>
              <a:rPr lang="en-US" sz="2400" dirty="0"/>
              <a:t> </a:t>
            </a:r>
            <a:br>
              <a:rPr lang="en-US" sz="2400" dirty="0"/>
            </a:br>
            <a:endParaRPr lang="en-US" sz="2400" dirty="0"/>
          </a:p>
        </p:txBody>
      </p:sp>
      <p:sp>
        <p:nvSpPr>
          <p:cNvPr id="3" name="Rectangle 2"/>
          <p:cNvSpPr/>
          <p:nvPr/>
        </p:nvSpPr>
        <p:spPr>
          <a:xfrm>
            <a:off x="2376393" y="485579"/>
            <a:ext cx="6741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ea typeface="Ebrima" panose="02000000000000000000" pitchFamily="2" charset="0"/>
                <a:cs typeface="Ebrima" panose="02000000000000000000" pitchFamily="2" charset="0"/>
              </a:rPr>
              <a:t>Basic Principles of IUPAC Nomenclature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3849289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99906" y="888642"/>
            <a:ext cx="8964556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7. Numbering of the various substituents and bonds.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If there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is more than one of the same type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of substituent/double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bond, a prefix is added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showing how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many there are ( di – 2, tri – 3 tetra – 4 and 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so on)</a:t>
            </a:r>
          </a:p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Wingdings-Regular"/>
              </a:rPr>
              <a:t>✓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If there are two side-chains with the same alpha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carbon, the number will be written twice. Example: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2,2,3-trimethyl-</a:t>
            </a:r>
            <a:r>
              <a:rPr lang="en-US" sz="2400" dirty="0" smtClean="0">
                <a:solidFill>
                  <a:srgbClr val="191B0E"/>
                </a:solidFill>
                <a:latin typeface="FranklinGothic-Book"/>
              </a:rPr>
              <a:t>………..</a:t>
            </a:r>
          </a:p>
          <a:p>
            <a:r>
              <a:rPr lang="en-US" sz="24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Wingdings-Regular"/>
              </a:rPr>
              <a:t>✓ </a:t>
            </a: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When the main functional group is a terminal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functional group (a group which can exist only at the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end of a chain, like formyl and carboxyl groups), there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2400" dirty="0">
                <a:solidFill>
                  <a:srgbClr val="191B0E"/>
                </a:solidFill>
                <a:latin typeface="FranklinGothic-Book"/>
              </a:rPr>
              <a:t>is no need to number it.</a:t>
            </a:r>
            <a:br>
              <a:rPr lang="en-US" sz="2400" dirty="0">
                <a:solidFill>
                  <a:srgbClr val="191B0E"/>
                </a:solidFill>
                <a:latin typeface="FranklinGothic-Book"/>
              </a:rPr>
            </a:br>
            <a:r>
              <a:rPr lang="en-US" sz="1000" dirty="0">
                <a:solidFill>
                  <a:srgbClr val="191B0E"/>
                </a:solidFill>
                <a:latin typeface="FranklinGothic-Book"/>
              </a:rPr>
              <a:t>1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664280" y="176486"/>
            <a:ext cx="6741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ea typeface="Ebrima" panose="02000000000000000000" pitchFamily="2" charset="0"/>
                <a:cs typeface="Ebrima" panose="02000000000000000000" pitchFamily="2" charset="0"/>
              </a:rPr>
              <a:t>Basic Principles of IUPAC Nomenclature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0543807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06828" y="761261"/>
            <a:ext cx="9955369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9. Addition of punctuation should be as under: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Wingdings-Regular"/>
              </a:rPr>
              <a:t>✓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Commas are put between numbers (2 5 5 </a:t>
            </a:r>
            <a:r>
              <a:rPr lang="en-US" sz="2800" dirty="0" smtClean="0">
                <a:solidFill>
                  <a:srgbClr val="7030A0"/>
                </a:solidFill>
                <a:latin typeface="FranklinGothic-Book"/>
              </a:rPr>
              <a:t>becomes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2,5,5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)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Wingdings-Regular"/>
              </a:rPr>
              <a:t>✓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Hyphens are put between a number and a letter (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2 5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5 </a:t>
            </a: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trimethylheptane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 </a:t>
            </a:r>
            <a:r>
              <a:rPr lang="en-US" sz="2800" dirty="0">
                <a:solidFill>
                  <a:srgbClr val="7030A0"/>
                </a:solidFill>
                <a:latin typeface="FranklinGothic-Book"/>
              </a:rPr>
              <a:t>becomes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2,5,5-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trimethylheptane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)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Wingdings-Regular"/>
              </a:rPr>
              <a:t>✓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Successive words are merged into one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word (</a:t>
            </a:r>
            <a:r>
              <a:rPr lang="en-US" sz="2800" dirty="0" err="1" smtClean="0">
                <a:solidFill>
                  <a:srgbClr val="191B0E"/>
                </a:solidFill>
                <a:latin typeface="FranklinGothic-Book"/>
              </a:rPr>
              <a:t>trimethyl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heptane </a:t>
            </a:r>
            <a:r>
              <a:rPr lang="en-US" sz="2800" dirty="0">
                <a:solidFill>
                  <a:srgbClr val="7030A0"/>
                </a:solidFill>
                <a:latin typeface="FranklinGothic-Book"/>
              </a:rPr>
              <a:t>becomes </a:t>
            </a: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trimethylheptane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)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endParaRPr lang="en-US" sz="2800" dirty="0" smtClean="0">
              <a:solidFill>
                <a:srgbClr val="191B0E"/>
              </a:solidFill>
              <a:latin typeface="FranklinGothic-Book"/>
            </a:endParaRPr>
          </a:p>
          <a:p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Note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: IUPAC uses one-word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names throughout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.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This is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why all parts are connected.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</p:txBody>
      </p:sp>
      <p:sp>
        <p:nvSpPr>
          <p:cNvPr id="3" name="Rectangle 2"/>
          <p:cNvSpPr/>
          <p:nvPr/>
        </p:nvSpPr>
        <p:spPr>
          <a:xfrm>
            <a:off x="3664280" y="176486"/>
            <a:ext cx="674178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dirty="0">
                <a:solidFill>
                  <a:srgbClr val="FF0000"/>
                </a:solidFill>
                <a:ea typeface="Ebrima" panose="02000000000000000000" pitchFamily="2" charset="0"/>
                <a:cs typeface="Ebrima" panose="02000000000000000000" pitchFamily="2" charset="0"/>
              </a:rPr>
              <a:t>Basic Principles of IUPAC Nomenclature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8577341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809807" y="608114"/>
            <a:ext cx="10075572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Basic Principles of IUPAC Nomenclature</a:t>
            </a:r>
            <a:br>
              <a:rPr lang="en-US" sz="2800" dirty="0" smtClean="0">
                <a:solidFill>
                  <a:srgbClr val="191B0E"/>
                </a:solidFill>
                <a:latin typeface="FranklinGothic-Book"/>
              </a:rPr>
            </a:br>
            <a:r>
              <a:rPr lang="en-US" dirty="0" smtClean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The prefixes used in naming hydrocarbons are as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FranklinGothic-Book"/>
              </a:rPr>
              <a:t>follows:</a:t>
            </a:r>
            <a:r>
              <a:rPr lang="en-US" dirty="0"/>
              <a:t> </a:t>
            </a:r>
            <a:endParaRPr lang="en-US" dirty="0" smtClean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07" y="1856906"/>
            <a:ext cx="7705725" cy="1933575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1798750" y="4300939"/>
            <a:ext cx="882632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191B0E"/>
                </a:solidFill>
                <a:latin typeface="FranklinGothic-Book"/>
              </a:rPr>
              <a:t>Now we’ll discuss the nomenclature of </a:t>
            </a:r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different classes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of organic compounds.</a:t>
            </a:r>
            <a:br>
              <a:rPr lang="en-US" dirty="0">
                <a:solidFill>
                  <a:srgbClr val="191B0E"/>
                </a:solidFill>
                <a:latin typeface="FranklinGothic-Book"/>
              </a:rPr>
            </a:br>
            <a:r>
              <a:rPr lang="en-US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dirty="0">
                <a:solidFill>
                  <a:srgbClr val="191B0E"/>
                </a:solidFill>
                <a:latin typeface="FranklinGothic-Book"/>
              </a:rPr>
              <a:t>First of all, lets start with hydrocarbons.</a:t>
            </a:r>
            <a:r>
              <a:rPr lang="en-US" dirty="0"/>
              <a:t> </a:t>
            </a:r>
            <a:br>
              <a:rPr lang="en-US" dirty="0"/>
            </a:br>
            <a:endParaRPr lang="en-US" dirty="0"/>
          </a:p>
        </p:txBody>
      </p:sp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2260251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429554" y="502277"/>
            <a:ext cx="10625071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FranklinGothic-Book"/>
              </a:rPr>
              <a:t>IUPAC Nomenclature of </a:t>
            </a:r>
            <a:r>
              <a:rPr lang="en-US" sz="2800" dirty="0" smtClean="0">
                <a:solidFill>
                  <a:srgbClr val="FF0000"/>
                </a:solidFill>
                <a:latin typeface="FranklinGothic-Book"/>
              </a:rPr>
              <a:t>Alkanes</a:t>
            </a:r>
          </a:p>
          <a:p>
            <a:endParaRPr lang="en-US" sz="2800" dirty="0">
              <a:solidFill>
                <a:srgbClr val="191B0E"/>
              </a:solidFill>
              <a:latin typeface="FranklinGothic-Book"/>
            </a:endParaRPr>
          </a:p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Straight-chain alkanes take the suffix </a:t>
            </a:r>
            <a:r>
              <a:rPr lang="en-US" sz="2800" i="1" dirty="0">
                <a:solidFill>
                  <a:srgbClr val="000000"/>
                </a:solidFill>
                <a:latin typeface="FranklinGothic-BookItalic"/>
              </a:rPr>
              <a:t>"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-</a:t>
            </a:r>
            <a:r>
              <a:rPr lang="en-US" sz="2800" i="1" dirty="0" err="1">
                <a:solidFill>
                  <a:srgbClr val="7030A0"/>
                </a:solidFill>
                <a:latin typeface="FranklinGothic-BookItalic"/>
              </a:rPr>
              <a:t>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" and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are prefixed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depending on the number of carbon atoms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in the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chain, following standard rules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For example, the simplest alkane is CH4 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methane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,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and the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nine-carbon alkane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CH3(CH2)7CH3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is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named </a:t>
            </a:r>
            <a:r>
              <a:rPr lang="en-US" sz="2800" i="1" dirty="0" err="1" smtClean="0">
                <a:solidFill>
                  <a:srgbClr val="7030A0"/>
                </a:solidFill>
                <a:latin typeface="FranklinGothic-BookItalic"/>
              </a:rPr>
              <a:t>nonane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Cyclic alkanes are simply prefixed with "</a:t>
            </a: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cyclo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-":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for example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, C4H8 is </a:t>
            </a:r>
            <a:r>
              <a:rPr lang="en-US" sz="2800" i="1" dirty="0" err="1">
                <a:solidFill>
                  <a:srgbClr val="7030A0"/>
                </a:solidFill>
                <a:latin typeface="FranklinGothic-BookItalic"/>
              </a:rPr>
              <a:t>cyclobutane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(not to be confused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with </a:t>
            </a:r>
            <a:r>
              <a:rPr lang="en-US" sz="2800" dirty="0" err="1" smtClean="0">
                <a:solidFill>
                  <a:srgbClr val="191B0E"/>
                </a:solidFill>
                <a:latin typeface="FranklinGothic-Book"/>
              </a:rPr>
              <a:t>butene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) and C6H12 is </a:t>
            </a:r>
            <a:r>
              <a:rPr lang="en-US" sz="2800" i="1" dirty="0">
                <a:solidFill>
                  <a:srgbClr val="7030A0"/>
                </a:solidFill>
                <a:latin typeface="FranklinGothic-BookItalic"/>
              </a:rPr>
              <a:t>cyclohexane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(not to be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confused with </a:t>
            </a:r>
            <a:r>
              <a:rPr lang="en-US" sz="2800" dirty="0" err="1">
                <a:solidFill>
                  <a:srgbClr val="191B0E"/>
                </a:solidFill>
                <a:latin typeface="FranklinGothic-Book"/>
              </a:rPr>
              <a:t>hexene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)</a:t>
            </a:r>
            <a:r>
              <a:rPr lang="en-US" sz="2800" dirty="0"/>
              <a:t> </a:t>
            </a:r>
            <a:endParaRPr lang="en-US" sz="2800" dirty="0" smtClean="0"/>
          </a:p>
          <a:p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60412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78794" y="515155"/>
            <a:ext cx="10084158" cy="56938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IUPAC Nomenclature of Alkanes</a:t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Branched alkanes are named as a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straight-chain alkane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with attached alkyl groups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They are prefixed with a number indicating the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carbon the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group is attached to, counting from the end of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the alkane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chain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.</a:t>
            </a:r>
          </a:p>
          <a:p>
            <a:r>
              <a:rPr lang="en-US" sz="2800" dirty="0">
                <a:solidFill>
                  <a:srgbClr val="191B0E"/>
                </a:solidFill>
                <a:latin typeface="FranklinGothic-Book"/>
              </a:rPr>
              <a:t/>
            </a:r>
            <a:br>
              <a:rPr lang="en-US" sz="2800" dirty="0">
                <a:solidFill>
                  <a:srgbClr val="191B0E"/>
                </a:solidFill>
                <a:latin typeface="FranklinGothic-Book"/>
              </a:rPr>
            </a:br>
            <a:r>
              <a:rPr lang="en-US" sz="2800" dirty="0">
                <a:solidFill>
                  <a:srgbClr val="191B0E"/>
                </a:solidFill>
                <a:latin typeface="ArialMT"/>
              </a:rPr>
              <a:t>•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For example, (CH3)2CHCH3, commonly known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as </a:t>
            </a:r>
            <a:r>
              <a:rPr lang="en-US" sz="2800" dirty="0" err="1" smtClean="0">
                <a:solidFill>
                  <a:srgbClr val="191B0E"/>
                </a:solidFill>
                <a:latin typeface="FranklinGothic-Book"/>
              </a:rPr>
              <a:t>isobutane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, is treated as a propane chain with a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methyl group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bonded to the middle (2) carbon and given </a:t>
            </a:r>
            <a:r>
              <a:rPr lang="en-US" sz="2800" dirty="0" smtClean="0">
                <a:solidFill>
                  <a:srgbClr val="191B0E"/>
                </a:solidFill>
                <a:latin typeface="FranklinGothic-Book"/>
              </a:rPr>
              <a:t>the systematic </a:t>
            </a:r>
            <a:r>
              <a:rPr lang="en-US" sz="2800" dirty="0">
                <a:solidFill>
                  <a:srgbClr val="191B0E"/>
                </a:solidFill>
                <a:latin typeface="FranklinGothic-Book"/>
              </a:rPr>
              <a:t>name 2-methylpropane.</a:t>
            </a:r>
            <a:r>
              <a:rPr lang="en-US" sz="2800" dirty="0"/>
              <a:t> </a:t>
            </a:r>
            <a:br>
              <a:rPr lang="en-US" sz="2800" dirty="0"/>
            </a:br>
            <a:endParaRPr lang="en-US" sz="2800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6915" y="5247585"/>
            <a:ext cx="1685925" cy="1533525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52053975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058" y="660377"/>
            <a:ext cx="9182300" cy="5521482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9014545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7888" y="788544"/>
            <a:ext cx="8585690" cy="5354679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07582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796" y="443695"/>
            <a:ext cx="8183263" cy="617604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910168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255" y="0"/>
            <a:ext cx="6001555" cy="6704707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9191275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2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846" y="1687132"/>
            <a:ext cx="4214257" cy="195759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5293" y="334849"/>
            <a:ext cx="6555598" cy="540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289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591" y="367579"/>
            <a:ext cx="6931517" cy="612284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771234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563155" y="414150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>
                <a:solidFill>
                  <a:srgbClr val="191B0E"/>
                </a:solidFill>
                <a:latin typeface="FranklinGothic-Book"/>
              </a:rPr>
              <a:t>Nomenclature of Alkene and Alkyne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884" y="1532586"/>
            <a:ext cx="4928362" cy="34119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6155" y="1715480"/>
            <a:ext cx="6085845" cy="3384556"/>
          </a:xfrm>
          <a:prstGeom prst="rect">
            <a:avLst/>
          </a:prstGeom>
        </p:spPr>
      </p:pic>
      <p:grpSp>
        <p:nvGrpSpPr>
          <p:cNvPr id="6" name="Group 5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7" name="Rectangle 6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9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966441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631" y="1661240"/>
            <a:ext cx="5543585" cy="302667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0549" y="916010"/>
            <a:ext cx="5909596" cy="4879483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4982330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505" y="1107934"/>
            <a:ext cx="5786954" cy="33864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459" y="1764405"/>
            <a:ext cx="5102752" cy="2073499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088461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954" y="152803"/>
            <a:ext cx="7509725" cy="457224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0850" y="4945487"/>
            <a:ext cx="7349934" cy="1429555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497459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8048" y="2446985"/>
            <a:ext cx="5380026" cy="24727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2808" y="239198"/>
            <a:ext cx="5978678" cy="4191134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6654166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390525"/>
            <a:ext cx="7762875" cy="6076950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0888360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3241" y="108028"/>
            <a:ext cx="5302567" cy="269457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697" y="2897747"/>
            <a:ext cx="5507542" cy="309656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691" y="312984"/>
            <a:ext cx="2882590" cy="133551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248" y="2189408"/>
            <a:ext cx="5954522" cy="2616693"/>
          </a:xfrm>
          <a:prstGeom prst="rect">
            <a:avLst/>
          </a:prstGeom>
        </p:spPr>
      </p:pic>
      <p:grpSp>
        <p:nvGrpSpPr>
          <p:cNvPr id="8" name="Group 7"/>
          <p:cNvGrpSpPr/>
          <p:nvPr/>
        </p:nvGrpSpPr>
        <p:grpSpPr>
          <a:xfrm>
            <a:off x="4506" y="0"/>
            <a:ext cx="587922" cy="6858000"/>
            <a:chOff x="0" y="168206"/>
            <a:chExt cx="914400" cy="6689794"/>
          </a:xfrm>
        </p:grpSpPr>
        <p:sp>
          <p:nvSpPr>
            <p:cNvPr id="9" name="Rectangle 8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10" name="Rectangle 9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11" name="Picture 7" descr="logo"/>
            <p:cNvPicPr>
              <a:picLocks noChangeAspect="1" noChangeArrowheads="1"/>
            </p:cNvPicPr>
            <p:nvPr/>
          </p:nvPicPr>
          <p:blipFill>
            <a:blip r:embed="rId6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5372048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3586" y="645151"/>
            <a:ext cx="5248275" cy="344805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1861" y="230027"/>
            <a:ext cx="5449976" cy="347372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5164" y="4093201"/>
            <a:ext cx="4638675" cy="1504950"/>
          </a:xfrm>
          <a:prstGeom prst="rect">
            <a:avLst/>
          </a:prstGeom>
        </p:spPr>
      </p:pic>
      <p:grpSp>
        <p:nvGrpSpPr>
          <p:cNvPr id="5" name="Group 4"/>
          <p:cNvGrpSpPr/>
          <p:nvPr/>
        </p:nvGrpSpPr>
        <p:grpSpPr>
          <a:xfrm>
            <a:off x="4506" y="0"/>
            <a:ext cx="626559" cy="6858000"/>
            <a:chOff x="0" y="168206"/>
            <a:chExt cx="914400" cy="6689794"/>
          </a:xfrm>
        </p:grpSpPr>
        <p:sp>
          <p:nvSpPr>
            <p:cNvPr id="6" name="Rectangle 5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7" name="Rectangle 6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8" name="Picture 7" descr="logo"/>
            <p:cNvPicPr>
              <a:picLocks noChangeAspect="1" noChangeArrowheads="1"/>
            </p:cNvPicPr>
            <p:nvPr/>
          </p:nvPicPr>
          <p:blipFill>
            <a:blip r:embed="rId5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9639973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76" y="420374"/>
            <a:ext cx="2824411" cy="15887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0180" y="99406"/>
            <a:ext cx="5501292" cy="650953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658186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955" y="759585"/>
            <a:ext cx="3340722" cy="90179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725" y="347461"/>
            <a:ext cx="6633634" cy="6336264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35412133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906" y="416282"/>
            <a:ext cx="4368580" cy="3382986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2217" y="261735"/>
            <a:ext cx="7136610" cy="5231907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61166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2130" y="456797"/>
            <a:ext cx="5714732" cy="4615745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7980" y="559828"/>
            <a:ext cx="6099504" cy="3690200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5" name="Rectangle 4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6" name="Rectangle 5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7" name="Picture 7" descr="logo"/>
            <p:cNvPicPr>
              <a:picLocks noChangeAspect="1" noChangeArrowheads="1"/>
            </p:cNvPicPr>
            <p:nvPr/>
          </p:nvPicPr>
          <p:blipFill>
            <a:blip r:embed="rId4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4054067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6372" y="423264"/>
            <a:ext cx="7637172" cy="6274309"/>
          </a:xfrm>
          <a:prstGeom prst="rect">
            <a:avLst/>
          </a:prstGeom>
        </p:spPr>
      </p:pic>
      <p:grpSp>
        <p:nvGrpSpPr>
          <p:cNvPr id="3" name="Group 2"/>
          <p:cNvGrpSpPr/>
          <p:nvPr/>
        </p:nvGrpSpPr>
        <p:grpSpPr>
          <a:xfrm>
            <a:off x="4506" y="0"/>
            <a:ext cx="914400" cy="6858000"/>
            <a:chOff x="0" y="168206"/>
            <a:chExt cx="914400" cy="6689794"/>
          </a:xfrm>
        </p:grpSpPr>
        <p:sp>
          <p:nvSpPr>
            <p:cNvPr id="4" name="Rectangle 3"/>
            <p:cNvSpPr/>
            <p:nvPr/>
          </p:nvSpPr>
          <p:spPr bwMode="auto">
            <a:xfrm>
              <a:off x="7951" y="168206"/>
              <a:ext cx="381000" cy="6689794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sp>
          <p:nvSpPr>
            <p:cNvPr id="5" name="Rectangle 4"/>
            <p:cNvSpPr/>
            <p:nvPr/>
          </p:nvSpPr>
          <p:spPr bwMode="auto">
            <a:xfrm>
              <a:off x="388951" y="168206"/>
              <a:ext cx="457200" cy="6689793"/>
            </a:xfrm>
            <a:prstGeom prst="rect">
              <a:avLst/>
            </a:prstGeom>
            <a:solidFill>
              <a:srgbClr val="FFC000"/>
            </a:solidFill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pic>
          <p:nvPicPr>
            <p:cNvPr id="6" name="Picture 7" descr="logo"/>
            <p:cNvPicPr>
              <a:picLocks noChangeAspect="1" noChangeArrowheads="1"/>
            </p:cNvPicPr>
            <p:nvPr/>
          </p:nvPicPr>
          <p:blipFill>
            <a:blip r:embed="rId3" cstate="print"/>
            <a:srcRect l="25273" t="29860" r="41530" b="24966"/>
            <a:stretch>
              <a:fillRect/>
            </a:stretch>
          </p:blipFill>
          <p:spPr bwMode="auto">
            <a:xfrm>
              <a:off x="0" y="6035040"/>
              <a:ext cx="914400" cy="82296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19776684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5406</TotalTime>
  <Words>248</Words>
  <Application>Microsoft Office PowerPoint</Application>
  <PresentationFormat>Widescreen</PresentationFormat>
  <Paragraphs>64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5" baseType="lpstr">
      <vt:lpstr>3ds Condensed</vt:lpstr>
      <vt:lpstr>-apple-system</vt:lpstr>
      <vt:lpstr>Arial</vt:lpstr>
      <vt:lpstr>ArialMT</vt:lpstr>
      <vt:lpstr>Calibri</vt:lpstr>
      <vt:lpstr>Calibri Light</vt:lpstr>
      <vt:lpstr>Ebrima</vt:lpstr>
      <vt:lpstr>FranklinGothic-Book</vt:lpstr>
      <vt:lpstr>FranklinGothic-BookItalic</vt:lpstr>
      <vt:lpstr>Wingdings-Regular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Hassan Ibrahim</dc:creator>
  <cp:lastModifiedBy>EMMIE</cp:lastModifiedBy>
  <cp:revision>59</cp:revision>
  <dcterms:created xsi:type="dcterms:W3CDTF">2023-10-12T21:26:57Z</dcterms:created>
  <dcterms:modified xsi:type="dcterms:W3CDTF">2023-12-14T06:40:52Z</dcterms:modified>
</cp:coreProperties>
</file>