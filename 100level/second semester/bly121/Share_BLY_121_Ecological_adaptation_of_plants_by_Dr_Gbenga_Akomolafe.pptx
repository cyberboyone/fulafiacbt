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9" r:id="rId3"/>
    <p:sldId id="260" r:id="rId4"/>
    <p:sldId id="263" r:id="rId5"/>
    <p:sldId id="283" r:id="rId6"/>
    <p:sldId id="284" r:id="rId7"/>
    <p:sldId id="282"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8" r:id="rId21"/>
    <p:sldId id="301" r:id="rId22"/>
    <p:sldId id="299" r:id="rId23"/>
    <p:sldId id="30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ECE"/>
    <a:srgbClr val="FFFF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EFB073-011F-4223-BDEB-EF07515B18EC}" type="datetimeFigureOut">
              <a:rPr lang="en-US" smtClean="0"/>
              <a:t>10/20/2023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2FBBDA-02A0-44BB-996D-E623D8BDAAA8}" type="slidenum">
              <a:rPr lang="en-US" smtClean="0"/>
              <a:t>‹#›</a:t>
            </a:fld>
            <a:endParaRPr lang="en-US"/>
          </a:p>
        </p:txBody>
      </p:sp>
    </p:spTree>
    <p:extLst>
      <p:ext uri="{BB962C8B-B14F-4D97-AF65-F5344CB8AC3E}">
        <p14:creationId xmlns:p14="http://schemas.microsoft.com/office/powerpoint/2010/main" val="3499709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Marine </a:t>
            </a:r>
            <a:r>
              <a:rPr lang="en-US" sz="1200" kern="1200" dirty="0" err="1">
                <a:solidFill>
                  <a:schemeClr val="tx1"/>
                </a:solidFill>
                <a:effectLst/>
                <a:latin typeface="+mn-lt"/>
                <a:ea typeface="+mn-ea"/>
                <a:cs typeface="+mn-cs"/>
              </a:rPr>
              <a:t>macroalgae</a:t>
            </a:r>
            <a:r>
              <a:rPr lang="en-US" sz="1200" kern="1200" dirty="0">
                <a:solidFill>
                  <a:schemeClr val="tx1"/>
                </a:solidFill>
                <a:effectLst/>
                <a:latin typeface="+mn-lt"/>
                <a:ea typeface="+mn-ea"/>
                <a:cs typeface="+mn-cs"/>
              </a:rPr>
              <a:t>, or seaweeds, are plant-like organisms that generally live attached to rock or other hard substrata in coastal areas.</a:t>
            </a:r>
            <a:endParaRPr lang="en-US" dirty="0"/>
          </a:p>
        </p:txBody>
      </p:sp>
      <p:sp>
        <p:nvSpPr>
          <p:cNvPr id="4" name="Slide Number Placeholder 3"/>
          <p:cNvSpPr>
            <a:spLocks noGrp="1"/>
          </p:cNvSpPr>
          <p:nvPr>
            <p:ph type="sldNum" sz="quarter" idx="10"/>
          </p:nvPr>
        </p:nvSpPr>
        <p:spPr/>
        <p:txBody>
          <a:bodyPr/>
          <a:lstStyle/>
          <a:p>
            <a:fld id="{6F2FBBDA-02A0-44BB-996D-E623D8BDAAA8}" type="slidenum">
              <a:rPr lang="en-US" smtClean="0"/>
              <a:t>14</a:t>
            </a:fld>
            <a:endParaRPr lang="en-US"/>
          </a:p>
        </p:txBody>
      </p:sp>
    </p:spTree>
    <p:extLst>
      <p:ext uri="{BB962C8B-B14F-4D97-AF65-F5344CB8AC3E}">
        <p14:creationId xmlns:p14="http://schemas.microsoft.com/office/powerpoint/2010/main" val="2498926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5534502-AB56-423A-AE88-8622BA17AD7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3302283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534502-AB56-423A-AE88-8622BA17AD7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4010504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34502-AB56-423A-AE88-8622BA17AD7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1456189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5534502-AB56-423A-AE88-8622BA17AD72}"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51135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534502-AB56-423A-AE88-8622BA17AD72}" type="datetimeFigureOut">
              <a:rPr lang="en-US" smtClean="0"/>
              <a:t>10/20/2023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2945644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5534502-AB56-423A-AE88-8622BA17AD72}" type="datetimeFigureOut">
              <a:rPr lang="en-US" smtClean="0"/>
              <a:t>10/20/2023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1687183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534502-AB56-423A-AE88-8622BA17AD72}" type="datetimeFigureOut">
              <a:rPr lang="en-US" smtClean="0"/>
              <a:t>10/20/2023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290879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534502-AB56-423A-AE88-8622BA17AD72}"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3472463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534502-AB56-423A-AE88-8622BA17AD72}"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3873025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534502-AB56-423A-AE88-8622BA17AD7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3153330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534502-AB56-423A-AE88-8622BA17AD7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F93E1-AEFE-4E2F-872E-B9DF03E69C0D}" type="slidenum">
              <a:rPr lang="en-US" smtClean="0"/>
              <a:t>‹#›</a:t>
            </a:fld>
            <a:endParaRPr lang="en-US"/>
          </a:p>
        </p:txBody>
      </p:sp>
    </p:spTree>
    <p:extLst>
      <p:ext uri="{BB962C8B-B14F-4D97-AF65-F5344CB8AC3E}">
        <p14:creationId xmlns:p14="http://schemas.microsoft.com/office/powerpoint/2010/main" val="1247242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534502-AB56-423A-AE88-8622BA17AD72}" type="datetimeFigureOut">
              <a:rPr lang="en-US" smtClean="0"/>
              <a:t>10/20/2023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0F93E1-AEFE-4E2F-872E-B9DF03E69C0D}" type="slidenum">
              <a:rPr lang="en-US" smtClean="0"/>
              <a:t>‹#›</a:t>
            </a:fld>
            <a:endParaRPr lang="en-US"/>
          </a:p>
        </p:txBody>
      </p:sp>
    </p:spTree>
    <p:extLst>
      <p:ext uri="{BB962C8B-B14F-4D97-AF65-F5344CB8AC3E}">
        <p14:creationId xmlns:p14="http://schemas.microsoft.com/office/powerpoint/2010/main" val="1425223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gbenga.akomolafe@science.fulafia.edu.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9396" y="627841"/>
            <a:ext cx="9144000" cy="1247612"/>
          </a:xfrm>
        </p:spPr>
        <p:txBody>
          <a:bodyPr>
            <a:normAutofit/>
          </a:bodyPr>
          <a:lstStyle/>
          <a:p>
            <a:r>
              <a:rPr lang="en-GB" b="1" dirty="0"/>
              <a:t>BLY 121: GENERAL BIOLOGY II</a:t>
            </a:r>
            <a:endParaRPr lang="en-US" b="1" dirty="0"/>
          </a:p>
        </p:txBody>
      </p:sp>
      <p:sp>
        <p:nvSpPr>
          <p:cNvPr id="3" name="Subtitle 2"/>
          <p:cNvSpPr>
            <a:spLocks noGrp="1"/>
          </p:cNvSpPr>
          <p:nvPr>
            <p:ph type="subTitle" idx="1"/>
          </p:nvPr>
        </p:nvSpPr>
        <p:spPr>
          <a:xfrm>
            <a:off x="606489" y="2407298"/>
            <a:ext cx="10590245" cy="3918857"/>
          </a:xfrm>
        </p:spPr>
        <p:txBody>
          <a:bodyPr>
            <a:normAutofit fontScale="85000" lnSpcReduction="20000"/>
          </a:bodyPr>
          <a:lstStyle/>
          <a:p>
            <a:r>
              <a:rPr lang="en-GB" sz="4400" b="1" dirty="0"/>
              <a:t>TOPIC: ECOLOGICAL ADAPTATION OF THE PLANT KINGDOM</a:t>
            </a:r>
          </a:p>
          <a:p>
            <a:endParaRPr lang="en-US" sz="4400" b="1" dirty="0"/>
          </a:p>
          <a:p>
            <a:r>
              <a:rPr lang="en-GB" sz="4400" dirty="0"/>
              <a:t>BY</a:t>
            </a:r>
          </a:p>
          <a:p>
            <a:r>
              <a:rPr lang="en-GB" sz="4400" dirty="0"/>
              <a:t>DR GBENGA AKOMOLAFE</a:t>
            </a:r>
          </a:p>
          <a:p>
            <a:endParaRPr lang="en-GB" sz="4400" dirty="0"/>
          </a:p>
          <a:p>
            <a:r>
              <a:rPr lang="en-GB" sz="2900" i="1" dirty="0"/>
              <a:t>DEPARTMENT OF PLANT SCIENCE AND BIOTECHNOLOGY</a:t>
            </a:r>
          </a:p>
          <a:p>
            <a:r>
              <a:rPr lang="en-GB" sz="2900" i="1" dirty="0"/>
              <a:t>FEDERAL UNIVERSITY OF LAFIA</a:t>
            </a:r>
            <a:endParaRPr lang="en-US" sz="2900" i="1" dirty="0"/>
          </a:p>
        </p:txBody>
      </p:sp>
      <p:grpSp>
        <p:nvGrpSpPr>
          <p:cNvPr id="4" name="Group 1">
            <a:extLst>
              <a:ext uri="{FF2B5EF4-FFF2-40B4-BE49-F238E27FC236}">
                <a16:creationId xmlns:a16="http://schemas.microsoft.com/office/drawing/2014/main" id="{6D1AF095-270A-9B3E-7658-73E4A36E5D1C}"/>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CF8C927E-3DA6-42AB-F036-CE80AF531F39}"/>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E7E0A7C2-6E27-3316-051C-B50DD1DB95B4}"/>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875D4827-CD86-4A5B-A60F-079249F439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698735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7300" b="1" dirty="0"/>
              <a:t>Importance of Plants</a:t>
            </a:r>
            <a:br>
              <a:rPr lang="en-US" b="1" dirty="0">
                <a:solidFill>
                  <a:srgbClr val="ADF1AD"/>
                </a:solidFill>
              </a:rPr>
            </a:br>
            <a:endParaRPr lang="en-US" dirty="0"/>
          </a:p>
        </p:txBody>
      </p:sp>
      <p:sp>
        <p:nvSpPr>
          <p:cNvPr id="3" name="Content Placeholder 2"/>
          <p:cNvSpPr>
            <a:spLocks noGrp="1"/>
          </p:cNvSpPr>
          <p:nvPr>
            <p:ph idx="1"/>
          </p:nvPr>
        </p:nvSpPr>
        <p:spPr/>
        <p:txBody>
          <a:bodyPr/>
          <a:lstStyle/>
          <a:p>
            <a:endParaRPr lang="en-US" dirty="0"/>
          </a:p>
        </p:txBody>
      </p:sp>
      <p:sp>
        <p:nvSpPr>
          <p:cNvPr id="5" name="Rectangle 3"/>
          <p:cNvSpPr txBox="1">
            <a:spLocks noChangeArrowheads="1"/>
          </p:cNvSpPr>
          <p:nvPr/>
        </p:nvSpPr>
        <p:spPr>
          <a:xfrm>
            <a:off x="838200" y="1781175"/>
            <a:ext cx="10121721" cy="4525963"/>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00CC"/>
              </a:buClr>
              <a:buSzPct val="105000"/>
            </a:pPr>
            <a:r>
              <a:rPr lang="en-US" altLang="en-US" sz="3200" b="1" dirty="0">
                <a:solidFill>
                  <a:srgbClr val="0000CC"/>
                </a:solidFill>
                <a:latin typeface="Berlin Sans FB" panose="020E0602020502020306" pitchFamily="34" charset="0"/>
              </a:rPr>
              <a:t>Plants the only organisms capable of converting solar energy to chemical energy (i.e. </a:t>
            </a:r>
            <a:r>
              <a:rPr lang="en-US" altLang="en-US" sz="3200" b="1" i="1" dirty="0">
                <a:solidFill>
                  <a:srgbClr val="0000CC"/>
                </a:solidFill>
                <a:latin typeface="Berlin Sans FB" panose="020E0602020502020306" pitchFamily="34" charset="0"/>
              </a:rPr>
              <a:t>producers</a:t>
            </a:r>
            <a:r>
              <a:rPr lang="en-US" altLang="en-US" sz="3200" b="1" dirty="0">
                <a:solidFill>
                  <a:srgbClr val="0000CC"/>
                </a:solidFill>
                <a:latin typeface="Berlin Sans FB" panose="020E0602020502020306" pitchFamily="34" charset="0"/>
              </a:rPr>
              <a:t>)</a:t>
            </a:r>
          </a:p>
          <a:p>
            <a:pPr>
              <a:buClr>
                <a:srgbClr val="0000CC"/>
              </a:buClr>
              <a:buSzPct val="105000"/>
            </a:pPr>
            <a:r>
              <a:rPr lang="en-US" altLang="en-US" sz="3200" b="1" dirty="0">
                <a:solidFill>
                  <a:srgbClr val="0000CC"/>
                </a:solidFill>
                <a:latin typeface="Berlin Sans FB" panose="020E0602020502020306" pitchFamily="34" charset="0"/>
              </a:rPr>
              <a:t>All consumers dependent on plants for food, </a:t>
            </a:r>
            <a:r>
              <a:rPr lang="en-US" altLang="en-US" sz="3200" b="1" dirty="0" err="1">
                <a:solidFill>
                  <a:srgbClr val="0000CC"/>
                </a:solidFill>
                <a:latin typeface="Berlin Sans FB" panose="020E0602020502020306" pitchFamily="34" charset="0"/>
              </a:rPr>
              <a:t>fibre</a:t>
            </a:r>
            <a:r>
              <a:rPr lang="en-US" altLang="en-US" sz="3200" b="1" dirty="0">
                <a:solidFill>
                  <a:srgbClr val="0000CC"/>
                </a:solidFill>
                <a:latin typeface="Berlin Sans FB" panose="020E0602020502020306" pitchFamily="34" charset="0"/>
              </a:rPr>
              <a:t>, wood, energy and oxygen</a:t>
            </a:r>
          </a:p>
          <a:p>
            <a:pPr>
              <a:buClr>
                <a:srgbClr val="0000CC"/>
              </a:buClr>
              <a:buSzPct val="105000"/>
            </a:pPr>
            <a:r>
              <a:rPr lang="en-US" altLang="en-US" sz="3200" b="1" dirty="0">
                <a:solidFill>
                  <a:srgbClr val="0000CC"/>
                </a:solidFill>
                <a:latin typeface="Berlin Sans FB" panose="020E0602020502020306" pitchFamily="34" charset="0"/>
              </a:rPr>
              <a:t>People rely on plants for much more than food and shelter</a:t>
            </a:r>
            <a:r>
              <a:rPr lang="en-US" altLang="en-US" sz="3200" b="1" dirty="0">
                <a:solidFill>
                  <a:srgbClr val="0000CC"/>
                </a:solidFill>
                <a:latin typeface="Times New Roman" panose="02020603050405020304" pitchFamily="18" charset="0"/>
              </a:rPr>
              <a:t>:</a:t>
            </a:r>
            <a:r>
              <a:rPr lang="en-US" altLang="en-US" sz="3200" b="1" dirty="0">
                <a:solidFill>
                  <a:srgbClr val="0000CC"/>
                </a:solidFill>
                <a:latin typeface="Berlin Sans FB" panose="020E0602020502020306" pitchFamily="34" charset="0"/>
              </a:rPr>
              <a:t> immobility, carbohydrate production and diverse biochemistry make plants far more useful to humans than any other group of organisms</a:t>
            </a:r>
          </a:p>
        </p:txBody>
      </p:sp>
      <p:grpSp>
        <p:nvGrpSpPr>
          <p:cNvPr id="4" name="Group 1">
            <a:extLst>
              <a:ext uri="{FF2B5EF4-FFF2-40B4-BE49-F238E27FC236}">
                <a16:creationId xmlns:a16="http://schemas.microsoft.com/office/drawing/2014/main" id="{571BEF20-D268-E30A-5742-71B011FE0877}"/>
              </a:ext>
            </a:extLst>
          </p:cNvPr>
          <p:cNvGrpSpPr>
            <a:grpSpLocks/>
          </p:cNvGrpSpPr>
          <p:nvPr/>
        </p:nvGrpSpPr>
        <p:grpSpPr bwMode="auto">
          <a:xfrm>
            <a:off x="20638" y="0"/>
            <a:ext cx="914400" cy="6858000"/>
            <a:chOff x="0" y="0"/>
            <a:chExt cx="914400" cy="6858000"/>
          </a:xfrm>
        </p:grpSpPr>
        <p:sp>
          <p:nvSpPr>
            <p:cNvPr id="6" name="Rectangle 5">
              <a:extLst>
                <a:ext uri="{FF2B5EF4-FFF2-40B4-BE49-F238E27FC236}">
                  <a16:creationId xmlns:a16="http://schemas.microsoft.com/office/drawing/2014/main" id="{8F2A8741-F42E-EA1B-2F22-5F060CE7BB8A}"/>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7" name="Rectangle 6">
              <a:extLst>
                <a:ext uri="{FF2B5EF4-FFF2-40B4-BE49-F238E27FC236}">
                  <a16:creationId xmlns:a16="http://schemas.microsoft.com/office/drawing/2014/main" id="{0E9BE3B9-7078-5CC4-1257-53A0BA7BCFBC}"/>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8" name="Picture 5" descr="logo">
              <a:extLst>
                <a:ext uri="{FF2B5EF4-FFF2-40B4-BE49-F238E27FC236}">
                  <a16:creationId xmlns:a16="http://schemas.microsoft.com/office/drawing/2014/main" id="{856A4F53-AD22-BA55-A498-DE629C0818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039638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US" sz="6600" b="1" dirty="0">
                <a:solidFill>
                  <a:srgbClr val="09950C"/>
                </a:solidFill>
              </a:rPr>
              <a:t>Other Uses of Plants</a:t>
            </a:r>
            <a:endParaRPr lang="en-US" sz="6600" dirty="0"/>
          </a:p>
        </p:txBody>
      </p:sp>
      <p:sp>
        <p:nvSpPr>
          <p:cNvPr id="3" name="Content Placeholder 2"/>
          <p:cNvSpPr>
            <a:spLocks noGrp="1"/>
          </p:cNvSpPr>
          <p:nvPr>
            <p:ph idx="1"/>
          </p:nvPr>
        </p:nvSpPr>
        <p:spPr/>
        <p:txBody>
          <a:bodyPr/>
          <a:lstStyle/>
          <a:p>
            <a:endParaRPr lang="en-US" dirty="0"/>
          </a:p>
        </p:txBody>
      </p:sp>
      <p:sp>
        <p:nvSpPr>
          <p:cNvPr id="5" name="Rectangle 3"/>
          <p:cNvSpPr txBox="1">
            <a:spLocks noChangeArrowheads="1"/>
          </p:cNvSpPr>
          <p:nvPr/>
        </p:nvSpPr>
        <p:spPr>
          <a:xfrm>
            <a:off x="869283" y="1651000"/>
            <a:ext cx="10882648" cy="452596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4000" b="1" dirty="0">
                <a:solidFill>
                  <a:schemeClr val="accent5">
                    <a:lumMod val="75000"/>
                  </a:schemeClr>
                </a:solidFill>
                <a:latin typeface="Bodoni MT Condensed" panose="02070606080606020203" pitchFamily="18" charset="0"/>
              </a:rPr>
              <a:t>Plants rely on wind and water to move their pollen and seeds, or alternatively entice animals to do these for them.</a:t>
            </a:r>
          </a:p>
          <a:p>
            <a:r>
              <a:rPr lang="en-US" altLang="en-US" sz="4000" b="1" dirty="0">
                <a:solidFill>
                  <a:schemeClr val="accent5">
                    <a:lumMod val="75000"/>
                  </a:schemeClr>
                </a:solidFill>
                <a:latin typeface="Bodoni MT Condensed" panose="02070606080606020203" pitchFamily="18" charset="0"/>
              </a:rPr>
              <a:t>This is the essence of flowers and delicious and nutritious fruits.</a:t>
            </a:r>
          </a:p>
          <a:p>
            <a:r>
              <a:rPr lang="en-US" altLang="en-US" sz="4000" b="1" dirty="0">
                <a:solidFill>
                  <a:schemeClr val="accent5">
                    <a:lumMod val="75000"/>
                  </a:schemeClr>
                </a:solidFill>
                <a:latin typeface="Bodoni MT Condensed" panose="02070606080606020203" pitchFamily="18" charset="0"/>
              </a:rPr>
              <a:t>Not all animal-plant interactions are, however, benign</a:t>
            </a:r>
          </a:p>
          <a:p>
            <a:r>
              <a:rPr lang="en-US" altLang="en-US" sz="4000" b="1" dirty="0">
                <a:solidFill>
                  <a:schemeClr val="accent5">
                    <a:lumMod val="75000"/>
                  </a:schemeClr>
                </a:solidFill>
                <a:latin typeface="Bodoni MT Condensed" panose="02070606080606020203" pitchFamily="18" charset="0"/>
              </a:rPr>
              <a:t>Animals pose a threat to plants and plants have therefore become specialists in animal biochemistry</a:t>
            </a:r>
            <a:r>
              <a:rPr lang="en-US" altLang="en-US" sz="4000" b="1" dirty="0">
                <a:solidFill>
                  <a:schemeClr val="accent5">
                    <a:lumMod val="75000"/>
                  </a:schemeClr>
                </a:solidFill>
              </a:rPr>
              <a:t> </a:t>
            </a:r>
          </a:p>
        </p:txBody>
      </p:sp>
      <p:grpSp>
        <p:nvGrpSpPr>
          <p:cNvPr id="4" name="Group 1">
            <a:extLst>
              <a:ext uri="{FF2B5EF4-FFF2-40B4-BE49-F238E27FC236}">
                <a16:creationId xmlns:a16="http://schemas.microsoft.com/office/drawing/2014/main" id="{1306F0DB-49FC-AE3D-3015-B7DDDD13CC4E}"/>
              </a:ext>
            </a:extLst>
          </p:cNvPr>
          <p:cNvGrpSpPr>
            <a:grpSpLocks/>
          </p:cNvGrpSpPr>
          <p:nvPr/>
        </p:nvGrpSpPr>
        <p:grpSpPr bwMode="auto">
          <a:xfrm>
            <a:off x="20638" y="0"/>
            <a:ext cx="914400" cy="6858000"/>
            <a:chOff x="0" y="0"/>
            <a:chExt cx="914400" cy="6858000"/>
          </a:xfrm>
        </p:grpSpPr>
        <p:sp>
          <p:nvSpPr>
            <p:cNvPr id="6" name="Rectangle 5">
              <a:extLst>
                <a:ext uri="{FF2B5EF4-FFF2-40B4-BE49-F238E27FC236}">
                  <a16:creationId xmlns:a16="http://schemas.microsoft.com/office/drawing/2014/main" id="{05686C16-FC14-A93A-7F61-93ACFD0F3D34}"/>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7" name="Rectangle 6">
              <a:extLst>
                <a:ext uri="{FF2B5EF4-FFF2-40B4-BE49-F238E27FC236}">
                  <a16:creationId xmlns:a16="http://schemas.microsoft.com/office/drawing/2014/main" id="{D9E4F3D6-AF10-8F28-8631-6E4CF1C024C3}"/>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8" name="Picture 5" descr="logo">
              <a:extLst>
                <a:ext uri="{FF2B5EF4-FFF2-40B4-BE49-F238E27FC236}">
                  <a16:creationId xmlns:a16="http://schemas.microsoft.com/office/drawing/2014/main" id="{A3DD4CEF-F8CE-36BE-8D80-110122EDBE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93842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US" sz="6000" b="1" dirty="0">
                <a:solidFill>
                  <a:schemeClr val="accent2">
                    <a:lumMod val="75000"/>
                  </a:schemeClr>
                </a:solidFill>
              </a:rPr>
              <a:t>Some other issues for botanists: </a:t>
            </a:r>
            <a:endParaRPr lang="en-US" sz="6000" b="1" dirty="0">
              <a:solidFill>
                <a:schemeClr val="accent2">
                  <a:lumMod val="75000"/>
                </a:schemeClr>
              </a:solidFill>
            </a:endParaRPr>
          </a:p>
        </p:txBody>
      </p:sp>
      <p:sp>
        <p:nvSpPr>
          <p:cNvPr id="3" name="Content Placeholder 2"/>
          <p:cNvSpPr>
            <a:spLocks noGrp="1"/>
          </p:cNvSpPr>
          <p:nvPr>
            <p:ph idx="1"/>
          </p:nvPr>
        </p:nvSpPr>
        <p:spPr>
          <a:xfrm>
            <a:off x="596114" y="1825625"/>
            <a:ext cx="11584580" cy="4652448"/>
          </a:xfrm>
          <a:solidFill>
            <a:schemeClr val="bg1"/>
          </a:solidFill>
        </p:spPr>
        <p:txBody>
          <a:bodyPr>
            <a:normAutofit lnSpcReduction="10000"/>
          </a:bodyPr>
          <a:lstStyle/>
          <a:p>
            <a:pPr>
              <a:lnSpc>
                <a:spcPct val="80000"/>
              </a:lnSpc>
              <a:buClr>
                <a:schemeClr val="bg1"/>
              </a:buClr>
              <a:buSzPct val="110000"/>
              <a:buFont typeface="Wingdings" panose="05000000000000000000" pitchFamily="2" charset="2"/>
              <a:buChar char="§"/>
            </a:pPr>
            <a:r>
              <a:rPr lang="en-US" altLang="en-US" sz="3200" b="1" dirty="0">
                <a:latin typeface="Bookman Old Style" panose="02050604050505020204" pitchFamily="18" charset="0"/>
              </a:rPr>
              <a:t>The principles underlying the great diversity of plants</a:t>
            </a:r>
          </a:p>
          <a:p>
            <a:pPr>
              <a:lnSpc>
                <a:spcPct val="80000"/>
              </a:lnSpc>
              <a:buClr>
                <a:schemeClr val="bg1"/>
              </a:buClr>
              <a:buSzPct val="110000"/>
              <a:buFont typeface="Wingdings" panose="05000000000000000000" pitchFamily="2" charset="2"/>
              <a:buChar char="§"/>
            </a:pPr>
            <a:r>
              <a:rPr lang="en-US" altLang="en-US" sz="3200" b="1" dirty="0">
                <a:latin typeface="Bookman Old Style" panose="02050604050505020204" pitchFamily="18" charset="0"/>
              </a:rPr>
              <a:t>The mechanisms that control the precise pattern of growth</a:t>
            </a:r>
          </a:p>
          <a:p>
            <a:pPr>
              <a:lnSpc>
                <a:spcPct val="80000"/>
              </a:lnSpc>
              <a:buClr>
                <a:schemeClr val="bg1"/>
              </a:buClr>
              <a:buSzPct val="110000"/>
              <a:buFont typeface="Wingdings" panose="05000000000000000000" pitchFamily="2" charset="2"/>
              <a:buChar char="§"/>
            </a:pPr>
            <a:r>
              <a:rPr lang="en-US" altLang="en-US" sz="3200" b="1" dirty="0">
                <a:latin typeface="Bookman Old Style" panose="02050604050505020204" pitchFamily="18" charset="0"/>
              </a:rPr>
              <a:t>The kinds of plants growing under what conditions of temperature, soil, moisture and nutrients that will produce most abundantly, since plants are the only producers</a:t>
            </a:r>
          </a:p>
          <a:p>
            <a:pPr>
              <a:lnSpc>
                <a:spcPct val="80000"/>
              </a:lnSpc>
              <a:buClr>
                <a:schemeClr val="bg1"/>
              </a:buClr>
              <a:buSzPct val="110000"/>
              <a:buFont typeface="Wingdings" panose="05000000000000000000" pitchFamily="2" charset="2"/>
              <a:buChar char="§"/>
            </a:pPr>
            <a:r>
              <a:rPr lang="en-US" altLang="en-US" sz="3200" b="1" dirty="0">
                <a:latin typeface="Bookman Old Style" panose="02050604050505020204" pitchFamily="18" charset="0"/>
              </a:rPr>
              <a:t>Relationships of plants to their environment, and how the harmful changes in the biosphere can be reversed</a:t>
            </a:r>
          </a:p>
          <a:p>
            <a:endParaRPr lang="en-US" dirty="0"/>
          </a:p>
        </p:txBody>
      </p:sp>
      <p:grpSp>
        <p:nvGrpSpPr>
          <p:cNvPr id="4" name="Group 1">
            <a:extLst>
              <a:ext uri="{FF2B5EF4-FFF2-40B4-BE49-F238E27FC236}">
                <a16:creationId xmlns:a16="http://schemas.microsoft.com/office/drawing/2014/main" id="{EBE14D48-25EB-4FB0-5F93-EED5D9CAEFDC}"/>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8E5BC45F-C801-6241-B5DB-3A43FE9F4BD5}"/>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872B6056-626F-994E-B6DB-57B0FD582BF8}"/>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24E1FBD3-467D-3B71-217E-0625513F06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527310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a:tile tx="0" ty="0" sx="100000" sy="100000" flip="none" algn="tl"/>
          </a:blipFill>
        </p:spPr>
        <p:txBody>
          <a:bodyPr/>
          <a:lstStyle/>
          <a:p>
            <a:pPr algn="ctr"/>
            <a:r>
              <a:rPr lang="en-GB" b="1" dirty="0"/>
              <a:t>EVOLUTION BY NATURAL SELECTION</a:t>
            </a:r>
            <a:endParaRPr lang="en-US" b="1" dirty="0"/>
          </a:p>
        </p:txBody>
      </p:sp>
      <p:sp>
        <p:nvSpPr>
          <p:cNvPr id="3" name="Content Placeholder 2"/>
          <p:cNvSpPr>
            <a:spLocks noGrp="1"/>
          </p:cNvSpPr>
          <p:nvPr>
            <p:ph idx="1"/>
          </p:nvPr>
        </p:nvSpPr>
        <p:spPr>
          <a:blipFill>
            <a:blip r:embed="rId3"/>
            <a:tile tx="0" ty="0" sx="100000" sy="100000" flip="none" algn="tl"/>
          </a:blipFill>
        </p:spPr>
        <p:txBody>
          <a:bodyPr>
            <a:normAutofit fontScale="92500"/>
          </a:bodyPr>
          <a:lstStyle/>
          <a:p>
            <a:pPr marL="0" indent="0">
              <a:buNone/>
            </a:pPr>
            <a:r>
              <a:rPr lang="en-GB" dirty="0"/>
              <a:t>Darwin’s theory of evolution by natural selection:</a:t>
            </a:r>
          </a:p>
          <a:p>
            <a:r>
              <a:rPr lang="en-GB" dirty="0"/>
              <a:t>Individuals that make up a population are not identical – they vary;</a:t>
            </a:r>
          </a:p>
          <a:p>
            <a:r>
              <a:rPr lang="en-GB" dirty="0"/>
              <a:t>Some of the variation is heritable</a:t>
            </a:r>
          </a:p>
          <a:p>
            <a:r>
              <a:rPr lang="en-GB" dirty="0"/>
              <a:t>All populations have the potential to populate the whole earth – but they don’t, due to various reasons</a:t>
            </a:r>
          </a:p>
          <a:p>
            <a:r>
              <a:rPr lang="en-GB" dirty="0"/>
              <a:t>Different individuals have different numbers of descendants – differing chances of survival to reproductive age, vagaries of nature etc.</a:t>
            </a:r>
          </a:p>
          <a:p>
            <a:r>
              <a:rPr lang="en-GB" dirty="0"/>
              <a:t>The number of individuals left by an organism depends crucially on the interactions between the characteristics of the individual and its environment</a:t>
            </a:r>
            <a:endParaRPr lang="en-US" dirty="0"/>
          </a:p>
        </p:txBody>
      </p:sp>
      <p:grpSp>
        <p:nvGrpSpPr>
          <p:cNvPr id="4" name="Group 1">
            <a:extLst>
              <a:ext uri="{FF2B5EF4-FFF2-40B4-BE49-F238E27FC236}">
                <a16:creationId xmlns:a16="http://schemas.microsoft.com/office/drawing/2014/main" id="{672F3061-6E87-790A-E706-E5CF474144E0}"/>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04165BA8-7EB4-BBF6-8440-DF0986A8BBC7}"/>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C6916402-68AE-E4B4-3C87-38B676A9A8A6}"/>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5080F18C-3154-F436-DB8A-9ADBA0513C1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776936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10000"/>
            </a:schemeClr>
          </a:solidFill>
        </p:spPr>
        <p:txBody>
          <a:bodyPr>
            <a:normAutofit/>
          </a:bodyPr>
          <a:lstStyle/>
          <a:p>
            <a:pPr algn="ctr"/>
            <a:r>
              <a:rPr lang="en-GB" sz="6600" dirty="0">
                <a:solidFill>
                  <a:schemeClr val="bg1"/>
                </a:solidFill>
              </a:rPr>
              <a:t>ADAPTATION</a:t>
            </a:r>
            <a:endParaRPr lang="en-US" sz="6600" dirty="0">
              <a:solidFill>
                <a:schemeClr val="bg1"/>
              </a:solidFill>
            </a:endParaRPr>
          </a:p>
        </p:txBody>
      </p:sp>
      <p:sp>
        <p:nvSpPr>
          <p:cNvPr id="3" name="Content Placeholder 2"/>
          <p:cNvSpPr>
            <a:spLocks noGrp="1"/>
          </p:cNvSpPr>
          <p:nvPr>
            <p:ph idx="1"/>
          </p:nvPr>
        </p:nvSpPr>
        <p:spPr>
          <a:blipFill>
            <a:blip r:embed="rId2"/>
            <a:tile tx="0" ty="0" sx="100000" sy="100000" flip="none" algn="tl"/>
          </a:blipFill>
        </p:spPr>
        <p:txBody>
          <a:bodyPr>
            <a:normAutofit fontScale="92500"/>
          </a:bodyPr>
          <a:lstStyle/>
          <a:p>
            <a:r>
              <a:rPr lang="en-GB" sz="3200" dirty="0"/>
              <a:t>Any behavioural, morphological or physiological trait that is assumed to be the result of natural selection;</a:t>
            </a:r>
          </a:p>
          <a:p>
            <a:r>
              <a:rPr lang="en-GB" sz="3200" dirty="0"/>
              <a:t>Physiological or morphological feature or form of behaviour used to explain the ability of an organism to live where it does</a:t>
            </a:r>
          </a:p>
          <a:p>
            <a:r>
              <a:rPr lang="en-GB" sz="3200" dirty="0"/>
              <a:t>Change in physical, physiological or behavioural traits that results from some current environmental pressure, such as adapting to a change in temperature</a:t>
            </a:r>
          </a:p>
          <a:p>
            <a:r>
              <a:rPr lang="en-GB" sz="3200" dirty="0"/>
              <a:t>Key to adaptability is diversity of genetic characteristics (genotypes) found among the local populations of a species</a:t>
            </a:r>
            <a:endParaRPr lang="en-US" sz="3200" dirty="0"/>
          </a:p>
        </p:txBody>
      </p:sp>
      <p:grpSp>
        <p:nvGrpSpPr>
          <p:cNvPr id="4" name="Group 1">
            <a:extLst>
              <a:ext uri="{FF2B5EF4-FFF2-40B4-BE49-F238E27FC236}">
                <a16:creationId xmlns:a16="http://schemas.microsoft.com/office/drawing/2014/main" id="{DE40E22A-DB19-CB46-C100-3B99A017FB99}"/>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EF7BDA44-8D69-A64B-EDE9-B0D26C3A5E60}"/>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538EB38C-BA72-EA99-CE6D-945CECC63535}"/>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0C3EE15B-1535-90EF-E2C6-BEFBF1556C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887661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CC"/>
          </a:solidFill>
        </p:spPr>
        <p:txBody>
          <a:bodyPr/>
          <a:lstStyle/>
          <a:p>
            <a:pPr algn="ctr"/>
            <a:r>
              <a:rPr lang="en-GB" dirty="0"/>
              <a:t>ADAPTATION OR </a:t>
            </a:r>
            <a:r>
              <a:rPr lang="en-GB" b="1" i="1" dirty="0"/>
              <a:t>ABAPTATION</a:t>
            </a:r>
            <a:r>
              <a:rPr lang="en-GB" dirty="0"/>
              <a:t>?</a:t>
            </a:r>
            <a:endParaRPr lang="en-US" dirty="0"/>
          </a:p>
        </p:txBody>
      </p:sp>
      <p:sp>
        <p:nvSpPr>
          <p:cNvPr id="3" name="Content Placeholder 2"/>
          <p:cNvSpPr>
            <a:spLocks noGrp="1"/>
          </p:cNvSpPr>
          <p:nvPr>
            <p:ph idx="1"/>
          </p:nvPr>
        </p:nvSpPr>
        <p:spPr>
          <a:solidFill>
            <a:schemeClr val="accent1">
              <a:lumMod val="20000"/>
              <a:lumOff val="80000"/>
            </a:schemeClr>
          </a:solidFill>
        </p:spPr>
        <p:txBody>
          <a:bodyPr>
            <a:normAutofit lnSpcReduction="10000"/>
          </a:bodyPr>
          <a:lstStyle/>
          <a:p>
            <a:r>
              <a:rPr lang="en-GB" dirty="0"/>
              <a:t>Some environments may be favourable, others not; hence natural selection</a:t>
            </a:r>
          </a:p>
          <a:p>
            <a:r>
              <a:rPr lang="en-GB" dirty="0"/>
              <a:t>Reasonable to say that the organisms of the present are </a:t>
            </a:r>
            <a:r>
              <a:rPr lang="en-GB" b="1" i="1" dirty="0" err="1"/>
              <a:t>abapted</a:t>
            </a:r>
            <a:r>
              <a:rPr lang="en-GB" b="1" i="1" dirty="0"/>
              <a:t> </a:t>
            </a:r>
            <a:r>
              <a:rPr lang="en-GB" dirty="0"/>
              <a:t>by the environments of the previous generation. Past </a:t>
            </a:r>
            <a:r>
              <a:rPr lang="en-GB" dirty="0" err="1"/>
              <a:t>envts</a:t>
            </a:r>
            <a:r>
              <a:rPr lang="en-GB" dirty="0"/>
              <a:t> act as filters.</a:t>
            </a:r>
          </a:p>
          <a:p>
            <a:r>
              <a:rPr lang="en-GB" dirty="0"/>
              <a:t>Organisms appear to be adapted to present </a:t>
            </a:r>
            <a:r>
              <a:rPr lang="en-GB" dirty="0" err="1"/>
              <a:t>envts</a:t>
            </a:r>
            <a:r>
              <a:rPr lang="en-GB" dirty="0"/>
              <a:t> because present </a:t>
            </a:r>
            <a:r>
              <a:rPr lang="en-GB" dirty="0" err="1"/>
              <a:t>envts</a:t>
            </a:r>
            <a:r>
              <a:rPr lang="en-GB" dirty="0"/>
              <a:t> tend to be similar to past ones</a:t>
            </a:r>
          </a:p>
          <a:p>
            <a:r>
              <a:rPr lang="en-GB" dirty="0"/>
              <a:t>Adaptation gives the impression of prediction, forethought or design. Organisms are </a:t>
            </a:r>
            <a:r>
              <a:rPr lang="en-GB" b="1" i="1" dirty="0" err="1"/>
              <a:t>abapted</a:t>
            </a:r>
            <a:r>
              <a:rPr lang="en-GB" dirty="0"/>
              <a:t> by their past. </a:t>
            </a:r>
          </a:p>
          <a:p>
            <a:r>
              <a:rPr lang="en-GB" dirty="0"/>
              <a:t>Organisms live where they do due to accidents of history – fitness (biological = contribution an organism makes to future generations)</a:t>
            </a:r>
            <a:endParaRPr lang="en-US" dirty="0"/>
          </a:p>
        </p:txBody>
      </p:sp>
      <p:grpSp>
        <p:nvGrpSpPr>
          <p:cNvPr id="4" name="Group 1">
            <a:extLst>
              <a:ext uri="{FF2B5EF4-FFF2-40B4-BE49-F238E27FC236}">
                <a16:creationId xmlns:a16="http://schemas.microsoft.com/office/drawing/2014/main" id="{51AB490B-95B4-3F73-27E0-2E0F50AC46C0}"/>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D797733A-9B3B-4652-FCEC-6E627108AE9E}"/>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E5623909-8AF5-4F1B-86DA-99BC5DBD4870}"/>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955A3265-9FC1-3AAB-CAC6-8CABFB48AA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967342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2700000" scaled="1"/>
            <a:tileRect/>
          </a:gradFill>
        </p:spPr>
        <p:txBody>
          <a:bodyPr>
            <a:normAutofit/>
          </a:bodyPr>
          <a:lstStyle/>
          <a:p>
            <a:pPr algn="ctr"/>
            <a:r>
              <a:rPr lang="en-GB" sz="6000" b="1" dirty="0"/>
              <a:t>Ecotypes, Phenotypes</a:t>
            </a:r>
            <a:endParaRPr lang="en-US" sz="6000" b="1" dirty="0"/>
          </a:p>
        </p:txBody>
      </p:sp>
      <p:sp>
        <p:nvSpPr>
          <p:cNvPr id="3" name="Content Placeholder 2"/>
          <p:cNvSpPr>
            <a:spLocks noGrp="1"/>
          </p:cNvSpPr>
          <p:nvPr>
            <p:ph idx="1"/>
          </p:nvPr>
        </p:nvSpPr>
        <p:spPr>
          <a:solidFill>
            <a:schemeClr val="bg1">
              <a:lumMod val="95000"/>
            </a:schemeClr>
          </a:solidFill>
        </p:spPr>
        <p:txBody>
          <a:bodyPr>
            <a:normAutofit/>
          </a:bodyPr>
          <a:lstStyle/>
          <a:p>
            <a:r>
              <a:rPr lang="en-GB" sz="3600" dirty="0"/>
              <a:t>Plants adapted to local conditions  are called ecotypes</a:t>
            </a:r>
          </a:p>
          <a:p>
            <a:r>
              <a:rPr lang="en-GB" sz="3600" dirty="0"/>
              <a:t>Phenotypes are physical expressions of the genotype and its interactions with the environment</a:t>
            </a:r>
          </a:p>
          <a:p>
            <a:r>
              <a:rPr lang="en-GB" sz="3600" dirty="0"/>
              <a:t>Phenotypic responses may be morphological (Physical characteristics), physiological (functional characteristics) or phenological (timing of growth and other life history changes stimulated by seasonal changes in the </a:t>
            </a:r>
            <a:r>
              <a:rPr lang="en-GB" sz="3600" dirty="0" err="1"/>
              <a:t>envt</a:t>
            </a:r>
            <a:r>
              <a:rPr lang="en-GB" sz="3600" dirty="0"/>
              <a:t>.)</a:t>
            </a:r>
            <a:endParaRPr lang="en-US" sz="3600" dirty="0"/>
          </a:p>
        </p:txBody>
      </p:sp>
      <p:grpSp>
        <p:nvGrpSpPr>
          <p:cNvPr id="4" name="Group 1">
            <a:extLst>
              <a:ext uri="{FF2B5EF4-FFF2-40B4-BE49-F238E27FC236}">
                <a16:creationId xmlns:a16="http://schemas.microsoft.com/office/drawing/2014/main" id="{E72EA7A5-2E66-C615-504D-22A737381A5A}"/>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72617A5D-4347-EE13-9182-5F8193737161}"/>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4F160820-9C7E-4B58-B657-3A40C0FB2216}"/>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058B10FA-895C-40DE-DCD2-11D81D1BAB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890277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2700000" scaled="1"/>
          </a:gradFill>
          <a:ln>
            <a:solidFill>
              <a:srgbClr val="FF0000"/>
            </a:solidFill>
          </a:ln>
        </p:spPr>
        <p:txBody>
          <a:bodyPr>
            <a:normAutofit/>
          </a:bodyPr>
          <a:lstStyle/>
          <a:p>
            <a:pPr algn="ctr"/>
            <a:r>
              <a:rPr lang="en-GB" sz="4800" dirty="0"/>
              <a:t>On Conditions and Resources</a:t>
            </a:r>
            <a:endParaRPr lang="en-US" sz="4800" dirty="0"/>
          </a:p>
        </p:txBody>
      </p:sp>
      <p:sp>
        <p:nvSpPr>
          <p:cNvPr id="3" name="Content Placeholder 2"/>
          <p:cNvSpPr>
            <a:spLocks noGrp="1"/>
          </p:cNvSpPr>
          <p:nvPr>
            <p:ph idx="1"/>
          </p:nvPr>
        </p:nvSpPr>
        <p:spPr>
          <a:blipFill dpi="0" rotWithShape="1">
            <a:blip r:embed="rId2"/>
            <a:srcRect/>
            <a:tile tx="0" ty="0" sx="100000" sy="100000" flip="none" algn="tl"/>
          </a:blipFill>
        </p:spPr>
        <p:txBody>
          <a:bodyPr>
            <a:normAutofit/>
          </a:bodyPr>
          <a:lstStyle/>
          <a:p>
            <a:r>
              <a:rPr lang="en-GB" sz="3600" dirty="0"/>
              <a:t>To understand the distribution and abundance of a species, we need to know:</a:t>
            </a:r>
          </a:p>
          <a:p>
            <a:r>
              <a:rPr lang="en-GB" sz="3600" dirty="0"/>
              <a:t>History of the species</a:t>
            </a:r>
          </a:p>
          <a:p>
            <a:r>
              <a:rPr lang="en-GB" sz="3600" dirty="0"/>
              <a:t>The resources that it requires</a:t>
            </a:r>
          </a:p>
          <a:p>
            <a:r>
              <a:rPr lang="en-GB" sz="3600" dirty="0"/>
              <a:t>Factors that influence its rate of growth</a:t>
            </a:r>
          </a:p>
          <a:p>
            <a:r>
              <a:rPr lang="en-GB" sz="3600" dirty="0"/>
              <a:t>Interactions</a:t>
            </a:r>
          </a:p>
          <a:p>
            <a:r>
              <a:rPr lang="en-GB" sz="3600" dirty="0"/>
              <a:t>Effects of environmental conditions</a:t>
            </a:r>
            <a:endParaRPr lang="en-US" sz="3600" dirty="0"/>
          </a:p>
        </p:txBody>
      </p:sp>
      <p:grpSp>
        <p:nvGrpSpPr>
          <p:cNvPr id="4" name="Group 1">
            <a:extLst>
              <a:ext uri="{FF2B5EF4-FFF2-40B4-BE49-F238E27FC236}">
                <a16:creationId xmlns:a16="http://schemas.microsoft.com/office/drawing/2014/main" id="{554CF3BC-1F15-8289-5F9D-2775FF2D7770}"/>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983DFFA6-518B-0225-DB8B-60BBAAADCE10}"/>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998B1196-C210-0BA5-8978-6688FA3A6419}"/>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335153C0-6FB1-AFBD-11FC-86AD8DA31BC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24936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20000"/>
              <a:lumOff val="80000"/>
            </a:schemeClr>
          </a:solidFill>
        </p:spPr>
        <p:txBody>
          <a:bodyPr/>
          <a:lstStyle/>
          <a:p>
            <a:pPr algn="ctr"/>
            <a:r>
              <a:rPr lang="en-GB" sz="6000" dirty="0"/>
              <a:t>Condition</a:t>
            </a:r>
            <a:r>
              <a:rPr lang="en-GB" dirty="0"/>
              <a:t> </a:t>
            </a:r>
            <a:endParaRPr lang="en-US" dirty="0"/>
          </a:p>
        </p:txBody>
      </p:sp>
      <p:sp>
        <p:nvSpPr>
          <p:cNvPr id="3" name="Content Placeholder 2"/>
          <p:cNvSpPr>
            <a:spLocks noGrp="1"/>
          </p:cNvSpPr>
          <p:nvPr>
            <p:ph idx="1"/>
          </p:nvPr>
        </p:nvSpPr>
        <p:spPr>
          <a:blipFill>
            <a:blip r:embed="rId2"/>
            <a:tile tx="0" ty="0" sx="100000" sy="100000" flip="none" algn="tl"/>
          </a:blipFill>
        </p:spPr>
        <p:txBody>
          <a:bodyPr>
            <a:normAutofit/>
          </a:bodyPr>
          <a:lstStyle/>
          <a:p>
            <a:r>
              <a:rPr lang="en-GB" sz="3600" dirty="0"/>
              <a:t>An abiotic environmental factor which varies in space and time, and to which organisms are differentially responsive; e.g. temperature, relative humidity, pH, salinity, stream flow velocity and concentration of pollutants</a:t>
            </a:r>
          </a:p>
          <a:p>
            <a:r>
              <a:rPr lang="en-GB" sz="3600" dirty="0"/>
              <a:t>May be modified by the presence of other organisms</a:t>
            </a:r>
          </a:p>
          <a:p>
            <a:r>
              <a:rPr lang="en-GB" sz="3600" dirty="0"/>
              <a:t>Not consumed or used up by an organism or made unavailable or less available to others</a:t>
            </a:r>
            <a:endParaRPr lang="en-US" sz="3600" dirty="0"/>
          </a:p>
        </p:txBody>
      </p:sp>
      <p:grpSp>
        <p:nvGrpSpPr>
          <p:cNvPr id="4" name="Group 1">
            <a:extLst>
              <a:ext uri="{FF2B5EF4-FFF2-40B4-BE49-F238E27FC236}">
                <a16:creationId xmlns:a16="http://schemas.microsoft.com/office/drawing/2014/main" id="{05F7A677-3E3E-9BA7-0387-00EC2A83FC4C}"/>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0E54D781-0AB5-C794-FD44-A1784DDA7471}"/>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ABCC7025-2BA9-4B6D-9703-852B11BB42AC}"/>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1A9A36A8-97D2-0D17-3791-27D9060627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259620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a:tile tx="0" ty="0" sx="100000" sy="100000" flip="none" algn="tl"/>
          </a:blipFill>
        </p:spPr>
        <p:txBody>
          <a:bodyPr/>
          <a:lstStyle/>
          <a:p>
            <a:pPr algn="ctr"/>
            <a:r>
              <a:rPr lang="en-GB" sz="6000" dirty="0"/>
              <a:t>Resources</a:t>
            </a:r>
            <a:r>
              <a:rPr lang="en-GB" dirty="0"/>
              <a:t> </a:t>
            </a:r>
            <a:endParaRPr lang="en-US" dirty="0"/>
          </a:p>
        </p:txBody>
      </p:sp>
      <p:sp>
        <p:nvSpPr>
          <p:cNvPr id="3" name="Content Placeholder 2"/>
          <p:cNvSpPr>
            <a:spLocks noGrp="1"/>
          </p:cNvSpPr>
          <p:nvPr>
            <p:ph idx="1"/>
          </p:nvPr>
        </p:nvSpPr>
        <p:spPr>
          <a:blipFill>
            <a:blip r:embed="rId3"/>
            <a:tile tx="0" ty="0" sx="100000" sy="100000" flip="none" algn="tl"/>
          </a:blipFill>
          <a:ln>
            <a:solidFill>
              <a:srgbClr val="0070C0"/>
            </a:solidFill>
          </a:ln>
        </p:spPr>
        <p:txBody>
          <a:bodyPr>
            <a:noAutofit/>
          </a:bodyPr>
          <a:lstStyle/>
          <a:p>
            <a:r>
              <a:rPr lang="en-GB" sz="3600" dirty="0"/>
              <a:t>All things consumed by an organism</a:t>
            </a:r>
          </a:p>
          <a:p>
            <a:r>
              <a:rPr lang="en-GB" sz="3600" dirty="0"/>
              <a:t>‘consumed’ not necessarily eaten but be made unavailable to other organisms; stock or supply has been reduced</a:t>
            </a:r>
          </a:p>
          <a:p>
            <a:r>
              <a:rPr lang="en-GB" sz="3600" dirty="0"/>
              <a:t>Resources are incorporated into the organism</a:t>
            </a:r>
          </a:p>
          <a:p>
            <a:r>
              <a:rPr lang="en-GB" sz="3600" dirty="0"/>
              <a:t>Examples: radiation, inorganic molecules (carbon dioxide, water, mineral nutrients, oxygen), organisms, space</a:t>
            </a:r>
            <a:endParaRPr lang="en-US" sz="3600" dirty="0"/>
          </a:p>
        </p:txBody>
      </p:sp>
      <p:grpSp>
        <p:nvGrpSpPr>
          <p:cNvPr id="4" name="Group 1">
            <a:extLst>
              <a:ext uri="{FF2B5EF4-FFF2-40B4-BE49-F238E27FC236}">
                <a16:creationId xmlns:a16="http://schemas.microsoft.com/office/drawing/2014/main" id="{AD6C7568-BB4C-FF9F-3A1E-ADEAA819CFDA}"/>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2D90ACC0-463F-2F62-D6AB-922840BECCA8}"/>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F28CDF96-D1AF-EE93-29C4-7724A59DC056}"/>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38C25F61-B06B-C4E4-B239-1694127440F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49065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a:gsLst>
              <a:gs pos="1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algn="ctr"/>
            <a:r>
              <a:rPr lang="en-GB" sz="6000" dirty="0"/>
              <a:t>Plants: Evolutionary History</a:t>
            </a:r>
            <a:endParaRPr lang="en-US" sz="6000" dirty="0"/>
          </a:p>
        </p:txBody>
      </p:sp>
      <p:sp>
        <p:nvSpPr>
          <p:cNvPr id="3" name="Content Placeholder 2"/>
          <p:cNvSpPr>
            <a:spLocks noGrp="1"/>
          </p:cNvSpPr>
          <p:nvPr>
            <p:ph idx="1"/>
          </p:nvPr>
        </p:nvSpPr>
        <p:spPr>
          <a:xfrm>
            <a:off x="838200" y="1825624"/>
            <a:ext cx="10515600" cy="4655857"/>
          </a:xfrm>
          <a:blipFill>
            <a:blip r:embed="rId2"/>
            <a:tile tx="0" ty="0" sx="100000" sy="100000" flip="none" algn="tl"/>
          </a:blipFill>
        </p:spPr>
        <p:txBody>
          <a:bodyPr>
            <a:noAutofit/>
          </a:bodyPr>
          <a:lstStyle/>
          <a:p>
            <a:r>
              <a:rPr lang="en-GB" sz="3200" dirty="0"/>
              <a:t>Life evolved in the oceans</a:t>
            </a:r>
          </a:p>
          <a:p>
            <a:r>
              <a:rPr lang="en-GB" sz="3200" dirty="0"/>
              <a:t>The first plants were </a:t>
            </a:r>
            <a:r>
              <a:rPr lang="en-GB" sz="3200" dirty="0" err="1"/>
              <a:t>phytoflagellates</a:t>
            </a:r>
            <a:r>
              <a:rPr lang="en-GB" sz="3200" dirty="0"/>
              <a:t> – the photosynthetic flagellate is the simplest state of plant life</a:t>
            </a:r>
          </a:p>
          <a:p>
            <a:r>
              <a:rPr lang="en-GB" sz="3200" dirty="0" err="1"/>
              <a:t>Phytoflagellates</a:t>
            </a:r>
            <a:r>
              <a:rPr lang="en-GB" sz="3200" dirty="0"/>
              <a:t> gave rise to non-motile marine plankton, phytoplankton</a:t>
            </a:r>
          </a:p>
          <a:p>
            <a:r>
              <a:rPr lang="en-GB" sz="3200" dirty="0"/>
              <a:t>These proceeded to build the many-celled plant body under the different conditions of the seashore – various seaweeds</a:t>
            </a:r>
          </a:p>
          <a:p>
            <a:r>
              <a:rPr lang="en-GB" sz="3200" dirty="0"/>
              <a:t>To reproduce, plants go back to the flagellate start, revert to (zoo)spores</a:t>
            </a:r>
            <a:endParaRPr lang="en-US" sz="3200" dirty="0"/>
          </a:p>
        </p:txBody>
      </p:sp>
      <p:grpSp>
        <p:nvGrpSpPr>
          <p:cNvPr id="4" name="Group 1">
            <a:extLst>
              <a:ext uri="{FF2B5EF4-FFF2-40B4-BE49-F238E27FC236}">
                <a16:creationId xmlns:a16="http://schemas.microsoft.com/office/drawing/2014/main" id="{1FBE1A31-5DD6-975C-1A4B-FEF8D7ADC01D}"/>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35C4162C-9945-A96E-80DB-711802B1217B}"/>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4841F591-8C97-2138-01FF-DB44C55E3F09}"/>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8566690C-D2DF-9463-15A5-4E45D7B8B8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40723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txBody>
          <a:bodyPr>
            <a:normAutofit/>
          </a:bodyPr>
          <a:lstStyle/>
          <a:p>
            <a:pPr algn="ctr"/>
            <a:r>
              <a:rPr lang="en-GB" sz="6600" dirty="0"/>
              <a:t>Still on History</a:t>
            </a:r>
            <a:endParaRPr lang="en-US" sz="6600" dirty="0"/>
          </a:p>
        </p:txBody>
      </p:sp>
      <p:sp>
        <p:nvSpPr>
          <p:cNvPr id="3" name="Content Placeholder 2"/>
          <p:cNvSpPr>
            <a:spLocks noGrp="1"/>
          </p:cNvSpPr>
          <p:nvPr>
            <p:ph idx="1"/>
          </p:nvPr>
        </p:nvSpPr>
        <p:sp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r="100000" b="100000"/>
            </a:path>
            <a:tileRect l="-100000" t="-100000"/>
          </a:gradFill>
        </p:spPr>
        <p:txBody>
          <a:bodyPr/>
          <a:lstStyle/>
          <a:p>
            <a:r>
              <a:rPr lang="en-GB" dirty="0"/>
              <a:t>On entering a more complex </a:t>
            </a:r>
            <a:r>
              <a:rPr lang="en-GB" dirty="0" err="1"/>
              <a:t>envt</a:t>
            </a:r>
            <a:r>
              <a:rPr lang="en-GB" dirty="0"/>
              <a:t> the plant carries into it a legacy from the past and with this ability or limitation it proceeds</a:t>
            </a:r>
          </a:p>
          <a:p>
            <a:r>
              <a:rPr lang="en-GB" dirty="0"/>
              <a:t>The more </a:t>
            </a:r>
            <a:r>
              <a:rPr lang="en-GB" dirty="0" err="1"/>
              <a:t>envts</a:t>
            </a:r>
            <a:r>
              <a:rPr lang="en-GB" dirty="0"/>
              <a:t> its ancestors have passed thru, the greater the plant’s endowment, the benefits may be small if the talent has not been used</a:t>
            </a:r>
          </a:p>
          <a:p>
            <a:r>
              <a:rPr lang="en-GB" dirty="0"/>
              <a:t>Some flagellates have thus remained in the oceans – diatoms, </a:t>
            </a:r>
            <a:r>
              <a:rPr lang="en-GB" dirty="0" err="1"/>
              <a:t>peridineans</a:t>
            </a:r>
            <a:r>
              <a:rPr lang="en-GB" dirty="0"/>
              <a:t> (dinoflagellates) and </a:t>
            </a:r>
            <a:r>
              <a:rPr lang="en-GB" dirty="0" err="1"/>
              <a:t>cocolithophores</a:t>
            </a:r>
            <a:endParaRPr lang="en-GB" dirty="0"/>
          </a:p>
          <a:p>
            <a:r>
              <a:rPr lang="en-GB" dirty="0"/>
              <a:t>Some other flagellates have been carried by estuaries, lakes and salt marshes or some other aquatic routes to ‘land’ where they remained flagellates</a:t>
            </a:r>
            <a:endParaRPr lang="en-US" dirty="0"/>
          </a:p>
        </p:txBody>
      </p:sp>
      <p:grpSp>
        <p:nvGrpSpPr>
          <p:cNvPr id="4" name="Group 1">
            <a:extLst>
              <a:ext uri="{FF2B5EF4-FFF2-40B4-BE49-F238E27FC236}">
                <a16:creationId xmlns:a16="http://schemas.microsoft.com/office/drawing/2014/main" id="{922941A8-94A5-F09F-7D6A-0B27C63B3158}"/>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31D31FDC-7051-AB35-0DEA-3024D0FCC828}"/>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B195EECF-2CAC-77D1-5735-4E71EEB5462A}"/>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F3327AAC-3A90-09CB-8D74-06F3E1AD70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097086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attFill prst="pct50">
            <a:fgClr>
              <a:schemeClr val="accent1"/>
            </a:fgClr>
            <a:bgClr>
              <a:schemeClr val="bg1"/>
            </a:bgClr>
          </a:pattFill>
        </p:spPr>
        <p:txBody>
          <a:bodyPr>
            <a:normAutofit/>
          </a:bodyPr>
          <a:lstStyle/>
          <a:p>
            <a:pPr algn="ctr"/>
            <a:r>
              <a:rPr lang="en-GB" sz="6000" dirty="0"/>
              <a:t>Plant Life on the Seashore</a:t>
            </a:r>
            <a:endParaRPr lang="en-US" sz="6000" dirty="0"/>
          </a:p>
        </p:txBody>
      </p:sp>
      <p:sp>
        <p:nvSpPr>
          <p:cNvPr id="3" name="Content Placeholder 2"/>
          <p:cNvSpPr>
            <a:spLocks noGrp="1"/>
          </p:cNvSpPr>
          <p:nvPr>
            <p:ph idx="1"/>
          </p:nvPr>
        </p:nvSpPr>
        <p:spPr>
          <a:pattFill prst="pct20">
            <a:fgClr>
              <a:schemeClr val="accent1"/>
            </a:fgClr>
            <a:bgClr>
              <a:schemeClr val="bg1"/>
            </a:bgClr>
          </a:pattFill>
        </p:spPr>
        <p:txBody>
          <a:bodyPr>
            <a:normAutofit lnSpcReduction="10000"/>
          </a:bodyPr>
          <a:lstStyle/>
          <a:p>
            <a:r>
              <a:rPr lang="en-GB" b="1" dirty="0"/>
              <a:t>Plant life on the seashore is the outcome photosynthetic flagellate lineages settling on the rocks and developing into seaweed forms – green (</a:t>
            </a:r>
            <a:r>
              <a:rPr lang="en-GB" b="1" dirty="0" err="1"/>
              <a:t>Chlorophyceae</a:t>
            </a:r>
            <a:r>
              <a:rPr lang="en-GB" b="1" dirty="0"/>
              <a:t>), brown (</a:t>
            </a:r>
            <a:r>
              <a:rPr lang="en-GB" b="1" dirty="0" err="1"/>
              <a:t>Phaeophyceae</a:t>
            </a:r>
            <a:r>
              <a:rPr lang="en-GB" b="1" dirty="0"/>
              <a:t>), red (</a:t>
            </a:r>
            <a:r>
              <a:rPr lang="en-GB" b="1" dirty="0" err="1"/>
              <a:t>Rhodophyceae</a:t>
            </a:r>
            <a:r>
              <a:rPr lang="en-GB" b="1" dirty="0"/>
              <a:t>) and yellow-green (</a:t>
            </a:r>
            <a:r>
              <a:rPr lang="en-GB" b="1" dirty="0" err="1"/>
              <a:t>Xanthophyceae</a:t>
            </a:r>
            <a:r>
              <a:rPr lang="en-GB" b="1" dirty="0"/>
              <a:t>).</a:t>
            </a:r>
          </a:p>
          <a:p>
            <a:r>
              <a:rPr lang="en-GB" b="1" dirty="0"/>
              <a:t>Seaweeds form the plant benthos of many-celled, attached and mortal individuals. They begin the concept of vegetation.</a:t>
            </a:r>
          </a:p>
          <a:p>
            <a:r>
              <a:rPr lang="en-GB" b="1" dirty="0"/>
              <a:t>Seaweeds pioneered plant form by sending from a fixed base filaments, branches, and fronds</a:t>
            </a:r>
          </a:p>
          <a:p>
            <a:r>
              <a:rPr lang="en-GB" b="1" dirty="0"/>
              <a:t>The many-celled adult grew, matured reproduced and returned to the single-celled planktonic state which grew up again as affixed plant</a:t>
            </a:r>
            <a:endParaRPr lang="en-US" b="1" dirty="0"/>
          </a:p>
        </p:txBody>
      </p:sp>
      <p:grpSp>
        <p:nvGrpSpPr>
          <p:cNvPr id="4" name="Group 1">
            <a:extLst>
              <a:ext uri="{FF2B5EF4-FFF2-40B4-BE49-F238E27FC236}">
                <a16:creationId xmlns:a16="http://schemas.microsoft.com/office/drawing/2014/main" id="{2FF03EFB-3587-6127-45AA-1E8D324F2FA7}"/>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7D06D99C-80A8-D070-A2F0-606D5D84EE29}"/>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04F86A3D-A4A8-FA3E-BD11-A89D9D522A57}"/>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04B0FFFF-E0DA-1E57-8FA8-CB124FEA40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826976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35075"/>
          </a:xfrm>
          <a:pattFill prst="diagBrick">
            <a:fgClr>
              <a:schemeClr val="accent1"/>
            </a:fgClr>
            <a:bgClr>
              <a:schemeClr val="bg1"/>
            </a:bgClr>
          </a:pattFill>
        </p:spPr>
        <p:txBody>
          <a:bodyPr>
            <a:normAutofit/>
          </a:bodyPr>
          <a:lstStyle/>
          <a:p>
            <a:pPr algn="ctr"/>
            <a:r>
              <a:rPr lang="en-GB" sz="4000" b="1" dirty="0"/>
              <a:t>Moving on from seaweeds</a:t>
            </a:r>
            <a:endParaRPr lang="en-US" sz="4000" b="1" dirty="0"/>
          </a:p>
        </p:txBody>
      </p:sp>
      <p:sp>
        <p:nvSpPr>
          <p:cNvPr id="3" name="Content Placeholder 2"/>
          <p:cNvSpPr>
            <a:spLocks noGrp="1"/>
          </p:cNvSpPr>
          <p:nvPr>
            <p:ph idx="1"/>
          </p:nvPr>
        </p:nvSpPr>
        <p:spPr/>
        <p:txBody>
          <a:bodyPr>
            <a:noAutofit/>
          </a:bodyPr>
          <a:lstStyle/>
          <a:p>
            <a:r>
              <a:rPr lang="en-GB" sz="3200" dirty="0"/>
              <a:t>Three problems associated with seaweed structure:</a:t>
            </a:r>
          </a:p>
          <a:p>
            <a:pPr marL="914400" lvl="1" indent="-457200">
              <a:buFont typeface="+mj-lt"/>
              <a:buAutoNum type="arabicPeriod"/>
            </a:pPr>
            <a:r>
              <a:rPr lang="en-GB" sz="3200" dirty="0"/>
              <a:t>Stronger attachment for the foothold as the plant grows into the water</a:t>
            </a:r>
          </a:p>
          <a:p>
            <a:pPr marL="914400" lvl="1" indent="-457200">
              <a:buFont typeface="+mj-lt"/>
              <a:buAutoNum type="arabicPeriod"/>
            </a:pPr>
            <a:r>
              <a:rPr lang="en-GB" sz="3200" dirty="0"/>
              <a:t>The problem of cohesion among its cells to prevent disruption of the plant body</a:t>
            </a:r>
          </a:p>
          <a:p>
            <a:pPr marL="914400" lvl="1" indent="-457200">
              <a:buFont typeface="+mj-lt"/>
              <a:buAutoNum type="arabicPeriod"/>
            </a:pPr>
            <a:r>
              <a:rPr lang="en-GB" sz="3200" dirty="0"/>
              <a:t>Food supply to the foothold and the lower parts as they become overshadowed by the upper parts</a:t>
            </a:r>
          </a:p>
          <a:p>
            <a:r>
              <a:rPr lang="en-GB" sz="3200" dirty="0"/>
              <a:t>These were overcome by various adaptations, including cell specializations</a:t>
            </a:r>
          </a:p>
        </p:txBody>
      </p:sp>
      <p:grpSp>
        <p:nvGrpSpPr>
          <p:cNvPr id="4" name="Group 1">
            <a:extLst>
              <a:ext uri="{FF2B5EF4-FFF2-40B4-BE49-F238E27FC236}">
                <a16:creationId xmlns:a16="http://schemas.microsoft.com/office/drawing/2014/main" id="{3946E849-7539-63AE-6992-F58B4FB61E24}"/>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D3A9B37B-5C0C-C316-8CE8-05C84C0D7905}"/>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4F9BD829-53E8-1E9F-E94B-F7EFE8C377F1}"/>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86C0E8B0-D205-B24B-BD86-6FDD1A0A73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686545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lumMod val="20000"/>
              <a:lumOff val="80000"/>
            </a:schemeClr>
          </a:solidFill>
          <a:ln>
            <a:solidFill>
              <a:srgbClr val="FF0000"/>
            </a:solidFill>
          </a:ln>
        </p:spPr>
        <p:txBody>
          <a:bodyPr/>
          <a:lstStyle/>
          <a:p>
            <a:pPr algn="ctr"/>
            <a:r>
              <a:rPr lang="en-GB" dirty="0"/>
              <a:t>Where seaweeds are found</a:t>
            </a:r>
            <a:endParaRPr lang="en-US" dirty="0"/>
          </a:p>
        </p:txBody>
      </p:sp>
      <p:sp>
        <p:nvSpPr>
          <p:cNvPr id="3" name="Content Placeholder 2"/>
          <p:cNvSpPr>
            <a:spLocks noGrp="1"/>
          </p:cNvSpPr>
          <p:nvPr>
            <p:ph idx="1"/>
          </p:nvPr>
        </p:nvSpPr>
        <p:spPr>
          <a:solidFill>
            <a:srgbClr val="FFFECE"/>
          </a:solidFill>
          <a:ln>
            <a:solidFill>
              <a:srgbClr val="FF0000"/>
            </a:solidFill>
          </a:ln>
        </p:spPr>
        <p:txBody>
          <a:bodyPr>
            <a:noAutofit/>
          </a:bodyPr>
          <a:lstStyle/>
          <a:p>
            <a:r>
              <a:rPr lang="en-GB" sz="3200" dirty="0"/>
              <a:t>Temperate zone coasts are much richer in seaweeds than tropical:</a:t>
            </a:r>
          </a:p>
          <a:p>
            <a:r>
              <a:rPr lang="en-GB" sz="3200" dirty="0"/>
              <a:t>Pacific N. America, Chile, S. Australia, Tasmania, New Zealand, Japan, France and Britain</a:t>
            </a:r>
          </a:p>
          <a:p>
            <a:r>
              <a:rPr lang="en-GB" sz="3200" dirty="0"/>
              <a:t>Corals found where sea water temps range from 18 to 28o Celsius</a:t>
            </a:r>
          </a:p>
          <a:p>
            <a:r>
              <a:rPr lang="en-GB" sz="3200" dirty="0"/>
              <a:t>In the upper parts of tropical shores, intense sunlight and evaporation caused by heating of rocks are destructive of corals as well as seaweeds</a:t>
            </a:r>
            <a:endParaRPr lang="en-US" sz="3200" dirty="0"/>
          </a:p>
        </p:txBody>
      </p:sp>
      <p:grpSp>
        <p:nvGrpSpPr>
          <p:cNvPr id="4" name="Group 1">
            <a:extLst>
              <a:ext uri="{FF2B5EF4-FFF2-40B4-BE49-F238E27FC236}">
                <a16:creationId xmlns:a16="http://schemas.microsoft.com/office/drawing/2014/main" id="{5D89E7ED-A25D-0C86-DC76-196C06DEF72A}"/>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C646C140-EC26-827A-326C-A92E2D96252E}"/>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5704E8A4-EC81-4EB3-FCEC-C607E9AFFC2F}"/>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96B06610-2444-DDBA-F8B2-4C445032B6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429793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10800000" scaled="1"/>
            <a:tileRect/>
          </a:gradFill>
          <a:ln>
            <a:solidFill>
              <a:schemeClr val="accent2">
                <a:lumMod val="75000"/>
              </a:schemeClr>
            </a:solidFill>
          </a:ln>
        </p:spPr>
        <p:txBody>
          <a:bodyPr>
            <a:normAutofit/>
          </a:bodyPr>
          <a:lstStyle/>
          <a:p>
            <a:pPr algn="ctr"/>
            <a:r>
              <a:rPr lang="en-GB" sz="4800" dirty="0"/>
              <a:t>From Seaweeds to Land Plants</a:t>
            </a:r>
            <a:endParaRPr lang="en-US" sz="4800" dirty="0"/>
          </a:p>
        </p:txBody>
      </p:sp>
      <p:sp>
        <p:nvSpPr>
          <p:cNvPr id="3" name="Content Placeholder 2"/>
          <p:cNvSpPr>
            <a:spLocks noGrp="1"/>
          </p:cNvSpPr>
          <p:nvPr>
            <p:ph idx="1"/>
          </p:nvPr>
        </p:nvSpPr>
        <p:spPr>
          <a:solidFill>
            <a:schemeClr val="accent3">
              <a:lumMod val="20000"/>
              <a:lumOff val="80000"/>
            </a:schemeClr>
          </a:solidFill>
        </p:spPr>
        <p:txBody>
          <a:bodyPr>
            <a:noAutofit/>
          </a:bodyPr>
          <a:lstStyle/>
          <a:p>
            <a:r>
              <a:rPr lang="en-GB" sz="3200" b="1" dirty="0"/>
              <a:t>Seaweeds evolved 2 states: diploid that produce by meiosis the zoospores that would grow into the haploid plant</a:t>
            </a:r>
          </a:p>
          <a:p>
            <a:r>
              <a:rPr lang="en-GB" sz="3200" b="1" dirty="0"/>
              <a:t>These would produce gametes without meiosis</a:t>
            </a:r>
          </a:p>
          <a:p>
            <a:r>
              <a:rPr lang="en-GB" sz="3200" b="1" dirty="0"/>
              <a:t>The diploid plant is the sporophyte, the haploid the gametophyte</a:t>
            </a:r>
          </a:p>
          <a:p>
            <a:r>
              <a:rPr lang="en-GB" sz="3200" b="1" dirty="0"/>
              <a:t>In higher land plants, such as seed plants the sexual generation or gametophyte becomes almost suppressed  - clearly not feasible for colonizers of land to depend on standing water into which to discharge free-living gametes.</a:t>
            </a:r>
            <a:endParaRPr lang="en-US" sz="3200" b="1" dirty="0"/>
          </a:p>
        </p:txBody>
      </p:sp>
      <p:grpSp>
        <p:nvGrpSpPr>
          <p:cNvPr id="4" name="Group 1">
            <a:extLst>
              <a:ext uri="{FF2B5EF4-FFF2-40B4-BE49-F238E27FC236}">
                <a16:creationId xmlns:a16="http://schemas.microsoft.com/office/drawing/2014/main" id="{142432FE-795E-BAEA-C3BD-27C847A74283}"/>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785EC60D-F7DA-FBE7-865D-63FE02EFFF76}"/>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0D6ECE0F-3556-F89A-82E3-2F520DE7AF32}"/>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EE700B92-2106-C058-96FC-A53ED66D3D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095985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10800000" scaled="1"/>
            <a:tileRect/>
          </a:gradFill>
        </p:spPr>
        <p:txBody>
          <a:bodyPr>
            <a:normAutofit/>
          </a:bodyPr>
          <a:lstStyle/>
          <a:p>
            <a:pPr algn="ctr"/>
            <a:r>
              <a:rPr lang="en-GB" sz="6000" dirty="0"/>
              <a:t>Land Plants</a:t>
            </a:r>
            <a:endParaRPr lang="en-US" sz="6000" dirty="0"/>
          </a:p>
        </p:txBody>
      </p:sp>
      <p:sp>
        <p:nvSpPr>
          <p:cNvPr id="3" name="Content Placeholder 2"/>
          <p:cNvSpPr>
            <a:spLocks noGrp="1"/>
          </p:cNvSpPr>
          <p:nvPr>
            <p:ph idx="1"/>
          </p:nvPr>
        </p:nvSpPr>
        <p:spPr>
          <a:blipFill>
            <a:blip r:embed="rId2"/>
            <a:tile tx="0" ty="0" sx="100000" sy="100000" flip="none" algn="tl"/>
          </a:blipFill>
          <a:ln>
            <a:solidFill>
              <a:srgbClr val="FF0000"/>
            </a:solidFill>
          </a:ln>
        </p:spPr>
        <p:txBody>
          <a:bodyPr>
            <a:normAutofit/>
          </a:bodyPr>
          <a:lstStyle/>
          <a:p>
            <a:r>
              <a:rPr lang="en-GB" sz="3200" b="1" dirty="0"/>
              <a:t>Earth: foothold, mineral matter</a:t>
            </a:r>
          </a:p>
          <a:p>
            <a:r>
              <a:rPr lang="en-GB" sz="3200" b="1" dirty="0"/>
              <a:t>Wind (Air): gases, their chemical nature, diffusion, evaporation, wind and cloud</a:t>
            </a:r>
          </a:p>
          <a:p>
            <a:r>
              <a:rPr lang="en-GB" sz="3200" b="1" dirty="0"/>
              <a:t>Fire: light and heat – climatology, plant geography</a:t>
            </a:r>
          </a:p>
          <a:p>
            <a:r>
              <a:rPr lang="en-GB" sz="3200" b="1" dirty="0"/>
              <a:t>Water: basis for protoplasm; most chemical reactions in living organisms take place in a watery medium</a:t>
            </a:r>
          </a:p>
          <a:p>
            <a:r>
              <a:rPr lang="en-GB" sz="3200" b="1" dirty="0"/>
              <a:t>Climate = a combination of temp, moisture, precipitation and winds for a given place expressed as means or averages</a:t>
            </a:r>
            <a:endParaRPr lang="en-US" sz="3200" b="1" dirty="0"/>
          </a:p>
        </p:txBody>
      </p:sp>
      <p:grpSp>
        <p:nvGrpSpPr>
          <p:cNvPr id="4" name="Group 1">
            <a:extLst>
              <a:ext uri="{FF2B5EF4-FFF2-40B4-BE49-F238E27FC236}">
                <a16:creationId xmlns:a16="http://schemas.microsoft.com/office/drawing/2014/main" id="{55D96BBA-B298-2B0F-349C-42735451EA58}"/>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F855C6F0-07A1-9667-B600-A0B997415455}"/>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D6BBAC2C-579F-2F5F-EAD3-68E47301604F}"/>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D926629F-71BC-4878-6440-1825276C70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59177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rgbClr val="FF0000"/>
            </a:solidFill>
          </a:ln>
        </p:spPr>
        <p:txBody>
          <a:bodyPr/>
          <a:lstStyle/>
          <a:p>
            <a:pPr algn="ctr"/>
            <a:r>
              <a:rPr lang="en-GB" b="1" dirty="0"/>
              <a:t>Land Plants Contd..</a:t>
            </a:r>
            <a:endParaRPr lang="en-US" b="1" dirty="0"/>
          </a:p>
        </p:txBody>
      </p:sp>
      <p:sp>
        <p:nvSpPr>
          <p:cNvPr id="3" name="Content Placeholder 2"/>
          <p:cNvSpPr>
            <a:spLocks noGrp="1"/>
          </p:cNvSpPr>
          <p:nvPr>
            <p:ph idx="1"/>
          </p:nvPr>
        </p:nvSpPr>
        <p:spPr>
          <a:blipFill>
            <a:blip r:embed="rId2"/>
            <a:tile tx="0" ty="0" sx="100000" sy="100000" flip="none" algn="tl"/>
          </a:blipFill>
          <a:ln>
            <a:solidFill>
              <a:srgbClr val="00B0F0"/>
            </a:solidFill>
          </a:ln>
        </p:spPr>
        <p:txBody>
          <a:bodyPr/>
          <a:lstStyle/>
          <a:p>
            <a:r>
              <a:rPr lang="en-GB" b="1" dirty="0"/>
              <a:t>Have inherited marine </a:t>
            </a:r>
            <a:r>
              <a:rPr lang="en-GB" b="1" dirty="0" err="1"/>
              <a:t>parenchymatous</a:t>
            </a:r>
            <a:r>
              <a:rPr lang="en-GB" b="1" dirty="0"/>
              <a:t> construction with apical growth, stem, leaf and branching holdfast, and a heteromorphic life-cycle with dominant sporophyte producing </a:t>
            </a:r>
            <a:r>
              <a:rPr lang="en-GB" b="1" dirty="0" err="1"/>
              <a:t>tetraspores</a:t>
            </a:r>
            <a:r>
              <a:rPr lang="en-GB" b="1" dirty="0"/>
              <a:t> and gametophyte retaining the egg-cells in its tissue</a:t>
            </a:r>
          </a:p>
          <a:p>
            <a:r>
              <a:rPr lang="en-GB" b="1" dirty="0"/>
              <a:t>Waterproofing of shoot surface with cuticle; puncturing of the cuticle with stomata that lead to internal air passages; elongated internal cells for conducting food and water; holdfast = roots; internal thickening and internal positioning of the reproductive cells; plant sensitive to light and gravity</a:t>
            </a:r>
            <a:endParaRPr lang="en-US" b="1" dirty="0"/>
          </a:p>
        </p:txBody>
      </p:sp>
      <p:grpSp>
        <p:nvGrpSpPr>
          <p:cNvPr id="4" name="Group 1">
            <a:extLst>
              <a:ext uri="{FF2B5EF4-FFF2-40B4-BE49-F238E27FC236}">
                <a16:creationId xmlns:a16="http://schemas.microsoft.com/office/drawing/2014/main" id="{F7563CC5-3094-0251-6423-252209CB0FB9}"/>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B455AD51-1520-6397-003A-6602B4468138}"/>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6ED50DE5-C38C-7EE9-A969-A1ED95DD7C58}"/>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74171DCB-78A0-29DA-8A5C-66412C89F84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86465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lumMod val="20000"/>
              <a:lumOff val="80000"/>
            </a:schemeClr>
          </a:solidFill>
        </p:spPr>
        <p:txBody>
          <a:bodyPr/>
          <a:lstStyle/>
          <a:p>
            <a:pPr algn="ctr"/>
            <a:r>
              <a:rPr lang="en-GB" b="1" dirty="0"/>
              <a:t>Solar Radiation, A Key Factor of Climate</a:t>
            </a:r>
            <a:endParaRPr lang="en-US" b="1" dirty="0"/>
          </a:p>
        </p:txBody>
      </p:sp>
      <p:sp>
        <p:nvSpPr>
          <p:cNvPr id="3" name="Content Placeholder 2"/>
          <p:cNvSpPr>
            <a:spLocks noGrp="1"/>
          </p:cNvSpPr>
          <p:nvPr>
            <p:ph idx="1"/>
          </p:nvPr>
        </p:nvSpPr>
        <p:spPr>
          <a:solidFill>
            <a:srgbClr val="FFFECE"/>
          </a:solidFill>
        </p:spPr>
        <p:txBody>
          <a:bodyPr>
            <a:normAutofit/>
          </a:bodyPr>
          <a:lstStyle/>
          <a:p>
            <a:r>
              <a:rPr lang="en-GB" sz="4000" dirty="0"/>
              <a:t>Variations in earth’s surface, water, rock, sand, soil, snow cover and vegetation, along with earth’s daily rotation and yearly revolution about the sun, influence how the heat of the sun is absorbed by Earth and distributed over the globe</a:t>
            </a:r>
            <a:endParaRPr lang="en-US" sz="4000" dirty="0"/>
          </a:p>
        </p:txBody>
      </p:sp>
      <p:grpSp>
        <p:nvGrpSpPr>
          <p:cNvPr id="4" name="Group 1">
            <a:extLst>
              <a:ext uri="{FF2B5EF4-FFF2-40B4-BE49-F238E27FC236}">
                <a16:creationId xmlns:a16="http://schemas.microsoft.com/office/drawing/2014/main" id="{75609D1A-F5B7-D096-E6D1-1CC2E4454ECE}"/>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2BB77B3E-50B3-FF2B-DE03-FB49050F118A}"/>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48169BCC-E39A-0134-DD9C-4B8A117F3C5B}"/>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8047855B-833E-FAF1-2ACA-A19AA1ADA9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297210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West Africa: Vegetation and Ecological Adaptations</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4585" y="1690688"/>
            <a:ext cx="6714699" cy="5167311"/>
          </a:xfrm>
        </p:spPr>
      </p:pic>
      <p:grpSp>
        <p:nvGrpSpPr>
          <p:cNvPr id="3" name="Group 1">
            <a:extLst>
              <a:ext uri="{FF2B5EF4-FFF2-40B4-BE49-F238E27FC236}">
                <a16:creationId xmlns:a16="http://schemas.microsoft.com/office/drawing/2014/main" id="{28981B6D-D547-6E14-5327-E43E420A87A3}"/>
              </a:ext>
            </a:extLst>
          </p:cNvPr>
          <p:cNvGrpSpPr>
            <a:grpSpLocks/>
          </p:cNvGrpSpPr>
          <p:nvPr/>
        </p:nvGrpSpPr>
        <p:grpSpPr bwMode="auto">
          <a:xfrm>
            <a:off x="20638" y="0"/>
            <a:ext cx="914400" cy="6858000"/>
            <a:chOff x="0" y="0"/>
            <a:chExt cx="914400" cy="6858000"/>
          </a:xfrm>
        </p:grpSpPr>
        <p:sp>
          <p:nvSpPr>
            <p:cNvPr id="5" name="Rectangle 4">
              <a:extLst>
                <a:ext uri="{FF2B5EF4-FFF2-40B4-BE49-F238E27FC236}">
                  <a16:creationId xmlns:a16="http://schemas.microsoft.com/office/drawing/2014/main" id="{048951E0-9E19-8D8F-D23E-4CB603CD2A54}"/>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6" name="Rectangle 5">
              <a:extLst>
                <a:ext uri="{FF2B5EF4-FFF2-40B4-BE49-F238E27FC236}">
                  <a16:creationId xmlns:a16="http://schemas.microsoft.com/office/drawing/2014/main" id="{4400BFE5-E2AD-4576-897A-14755908E052}"/>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7" name="Picture 5" descr="logo">
              <a:extLst>
                <a:ext uri="{FF2B5EF4-FFF2-40B4-BE49-F238E27FC236}">
                  <a16:creationId xmlns:a16="http://schemas.microsoft.com/office/drawing/2014/main" id="{DD0DFF46-4B8C-BB95-104F-D4116E74E14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39420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rof. Isishei\AppData\Local\Microsoft\Windows\Temporary Internet Files\Content.Word\Vegetation Map of Nigeria Aboyeji.gif"/>
          <p:cNvPicPr/>
          <p:nvPr/>
        </p:nvPicPr>
        <p:blipFill>
          <a:blip r:embed="rId2" cstate="print"/>
          <a:srcRect/>
          <a:stretch>
            <a:fillRect/>
          </a:stretch>
        </p:blipFill>
        <p:spPr bwMode="auto">
          <a:xfrm>
            <a:off x="723332" y="245660"/>
            <a:ext cx="9403307" cy="6455391"/>
          </a:xfrm>
          <a:prstGeom prst="rect">
            <a:avLst/>
          </a:prstGeom>
          <a:noFill/>
          <a:ln w="9525">
            <a:noFill/>
            <a:miter lim="800000"/>
            <a:headEnd/>
            <a:tailEnd/>
          </a:ln>
        </p:spPr>
      </p:pic>
      <p:grpSp>
        <p:nvGrpSpPr>
          <p:cNvPr id="3" name="Group 1">
            <a:extLst>
              <a:ext uri="{FF2B5EF4-FFF2-40B4-BE49-F238E27FC236}">
                <a16:creationId xmlns:a16="http://schemas.microsoft.com/office/drawing/2014/main" id="{B62E3547-DAD3-9307-D462-5907D4C44A20}"/>
              </a:ext>
            </a:extLst>
          </p:cNvPr>
          <p:cNvGrpSpPr>
            <a:grpSpLocks/>
          </p:cNvGrpSpPr>
          <p:nvPr/>
        </p:nvGrpSpPr>
        <p:grpSpPr bwMode="auto">
          <a:xfrm>
            <a:off x="20638" y="0"/>
            <a:ext cx="914400" cy="6858000"/>
            <a:chOff x="0" y="0"/>
            <a:chExt cx="914400" cy="6858000"/>
          </a:xfrm>
        </p:grpSpPr>
        <p:sp>
          <p:nvSpPr>
            <p:cNvPr id="4" name="Rectangle 3">
              <a:extLst>
                <a:ext uri="{FF2B5EF4-FFF2-40B4-BE49-F238E27FC236}">
                  <a16:creationId xmlns:a16="http://schemas.microsoft.com/office/drawing/2014/main" id="{3F3D80AF-8CD2-32B7-A201-A9FC706BF69C}"/>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5" name="Rectangle 4">
              <a:extLst>
                <a:ext uri="{FF2B5EF4-FFF2-40B4-BE49-F238E27FC236}">
                  <a16:creationId xmlns:a16="http://schemas.microsoft.com/office/drawing/2014/main" id="{57DB6281-2B5A-69E7-FE22-F33876B2C6D0}"/>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6" name="Picture 5" descr="logo">
              <a:extLst>
                <a:ext uri="{FF2B5EF4-FFF2-40B4-BE49-F238E27FC236}">
                  <a16:creationId xmlns:a16="http://schemas.microsoft.com/office/drawing/2014/main" id="{15C7098C-71D7-2F3C-1AA9-0DF97DD068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499354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233" y="2539158"/>
            <a:ext cx="10515600" cy="1325563"/>
          </a:xfrm>
        </p:spPr>
        <p:txBody>
          <a:bodyPr>
            <a:normAutofit fontScale="90000"/>
          </a:bodyPr>
          <a:lstStyle/>
          <a:p>
            <a:pPr algn="ctr"/>
            <a:r>
              <a:rPr lang="en-GB" sz="6000" b="1" dirty="0"/>
              <a:t>END</a:t>
            </a:r>
            <a:br>
              <a:rPr lang="en-GB" sz="6000" b="1" dirty="0"/>
            </a:br>
            <a:br>
              <a:rPr lang="en-GB" sz="6000" b="1" dirty="0"/>
            </a:br>
            <a:br>
              <a:rPr lang="en-GB" sz="6000" b="1" dirty="0"/>
            </a:br>
            <a:r>
              <a:rPr lang="en-GB" sz="6000" b="1" dirty="0"/>
              <a:t>For questions:</a:t>
            </a:r>
            <a:br>
              <a:rPr lang="en-GB" sz="6000" b="1" dirty="0"/>
            </a:br>
            <a:r>
              <a:rPr lang="en-GB" sz="3600" b="1" dirty="0">
                <a:hlinkClick r:id="rId2"/>
              </a:rPr>
              <a:t>gbenga.akomolafe@science.fulafia.edu.ng</a:t>
            </a:r>
            <a:br>
              <a:rPr lang="en-GB" sz="3600" b="1" dirty="0"/>
            </a:br>
            <a:r>
              <a:rPr lang="en-GB" sz="3600" b="1" dirty="0"/>
              <a:t>08129069643</a:t>
            </a:r>
            <a:endParaRPr lang="en-US" sz="3600" b="1" dirty="0"/>
          </a:p>
        </p:txBody>
      </p:sp>
      <p:grpSp>
        <p:nvGrpSpPr>
          <p:cNvPr id="3" name="Group 1">
            <a:extLst>
              <a:ext uri="{FF2B5EF4-FFF2-40B4-BE49-F238E27FC236}">
                <a16:creationId xmlns:a16="http://schemas.microsoft.com/office/drawing/2014/main" id="{ACF57285-CBD6-C7F7-6242-2145B91D7F0A}"/>
              </a:ext>
            </a:extLst>
          </p:cNvPr>
          <p:cNvGrpSpPr>
            <a:grpSpLocks/>
          </p:cNvGrpSpPr>
          <p:nvPr/>
        </p:nvGrpSpPr>
        <p:grpSpPr bwMode="auto">
          <a:xfrm>
            <a:off x="20638" y="0"/>
            <a:ext cx="914400" cy="6858000"/>
            <a:chOff x="0" y="0"/>
            <a:chExt cx="914400" cy="6858000"/>
          </a:xfrm>
        </p:grpSpPr>
        <p:sp>
          <p:nvSpPr>
            <p:cNvPr id="4" name="Rectangle 3">
              <a:extLst>
                <a:ext uri="{FF2B5EF4-FFF2-40B4-BE49-F238E27FC236}">
                  <a16:creationId xmlns:a16="http://schemas.microsoft.com/office/drawing/2014/main" id="{06E3FEEB-B018-C3C1-7E7C-FC82CCA4E31E}"/>
                </a:ext>
              </a:extLst>
            </p:cNvPr>
            <p:cNvSpPr/>
            <p:nvPr/>
          </p:nvSpPr>
          <p:spPr>
            <a:xfrm>
              <a:off x="0" y="0"/>
              <a:ext cx="381000"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sp>
          <p:nvSpPr>
            <p:cNvPr id="5" name="Rectangle 4">
              <a:extLst>
                <a:ext uri="{FF2B5EF4-FFF2-40B4-BE49-F238E27FC236}">
                  <a16:creationId xmlns:a16="http://schemas.microsoft.com/office/drawing/2014/main" id="{A1CC964C-4ABD-19EB-544A-0D6A7EF5CF2C}"/>
                </a:ext>
              </a:extLst>
            </p:cNvPr>
            <p:cNvSpPr/>
            <p:nvPr/>
          </p:nvSpPr>
          <p:spPr>
            <a:xfrm>
              <a:off x="381000" y="0"/>
              <a:ext cx="457200" cy="6858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p>
          </p:txBody>
        </p:sp>
        <p:pic>
          <p:nvPicPr>
            <p:cNvPr id="6" name="Picture 5" descr="logo">
              <a:extLst>
                <a:ext uri="{FF2B5EF4-FFF2-40B4-BE49-F238E27FC236}">
                  <a16:creationId xmlns:a16="http://schemas.microsoft.com/office/drawing/2014/main" id="{79541120-B8A7-004C-755A-532D12B230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273" t="29860" r="41530" b="24966"/>
            <a:stretch>
              <a:fillRect/>
            </a:stretch>
          </p:blipFill>
          <p:spPr bwMode="auto">
            <a:xfrm>
              <a:off x="0" y="5878513"/>
              <a:ext cx="914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200382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TotalTime>
  <Words>1468</Words>
  <Application>Microsoft Office PowerPoint</Application>
  <PresentationFormat>Widescreen</PresentationFormat>
  <Paragraphs>107</Paragraphs>
  <Slides>23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Berlin Sans FB</vt:lpstr>
      <vt:lpstr>Bodoni MT Condensed</vt:lpstr>
      <vt:lpstr>Bookman Old Style</vt:lpstr>
      <vt:lpstr>Calibri</vt:lpstr>
      <vt:lpstr>Calibri Light</vt:lpstr>
      <vt:lpstr>Times New Roman</vt:lpstr>
      <vt:lpstr>Wingdings</vt:lpstr>
      <vt:lpstr>Office Theme</vt:lpstr>
      <vt:lpstr>BLY 121: GENERAL BIOLOGY II</vt:lpstr>
      <vt:lpstr>Importance of Plants </vt:lpstr>
      <vt:lpstr>Other Uses of Plants</vt:lpstr>
      <vt:lpstr>Some other issues for botanists: </vt:lpstr>
      <vt:lpstr>EVOLUTION BY NATURAL SELECTION</vt:lpstr>
      <vt:lpstr>ADAPTATION</vt:lpstr>
      <vt:lpstr>ADAPTATION OR ABAPTATION?</vt:lpstr>
      <vt:lpstr>Ecotypes, Phenotypes</vt:lpstr>
      <vt:lpstr>On Conditions and Resources</vt:lpstr>
      <vt:lpstr>Condition </vt:lpstr>
      <vt:lpstr>Resources </vt:lpstr>
      <vt:lpstr>Plants: Evolutionary History</vt:lpstr>
      <vt:lpstr>Still on History</vt:lpstr>
      <vt:lpstr>Plant Life on the Seashore</vt:lpstr>
      <vt:lpstr>Moving on from seaweeds</vt:lpstr>
      <vt:lpstr>Where seaweeds are found</vt:lpstr>
      <vt:lpstr>From Seaweeds to Land Plants</vt:lpstr>
      <vt:lpstr>Land Plants</vt:lpstr>
      <vt:lpstr>Land Plants Contd..</vt:lpstr>
      <vt:lpstr>Solar Radiation, A Key Factor of Climate</vt:lpstr>
      <vt:lpstr>West Africa: Vegetation and Ecological Adaptations</vt:lpstr>
      <vt:lpstr>PowerPoint Presentation</vt:lpstr>
      <vt:lpstr>END   For questions: gbenga.akomolafe@science.fulafia.edu.ng 08129069643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BLY 121: GENERAL BIOLOGY II</dc:title>
  <dc:creator>Prof. Isishei</dc:creator>
  <cp:lastModifiedBy>Gbenga Festus Akomolafe</cp:lastModifiedBy>
  <cp:revision>85</cp:revision>
  <dcterms:created xsi:type="dcterms:W3CDTF">2016-05-12T10:55:01Z</dcterms:created>
  <dcterms:modified xsi:type="dcterms:W3CDTF">2023-10-20T12:34:41Z</dcterms:modified>
</cp:coreProperties>
</file>