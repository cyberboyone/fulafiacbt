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4A049EB-1F0C-4E67-876D-7AF1C8F8AC0E}" type="datetimeFigureOut">
              <a:rPr lang="en-US" smtClean="0"/>
              <a:t>4/19/2021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9DE66E-4F2E-471B-A9AA-46360D259E1B}" type="slidenum">
              <a:rPr lang="en-US" smtClean="0"/>
              <a:t>‹#›</a:t>
            </a:fld>
            <a:endParaRPr lang="en-US"/>
          </a:p>
        </p:txBody>
      </p:sp>
    </p:spTree>
    <p:extLst>
      <p:ext uri="{BB962C8B-B14F-4D97-AF65-F5344CB8AC3E}">
        <p14:creationId xmlns:p14="http://schemas.microsoft.com/office/powerpoint/2010/main" val="499220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A049EB-1F0C-4E67-876D-7AF1C8F8AC0E}" type="datetimeFigureOut">
              <a:rPr lang="en-US" smtClean="0"/>
              <a:t>4/19/2021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9DE66E-4F2E-471B-A9AA-46360D259E1B}" type="slidenum">
              <a:rPr lang="en-US" smtClean="0"/>
              <a:t>‹#›</a:t>
            </a:fld>
            <a:endParaRPr lang="en-US"/>
          </a:p>
        </p:txBody>
      </p:sp>
    </p:spTree>
    <p:extLst>
      <p:ext uri="{BB962C8B-B14F-4D97-AF65-F5344CB8AC3E}">
        <p14:creationId xmlns:p14="http://schemas.microsoft.com/office/powerpoint/2010/main" val="3871888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4A049EB-1F0C-4E67-876D-7AF1C8F8AC0E}" type="datetimeFigureOut">
              <a:rPr lang="en-US" smtClean="0"/>
              <a:t>4/19/2021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9DE66E-4F2E-471B-A9AA-46360D259E1B}" type="slidenum">
              <a:rPr lang="en-US" smtClean="0"/>
              <a:t>‹#›</a:t>
            </a:fld>
            <a:endParaRPr lang="en-US"/>
          </a:p>
        </p:txBody>
      </p:sp>
    </p:spTree>
    <p:extLst>
      <p:ext uri="{BB962C8B-B14F-4D97-AF65-F5344CB8AC3E}">
        <p14:creationId xmlns:p14="http://schemas.microsoft.com/office/powerpoint/2010/main" val="1451704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4A049EB-1F0C-4E67-876D-7AF1C8F8AC0E}" type="datetimeFigureOut">
              <a:rPr lang="en-US" smtClean="0"/>
              <a:t>4/19/2021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9DE66E-4F2E-471B-A9AA-46360D259E1B}" type="slidenum">
              <a:rPr lang="en-US" smtClean="0"/>
              <a:t>‹#›</a:t>
            </a:fld>
            <a:endParaRPr lang="en-US"/>
          </a:p>
        </p:txBody>
      </p:sp>
    </p:spTree>
    <p:extLst>
      <p:ext uri="{BB962C8B-B14F-4D97-AF65-F5344CB8AC3E}">
        <p14:creationId xmlns:p14="http://schemas.microsoft.com/office/powerpoint/2010/main" val="1518746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4A049EB-1F0C-4E67-876D-7AF1C8F8AC0E}" type="datetimeFigureOut">
              <a:rPr lang="en-US" smtClean="0"/>
              <a:t>4/19/2021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9DE66E-4F2E-471B-A9AA-46360D259E1B}" type="slidenum">
              <a:rPr lang="en-US" smtClean="0"/>
              <a:t>‹#›</a:t>
            </a:fld>
            <a:endParaRPr lang="en-US"/>
          </a:p>
        </p:txBody>
      </p:sp>
    </p:spTree>
    <p:extLst>
      <p:ext uri="{BB962C8B-B14F-4D97-AF65-F5344CB8AC3E}">
        <p14:creationId xmlns:p14="http://schemas.microsoft.com/office/powerpoint/2010/main" val="258633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4A049EB-1F0C-4E67-876D-7AF1C8F8AC0E}" type="datetimeFigureOut">
              <a:rPr lang="en-US" smtClean="0"/>
              <a:t>4/19/2021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9DE66E-4F2E-471B-A9AA-46360D259E1B}" type="slidenum">
              <a:rPr lang="en-US" smtClean="0"/>
              <a:t>‹#›</a:t>
            </a:fld>
            <a:endParaRPr lang="en-US"/>
          </a:p>
        </p:txBody>
      </p:sp>
    </p:spTree>
    <p:extLst>
      <p:ext uri="{BB962C8B-B14F-4D97-AF65-F5344CB8AC3E}">
        <p14:creationId xmlns:p14="http://schemas.microsoft.com/office/powerpoint/2010/main" val="215440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A049EB-1F0C-4E67-876D-7AF1C8F8AC0E}" type="datetimeFigureOut">
              <a:rPr lang="en-US" smtClean="0"/>
              <a:t>4/19/2021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9DE66E-4F2E-471B-A9AA-46360D259E1B}" type="slidenum">
              <a:rPr lang="en-US" smtClean="0"/>
              <a:t>‹#›</a:t>
            </a:fld>
            <a:endParaRPr lang="en-US"/>
          </a:p>
        </p:txBody>
      </p:sp>
    </p:spTree>
    <p:extLst>
      <p:ext uri="{BB962C8B-B14F-4D97-AF65-F5344CB8AC3E}">
        <p14:creationId xmlns:p14="http://schemas.microsoft.com/office/powerpoint/2010/main" val="1811673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4A049EB-1F0C-4E67-876D-7AF1C8F8AC0E}" type="datetimeFigureOut">
              <a:rPr lang="en-US" smtClean="0"/>
              <a:t>4/19/2021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9DE66E-4F2E-471B-A9AA-46360D259E1B}" type="slidenum">
              <a:rPr lang="en-US" smtClean="0"/>
              <a:t>‹#›</a:t>
            </a:fld>
            <a:endParaRPr lang="en-US"/>
          </a:p>
        </p:txBody>
      </p:sp>
    </p:spTree>
    <p:extLst>
      <p:ext uri="{BB962C8B-B14F-4D97-AF65-F5344CB8AC3E}">
        <p14:creationId xmlns:p14="http://schemas.microsoft.com/office/powerpoint/2010/main" val="3565039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4A049EB-1F0C-4E67-876D-7AF1C8F8AC0E}" type="datetimeFigureOut">
              <a:rPr lang="en-US" smtClean="0"/>
              <a:t>4/19/2021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9DE66E-4F2E-471B-A9AA-46360D259E1B}" type="slidenum">
              <a:rPr lang="en-US" smtClean="0"/>
              <a:t>‹#›</a:t>
            </a:fld>
            <a:endParaRPr lang="en-US"/>
          </a:p>
        </p:txBody>
      </p:sp>
    </p:spTree>
    <p:extLst>
      <p:ext uri="{BB962C8B-B14F-4D97-AF65-F5344CB8AC3E}">
        <p14:creationId xmlns:p14="http://schemas.microsoft.com/office/powerpoint/2010/main" val="2222477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A049EB-1F0C-4E67-876D-7AF1C8F8AC0E}" type="datetimeFigureOut">
              <a:rPr lang="en-US" smtClean="0"/>
              <a:t>4/19/2021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9DE66E-4F2E-471B-A9AA-46360D259E1B}" type="slidenum">
              <a:rPr lang="en-US" smtClean="0"/>
              <a:t>‹#›</a:t>
            </a:fld>
            <a:endParaRPr lang="en-US"/>
          </a:p>
        </p:txBody>
      </p:sp>
    </p:spTree>
    <p:extLst>
      <p:ext uri="{BB962C8B-B14F-4D97-AF65-F5344CB8AC3E}">
        <p14:creationId xmlns:p14="http://schemas.microsoft.com/office/powerpoint/2010/main" val="3597037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A049EB-1F0C-4E67-876D-7AF1C8F8AC0E}" type="datetimeFigureOut">
              <a:rPr lang="en-US" smtClean="0"/>
              <a:t>4/19/2021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9DE66E-4F2E-471B-A9AA-46360D259E1B}" type="slidenum">
              <a:rPr lang="en-US" smtClean="0"/>
              <a:t>‹#›</a:t>
            </a:fld>
            <a:endParaRPr lang="en-US"/>
          </a:p>
        </p:txBody>
      </p:sp>
    </p:spTree>
    <p:extLst>
      <p:ext uri="{BB962C8B-B14F-4D97-AF65-F5344CB8AC3E}">
        <p14:creationId xmlns:p14="http://schemas.microsoft.com/office/powerpoint/2010/main" val="1051750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A049EB-1F0C-4E67-876D-7AF1C8F8AC0E}" type="datetimeFigureOut">
              <a:rPr lang="en-US" smtClean="0"/>
              <a:t>4/19/2021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DE66E-4F2E-471B-A9AA-46360D259E1B}" type="slidenum">
              <a:rPr lang="en-US" smtClean="0"/>
              <a:t>‹#›</a:t>
            </a:fld>
            <a:endParaRPr lang="en-US"/>
          </a:p>
        </p:txBody>
      </p:sp>
    </p:spTree>
    <p:extLst>
      <p:ext uri="{BB962C8B-B14F-4D97-AF65-F5344CB8AC3E}">
        <p14:creationId xmlns:p14="http://schemas.microsoft.com/office/powerpoint/2010/main" val="2405949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Interactions amongst living things in ecosystems </a:t>
            </a:r>
            <a:endParaRPr lang="en-US" dirty="0"/>
          </a:p>
        </p:txBody>
      </p:sp>
      <p:sp>
        <p:nvSpPr>
          <p:cNvPr id="3" name="Subtitle 2"/>
          <p:cNvSpPr>
            <a:spLocks noGrp="1"/>
          </p:cNvSpPr>
          <p:nvPr>
            <p:ph type="subTitle" idx="1"/>
          </p:nvPr>
        </p:nvSpPr>
        <p:spPr/>
        <p:txBody>
          <a:bodyPr/>
          <a:lstStyle/>
          <a:p>
            <a:r>
              <a:rPr lang="en-US" dirty="0" smtClean="0"/>
              <a:t>By </a:t>
            </a:r>
          </a:p>
          <a:p>
            <a:r>
              <a:rPr lang="en-US" dirty="0" smtClean="0"/>
              <a:t>UYI,OSUYI GERARD</a:t>
            </a:r>
            <a:endParaRPr lang="en-US" dirty="0"/>
          </a:p>
        </p:txBody>
      </p:sp>
    </p:spTree>
    <p:extLst>
      <p:ext uri="{BB962C8B-B14F-4D97-AF65-F5344CB8AC3E}">
        <p14:creationId xmlns:p14="http://schemas.microsoft.com/office/powerpoint/2010/main" val="1333538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54073059"/>
              </p:ext>
            </p:extLst>
          </p:nvPr>
        </p:nvGraphicFramePr>
        <p:xfrm>
          <a:off x="838200" y="1825625"/>
          <a:ext cx="10515600" cy="296672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765341693"/>
                    </a:ext>
                  </a:extLst>
                </a:gridCol>
                <a:gridCol w="2628900">
                  <a:extLst>
                    <a:ext uri="{9D8B030D-6E8A-4147-A177-3AD203B41FA5}">
                      <a16:colId xmlns:a16="http://schemas.microsoft.com/office/drawing/2014/main" val="2388072392"/>
                    </a:ext>
                  </a:extLst>
                </a:gridCol>
                <a:gridCol w="2628900">
                  <a:extLst>
                    <a:ext uri="{9D8B030D-6E8A-4147-A177-3AD203B41FA5}">
                      <a16:colId xmlns:a16="http://schemas.microsoft.com/office/drawing/2014/main" val="911405966"/>
                    </a:ext>
                  </a:extLst>
                </a:gridCol>
                <a:gridCol w="2628900">
                  <a:extLst>
                    <a:ext uri="{9D8B030D-6E8A-4147-A177-3AD203B41FA5}">
                      <a16:colId xmlns:a16="http://schemas.microsoft.com/office/drawing/2014/main" val="328177312"/>
                    </a:ext>
                  </a:extLst>
                </a:gridCol>
              </a:tblGrid>
              <a:tr h="370840">
                <a:tc>
                  <a:txBody>
                    <a:bodyPr/>
                    <a:lstStyle/>
                    <a:p>
                      <a:r>
                        <a:rPr lang="en-US" dirty="0" smtClean="0"/>
                        <a:t>s/no</a:t>
                      </a:r>
                      <a:endParaRPr lang="en-US" dirty="0"/>
                    </a:p>
                  </a:txBody>
                  <a:tcPr/>
                </a:tc>
                <a:tc>
                  <a:txBody>
                    <a:bodyPr/>
                    <a:lstStyle/>
                    <a:p>
                      <a:r>
                        <a:rPr lang="en-US" dirty="0" smtClean="0"/>
                        <a:t>Interaction </a:t>
                      </a:r>
                      <a:endParaRPr lang="en-US" dirty="0"/>
                    </a:p>
                  </a:txBody>
                  <a:tcPr/>
                </a:tc>
                <a:tc>
                  <a:txBody>
                    <a:bodyPr/>
                    <a:lstStyle/>
                    <a:p>
                      <a:r>
                        <a:rPr lang="en-US" dirty="0" smtClean="0"/>
                        <a:t>Species A</a:t>
                      </a:r>
                      <a:endParaRPr lang="en-US" dirty="0"/>
                    </a:p>
                  </a:txBody>
                  <a:tcPr/>
                </a:tc>
                <a:tc>
                  <a:txBody>
                    <a:bodyPr/>
                    <a:lstStyle/>
                    <a:p>
                      <a:r>
                        <a:rPr lang="en-US" dirty="0" smtClean="0"/>
                        <a:t>Species B</a:t>
                      </a:r>
                      <a:endParaRPr lang="en-US" dirty="0"/>
                    </a:p>
                  </a:txBody>
                  <a:tcPr/>
                </a:tc>
                <a:extLst>
                  <a:ext uri="{0D108BD9-81ED-4DB2-BD59-A6C34878D82A}">
                    <a16:rowId xmlns:a16="http://schemas.microsoft.com/office/drawing/2014/main" val="1264278599"/>
                  </a:ext>
                </a:extLst>
              </a:tr>
              <a:tr h="370840">
                <a:tc>
                  <a:txBody>
                    <a:bodyPr/>
                    <a:lstStyle/>
                    <a:p>
                      <a:r>
                        <a:rPr lang="en-US" dirty="0" smtClean="0"/>
                        <a:t>1</a:t>
                      </a:r>
                      <a:endParaRPr lang="en-US" dirty="0"/>
                    </a:p>
                  </a:txBody>
                  <a:tcPr/>
                </a:tc>
                <a:tc>
                  <a:txBody>
                    <a:bodyPr/>
                    <a:lstStyle/>
                    <a:p>
                      <a:r>
                        <a:rPr lang="en-US" dirty="0" smtClean="0"/>
                        <a:t>Mutualism </a:t>
                      </a:r>
                      <a:endParaRPr lang="en-US" dirty="0"/>
                    </a:p>
                  </a:txBody>
                  <a:tcPr/>
                </a:tc>
                <a:tc>
                  <a:txBody>
                    <a:bodyPr/>
                    <a:lstStyle/>
                    <a:p>
                      <a:r>
                        <a:rPr lang="en-US" dirty="0" smtClean="0"/>
                        <a:t>+</a:t>
                      </a:r>
                      <a:endParaRPr lang="en-US" dirty="0"/>
                    </a:p>
                  </a:txBody>
                  <a:tcPr/>
                </a:tc>
                <a:tc>
                  <a:txBody>
                    <a:bodyPr/>
                    <a:lstStyle/>
                    <a:p>
                      <a:r>
                        <a:rPr lang="en-US" dirty="0" smtClean="0"/>
                        <a:t>+</a:t>
                      </a:r>
                      <a:endParaRPr lang="en-US" dirty="0"/>
                    </a:p>
                  </a:txBody>
                  <a:tcPr/>
                </a:tc>
                <a:extLst>
                  <a:ext uri="{0D108BD9-81ED-4DB2-BD59-A6C34878D82A}">
                    <a16:rowId xmlns:a16="http://schemas.microsoft.com/office/drawing/2014/main" val="1980319248"/>
                  </a:ext>
                </a:extLst>
              </a:tr>
              <a:tr h="370840">
                <a:tc>
                  <a:txBody>
                    <a:bodyPr/>
                    <a:lstStyle/>
                    <a:p>
                      <a:r>
                        <a:rPr lang="en-US" dirty="0" smtClean="0"/>
                        <a:t>2</a:t>
                      </a:r>
                      <a:endParaRPr lang="en-US" dirty="0"/>
                    </a:p>
                  </a:txBody>
                  <a:tcPr/>
                </a:tc>
                <a:tc>
                  <a:txBody>
                    <a:bodyPr/>
                    <a:lstStyle/>
                    <a:p>
                      <a:r>
                        <a:rPr lang="en-US" dirty="0" smtClean="0"/>
                        <a:t>Commensalism </a:t>
                      </a:r>
                      <a:endParaRPr lang="en-US" dirty="0"/>
                    </a:p>
                  </a:txBody>
                  <a:tcPr/>
                </a:tc>
                <a:tc>
                  <a:txBody>
                    <a:bodyPr/>
                    <a:lstStyle/>
                    <a:p>
                      <a:r>
                        <a:rPr lang="en-US" dirty="0" smtClean="0"/>
                        <a:t>+</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703945126"/>
                  </a:ext>
                </a:extLst>
              </a:tr>
              <a:tr h="370840">
                <a:tc>
                  <a:txBody>
                    <a:bodyPr/>
                    <a:lstStyle/>
                    <a:p>
                      <a:r>
                        <a:rPr lang="en-US" dirty="0" smtClean="0"/>
                        <a:t>3</a:t>
                      </a:r>
                      <a:endParaRPr lang="en-US" dirty="0"/>
                    </a:p>
                  </a:txBody>
                  <a:tcPr/>
                </a:tc>
                <a:tc>
                  <a:txBody>
                    <a:bodyPr/>
                    <a:lstStyle/>
                    <a:p>
                      <a:r>
                        <a:rPr lang="en-US" dirty="0" smtClean="0"/>
                        <a:t>Proto cooperation </a:t>
                      </a:r>
                      <a:endParaRPr lang="en-US" dirty="0"/>
                    </a:p>
                  </a:txBody>
                  <a:tcPr/>
                </a:tc>
                <a:tc>
                  <a:txBody>
                    <a:bodyPr/>
                    <a:lstStyle/>
                    <a:p>
                      <a:r>
                        <a:rPr lang="en-US" dirty="0" smtClean="0"/>
                        <a:t>+</a:t>
                      </a:r>
                      <a:endParaRPr lang="en-US" dirty="0"/>
                    </a:p>
                  </a:txBody>
                  <a:tcPr/>
                </a:tc>
                <a:tc>
                  <a:txBody>
                    <a:bodyPr/>
                    <a:lstStyle/>
                    <a:p>
                      <a:r>
                        <a:rPr lang="en-US" dirty="0" smtClean="0"/>
                        <a:t>+</a:t>
                      </a:r>
                      <a:endParaRPr lang="en-US" dirty="0"/>
                    </a:p>
                  </a:txBody>
                  <a:tcPr/>
                </a:tc>
                <a:extLst>
                  <a:ext uri="{0D108BD9-81ED-4DB2-BD59-A6C34878D82A}">
                    <a16:rowId xmlns:a16="http://schemas.microsoft.com/office/drawing/2014/main" val="3424830854"/>
                  </a:ext>
                </a:extLst>
              </a:tr>
              <a:tr h="370840">
                <a:tc>
                  <a:txBody>
                    <a:bodyPr/>
                    <a:lstStyle/>
                    <a:p>
                      <a:r>
                        <a:rPr lang="en-US" dirty="0" smtClean="0"/>
                        <a:t>4</a:t>
                      </a:r>
                      <a:endParaRPr lang="en-US" dirty="0"/>
                    </a:p>
                  </a:txBody>
                  <a:tcPr/>
                </a:tc>
                <a:tc>
                  <a:txBody>
                    <a:bodyPr/>
                    <a:lstStyle/>
                    <a:p>
                      <a:r>
                        <a:rPr lang="en-US" dirty="0" smtClean="0"/>
                        <a:t>Ammensalism </a:t>
                      </a:r>
                      <a:endParaRPr lang="en-US" dirty="0"/>
                    </a:p>
                  </a:txBody>
                  <a:tcPr/>
                </a:tc>
                <a:tc>
                  <a:txBody>
                    <a:bodyPr/>
                    <a:lstStyle/>
                    <a:p>
                      <a:r>
                        <a:rPr lang="en-US" dirty="0" smtClean="0"/>
                        <a:t>0</a:t>
                      </a:r>
                      <a:endParaRPr lang="en-US" dirty="0"/>
                    </a:p>
                  </a:txBody>
                  <a:tcPr/>
                </a:tc>
                <a:tc>
                  <a:txBody>
                    <a:bodyPr/>
                    <a:lstStyle/>
                    <a:p>
                      <a:r>
                        <a:rPr lang="en-US" dirty="0" smtClean="0"/>
                        <a:t>-</a:t>
                      </a:r>
                      <a:endParaRPr lang="en-US" dirty="0"/>
                    </a:p>
                  </a:txBody>
                  <a:tcPr/>
                </a:tc>
                <a:extLst>
                  <a:ext uri="{0D108BD9-81ED-4DB2-BD59-A6C34878D82A}">
                    <a16:rowId xmlns:a16="http://schemas.microsoft.com/office/drawing/2014/main" val="1587107702"/>
                  </a:ext>
                </a:extLst>
              </a:tr>
              <a:tr h="370840">
                <a:tc>
                  <a:txBody>
                    <a:bodyPr/>
                    <a:lstStyle/>
                    <a:p>
                      <a:r>
                        <a:rPr lang="en-US" dirty="0" smtClean="0"/>
                        <a:t>5</a:t>
                      </a:r>
                      <a:endParaRPr lang="en-US" dirty="0"/>
                    </a:p>
                  </a:txBody>
                  <a:tcPr/>
                </a:tc>
                <a:tc>
                  <a:txBody>
                    <a:bodyPr/>
                    <a:lstStyle/>
                    <a:p>
                      <a:r>
                        <a:rPr lang="en-US" dirty="0" smtClean="0"/>
                        <a:t>Parasitism</a:t>
                      </a:r>
                      <a:r>
                        <a:rPr lang="en-US" baseline="0" dirty="0" smtClean="0"/>
                        <a:t> </a:t>
                      </a:r>
                      <a:endParaRPr lang="en-US" dirty="0"/>
                    </a:p>
                  </a:txBody>
                  <a:tcPr/>
                </a:tc>
                <a:tc>
                  <a:txBody>
                    <a:bodyPr/>
                    <a:lstStyle/>
                    <a:p>
                      <a:r>
                        <a:rPr lang="en-US" dirty="0" smtClean="0"/>
                        <a:t>+</a:t>
                      </a:r>
                      <a:endParaRPr lang="en-US" dirty="0"/>
                    </a:p>
                  </a:txBody>
                  <a:tcPr/>
                </a:tc>
                <a:tc>
                  <a:txBody>
                    <a:bodyPr/>
                    <a:lstStyle/>
                    <a:p>
                      <a:r>
                        <a:rPr lang="en-US" dirty="0" smtClean="0"/>
                        <a:t>-</a:t>
                      </a:r>
                      <a:endParaRPr lang="en-US" dirty="0"/>
                    </a:p>
                  </a:txBody>
                  <a:tcPr/>
                </a:tc>
                <a:extLst>
                  <a:ext uri="{0D108BD9-81ED-4DB2-BD59-A6C34878D82A}">
                    <a16:rowId xmlns:a16="http://schemas.microsoft.com/office/drawing/2014/main" val="229506265"/>
                  </a:ext>
                </a:extLst>
              </a:tr>
              <a:tr h="370840">
                <a:tc>
                  <a:txBody>
                    <a:bodyPr/>
                    <a:lstStyle/>
                    <a:p>
                      <a:r>
                        <a:rPr lang="en-US" dirty="0" smtClean="0"/>
                        <a:t>6</a:t>
                      </a:r>
                      <a:endParaRPr lang="en-US" dirty="0"/>
                    </a:p>
                  </a:txBody>
                  <a:tcPr/>
                </a:tc>
                <a:tc>
                  <a:txBody>
                    <a:bodyPr/>
                    <a:lstStyle/>
                    <a:p>
                      <a:r>
                        <a:rPr lang="en-US" dirty="0" smtClean="0"/>
                        <a:t>Predation</a:t>
                      </a:r>
                      <a:endParaRPr lang="en-US" dirty="0"/>
                    </a:p>
                  </a:txBody>
                  <a:tcPr/>
                </a:tc>
                <a:tc>
                  <a:txBody>
                    <a:bodyPr/>
                    <a:lstStyle/>
                    <a:p>
                      <a:r>
                        <a:rPr lang="en-US" dirty="0" smtClean="0"/>
                        <a:t>+</a:t>
                      </a:r>
                      <a:endParaRPr lang="en-US" dirty="0"/>
                    </a:p>
                  </a:txBody>
                  <a:tcPr/>
                </a:tc>
                <a:tc>
                  <a:txBody>
                    <a:bodyPr/>
                    <a:lstStyle/>
                    <a:p>
                      <a:r>
                        <a:rPr lang="en-US" dirty="0" smtClean="0"/>
                        <a:t>-</a:t>
                      </a:r>
                      <a:endParaRPr lang="en-US" dirty="0"/>
                    </a:p>
                  </a:txBody>
                  <a:tcPr/>
                </a:tc>
                <a:extLst>
                  <a:ext uri="{0D108BD9-81ED-4DB2-BD59-A6C34878D82A}">
                    <a16:rowId xmlns:a16="http://schemas.microsoft.com/office/drawing/2014/main" val="4088065846"/>
                  </a:ext>
                </a:extLst>
              </a:tr>
              <a:tr h="370840">
                <a:tc>
                  <a:txBody>
                    <a:bodyPr/>
                    <a:lstStyle/>
                    <a:p>
                      <a:r>
                        <a:rPr lang="en-US" dirty="0" smtClean="0"/>
                        <a:t>7</a:t>
                      </a:r>
                      <a:endParaRPr lang="en-US" dirty="0"/>
                    </a:p>
                  </a:txBody>
                  <a:tcPr/>
                </a:tc>
                <a:tc>
                  <a:txBody>
                    <a:bodyPr/>
                    <a:lstStyle/>
                    <a:p>
                      <a:r>
                        <a:rPr lang="en-US" dirty="0" smtClean="0"/>
                        <a:t>Competition </a:t>
                      </a:r>
                      <a:endParaRPr lang="en-US" dirty="0"/>
                    </a:p>
                  </a:txBody>
                  <a:tcPr/>
                </a:tc>
                <a:tc>
                  <a:txBody>
                    <a:bodyPr/>
                    <a:lstStyle/>
                    <a:p>
                      <a:r>
                        <a:rPr lang="en-US" dirty="0" smtClean="0"/>
                        <a:t>-</a:t>
                      </a:r>
                      <a:endParaRPr lang="en-US" dirty="0"/>
                    </a:p>
                  </a:txBody>
                  <a:tcPr/>
                </a:tc>
                <a:tc>
                  <a:txBody>
                    <a:bodyPr/>
                    <a:lstStyle/>
                    <a:p>
                      <a:r>
                        <a:rPr lang="en-US" dirty="0" smtClean="0"/>
                        <a:t>-</a:t>
                      </a:r>
                      <a:endParaRPr lang="en-US" dirty="0"/>
                    </a:p>
                  </a:txBody>
                  <a:tcPr/>
                </a:tc>
                <a:extLst>
                  <a:ext uri="{0D108BD9-81ED-4DB2-BD59-A6C34878D82A}">
                    <a16:rowId xmlns:a16="http://schemas.microsoft.com/office/drawing/2014/main" val="799241898"/>
                  </a:ext>
                </a:extLst>
              </a:tr>
            </a:tbl>
          </a:graphicData>
        </a:graphic>
      </p:graphicFrame>
    </p:spTree>
    <p:extLst>
      <p:ext uri="{BB962C8B-B14F-4D97-AF65-F5344CB8AC3E}">
        <p14:creationId xmlns:p14="http://schemas.microsoft.com/office/powerpoint/2010/main" val="1798909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endParaRPr lang="en-US" dirty="0"/>
          </a:p>
        </p:txBody>
      </p:sp>
      <p:sp>
        <p:nvSpPr>
          <p:cNvPr id="3" name="Content Placeholder 2"/>
          <p:cNvSpPr>
            <a:spLocks noGrp="1"/>
          </p:cNvSpPr>
          <p:nvPr>
            <p:ph idx="1"/>
          </p:nvPr>
        </p:nvSpPr>
        <p:spPr/>
        <p:txBody>
          <a:bodyPr>
            <a:normAutofit lnSpcReduction="10000"/>
          </a:bodyPr>
          <a:lstStyle/>
          <a:p>
            <a:r>
              <a:rPr lang="en-US" dirty="0" smtClean="0"/>
              <a:t>Organisms living together in a community influence each other </a:t>
            </a:r>
          </a:p>
          <a:p>
            <a:r>
              <a:rPr lang="en-US" dirty="0" smtClean="0"/>
              <a:t>This can be done either directly or indirectly under natural conditions </a:t>
            </a:r>
          </a:p>
          <a:p>
            <a:r>
              <a:rPr lang="en-US" dirty="0" smtClean="0"/>
              <a:t>The inter or intra relationships of individuals in a population or community of an ecosystem is called biological interaction </a:t>
            </a:r>
          </a:p>
          <a:p>
            <a:r>
              <a:rPr lang="en-US" dirty="0" smtClean="0"/>
              <a:t>This interaction can either be beneficial, neutral or harmful to the organisms involved </a:t>
            </a:r>
          </a:p>
          <a:p>
            <a:r>
              <a:rPr lang="en-US" dirty="0" smtClean="0"/>
              <a:t>They are broadly classified into positive and negative interactions</a:t>
            </a:r>
          </a:p>
          <a:p>
            <a:r>
              <a:rPr lang="en-US" dirty="0" smtClean="0"/>
              <a:t>In positive interaction, the interacting populations help one another </a:t>
            </a:r>
          </a:p>
          <a:p>
            <a:r>
              <a:rPr lang="en-US" dirty="0" smtClean="0"/>
              <a:t>Different types of positive populations interaction are mutualism , commensalism and proto cooperation  </a:t>
            </a:r>
          </a:p>
          <a:p>
            <a:endParaRPr lang="en-US" dirty="0"/>
          </a:p>
        </p:txBody>
      </p:sp>
    </p:spTree>
    <p:extLst>
      <p:ext uri="{BB962C8B-B14F-4D97-AF65-F5344CB8AC3E}">
        <p14:creationId xmlns:p14="http://schemas.microsoft.com/office/powerpoint/2010/main" val="583721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Mutualism </a:t>
            </a:r>
            <a:endParaRPr lang="en-US" dirty="0"/>
          </a:p>
        </p:txBody>
      </p:sp>
      <p:sp>
        <p:nvSpPr>
          <p:cNvPr id="3" name="Content Placeholder 2"/>
          <p:cNvSpPr>
            <a:spLocks noGrp="1"/>
          </p:cNvSpPr>
          <p:nvPr>
            <p:ph idx="1"/>
          </p:nvPr>
        </p:nvSpPr>
        <p:spPr/>
        <p:txBody>
          <a:bodyPr>
            <a:normAutofit lnSpcReduction="10000"/>
          </a:bodyPr>
          <a:lstStyle/>
          <a:p>
            <a:r>
              <a:rPr lang="en-US" dirty="0" smtClean="0"/>
              <a:t>It is a positive type of symbiotic relationship</a:t>
            </a:r>
          </a:p>
          <a:p>
            <a:r>
              <a:rPr lang="en-US" dirty="0" smtClean="0"/>
              <a:t>A relationship in which both interacting  partners are mutually benefitted </a:t>
            </a:r>
          </a:p>
          <a:p>
            <a:r>
              <a:rPr lang="en-US" dirty="0" smtClean="0"/>
              <a:t>It is different from proto cooperation in that mutualism is obligatory and none of the partners in mutualism can survive individually </a:t>
            </a:r>
          </a:p>
          <a:p>
            <a:r>
              <a:rPr lang="en-US" dirty="0" smtClean="0"/>
              <a:t>Example of mutualistic relationship include lichen and mycorrhizae </a:t>
            </a:r>
          </a:p>
          <a:p>
            <a:r>
              <a:rPr lang="en-US" dirty="0" smtClean="0"/>
              <a:t>Lichen is a  symbiotic relationship between algae and fungi . The fungi provides protection to algae component and also provide moisture and nutrients to them while in turn , the algae component supply carbohydrates for the fungus  </a:t>
            </a:r>
          </a:p>
          <a:p>
            <a:endParaRPr lang="en-US" dirty="0"/>
          </a:p>
        </p:txBody>
      </p:sp>
    </p:spTree>
    <p:extLst>
      <p:ext uri="{BB962C8B-B14F-4D97-AF65-F5344CB8AC3E}">
        <p14:creationId xmlns:p14="http://schemas.microsoft.com/office/powerpoint/2010/main" val="3149182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Mutualism continued </a:t>
            </a:r>
            <a:endParaRPr lang="en-US" dirty="0"/>
          </a:p>
        </p:txBody>
      </p:sp>
      <p:sp>
        <p:nvSpPr>
          <p:cNvPr id="3" name="Content Placeholder 2"/>
          <p:cNvSpPr>
            <a:spLocks noGrp="1"/>
          </p:cNvSpPr>
          <p:nvPr>
            <p:ph idx="1"/>
          </p:nvPr>
        </p:nvSpPr>
        <p:spPr/>
        <p:txBody>
          <a:bodyPr/>
          <a:lstStyle/>
          <a:p>
            <a:r>
              <a:rPr lang="en-US" dirty="0" err="1" smtClean="0"/>
              <a:t>Mycorrizae</a:t>
            </a:r>
            <a:r>
              <a:rPr lang="en-US" dirty="0" smtClean="0"/>
              <a:t> is a symbiotic relationship between fungi and the root of some trees . Fungal components help in the absorption of water and minerals by plant. The plant in turns provides food for the fungal component </a:t>
            </a:r>
          </a:p>
          <a:p>
            <a:pPr marL="0" indent="0">
              <a:buNone/>
            </a:pPr>
            <a:endParaRPr lang="en-US" dirty="0"/>
          </a:p>
          <a:p>
            <a:pPr marL="0" indent="0">
              <a:buNone/>
            </a:pPr>
            <a:r>
              <a:rPr lang="en-US" dirty="0" smtClean="0"/>
              <a:t>Assignment : read up other examples of mutualistic association </a:t>
            </a:r>
            <a:endParaRPr lang="en-US" dirty="0"/>
          </a:p>
        </p:txBody>
      </p:sp>
    </p:spTree>
    <p:extLst>
      <p:ext uri="{BB962C8B-B14F-4D97-AF65-F5344CB8AC3E}">
        <p14:creationId xmlns:p14="http://schemas.microsoft.com/office/powerpoint/2010/main" val="1429418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Commensalism </a:t>
            </a:r>
            <a:endParaRPr lang="en-US" dirty="0"/>
          </a:p>
        </p:txBody>
      </p:sp>
      <p:sp>
        <p:nvSpPr>
          <p:cNvPr id="3" name="Content Placeholder 2"/>
          <p:cNvSpPr>
            <a:spLocks noGrp="1"/>
          </p:cNvSpPr>
          <p:nvPr>
            <p:ph idx="1"/>
          </p:nvPr>
        </p:nvSpPr>
        <p:spPr/>
        <p:txBody>
          <a:bodyPr/>
          <a:lstStyle/>
          <a:p>
            <a:r>
              <a:rPr lang="en-US" dirty="0" smtClean="0"/>
              <a:t>Relationship between two different species where one partner benefits from the relationship and the other is neither benefitted or harmed </a:t>
            </a:r>
          </a:p>
          <a:p>
            <a:r>
              <a:rPr lang="en-US" dirty="0" smtClean="0"/>
              <a:t>Here the two population live together without entering into any kind of physical exchange </a:t>
            </a:r>
          </a:p>
          <a:p>
            <a:r>
              <a:rPr lang="en-US" dirty="0" smtClean="0"/>
              <a:t>Example of this kid of relationship are </a:t>
            </a:r>
          </a:p>
          <a:p>
            <a:r>
              <a:rPr lang="en-US" dirty="0" smtClean="0"/>
              <a:t>Climbers and lianas which are rooted in soil but climb over large trees. These climbers use other trees as support to get enough sunlight, more than that, the supporting plant do not have any positive or negative effect </a:t>
            </a:r>
            <a:endParaRPr lang="en-US" dirty="0"/>
          </a:p>
        </p:txBody>
      </p:sp>
    </p:spTree>
    <p:extLst>
      <p:ext uri="{BB962C8B-B14F-4D97-AF65-F5344CB8AC3E}">
        <p14:creationId xmlns:p14="http://schemas.microsoft.com/office/powerpoint/2010/main" val="1565628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Commensalism continued </a:t>
            </a:r>
            <a:endParaRPr lang="en-US" dirty="0"/>
          </a:p>
        </p:txBody>
      </p:sp>
      <p:sp>
        <p:nvSpPr>
          <p:cNvPr id="3" name="Content Placeholder 2"/>
          <p:cNvSpPr>
            <a:spLocks noGrp="1"/>
          </p:cNvSpPr>
          <p:nvPr>
            <p:ph idx="1"/>
          </p:nvPr>
        </p:nvSpPr>
        <p:spPr/>
        <p:txBody>
          <a:bodyPr/>
          <a:lstStyle/>
          <a:p>
            <a:r>
              <a:rPr lang="en-US" dirty="0" smtClean="0"/>
              <a:t>Epiphytes : they are plants which growing on the surface of other larger plants. They use other plants only as a support and not for water or food supply . Examples are orchids, Mosses</a:t>
            </a:r>
            <a:endParaRPr lang="en-US" dirty="0"/>
          </a:p>
        </p:txBody>
      </p:sp>
    </p:spTree>
    <p:extLst>
      <p:ext uri="{BB962C8B-B14F-4D97-AF65-F5344CB8AC3E}">
        <p14:creationId xmlns:p14="http://schemas.microsoft.com/office/powerpoint/2010/main" val="1833753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 cooperation </a:t>
            </a:r>
            <a:endParaRPr lang="en-US" dirty="0"/>
          </a:p>
        </p:txBody>
      </p:sp>
      <p:sp>
        <p:nvSpPr>
          <p:cNvPr id="3" name="Content Placeholder 2"/>
          <p:cNvSpPr>
            <a:spLocks noGrp="1"/>
          </p:cNvSpPr>
          <p:nvPr>
            <p:ph idx="1"/>
          </p:nvPr>
        </p:nvSpPr>
        <p:spPr/>
        <p:txBody>
          <a:bodyPr/>
          <a:lstStyle/>
          <a:p>
            <a:r>
              <a:rPr lang="en-US" dirty="0" smtClean="0"/>
              <a:t>It is a non obligatory symbiotic relationship </a:t>
            </a:r>
          </a:p>
          <a:p>
            <a:r>
              <a:rPr lang="en-US" dirty="0" smtClean="0"/>
              <a:t>In proto cooperation, two species interact favorable with each other even though both of them can survive I dependently of each other </a:t>
            </a:r>
          </a:p>
          <a:p>
            <a:r>
              <a:rPr lang="en-US" dirty="0" smtClean="0"/>
              <a:t>It is a temporal association where both the interacting partners get benefitted </a:t>
            </a:r>
          </a:p>
          <a:p>
            <a:r>
              <a:rPr lang="en-US" dirty="0" smtClean="0"/>
              <a:t>Example of proto cooperation is the association between hermit crab and sea anemone. The sea anemone is carried by the crab to fresh feeding sites and the crab is in turn protected from enemies by sea anemone . </a:t>
            </a:r>
            <a:endParaRPr lang="en-US" dirty="0"/>
          </a:p>
        </p:txBody>
      </p:sp>
    </p:spTree>
    <p:extLst>
      <p:ext uri="{BB962C8B-B14F-4D97-AF65-F5344CB8AC3E}">
        <p14:creationId xmlns:p14="http://schemas.microsoft.com/office/powerpoint/2010/main" val="2106312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Negative interactions </a:t>
            </a:r>
            <a:endParaRPr lang="en-US" dirty="0"/>
          </a:p>
        </p:txBody>
      </p:sp>
      <p:sp>
        <p:nvSpPr>
          <p:cNvPr id="3" name="Content Placeholder 2"/>
          <p:cNvSpPr>
            <a:spLocks noGrp="1"/>
          </p:cNvSpPr>
          <p:nvPr>
            <p:ph idx="1"/>
          </p:nvPr>
        </p:nvSpPr>
        <p:spPr/>
        <p:txBody>
          <a:bodyPr/>
          <a:lstStyle/>
          <a:p>
            <a:r>
              <a:rPr lang="en-US" dirty="0" smtClean="0"/>
              <a:t>In negative interaction, one of the interacting populations is benefitted and the other harmed </a:t>
            </a:r>
          </a:p>
          <a:p>
            <a:r>
              <a:rPr lang="en-US" dirty="0" smtClean="0"/>
              <a:t>The different types of negative interactions include </a:t>
            </a:r>
          </a:p>
          <a:p>
            <a:r>
              <a:rPr lang="en-US" dirty="0" smtClean="0"/>
              <a:t>Ammensalism</a:t>
            </a:r>
          </a:p>
          <a:p>
            <a:r>
              <a:rPr lang="en-US" dirty="0" smtClean="0"/>
              <a:t>Parasitism </a:t>
            </a:r>
          </a:p>
          <a:p>
            <a:r>
              <a:rPr lang="en-US" dirty="0" smtClean="0"/>
              <a:t>Predation </a:t>
            </a:r>
          </a:p>
          <a:p>
            <a:r>
              <a:rPr lang="en-US" dirty="0" smtClean="0"/>
              <a:t>Competition </a:t>
            </a:r>
          </a:p>
          <a:p>
            <a:endParaRPr lang="en-US" dirty="0"/>
          </a:p>
        </p:txBody>
      </p:sp>
    </p:spTree>
    <p:extLst>
      <p:ext uri="{BB962C8B-B14F-4D97-AF65-F5344CB8AC3E}">
        <p14:creationId xmlns:p14="http://schemas.microsoft.com/office/powerpoint/2010/main" val="4175530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Ammensalism </a:t>
            </a:r>
            <a:endParaRPr lang="en-US" dirty="0"/>
          </a:p>
        </p:txBody>
      </p:sp>
      <p:sp>
        <p:nvSpPr>
          <p:cNvPr id="3" name="Content Placeholder 2"/>
          <p:cNvSpPr>
            <a:spLocks noGrp="1"/>
          </p:cNvSpPr>
          <p:nvPr>
            <p:ph idx="1"/>
          </p:nvPr>
        </p:nvSpPr>
        <p:spPr/>
        <p:txBody>
          <a:bodyPr/>
          <a:lstStyle/>
          <a:p>
            <a:r>
              <a:rPr lang="en-US" dirty="0" smtClean="0"/>
              <a:t>In this kind of negative relationship , one species is harmed or inhibited while the other neither benefits or harmed. </a:t>
            </a:r>
          </a:p>
          <a:p>
            <a:r>
              <a:rPr lang="en-US" dirty="0" smtClean="0"/>
              <a:t>Partners produces toxins or antibiotics or secrete other products to harm or inhibit other organism </a:t>
            </a:r>
          </a:p>
          <a:p>
            <a:r>
              <a:rPr lang="en-US" i="1" dirty="0" smtClean="0"/>
              <a:t>Chlorella vulgaris </a:t>
            </a:r>
            <a:r>
              <a:rPr lang="en-US" dirty="0" smtClean="0"/>
              <a:t>produces a toxin( </a:t>
            </a:r>
            <a:r>
              <a:rPr lang="en-US" dirty="0" err="1" smtClean="0"/>
              <a:t>chlorellin</a:t>
            </a:r>
            <a:r>
              <a:rPr lang="en-US" dirty="0" smtClean="0"/>
              <a:t>, an antibiotic)which is harmful to other algae </a:t>
            </a:r>
          </a:p>
          <a:p>
            <a:r>
              <a:rPr lang="en-US" dirty="0" smtClean="0"/>
              <a:t>Algae blooms such as red tide or green blooms are also examples of </a:t>
            </a:r>
            <a:r>
              <a:rPr lang="en-US" dirty="0" err="1" smtClean="0"/>
              <a:t>ammensalism</a:t>
            </a:r>
            <a:endParaRPr lang="en-US" dirty="0"/>
          </a:p>
        </p:txBody>
      </p:sp>
    </p:spTree>
    <p:extLst>
      <p:ext uri="{BB962C8B-B14F-4D97-AF65-F5344CB8AC3E}">
        <p14:creationId xmlns:p14="http://schemas.microsoft.com/office/powerpoint/2010/main" val="747535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Parasitism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It belongs to an exploitation category of negative population interaction </a:t>
            </a:r>
          </a:p>
          <a:p>
            <a:r>
              <a:rPr lang="en-US" dirty="0" smtClean="0"/>
              <a:t>In parasitism, a parasite lives in the body of another organism called a host </a:t>
            </a:r>
          </a:p>
          <a:p>
            <a:r>
              <a:rPr lang="en-US" dirty="0" smtClean="0"/>
              <a:t>The host is usually larger than the parasite</a:t>
            </a:r>
          </a:p>
          <a:p>
            <a:r>
              <a:rPr lang="en-US" dirty="0" smtClean="0"/>
              <a:t>The harmed one is called the host, while the benefitted one is called that parasite </a:t>
            </a:r>
          </a:p>
          <a:p>
            <a:r>
              <a:rPr lang="en-US" dirty="0" smtClean="0"/>
              <a:t>Some parasites require more than one host to complete its life cycle and such parasites are called </a:t>
            </a:r>
            <a:r>
              <a:rPr lang="en-US" dirty="0" err="1" smtClean="0"/>
              <a:t>heteraceous</a:t>
            </a:r>
            <a:r>
              <a:rPr lang="en-US" dirty="0" smtClean="0"/>
              <a:t> parasites. </a:t>
            </a:r>
          </a:p>
          <a:p>
            <a:r>
              <a:rPr lang="en-US" dirty="0" smtClean="0"/>
              <a:t>Examples of this kind of association is </a:t>
            </a:r>
          </a:p>
          <a:p>
            <a:r>
              <a:rPr lang="en-US" dirty="0" err="1" smtClean="0"/>
              <a:t>Cuscuta</a:t>
            </a:r>
            <a:r>
              <a:rPr lang="en-US" dirty="0" smtClean="0"/>
              <a:t> is a total stem parasite which lives on the surface of other large plants. They are devoid of chloroplasts and hence cannot prepare their own food. They have specialized absorptive structures called haustoria which is inserted into the phloem tissue of the host plants and they absorb the prepared food material from the host phloem  </a:t>
            </a:r>
          </a:p>
          <a:p>
            <a:endParaRPr lang="en-US" dirty="0" smtClean="0"/>
          </a:p>
          <a:p>
            <a:endParaRPr lang="en-US" dirty="0"/>
          </a:p>
        </p:txBody>
      </p:sp>
    </p:spTree>
    <p:extLst>
      <p:ext uri="{BB962C8B-B14F-4D97-AF65-F5344CB8AC3E}">
        <p14:creationId xmlns:p14="http://schemas.microsoft.com/office/powerpoint/2010/main" val="2944712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Parasitism continued </a:t>
            </a:r>
            <a:endParaRPr lang="en-US" dirty="0"/>
          </a:p>
        </p:txBody>
      </p:sp>
      <p:sp>
        <p:nvSpPr>
          <p:cNvPr id="3" name="Content Placeholder 2"/>
          <p:cNvSpPr>
            <a:spLocks noGrp="1"/>
          </p:cNvSpPr>
          <p:nvPr>
            <p:ph idx="1"/>
          </p:nvPr>
        </p:nvSpPr>
        <p:spPr/>
        <p:txBody>
          <a:bodyPr/>
          <a:lstStyle/>
          <a:p>
            <a:r>
              <a:rPr lang="en-US" dirty="0" smtClean="0"/>
              <a:t>Plasmodium parasites in the blood of human . </a:t>
            </a:r>
            <a:endParaRPr lang="en-US" dirty="0"/>
          </a:p>
          <a:p>
            <a:r>
              <a:rPr lang="en-US" i="1" dirty="0" err="1" smtClean="0"/>
              <a:t>Santalum</a:t>
            </a:r>
            <a:r>
              <a:rPr lang="en-US" i="1" dirty="0" smtClean="0"/>
              <a:t> album </a:t>
            </a:r>
            <a:r>
              <a:rPr lang="en-US" dirty="0" smtClean="0"/>
              <a:t>and </a:t>
            </a:r>
            <a:r>
              <a:rPr lang="en-US" i="1" dirty="0" err="1"/>
              <a:t>T</a:t>
            </a:r>
            <a:r>
              <a:rPr lang="en-US" i="1" dirty="0" err="1" smtClean="0"/>
              <a:t>hesium</a:t>
            </a:r>
            <a:r>
              <a:rPr lang="en-US" dirty="0" smtClean="0"/>
              <a:t> are partial root parasites . Their roots are attached to the host plants.</a:t>
            </a:r>
          </a:p>
          <a:p>
            <a:r>
              <a:rPr lang="en-US" dirty="0" err="1" smtClean="0"/>
              <a:t>Hyperparasites</a:t>
            </a:r>
            <a:r>
              <a:rPr lang="en-US" dirty="0" smtClean="0"/>
              <a:t>  are parasitic microbes growing in or on other parasites </a:t>
            </a:r>
          </a:p>
          <a:p>
            <a:r>
              <a:rPr lang="en-US" dirty="0" smtClean="0"/>
              <a:t>Tape worm in the intestine of humans </a:t>
            </a:r>
            <a:endParaRPr lang="en-US" dirty="0"/>
          </a:p>
        </p:txBody>
      </p:sp>
    </p:spTree>
    <p:extLst>
      <p:ext uri="{BB962C8B-B14F-4D97-AF65-F5344CB8AC3E}">
        <p14:creationId xmlns:p14="http://schemas.microsoft.com/office/powerpoint/2010/main" val="3087077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Predation </a:t>
            </a:r>
            <a:endParaRPr lang="en-US" dirty="0"/>
          </a:p>
        </p:txBody>
      </p:sp>
      <p:sp>
        <p:nvSpPr>
          <p:cNvPr id="3" name="Content Placeholder 2"/>
          <p:cNvSpPr>
            <a:spLocks noGrp="1"/>
          </p:cNvSpPr>
          <p:nvPr>
            <p:ph idx="1"/>
          </p:nvPr>
        </p:nvSpPr>
        <p:spPr/>
        <p:txBody>
          <a:bodyPr/>
          <a:lstStyle/>
          <a:p>
            <a:r>
              <a:rPr lang="en-US" dirty="0" smtClean="0"/>
              <a:t>In predation, one species kills and feed on another specie</a:t>
            </a:r>
          </a:p>
          <a:p>
            <a:r>
              <a:rPr lang="en-US" dirty="0" smtClean="0"/>
              <a:t>The killer specie is called a predator while the dead one is called the prey. </a:t>
            </a:r>
          </a:p>
          <a:p>
            <a:r>
              <a:rPr lang="en-US" dirty="0" smtClean="0"/>
              <a:t>It is very helpful in maintaining the constancy of numbers of </a:t>
            </a:r>
            <a:r>
              <a:rPr lang="en-US" dirty="0" err="1" smtClean="0"/>
              <a:t>difeffrent</a:t>
            </a:r>
            <a:r>
              <a:rPr lang="en-US" dirty="0" smtClean="0"/>
              <a:t> trophic levels in an ecosystem . </a:t>
            </a:r>
          </a:p>
          <a:p>
            <a:r>
              <a:rPr lang="en-US" dirty="0" smtClean="0"/>
              <a:t>Example of predation is lion, tiger and beer in the forest ecosystem where they predate herbivores </a:t>
            </a:r>
            <a:endParaRPr lang="en-US" dirty="0"/>
          </a:p>
        </p:txBody>
      </p:sp>
    </p:spTree>
    <p:extLst>
      <p:ext uri="{BB962C8B-B14F-4D97-AF65-F5344CB8AC3E}">
        <p14:creationId xmlns:p14="http://schemas.microsoft.com/office/powerpoint/2010/main" val="1662707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Competition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Association of two or more species </a:t>
            </a:r>
          </a:p>
          <a:p>
            <a:r>
              <a:rPr lang="en-US" dirty="0" smtClean="0"/>
              <a:t>Each species is adversely affected by the presence of other species in respect of food, shelter, space, light etc. </a:t>
            </a:r>
          </a:p>
          <a:p>
            <a:r>
              <a:rPr lang="en-US" dirty="0" smtClean="0"/>
              <a:t>It occurs when individuals attempt to obtain a resource that is inadequate to support all individuals harm one another I trying to obtain it. </a:t>
            </a:r>
          </a:p>
          <a:p>
            <a:r>
              <a:rPr lang="en-US" dirty="0" smtClean="0"/>
              <a:t>They are divided into intraspecific and interspecific competition </a:t>
            </a:r>
          </a:p>
          <a:p>
            <a:r>
              <a:rPr lang="en-US" dirty="0" smtClean="0"/>
              <a:t>Intraspecific competition occurs between the individuals of the same specie. It is also called scramble competition </a:t>
            </a:r>
          </a:p>
          <a:p>
            <a:r>
              <a:rPr lang="en-US" dirty="0" smtClean="0"/>
              <a:t>Interspecific competition occurs between population of different species whose requirements are common and inadequate in the ecosystem . It is also called contest or interference competition. </a:t>
            </a:r>
            <a:endParaRPr lang="en-US" dirty="0"/>
          </a:p>
        </p:txBody>
      </p:sp>
    </p:spTree>
    <p:extLst>
      <p:ext uri="{BB962C8B-B14F-4D97-AF65-F5344CB8AC3E}">
        <p14:creationId xmlns:p14="http://schemas.microsoft.com/office/powerpoint/2010/main" val="4220145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911</Words>
  <Application>Microsoft Office PowerPoint</Application>
  <PresentationFormat>Widescreen</PresentationFormat>
  <Paragraphs>102</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Interactions amongst living things in ecosystems </vt:lpstr>
      <vt:lpstr>PowerPoint Presentation</vt:lpstr>
      <vt:lpstr>Introduction </vt:lpstr>
      <vt:lpstr>Mutualism </vt:lpstr>
      <vt:lpstr>Mutualism continued </vt:lpstr>
      <vt:lpstr>Commensalism </vt:lpstr>
      <vt:lpstr>Commensalism continued </vt:lpstr>
      <vt:lpstr>Proto cooperation </vt:lpstr>
      <vt:lpstr>Negative interactions </vt:lpstr>
      <vt:lpstr>Ammensalism </vt:lpstr>
      <vt:lpstr>Parasitism </vt:lpstr>
      <vt:lpstr>Parasitism continued </vt:lpstr>
      <vt:lpstr>Predation </vt:lpstr>
      <vt:lpstr>Competition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Interactions amongst living things in ecostsystems</dc:title>
  <dc:creator>Mr Gerrard</dc:creator>
  <cp:lastModifiedBy>Mr Gerrard</cp:lastModifiedBy>
  <cp:revision>8</cp:revision>
  <dcterms:created xsi:type="dcterms:W3CDTF">2021-04-19T10:20:19Z</dcterms:created>
  <dcterms:modified xsi:type="dcterms:W3CDTF">2021-04-19T11:21:46Z</dcterms:modified>
</cp:coreProperties>
</file>