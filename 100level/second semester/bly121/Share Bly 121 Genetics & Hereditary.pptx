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74" d="100"/>
          <a:sy n="74" d="100"/>
        </p:scale>
        <p:origin x="-104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FD3782B-C3C2-4BB8-AEC3-B7CC0D915023}" type="datetimeFigureOut">
              <a:rPr lang="en-US" smtClean="0"/>
              <a:pPr/>
              <a:t>2/18/2013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2275CC-A9FA-4835-98C3-4B1C7EF092C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12275CC-A9FA-4835-98C3-4B1C7EF092C4}" type="slidenum">
              <a:rPr lang="en-US" smtClean="0"/>
              <a:pPr/>
              <a:t>43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32660FE-4C50-47C3-AD74-BF6267C54F35}" type="datetimeFigureOut">
              <a:rPr lang="en-US" smtClean="0"/>
              <a:pPr/>
              <a:t>2/18/2013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B9EBD7-0BA5-4887-A8EA-AD11200D90D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2660FE-4C50-47C3-AD74-BF6267C54F35}" type="datetimeFigureOut">
              <a:rPr lang="en-US" smtClean="0"/>
              <a:pPr/>
              <a:t>2/18/2013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B9EBD7-0BA5-4887-A8EA-AD11200D90D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32660FE-4C50-47C3-AD74-BF6267C54F35}" type="datetimeFigureOut">
              <a:rPr lang="en-US" smtClean="0"/>
              <a:pPr/>
              <a:t>2/18/2013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B9EBD7-0BA5-4887-A8EA-AD11200D90D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32660FE-4C50-47C3-AD74-BF6267C54F35}" type="datetimeFigureOut">
              <a:rPr lang="en-US" smtClean="0"/>
              <a:pPr/>
              <a:t>2/18/2013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B9EBD7-0BA5-4887-A8EA-AD11200D90D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32660FE-4C50-47C3-AD74-BF6267C54F35}" type="datetimeFigureOut">
              <a:rPr lang="en-US" smtClean="0"/>
              <a:pPr/>
              <a:t>2/18/2013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B9EBD7-0BA5-4887-A8EA-AD11200D90D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32660FE-4C50-47C3-AD74-BF6267C54F35}" type="datetimeFigureOut">
              <a:rPr lang="en-US" smtClean="0"/>
              <a:pPr/>
              <a:t>2/18/2013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B9EBD7-0BA5-4887-A8EA-AD11200D90D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2660FE-4C50-47C3-AD74-BF6267C54F35}" type="datetimeFigureOut">
              <a:rPr lang="en-US" smtClean="0"/>
              <a:pPr/>
              <a:t>2/18/2013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B9EBD7-0BA5-4887-A8EA-AD11200D90D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2660FE-4C50-47C3-AD74-BF6267C54F35}" type="datetimeFigureOut">
              <a:rPr lang="en-US" smtClean="0"/>
              <a:pPr/>
              <a:t>2/18/2013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B9EBD7-0BA5-4887-A8EA-AD11200D90D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2660FE-4C50-47C3-AD74-BF6267C54F35}" type="datetimeFigureOut">
              <a:rPr lang="en-US" smtClean="0"/>
              <a:pPr/>
              <a:t>2/18/2013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B9EBD7-0BA5-4887-A8EA-AD11200D90D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2660FE-4C50-47C3-AD74-BF6267C54F35}" type="datetimeFigureOut">
              <a:rPr lang="en-US" smtClean="0"/>
              <a:pPr/>
              <a:t>2/18/2013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B9EBD7-0BA5-4887-A8EA-AD11200D90D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2660FE-4C50-47C3-AD74-BF6267C54F35}" type="datetimeFigureOut">
              <a:rPr lang="en-US" smtClean="0"/>
              <a:pPr/>
              <a:t>2/18/2013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B9EBD7-0BA5-4887-A8EA-AD11200D90D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2660FE-4C50-47C3-AD74-BF6267C54F35}" type="datetimeFigureOut">
              <a:rPr lang="en-US" smtClean="0"/>
              <a:pPr/>
              <a:t>2/18/2013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B9EBD7-0BA5-4887-A8EA-AD11200D90D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1470025"/>
          </a:xfrm>
        </p:spPr>
        <p:txBody>
          <a:bodyPr/>
          <a:lstStyle/>
          <a:p>
            <a:r>
              <a:rPr lang="en-US" dirty="0" smtClean="0"/>
              <a:t>MEANING OF HEREDITY </a:t>
            </a:r>
            <a:endParaRPr lang="en-US" dirty="0"/>
          </a:p>
        </p:txBody>
      </p:sp>
      <p:sp>
        <p:nvSpPr>
          <p:cNvPr id="3" name="Subtitle 2"/>
          <p:cNvSpPr>
            <a:spLocks noGrp="1"/>
          </p:cNvSpPr>
          <p:nvPr>
            <p:ph type="subTitle" idx="1"/>
          </p:nvPr>
        </p:nvSpPr>
        <p:spPr>
          <a:xfrm>
            <a:off x="304800" y="1981200"/>
            <a:ext cx="8534400" cy="2743200"/>
          </a:xfrm>
        </p:spPr>
        <p:txBody>
          <a:bodyPr/>
          <a:lstStyle/>
          <a:p>
            <a:pPr algn="just"/>
            <a:r>
              <a:rPr lang="en-US" dirty="0" smtClean="0">
                <a:solidFill>
                  <a:schemeClr val="tx1"/>
                </a:solidFill>
              </a:rPr>
              <a:t>Heredity may be defined as the transmission of characteristics through generations. The characteristics include all physical, physiological and psychological characteristics in organisms. All these characteristics are called the traits.</a:t>
            </a:r>
            <a:endParaRPr 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1470025"/>
          </a:xfrm>
        </p:spPr>
        <p:txBody>
          <a:bodyPr/>
          <a:lstStyle/>
          <a:p>
            <a:r>
              <a:rPr lang="en-US" dirty="0" smtClean="0"/>
              <a:t>Mendel's Work</a:t>
            </a:r>
            <a:endParaRPr lang="en-US" dirty="0"/>
          </a:p>
        </p:txBody>
      </p:sp>
      <p:sp>
        <p:nvSpPr>
          <p:cNvPr id="3" name="Subtitle 2"/>
          <p:cNvSpPr>
            <a:spLocks noGrp="1"/>
          </p:cNvSpPr>
          <p:nvPr>
            <p:ph type="subTitle" idx="1"/>
          </p:nvPr>
        </p:nvSpPr>
        <p:spPr>
          <a:xfrm>
            <a:off x="762000" y="2209800"/>
            <a:ext cx="7772400" cy="4343400"/>
          </a:xfrm>
        </p:spPr>
        <p:txBody>
          <a:bodyPr>
            <a:normAutofit fontScale="92500" lnSpcReduction="20000"/>
          </a:bodyPr>
          <a:lstStyle/>
          <a:p>
            <a:pPr algn="just"/>
            <a:r>
              <a:rPr lang="en-US" dirty="0" err="1" smtClean="0">
                <a:solidFill>
                  <a:schemeClr val="tx1"/>
                </a:solidFill>
              </a:rPr>
              <a:t>Gregor</a:t>
            </a:r>
            <a:r>
              <a:rPr lang="en-US" dirty="0" smtClean="0">
                <a:solidFill>
                  <a:schemeClr val="tx1"/>
                </a:solidFill>
              </a:rPr>
              <a:t> Mendel was the first to carry out scientific studies on transmission of characteristics from the parent to the offspring. He selected garden peas as they showed many contrasting traits that were easy to track through the generations. Moreover, these plants are naturally self-pollinated. This made it easy for getting pure lines. Pure line plants will produce only plants of their own type. That is, if a plant bears red flowers, the new plants from its seeds also will bear only red flowers.</a:t>
            </a:r>
            <a:endParaRPr lang="en-US"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dirty="0" smtClean="0"/>
              <a:t>Mendel's Work Cont…</a:t>
            </a:r>
            <a:endParaRPr lang="en-US" dirty="0"/>
          </a:p>
        </p:txBody>
      </p:sp>
      <p:sp>
        <p:nvSpPr>
          <p:cNvPr id="3" name="Subtitle 2"/>
          <p:cNvSpPr>
            <a:spLocks noGrp="1"/>
          </p:cNvSpPr>
          <p:nvPr>
            <p:ph type="subTitle" idx="1"/>
          </p:nvPr>
        </p:nvSpPr>
        <p:spPr>
          <a:xfrm>
            <a:off x="685800" y="1752600"/>
            <a:ext cx="7772400" cy="4800600"/>
          </a:xfrm>
        </p:spPr>
        <p:txBody>
          <a:bodyPr/>
          <a:lstStyle/>
          <a:p>
            <a:pPr algn="just"/>
            <a:r>
              <a:rPr lang="en-US" dirty="0" smtClean="0">
                <a:solidFill>
                  <a:schemeClr val="tx1"/>
                </a:solidFill>
              </a:rPr>
              <a:t>Thus, these plants are pure for the red flower </a:t>
            </a:r>
            <a:r>
              <a:rPr lang="en-US" dirty="0" err="1" smtClean="0">
                <a:solidFill>
                  <a:schemeClr val="tx1"/>
                </a:solidFill>
              </a:rPr>
              <a:t>colour</a:t>
            </a:r>
            <a:r>
              <a:rPr lang="en-US" dirty="0" smtClean="0">
                <a:solidFill>
                  <a:schemeClr val="tx1"/>
                </a:solidFill>
              </a:rPr>
              <a:t>. For cross-pollination, Mendel opened the bud and removed the stamens. This is called emasculation. The emasculated flower was covered with plastic bag. When the flower opened, the stigma was dusted with the pollen of another flower. This produced crossbreeds.</a:t>
            </a:r>
            <a:endParaRPr lang="en-US"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
            <a:ext cx="7772400" cy="1470025"/>
          </a:xfrm>
        </p:spPr>
        <p:txBody>
          <a:bodyPr/>
          <a:lstStyle/>
          <a:p>
            <a:r>
              <a:rPr lang="en-US" b="1" dirty="0" smtClean="0"/>
              <a:t>Monohybrid Cross</a:t>
            </a:r>
            <a:br>
              <a:rPr lang="en-US" b="1" dirty="0" smtClean="0"/>
            </a:br>
            <a:endParaRPr lang="en-US" dirty="0"/>
          </a:p>
        </p:txBody>
      </p:sp>
      <p:sp>
        <p:nvSpPr>
          <p:cNvPr id="3" name="Subtitle 2"/>
          <p:cNvSpPr>
            <a:spLocks noGrp="1"/>
          </p:cNvSpPr>
          <p:nvPr>
            <p:ph type="subTitle" idx="1"/>
          </p:nvPr>
        </p:nvSpPr>
        <p:spPr>
          <a:xfrm>
            <a:off x="762000" y="1676400"/>
            <a:ext cx="7696200" cy="4953000"/>
          </a:xfrm>
        </p:spPr>
        <p:txBody>
          <a:bodyPr>
            <a:normAutofit lnSpcReduction="10000"/>
          </a:bodyPr>
          <a:lstStyle/>
          <a:p>
            <a:pPr algn="just"/>
            <a:r>
              <a:rPr lang="en-US" dirty="0" smtClean="0">
                <a:solidFill>
                  <a:schemeClr val="tx1"/>
                </a:solidFill>
              </a:rPr>
              <a:t>In the first experiment, Mendel considered only one trait at a time. Some of the traits he considered were the height, flower </a:t>
            </a:r>
            <a:r>
              <a:rPr lang="en-US" dirty="0" err="1" smtClean="0">
                <a:solidFill>
                  <a:schemeClr val="tx1"/>
                </a:solidFill>
              </a:rPr>
              <a:t>colour</a:t>
            </a:r>
            <a:r>
              <a:rPr lang="en-US" dirty="0" smtClean="0">
                <a:solidFill>
                  <a:schemeClr val="tx1"/>
                </a:solidFill>
              </a:rPr>
              <a:t>, shape of the seed, etc. First he ensured that he had pure-bred tall and pure-bred short plants by selecting seeds from plants that had been self-pollinating for many generations. (Self-pollination is ensured by keeping the flower covered with plastic till seed formation). He selected one tall and one short plant from the pure-</a:t>
            </a:r>
            <a:r>
              <a:rPr lang="en-US" dirty="0" err="1" smtClean="0">
                <a:solidFill>
                  <a:schemeClr val="tx1"/>
                </a:solidFill>
              </a:rPr>
              <a:t>breds</a:t>
            </a:r>
            <a:r>
              <a:rPr lang="en-US" dirty="0" smtClean="0">
                <a:solidFill>
                  <a:schemeClr val="tx1"/>
                </a:solidFill>
              </a:rPr>
              <a:t>.</a:t>
            </a:r>
            <a:endParaRPr lang="en-US"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smtClean="0"/>
              <a:t>Monohybrid Cross Cont…</a:t>
            </a:r>
            <a:endParaRPr lang="en-US" dirty="0"/>
          </a:p>
        </p:txBody>
      </p:sp>
      <p:sp>
        <p:nvSpPr>
          <p:cNvPr id="3" name="Subtitle 2"/>
          <p:cNvSpPr>
            <a:spLocks noGrp="1"/>
          </p:cNvSpPr>
          <p:nvPr>
            <p:ph type="subTitle" idx="1"/>
          </p:nvPr>
        </p:nvSpPr>
        <p:spPr>
          <a:xfrm>
            <a:off x="762000" y="1828800"/>
            <a:ext cx="7696200" cy="4724400"/>
          </a:xfrm>
        </p:spPr>
        <p:txBody>
          <a:bodyPr/>
          <a:lstStyle/>
          <a:p>
            <a:pPr algn="just"/>
            <a:r>
              <a:rPr lang="en-US" dirty="0" smtClean="0">
                <a:solidFill>
                  <a:schemeClr val="tx1"/>
                </a:solidFill>
              </a:rPr>
              <a:t>He called this the P or parental generation. He cross-pollinated the tall and short plants. In the first generation, he got all tall plants. This generation was called the first filial or F1 generation. Then the plants from F1 generation were self-pollinated and the next generation was called the second filial or the F2 generation.</a:t>
            </a:r>
            <a:endParaRPr lang="en-US"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smtClean="0"/>
              <a:t>Monohybrid Cross Cont…</a:t>
            </a:r>
            <a:endParaRPr lang="en-US" dirty="0"/>
          </a:p>
        </p:txBody>
      </p:sp>
      <p:sp>
        <p:nvSpPr>
          <p:cNvPr id="3" name="Subtitle 2"/>
          <p:cNvSpPr>
            <a:spLocks noGrp="1"/>
          </p:cNvSpPr>
          <p:nvPr>
            <p:ph type="subTitle" idx="1"/>
          </p:nvPr>
        </p:nvSpPr>
        <p:spPr>
          <a:xfrm>
            <a:off x="762000" y="1752600"/>
            <a:ext cx="7696200" cy="4876800"/>
          </a:xfrm>
        </p:spPr>
        <p:txBody>
          <a:bodyPr>
            <a:normAutofit fontScale="92500" lnSpcReduction="20000"/>
          </a:bodyPr>
          <a:lstStyle/>
          <a:p>
            <a:pPr algn="just"/>
            <a:r>
              <a:rPr lang="en-US" dirty="0" smtClean="0">
                <a:solidFill>
                  <a:schemeClr val="tx1"/>
                </a:solidFill>
              </a:rPr>
              <a:t>In this generation, the ratio of tall to short plants was found to be 3:1. Of the tall plants, one-third was found to breed true and the other two-thirds on </a:t>
            </a:r>
            <a:r>
              <a:rPr lang="en-US" dirty="0" err="1" smtClean="0">
                <a:solidFill>
                  <a:schemeClr val="tx1"/>
                </a:solidFill>
              </a:rPr>
              <a:t>selfing</a:t>
            </a:r>
            <a:r>
              <a:rPr lang="en-US" dirty="0" smtClean="0">
                <a:solidFill>
                  <a:schemeClr val="tx1"/>
                </a:solidFill>
              </a:rPr>
              <a:t> again produced plants in 3:1 ratio of tall and short plants.</a:t>
            </a:r>
          </a:p>
          <a:p>
            <a:pPr algn="just"/>
            <a:endParaRPr lang="en-US" sz="1900" dirty="0" smtClean="0">
              <a:solidFill>
                <a:schemeClr val="tx1"/>
              </a:solidFill>
            </a:endParaRPr>
          </a:p>
          <a:p>
            <a:pPr algn="just"/>
            <a:r>
              <a:rPr lang="en-US" dirty="0" smtClean="0">
                <a:solidFill>
                  <a:schemeClr val="tx1"/>
                </a:solidFill>
              </a:rPr>
              <a:t>The plants that are produced in the F1 generation are called hybrids as they have a mixture of traits of both the parents. Since, in this case only one trait, i.e., height was considered, this cross is called the monohybrid cross.</a:t>
            </a:r>
          </a:p>
          <a:p>
            <a:pPr algn="just"/>
            <a:endParaRPr lang="en-US"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1219200"/>
          </a:xfrm>
        </p:spPr>
        <p:txBody>
          <a:bodyPr>
            <a:normAutofit fontScale="90000"/>
          </a:bodyPr>
          <a:lstStyle/>
          <a:p>
            <a:r>
              <a:rPr lang="en-US" b="1" dirty="0" smtClean="0"/>
              <a:t>Physical Basis of Heredity</a:t>
            </a:r>
            <a:br>
              <a:rPr lang="en-US" b="1" dirty="0" smtClean="0"/>
            </a:br>
            <a:endParaRPr lang="en-US" dirty="0"/>
          </a:p>
        </p:txBody>
      </p:sp>
      <p:sp>
        <p:nvSpPr>
          <p:cNvPr id="3" name="Subtitle 2"/>
          <p:cNvSpPr>
            <a:spLocks noGrp="1"/>
          </p:cNvSpPr>
          <p:nvPr>
            <p:ph type="subTitle" idx="1"/>
          </p:nvPr>
        </p:nvSpPr>
        <p:spPr>
          <a:xfrm>
            <a:off x="304800" y="1371600"/>
            <a:ext cx="8534400" cy="5334000"/>
          </a:xfrm>
        </p:spPr>
        <p:txBody>
          <a:bodyPr/>
          <a:lstStyle/>
          <a:p>
            <a:pPr algn="just"/>
            <a:r>
              <a:rPr lang="en-US" dirty="0" smtClean="0">
                <a:solidFill>
                  <a:schemeClr val="tx1"/>
                </a:solidFill>
              </a:rPr>
              <a:t>According to Mendel, the genotype is made of certain structures called factors. The factors controlled the inheritance of all traits. These factors are present in pairs. The factors are now called genes. Thus the physical basis of heredity are the genes or factors. The different expressions of the same genes are called alleles. Each trait may be represented with an alphabet.</a:t>
            </a:r>
            <a:endParaRPr lang="en-US"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0"/>
            <a:ext cx="7772400" cy="1470025"/>
          </a:xfrm>
        </p:spPr>
        <p:txBody>
          <a:bodyPr/>
          <a:lstStyle/>
          <a:p>
            <a:r>
              <a:rPr lang="en-US" b="1" dirty="0" smtClean="0"/>
              <a:t>Physical Basis of Heredity Cont...</a:t>
            </a:r>
            <a:endParaRPr lang="en-US" dirty="0"/>
          </a:p>
        </p:txBody>
      </p:sp>
      <p:sp>
        <p:nvSpPr>
          <p:cNvPr id="3" name="Subtitle 2"/>
          <p:cNvSpPr>
            <a:spLocks noGrp="1"/>
          </p:cNvSpPr>
          <p:nvPr>
            <p:ph type="subTitle" idx="1"/>
          </p:nvPr>
        </p:nvSpPr>
        <p:spPr>
          <a:xfrm>
            <a:off x="762000" y="1905000"/>
            <a:ext cx="7543800" cy="4419600"/>
          </a:xfrm>
        </p:spPr>
        <p:txBody>
          <a:bodyPr/>
          <a:lstStyle/>
          <a:p>
            <a:pPr algn="just"/>
            <a:r>
              <a:rPr lang="en-US" dirty="0" smtClean="0">
                <a:solidFill>
                  <a:schemeClr val="tx1"/>
                </a:solidFill>
              </a:rPr>
              <a:t>If the alphabet T represents height, T represents tallness and t represents shortness. If the letter R represents the </a:t>
            </a:r>
            <a:r>
              <a:rPr lang="en-US" dirty="0" err="1" smtClean="0">
                <a:solidFill>
                  <a:schemeClr val="tx1"/>
                </a:solidFill>
              </a:rPr>
              <a:t>colour</a:t>
            </a:r>
            <a:r>
              <a:rPr lang="en-US" dirty="0" smtClean="0">
                <a:solidFill>
                  <a:schemeClr val="tx1"/>
                </a:solidFill>
              </a:rPr>
              <a:t> of the flower, R represents red and r represents white.</a:t>
            </a:r>
          </a:p>
          <a:p>
            <a:pPr algn="just"/>
            <a:r>
              <a:rPr lang="en-US" dirty="0" smtClean="0">
                <a:solidFill>
                  <a:schemeClr val="tx1"/>
                </a:solidFill>
              </a:rPr>
              <a:t>General convention is to represent the dominant character or the character expressed in F, generation by capital letter.</a:t>
            </a:r>
          </a:p>
          <a:p>
            <a:pPr algn="just"/>
            <a:endParaRPr lang="en-US"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6375"/>
            <a:ext cx="7772400" cy="1470025"/>
          </a:xfrm>
        </p:spPr>
        <p:txBody>
          <a:bodyPr/>
          <a:lstStyle/>
          <a:p>
            <a:r>
              <a:rPr lang="en-US" b="1" dirty="0" smtClean="0"/>
              <a:t>Physical Basis of Heredity Cont...</a:t>
            </a:r>
            <a:endParaRPr lang="en-US" dirty="0"/>
          </a:p>
        </p:txBody>
      </p:sp>
      <p:sp>
        <p:nvSpPr>
          <p:cNvPr id="3" name="Subtitle 2"/>
          <p:cNvSpPr>
            <a:spLocks noGrp="1"/>
          </p:cNvSpPr>
          <p:nvPr>
            <p:ph type="subTitle" idx="1"/>
          </p:nvPr>
        </p:nvSpPr>
        <p:spPr>
          <a:xfrm>
            <a:off x="685800" y="1905000"/>
            <a:ext cx="7772400" cy="4648200"/>
          </a:xfrm>
        </p:spPr>
        <p:txBody>
          <a:bodyPr>
            <a:normAutofit fontScale="92500" lnSpcReduction="20000"/>
          </a:bodyPr>
          <a:lstStyle/>
          <a:p>
            <a:pPr algn="just"/>
            <a:r>
              <a:rPr lang="en-US" dirty="0" smtClean="0">
                <a:solidFill>
                  <a:schemeClr val="tx1"/>
                </a:solidFill>
              </a:rPr>
              <a:t>Further, each individual for sexual reproduction produces gametes. Gametes are haploid. Each gamete will have only one allele for each trait. Thus the gametes will be of two kinds - having allele T or t. Since each individual is formed by the fusion of gametes, they are represented by writing two letters - TT, </a:t>
            </a:r>
            <a:r>
              <a:rPr lang="en-US" dirty="0" err="1" smtClean="0">
                <a:solidFill>
                  <a:schemeClr val="tx1"/>
                </a:solidFill>
              </a:rPr>
              <a:t>Tt</a:t>
            </a:r>
            <a:r>
              <a:rPr lang="en-US" dirty="0" smtClean="0">
                <a:solidFill>
                  <a:schemeClr val="tx1"/>
                </a:solidFill>
              </a:rPr>
              <a:t> or </a:t>
            </a:r>
            <a:r>
              <a:rPr lang="en-US" dirty="0" err="1" smtClean="0">
                <a:solidFill>
                  <a:schemeClr val="tx1"/>
                </a:solidFill>
              </a:rPr>
              <a:t>tt</a:t>
            </a:r>
            <a:r>
              <a:rPr lang="en-US" dirty="0" smtClean="0">
                <a:solidFill>
                  <a:schemeClr val="tx1"/>
                </a:solidFill>
              </a:rPr>
              <a:t> depending on their origin. If the plants are pure breeds producing only one type of offspring, they are called homozygous (TT or </a:t>
            </a:r>
            <a:r>
              <a:rPr lang="en-US" dirty="0" err="1" smtClean="0">
                <a:solidFill>
                  <a:schemeClr val="tx1"/>
                </a:solidFill>
              </a:rPr>
              <a:t>tt</a:t>
            </a:r>
            <a:r>
              <a:rPr lang="en-US" dirty="0" smtClean="0">
                <a:solidFill>
                  <a:schemeClr val="tx1"/>
                </a:solidFill>
              </a:rPr>
              <a:t>). If the plants produce both tall and short plants among the offspring, then they are heterozygous (</a:t>
            </a:r>
            <a:r>
              <a:rPr lang="en-US" dirty="0" err="1" smtClean="0">
                <a:solidFill>
                  <a:schemeClr val="tx1"/>
                </a:solidFill>
              </a:rPr>
              <a:t>Tt</a:t>
            </a:r>
            <a:r>
              <a:rPr lang="en-US" dirty="0" smtClean="0">
                <a:solidFill>
                  <a:schemeClr val="tx1"/>
                </a:solidFill>
              </a:rPr>
              <a:t>).</a:t>
            </a:r>
            <a:endParaRPr lang="en-US"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0"/>
            <a:ext cx="7772400" cy="1089025"/>
          </a:xfrm>
        </p:spPr>
        <p:txBody>
          <a:bodyPr/>
          <a:lstStyle/>
          <a:p>
            <a:endParaRPr lang="en-US" dirty="0"/>
          </a:p>
        </p:txBody>
      </p:sp>
      <p:sp>
        <p:nvSpPr>
          <p:cNvPr id="3" name="Subtitle 2"/>
          <p:cNvSpPr>
            <a:spLocks noGrp="1"/>
          </p:cNvSpPr>
          <p:nvPr>
            <p:ph type="subTitle" idx="1"/>
          </p:nvPr>
        </p:nvSpPr>
        <p:spPr>
          <a:xfrm>
            <a:off x="685800" y="1752600"/>
            <a:ext cx="7772400" cy="4267200"/>
          </a:xfrm>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516012" y="304800"/>
            <a:ext cx="8323188" cy="614362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6375"/>
            <a:ext cx="7772400" cy="1470025"/>
          </a:xfrm>
        </p:spPr>
        <p:txBody>
          <a:bodyPr/>
          <a:lstStyle/>
          <a:p>
            <a:r>
              <a:rPr lang="en-US" b="1" dirty="0" smtClean="0"/>
              <a:t>Physical Basis of Heredity Cont...</a:t>
            </a:r>
            <a:endParaRPr lang="en-US" dirty="0"/>
          </a:p>
        </p:txBody>
      </p:sp>
      <p:sp>
        <p:nvSpPr>
          <p:cNvPr id="3" name="Subtitle 2"/>
          <p:cNvSpPr>
            <a:spLocks noGrp="1"/>
          </p:cNvSpPr>
          <p:nvPr>
            <p:ph type="subTitle" idx="1"/>
          </p:nvPr>
        </p:nvSpPr>
        <p:spPr>
          <a:xfrm>
            <a:off x="685800" y="1828800"/>
            <a:ext cx="7772400" cy="4572000"/>
          </a:xfrm>
        </p:spPr>
        <p:txBody>
          <a:bodyPr>
            <a:normAutofit lnSpcReduction="10000"/>
          </a:bodyPr>
          <a:lstStyle/>
          <a:p>
            <a:pPr algn="just"/>
            <a:r>
              <a:rPr lang="en-US" dirty="0" smtClean="0">
                <a:solidFill>
                  <a:schemeClr val="tx1"/>
                </a:solidFill>
              </a:rPr>
              <a:t>In case of height, the tall plants of P generation are represented as TT and the short plants as </a:t>
            </a:r>
            <a:r>
              <a:rPr lang="en-US" dirty="0" err="1" smtClean="0">
                <a:solidFill>
                  <a:schemeClr val="tx1"/>
                </a:solidFill>
              </a:rPr>
              <a:t>tt</a:t>
            </a:r>
            <a:r>
              <a:rPr lang="en-US" dirty="0" smtClean="0">
                <a:solidFill>
                  <a:schemeClr val="tx1"/>
                </a:solidFill>
              </a:rPr>
              <a:t>. Each parent produces only one type of gamete. Tall plants produce gametes having allele 'T' and short plants produce allele having 't' gametes. When these two types of gametes fuse, the resultant plants are heterozygous (</a:t>
            </a:r>
            <a:r>
              <a:rPr lang="en-US" dirty="0" err="1" smtClean="0">
                <a:solidFill>
                  <a:schemeClr val="tx1"/>
                </a:solidFill>
              </a:rPr>
              <a:t>Tt</a:t>
            </a:r>
            <a:r>
              <a:rPr lang="en-US" dirty="0" smtClean="0">
                <a:solidFill>
                  <a:schemeClr val="tx1"/>
                </a:solidFill>
              </a:rPr>
              <a:t>). However, only tallness is expressed, as all plants of this generation are tall.</a:t>
            </a:r>
            <a:endParaRPr lang="en-US"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smtClean="0"/>
              <a:t>Physical Basis of Heredity Cont...</a:t>
            </a:r>
            <a:endParaRPr lang="en-US" dirty="0"/>
          </a:p>
        </p:txBody>
      </p:sp>
      <p:sp>
        <p:nvSpPr>
          <p:cNvPr id="3" name="Subtitle 2"/>
          <p:cNvSpPr>
            <a:spLocks noGrp="1"/>
          </p:cNvSpPr>
          <p:nvPr>
            <p:ph type="subTitle" idx="1"/>
          </p:nvPr>
        </p:nvSpPr>
        <p:spPr>
          <a:xfrm>
            <a:off x="762000" y="1752600"/>
            <a:ext cx="7620000" cy="4876800"/>
          </a:xfrm>
        </p:spPr>
        <p:txBody>
          <a:bodyPr/>
          <a:lstStyle/>
          <a:p>
            <a:pPr algn="just"/>
            <a:r>
              <a:rPr lang="en-US" dirty="0" smtClean="0">
                <a:solidFill>
                  <a:schemeClr val="tx1"/>
                </a:solidFill>
              </a:rPr>
              <a:t>Thus, tallness is the dominant allele and shortness is the recessive allele. Thus the recessive allele remains hidden in the first generation and becomes expressed on self-pollination in the next generation.</a:t>
            </a:r>
            <a:endParaRPr lang="en-US"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smtClean="0"/>
              <a:t>Physical Basis of Heredity Cont...</a:t>
            </a:r>
            <a:endParaRPr lang="en-US" dirty="0"/>
          </a:p>
        </p:txBody>
      </p:sp>
      <p:sp>
        <p:nvSpPr>
          <p:cNvPr id="3" name="Subtitle 2"/>
          <p:cNvSpPr>
            <a:spLocks noGrp="1"/>
          </p:cNvSpPr>
          <p:nvPr>
            <p:ph type="subTitle" idx="1"/>
          </p:nvPr>
        </p:nvSpPr>
        <p:spPr>
          <a:xfrm>
            <a:off x="685800" y="1752600"/>
            <a:ext cx="7772400" cy="4876800"/>
          </a:xfrm>
        </p:spPr>
        <p:txBody>
          <a:bodyPr/>
          <a:lstStyle/>
          <a:p>
            <a:pPr algn="just"/>
            <a:r>
              <a:rPr lang="en-US" dirty="0" smtClean="0">
                <a:solidFill>
                  <a:schemeClr val="tx1"/>
                </a:solidFill>
              </a:rPr>
              <a:t>The F</a:t>
            </a:r>
            <a:r>
              <a:rPr lang="en-US" baseline="-25000" dirty="0" smtClean="0">
                <a:solidFill>
                  <a:schemeClr val="tx1"/>
                </a:solidFill>
              </a:rPr>
              <a:t>1</a:t>
            </a:r>
            <a:r>
              <a:rPr lang="en-US" dirty="0" smtClean="0">
                <a:solidFill>
                  <a:schemeClr val="tx1"/>
                </a:solidFill>
              </a:rPr>
              <a:t> generation plants are then self-pollinated. This results in tall and short plants in the ratio 3:1. This is called the phenotypic ratio. Of the tall plants, 1/3</a:t>
            </a:r>
            <a:r>
              <a:rPr lang="en-US" baseline="30000" dirty="0" smtClean="0">
                <a:solidFill>
                  <a:schemeClr val="tx1"/>
                </a:solidFill>
              </a:rPr>
              <a:t>rd</a:t>
            </a:r>
            <a:r>
              <a:rPr lang="en-US" dirty="0" smtClean="0">
                <a:solidFill>
                  <a:schemeClr val="tx1"/>
                </a:solidFill>
              </a:rPr>
              <a:t> of the plants is homozygous for tallness and the remaining 2/3</a:t>
            </a:r>
            <a:r>
              <a:rPr lang="en-US" baseline="30000" dirty="0" smtClean="0">
                <a:solidFill>
                  <a:schemeClr val="tx1"/>
                </a:solidFill>
              </a:rPr>
              <a:t>rd</a:t>
            </a:r>
            <a:r>
              <a:rPr lang="en-US" dirty="0" smtClean="0">
                <a:solidFill>
                  <a:schemeClr val="tx1"/>
                </a:solidFill>
              </a:rPr>
              <a:t> are heterozygous. The heterozygous plants on self-fertilization again result in offspring that show 3:1 ratio for tallness to </a:t>
            </a:r>
            <a:r>
              <a:rPr lang="en-US" dirty="0" err="1" smtClean="0">
                <a:solidFill>
                  <a:schemeClr val="tx1"/>
                </a:solidFill>
              </a:rPr>
              <a:t>dwarfness</a:t>
            </a:r>
            <a:r>
              <a:rPr lang="en-US" dirty="0" smtClean="0">
                <a:solidFill>
                  <a:schemeClr val="tx1"/>
                </a:solidFill>
              </a:rPr>
              <a:t>.</a:t>
            </a:r>
            <a:endParaRPr lang="en-US"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
            <a:ext cx="7772400" cy="1470025"/>
          </a:xfrm>
        </p:spPr>
        <p:txBody>
          <a:bodyPr/>
          <a:lstStyle/>
          <a:p>
            <a:r>
              <a:rPr lang="en-US" b="1" dirty="0" smtClean="0"/>
              <a:t>Physical Basis of Heredity Cont...</a:t>
            </a:r>
            <a:endParaRPr lang="en-US" dirty="0"/>
          </a:p>
        </p:txBody>
      </p:sp>
      <p:sp>
        <p:nvSpPr>
          <p:cNvPr id="3" name="Subtitle 2"/>
          <p:cNvSpPr>
            <a:spLocks noGrp="1"/>
          </p:cNvSpPr>
          <p:nvPr>
            <p:ph type="subTitle" idx="1"/>
          </p:nvPr>
        </p:nvSpPr>
        <p:spPr>
          <a:xfrm>
            <a:off x="457200" y="1752600"/>
            <a:ext cx="8229600" cy="5029200"/>
          </a:xfrm>
        </p:spPr>
        <p:txBody>
          <a:bodyPr/>
          <a:lstStyle/>
          <a:p>
            <a:pPr algn="just"/>
            <a:r>
              <a:rPr lang="en-US" dirty="0" smtClean="0">
                <a:solidFill>
                  <a:schemeClr val="tx1"/>
                </a:solidFill>
              </a:rPr>
              <a:t>Thus the genotypic ratio in the F</a:t>
            </a:r>
            <a:r>
              <a:rPr lang="en-US" baseline="-25000" dirty="0" smtClean="0">
                <a:solidFill>
                  <a:schemeClr val="tx1"/>
                </a:solidFill>
              </a:rPr>
              <a:t>2</a:t>
            </a:r>
            <a:r>
              <a:rPr lang="en-US" dirty="0" smtClean="0">
                <a:solidFill>
                  <a:schemeClr val="tx1"/>
                </a:solidFill>
              </a:rPr>
              <a:t> generation is 1:2:1. This means that 1/3</a:t>
            </a:r>
            <a:r>
              <a:rPr lang="en-US" baseline="30000" dirty="0" smtClean="0">
                <a:solidFill>
                  <a:schemeClr val="tx1"/>
                </a:solidFill>
              </a:rPr>
              <a:t>rd</a:t>
            </a:r>
            <a:r>
              <a:rPr lang="en-US" dirty="0" smtClean="0">
                <a:solidFill>
                  <a:schemeClr val="tx1"/>
                </a:solidFill>
              </a:rPr>
              <a:t> are tall and homozygous, 2/3</a:t>
            </a:r>
            <a:r>
              <a:rPr lang="en-US" baseline="30000" dirty="0" smtClean="0">
                <a:solidFill>
                  <a:schemeClr val="tx1"/>
                </a:solidFill>
              </a:rPr>
              <a:t>rd</a:t>
            </a:r>
            <a:r>
              <a:rPr lang="en-US" dirty="0" smtClean="0">
                <a:solidFill>
                  <a:schemeClr val="tx1"/>
                </a:solidFill>
              </a:rPr>
              <a:t> are tall and heterozygous and 1/3</a:t>
            </a:r>
            <a:r>
              <a:rPr lang="en-US" baseline="30000" dirty="0" smtClean="0">
                <a:solidFill>
                  <a:schemeClr val="tx1"/>
                </a:solidFill>
              </a:rPr>
              <a:t>rd</a:t>
            </a:r>
            <a:r>
              <a:rPr lang="en-US" dirty="0" smtClean="0">
                <a:solidFill>
                  <a:schemeClr val="tx1"/>
                </a:solidFill>
              </a:rPr>
              <a:t> are dwarf and homozygous. Note that recessive traits are </a:t>
            </a:r>
            <a:r>
              <a:rPr lang="en-US" dirty="0" err="1" smtClean="0">
                <a:solidFill>
                  <a:schemeClr val="tx1"/>
                </a:solidFill>
              </a:rPr>
              <a:t>phenotypically</a:t>
            </a:r>
            <a:r>
              <a:rPr lang="en-US" dirty="0" smtClean="0">
                <a:solidFill>
                  <a:schemeClr val="tx1"/>
                </a:solidFill>
              </a:rPr>
              <a:t> expressed only in the homozygous genotype.</a:t>
            </a:r>
            <a:endParaRPr lang="en-US"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smtClean="0"/>
              <a:t>Physical Basis of Heredity Cont...</a:t>
            </a:r>
            <a:endParaRPr lang="en-US" dirty="0"/>
          </a:p>
        </p:txBody>
      </p:sp>
      <p:sp>
        <p:nvSpPr>
          <p:cNvPr id="3" name="Subtitle 2"/>
          <p:cNvSpPr>
            <a:spLocks noGrp="1"/>
          </p:cNvSpPr>
          <p:nvPr>
            <p:ph type="subTitle" idx="1"/>
          </p:nvPr>
        </p:nvSpPr>
        <p:spPr>
          <a:xfrm>
            <a:off x="381000" y="2057400"/>
            <a:ext cx="8382000" cy="3886200"/>
          </a:xfrm>
        </p:spPr>
        <p:txBody>
          <a:bodyPr/>
          <a:lstStyle/>
          <a:p>
            <a:pPr algn="just"/>
            <a:r>
              <a:rPr lang="en-US" dirty="0" smtClean="0">
                <a:solidFill>
                  <a:schemeClr val="tx1"/>
                </a:solidFill>
              </a:rPr>
              <a:t>Similar crossing experiments were also carried out with more than one trait. However, it is not possible to follow all the traits at the same time. The other traits studies by Mendel in garden pea were </a:t>
            </a:r>
            <a:r>
              <a:rPr lang="en-US" dirty="0" err="1" smtClean="0">
                <a:solidFill>
                  <a:schemeClr val="tx1"/>
                </a:solidFill>
              </a:rPr>
              <a:t>colour</a:t>
            </a:r>
            <a:r>
              <a:rPr lang="en-US" dirty="0" smtClean="0">
                <a:solidFill>
                  <a:schemeClr val="tx1"/>
                </a:solidFill>
              </a:rPr>
              <a:t> of the seed, the shape of the seed, </a:t>
            </a:r>
            <a:r>
              <a:rPr lang="en-US" dirty="0" err="1" smtClean="0">
                <a:solidFill>
                  <a:schemeClr val="tx1"/>
                </a:solidFill>
              </a:rPr>
              <a:t>colour</a:t>
            </a:r>
            <a:r>
              <a:rPr lang="en-US" dirty="0" smtClean="0">
                <a:solidFill>
                  <a:schemeClr val="tx1"/>
                </a:solidFill>
              </a:rPr>
              <a:t> of the seed coat, the flower </a:t>
            </a:r>
            <a:r>
              <a:rPr lang="en-US" dirty="0" err="1" smtClean="0">
                <a:solidFill>
                  <a:schemeClr val="tx1"/>
                </a:solidFill>
              </a:rPr>
              <a:t>colour</a:t>
            </a:r>
            <a:r>
              <a:rPr lang="en-US" dirty="0" smtClean="0">
                <a:solidFill>
                  <a:schemeClr val="tx1"/>
                </a:solidFill>
              </a:rPr>
              <a:t>, flower position, pod </a:t>
            </a:r>
            <a:r>
              <a:rPr lang="en-US" dirty="0" err="1" smtClean="0">
                <a:solidFill>
                  <a:schemeClr val="tx1"/>
                </a:solidFill>
              </a:rPr>
              <a:t>colour</a:t>
            </a:r>
            <a:r>
              <a:rPr lang="en-US" dirty="0" smtClean="0">
                <a:solidFill>
                  <a:schemeClr val="tx1"/>
                </a:solidFill>
              </a:rPr>
              <a:t> and pod shape.</a:t>
            </a:r>
            <a:endParaRPr lang="en-US" dirty="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smtClean="0"/>
              <a:t>Physical Basis of Heredity Cont...</a:t>
            </a:r>
            <a:endParaRPr lang="en-US" dirty="0"/>
          </a:p>
        </p:txBody>
      </p:sp>
      <p:sp>
        <p:nvSpPr>
          <p:cNvPr id="3" name="Subtitle 2"/>
          <p:cNvSpPr>
            <a:spLocks noGrp="1"/>
          </p:cNvSpPr>
          <p:nvPr>
            <p:ph type="subTitle" idx="1"/>
          </p:nvPr>
        </p:nvSpPr>
        <p:spPr>
          <a:xfrm>
            <a:off x="457200" y="1752600"/>
            <a:ext cx="8229600" cy="4724400"/>
          </a:xfrm>
        </p:spPr>
        <p:txBody>
          <a:bodyPr/>
          <a:lstStyle/>
          <a:p>
            <a:pPr algn="just"/>
            <a:r>
              <a:rPr lang="en-US" dirty="0" smtClean="0">
                <a:solidFill>
                  <a:schemeClr val="tx1"/>
                </a:solidFill>
              </a:rPr>
              <a:t>The crosses that study two traits together are called the </a:t>
            </a:r>
            <a:r>
              <a:rPr lang="en-US" dirty="0" err="1" smtClean="0">
                <a:solidFill>
                  <a:schemeClr val="tx1"/>
                </a:solidFill>
              </a:rPr>
              <a:t>dihybrid</a:t>
            </a:r>
            <a:r>
              <a:rPr lang="en-US" dirty="0" smtClean="0">
                <a:solidFill>
                  <a:schemeClr val="tx1"/>
                </a:solidFill>
              </a:rPr>
              <a:t> crosses. In the </a:t>
            </a:r>
            <a:r>
              <a:rPr lang="en-US" dirty="0" err="1" smtClean="0">
                <a:solidFill>
                  <a:schemeClr val="tx1"/>
                </a:solidFill>
              </a:rPr>
              <a:t>dihybrid</a:t>
            </a:r>
            <a:r>
              <a:rPr lang="en-US" dirty="0" smtClean="0">
                <a:solidFill>
                  <a:schemeClr val="tx1"/>
                </a:solidFill>
              </a:rPr>
              <a:t> crosses, it was found that the two traits were inherited independent of each other. The dominant alleles for each of the two traits asserted their dominance independent of the other.</a:t>
            </a:r>
            <a:endParaRPr lang="en-US"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1470025"/>
          </a:xfrm>
        </p:spPr>
        <p:txBody>
          <a:bodyPr/>
          <a:lstStyle/>
          <a:p>
            <a:r>
              <a:rPr lang="en-US" b="1" dirty="0" smtClean="0"/>
              <a:t>Laws of Inheritance</a:t>
            </a:r>
            <a:br>
              <a:rPr lang="en-US" b="1" dirty="0" smtClean="0"/>
            </a:br>
            <a:endParaRPr lang="en-US" dirty="0"/>
          </a:p>
        </p:txBody>
      </p:sp>
      <p:sp>
        <p:nvSpPr>
          <p:cNvPr id="3" name="Subtitle 2"/>
          <p:cNvSpPr>
            <a:spLocks noGrp="1"/>
          </p:cNvSpPr>
          <p:nvPr>
            <p:ph type="subTitle" idx="1"/>
          </p:nvPr>
        </p:nvSpPr>
        <p:spPr>
          <a:xfrm>
            <a:off x="762000" y="1524000"/>
            <a:ext cx="7620000" cy="5105400"/>
          </a:xfrm>
        </p:spPr>
        <p:txBody>
          <a:bodyPr/>
          <a:lstStyle/>
          <a:p>
            <a:pPr algn="just"/>
            <a:r>
              <a:rPr lang="en-US" dirty="0" smtClean="0">
                <a:solidFill>
                  <a:schemeClr val="tx1"/>
                </a:solidFill>
              </a:rPr>
              <a:t>Mendel explained the mechanism of inheritance with the help of laws he formulated based on his experiments. These laws are:</a:t>
            </a:r>
          </a:p>
          <a:p>
            <a:pPr algn="just">
              <a:buFont typeface="Arial" pitchFamily="34" charset="0"/>
              <a:buChar char="•"/>
            </a:pPr>
            <a:r>
              <a:rPr lang="en-US" dirty="0" smtClean="0">
                <a:solidFill>
                  <a:schemeClr val="tx1"/>
                </a:solidFill>
              </a:rPr>
              <a:t>Law of unit characters</a:t>
            </a:r>
          </a:p>
          <a:p>
            <a:pPr algn="just">
              <a:buFont typeface="Arial" pitchFamily="34" charset="0"/>
              <a:buChar char="•"/>
            </a:pPr>
            <a:r>
              <a:rPr lang="en-US" dirty="0" smtClean="0">
                <a:solidFill>
                  <a:schemeClr val="tx1"/>
                </a:solidFill>
              </a:rPr>
              <a:t>Law of Dominance</a:t>
            </a:r>
          </a:p>
          <a:p>
            <a:pPr algn="just">
              <a:buFont typeface="Arial" pitchFamily="34" charset="0"/>
              <a:buChar char="•"/>
            </a:pPr>
            <a:r>
              <a:rPr lang="en-US" dirty="0" smtClean="0">
                <a:solidFill>
                  <a:schemeClr val="tx1"/>
                </a:solidFill>
              </a:rPr>
              <a:t>Law of Segregation</a:t>
            </a:r>
          </a:p>
          <a:p>
            <a:pPr algn="just">
              <a:buFont typeface="Arial" pitchFamily="34" charset="0"/>
              <a:buChar char="•"/>
            </a:pPr>
            <a:r>
              <a:rPr lang="en-US" dirty="0" smtClean="0">
                <a:solidFill>
                  <a:schemeClr val="tx1"/>
                </a:solidFill>
              </a:rPr>
              <a:t>Law of Independent Assortment</a:t>
            </a:r>
          </a:p>
          <a:p>
            <a:pPr algn="just"/>
            <a:endParaRPr lang="en-US"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lstStyle/>
          <a:p>
            <a:r>
              <a:rPr lang="en-US" b="1" dirty="0" smtClean="0"/>
              <a:t>Law of Unit Characters</a:t>
            </a:r>
            <a:br>
              <a:rPr lang="en-US" b="1" dirty="0" smtClean="0"/>
            </a:br>
            <a:endParaRPr lang="en-US" dirty="0"/>
          </a:p>
        </p:txBody>
      </p:sp>
      <p:sp>
        <p:nvSpPr>
          <p:cNvPr id="3" name="Subtitle 2"/>
          <p:cNvSpPr>
            <a:spLocks noGrp="1"/>
          </p:cNvSpPr>
          <p:nvPr>
            <p:ph type="subTitle" idx="1"/>
          </p:nvPr>
        </p:nvSpPr>
        <p:spPr>
          <a:xfrm>
            <a:off x="304800" y="2057400"/>
            <a:ext cx="8382000" cy="1981200"/>
          </a:xfrm>
        </p:spPr>
        <p:txBody>
          <a:bodyPr/>
          <a:lstStyle/>
          <a:p>
            <a:pPr algn="just"/>
            <a:r>
              <a:rPr lang="en-US" dirty="0" smtClean="0">
                <a:solidFill>
                  <a:schemeClr val="tx1"/>
                </a:solidFill>
              </a:rPr>
              <a:t>According to this law, all the traits are separate entities or units by themselves. Their inheritance is controlled by factors, now called genes. </a:t>
            </a:r>
            <a:endParaRPr lang="en-US"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1470025"/>
          </a:xfrm>
        </p:spPr>
        <p:txBody>
          <a:bodyPr/>
          <a:lstStyle/>
          <a:p>
            <a:r>
              <a:rPr lang="en-US" b="1" dirty="0" smtClean="0"/>
              <a:t>Law of Dominance</a:t>
            </a:r>
            <a:br>
              <a:rPr lang="en-US" b="1" dirty="0" smtClean="0"/>
            </a:br>
            <a:endParaRPr lang="en-US" dirty="0"/>
          </a:p>
        </p:txBody>
      </p:sp>
      <p:sp>
        <p:nvSpPr>
          <p:cNvPr id="3" name="Subtitle 2"/>
          <p:cNvSpPr>
            <a:spLocks noGrp="1"/>
          </p:cNvSpPr>
          <p:nvPr>
            <p:ph type="subTitle" idx="1"/>
          </p:nvPr>
        </p:nvSpPr>
        <p:spPr>
          <a:xfrm>
            <a:off x="762000" y="2286000"/>
            <a:ext cx="7696200" cy="4038600"/>
          </a:xfrm>
        </p:spPr>
        <p:txBody>
          <a:bodyPr>
            <a:normAutofit fontScale="92500"/>
          </a:bodyPr>
          <a:lstStyle/>
          <a:p>
            <a:pPr algn="just"/>
            <a:r>
              <a:rPr lang="en-US" dirty="0" smtClean="0">
                <a:solidFill>
                  <a:schemeClr val="tx1"/>
                </a:solidFill>
              </a:rPr>
              <a:t>Each gene has more than one form of expression. These forms of expressions are called alleles or </a:t>
            </a:r>
            <a:r>
              <a:rPr lang="en-US" dirty="0" err="1" smtClean="0">
                <a:solidFill>
                  <a:schemeClr val="tx1"/>
                </a:solidFill>
              </a:rPr>
              <a:t>allelomorphs</a:t>
            </a:r>
            <a:r>
              <a:rPr lang="en-US" dirty="0" smtClean="0">
                <a:solidFill>
                  <a:schemeClr val="tx1"/>
                </a:solidFill>
              </a:rPr>
              <a:t>. Each pair of alleles will have a dominant allele and a recessive allele. In the presence of the dominant gene, the recessive gene will never express itself. Only if both the alleles are recessive, the recessive trait will be exhibited. </a:t>
            </a:r>
            <a:endParaRPr lang="en-US" dirty="0">
              <a:solidFill>
                <a:schemeClr val="tx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0"/>
            <a:ext cx="7772400" cy="1470025"/>
          </a:xfrm>
        </p:spPr>
        <p:txBody>
          <a:bodyPr/>
          <a:lstStyle/>
          <a:p>
            <a:r>
              <a:rPr lang="en-US" b="1" dirty="0" smtClean="0"/>
              <a:t>Law of Segregation</a:t>
            </a:r>
            <a:br>
              <a:rPr lang="en-US" b="1" dirty="0" smtClean="0"/>
            </a:br>
            <a:endParaRPr lang="en-US" dirty="0"/>
          </a:p>
        </p:txBody>
      </p:sp>
      <p:sp>
        <p:nvSpPr>
          <p:cNvPr id="3" name="Subtitle 2"/>
          <p:cNvSpPr>
            <a:spLocks noGrp="1"/>
          </p:cNvSpPr>
          <p:nvPr>
            <p:ph type="subTitle" idx="1"/>
          </p:nvPr>
        </p:nvSpPr>
        <p:spPr>
          <a:xfrm>
            <a:off x="685800" y="2057400"/>
            <a:ext cx="7772400" cy="4267200"/>
          </a:xfrm>
        </p:spPr>
        <p:txBody>
          <a:bodyPr/>
          <a:lstStyle/>
          <a:p>
            <a:pPr algn="just"/>
            <a:r>
              <a:rPr lang="en-US" dirty="0" smtClean="0">
                <a:solidFill>
                  <a:schemeClr val="tx1"/>
                </a:solidFill>
              </a:rPr>
              <a:t>This is also called the law of purity of gametes. According to this law, the gametes are pure for a particular trait. This is because the alleles of a pair separate during gamete formation and again come together after fertilization. Therefore, in each gamete only either of the two alleles is present and it is pure for that trait. </a:t>
            </a:r>
            <a:endParaRPr lang="en-US"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smtClean="0"/>
              <a:t>Law of Independent Assortment</a:t>
            </a:r>
            <a:br>
              <a:rPr lang="en-US" b="1" dirty="0" smtClean="0"/>
            </a:br>
            <a:endParaRPr lang="en-US" dirty="0"/>
          </a:p>
        </p:txBody>
      </p:sp>
      <p:sp>
        <p:nvSpPr>
          <p:cNvPr id="3" name="Subtitle 2"/>
          <p:cNvSpPr>
            <a:spLocks noGrp="1"/>
          </p:cNvSpPr>
          <p:nvPr>
            <p:ph type="subTitle" idx="1"/>
          </p:nvPr>
        </p:nvSpPr>
        <p:spPr>
          <a:xfrm>
            <a:off x="685800" y="1828800"/>
            <a:ext cx="7772400" cy="4419600"/>
          </a:xfrm>
        </p:spPr>
        <p:txBody>
          <a:bodyPr/>
          <a:lstStyle/>
          <a:p>
            <a:pPr algn="just"/>
            <a:r>
              <a:rPr lang="en-US" dirty="0" smtClean="0">
                <a:solidFill>
                  <a:schemeClr val="tx1"/>
                </a:solidFill>
              </a:rPr>
              <a:t>This law explains how more than one trait is inherited. According to this law, when there are two pairs of alleles, all four alleles assert themselves independently and are inherited independently.</a:t>
            </a:r>
            <a:endParaRPr lang="en-US" dirty="0">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1470025"/>
          </a:xfrm>
        </p:spPr>
        <p:txBody>
          <a:bodyPr/>
          <a:lstStyle/>
          <a:p>
            <a:r>
              <a:rPr lang="en-US" b="1" dirty="0" smtClean="0"/>
              <a:t>Theory of Inheritance</a:t>
            </a:r>
            <a:br>
              <a:rPr lang="en-US" b="1" dirty="0" smtClean="0"/>
            </a:br>
            <a:endParaRPr lang="en-US" dirty="0"/>
          </a:p>
        </p:txBody>
      </p:sp>
      <p:sp>
        <p:nvSpPr>
          <p:cNvPr id="3" name="Subtitle 2"/>
          <p:cNvSpPr>
            <a:spLocks noGrp="1"/>
          </p:cNvSpPr>
          <p:nvPr>
            <p:ph type="subTitle" idx="1"/>
          </p:nvPr>
        </p:nvSpPr>
        <p:spPr>
          <a:xfrm>
            <a:off x="533400" y="1371600"/>
            <a:ext cx="8305800" cy="5181600"/>
          </a:xfrm>
        </p:spPr>
        <p:txBody>
          <a:bodyPr/>
          <a:lstStyle/>
          <a:p>
            <a:pPr algn="just"/>
            <a:r>
              <a:rPr lang="en-US" dirty="0" err="1" smtClean="0">
                <a:solidFill>
                  <a:schemeClr val="tx1"/>
                </a:solidFill>
              </a:rPr>
              <a:t>Waldeyer</a:t>
            </a:r>
            <a:r>
              <a:rPr lang="en-US" dirty="0" smtClean="0">
                <a:solidFill>
                  <a:schemeClr val="tx1"/>
                </a:solidFill>
              </a:rPr>
              <a:t> is credited with the discovery of chromosomes in the year 1888 within the nucleus. He observed them as darkly stained bodies. However, it was the American William Sutton who noticed the similarities between the </a:t>
            </a:r>
            <a:r>
              <a:rPr lang="en-US" dirty="0" err="1" smtClean="0">
                <a:solidFill>
                  <a:schemeClr val="tx1"/>
                </a:solidFill>
              </a:rPr>
              <a:t>behaviour</a:t>
            </a:r>
            <a:r>
              <a:rPr lang="en-US" dirty="0" smtClean="0">
                <a:solidFill>
                  <a:schemeClr val="tx1"/>
                </a:solidFill>
              </a:rPr>
              <a:t> of the </a:t>
            </a:r>
            <a:r>
              <a:rPr lang="en-US" dirty="0" err="1" smtClean="0">
                <a:solidFill>
                  <a:schemeClr val="tx1"/>
                </a:solidFill>
              </a:rPr>
              <a:t>mendelian</a:t>
            </a:r>
            <a:r>
              <a:rPr lang="en-US" dirty="0" smtClean="0">
                <a:solidFill>
                  <a:schemeClr val="tx1"/>
                </a:solidFill>
              </a:rPr>
              <a:t> factors or genes and that of the chromosomes during meiosis. He noticed the following similarities:</a:t>
            </a:r>
            <a:endParaRPr lang="en-US" dirty="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smtClean="0"/>
              <a:t>Theory of Inheritance Cont…</a:t>
            </a:r>
            <a:endParaRPr lang="en-US" dirty="0"/>
          </a:p>
        </p:txBody>
      </p:sp>
      <p:sp>
        <p:nvSpPr>
          <p:cNvPr id="3" name="Subtitle 2"/>
          <p:cNvSpPr>
            <a:spLocks noGrp="1"/>
          </p:cNvSpPr>
          <p:nvPr>
            <p:ph type="subTitle" idx="1"/>
          </p:nvPr>
        </p:nvSpPr>
        <p:spPr>
          <a:xfrm>
            <a:off x="685800" y="1828800"/>
            <a:ext cx="7848600" cy="4724400"/>
          </a:xfrm>
        </p:spPr>
        <p:txBody>
          <a:bodyPr>
            <a:normAutofit fontScale="77500" lnSpcReduction="20000"/>
          </a:bodyPr>
          <a:lstStyle/>
          <a:p>
            <a:pPr algn="just">
              <a:buFont typeface="Arial" pitchFamily="34" charset="0"/>
              <a:buChar char="•"/>
            </a:pPr>
            <a:r>
              <a:rPr lang="en-US" dirty="0" smtClean="0">
                <a:solidFill>
                  <a:schemeClr val="tx1"/>
                </a:solidFill>
              </a:rPr>
              <a:t>  Both occurred in pairs - genes as alleles and chromosomes as homologous chromosomes.</a:t>
            </a:r>
          </a:p>
          <a:p>
            <a:pPr algn="just">
              <a:buFont typeface="Arial" pitchFamily="34" charset="0"/>
              <a:buChar char="•"/>
            </a:pPr>
            <a:r>
              <a:rPr lang="en-US" dirty="0" smtClean="0">
                <a:solidFill>
                  <a:schemeClr val="tx1"/>
                </a:solidFill>
              </a:rPr>
              <a:t>  Both separated from the pairs and entered the gametes independently - each gamete received only one of the alleles of a pair and also received only one of the homologous chromosomes during meiosis.</a:t>
            </a:r>
          </a:p>
          <a:p>
            <a:pPr algn="just">
              <a:buFont typeface="Arial" pitchFamily="34" charset="0"/>
              <a:buChar char="•"/>
            </a:pPr>
            <a:r>
              <a:rPr lang="en-US" dirty="0" smtClean="0">
                <a:solidFill>
                  <a:schemeClr val="tx1"/>
                </a:solidFill>
              </a:rPr>
              <a:t>  The pairs of both are restored during fertilization - the zygotes receive one allele each from the two parents through the gametes and the zygotes also receive the two homologous chromosomes, one from each parent, during fertilization.</a:t>
            </a:r>
          </a:p>
          <a:p>
            <a:pPr algn="just">
              <a:buFont typeface="Arial" pitchFamily="34" charset="0"/>
              <a:buChar char="•"/>
            </a:pPr>
            <a:r>
              <a:rPr lang="en-US" dirty="0" smtClean="0">
                <a:solidFill>
                  <a:schemeClr val="tx1"/>
                </a:solidFill>
              </a:rPr>
              <a:t>  The above observations led Sutton and </a:t>
            </a:r>
            <a:r>
              <a:rPr lang="en-US" dirty="0" err="1" smtClean="0">
                <a:solidFill>
                  <a:schemeClr val="tx1"/>
                </a:solidFill>
              </a:rPr>
              <a:t>Boveri</a:t>
            </a:r>
            <a:r>
              <a:rPr lang="en-US" dirty="0" smtClean="0">
                <a:solidFill>
                  <a:schemeClr val="tx1"/>
                </a:solidFill>
              </a:rPr>
              <a:t> to formulate the Chromosomal theory of inheritance, independently in 1902. According to this theory,</a:t>
            </a:r>
          </a:p>
          <a:p>
            <a:pPr algn="just">
              <a:buFont typeface="Arial" pitchFamily="34" charset="0"/>
              <a:buChar char="•"/>
            </a:pPr>
            <a:endParaRPr lang="en-US" dirty="0">
              <a:solidFill>
                <a:schemeClr val="tx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smtClean="0"/>
              <a:t>Theory of Inheritance Cont…</a:t>
            </a:r>
            <a:endParaRPr lang="en-US" dirty="0"/>
          </a:p>
        </p:txBody>
      </p:sp>
      <p:sp>
        <p:nvSpPr>
          <p:cNvPr id="3" name="Subtitle 2"/>
          <p:cNvSpPr>
            <a:spLocks noGrp="1"/>
          </p:cNvSpPr>
          <p:nvPr>
            <p:ph type="subTitle" idx="1"/>
          </p:nvPr>
        </p:nvSpPr>
        <p:spPr>
          <a:xfrm>
            <a:off x="685800" y="1371600"/>
            <a:ext cx="7772400" cy="5181600"/>
          </a:xfrm>
        </p:spPr>
        <p:txBody>
          <a:bodyPr>
            <a:normAutofit fontScale="70000" lnSpcReduction="20000"/>
          </a:bodyPr>
          <a:lstStyle/>
          <a:p>
            <a:pPr algn="just">
              <a:buFont typeface="Arial" pitchFamily="34" charset="0"/>
              <a:buChar char="•"/>
            </a:pPr>
            <a:r>
              <a:rPr lang="en-US" sz="3400" dirty="0" smtClean="0">
                <a:solidFill>
                  <a:schemeClr val="tx1"/>
                </a:solidFill>
              </a:rPr>
              <a:t>  Each adult organism grows from a zygote. The zygote is a diploid cell having two sets of chromosomes - maternal and paternal. The zygote by mitotic divisions results in the formation of an adult and thus, all the vegetative or somatic cells of an organism are diploid with two sets of chromosomes.</a:t>
            </a:r>
          </a:p>
          <a:p>
            <a:pPr algn="just">
              <a:buFont typeface="Arial" pitchFamily="34" charset="0"/>
              <a:buChar char="•"/>
            </a:pPr>
            <a:r>
              <a:rPr lang="en-US" sz="3400" dirty="0" smtClean="0">
                <a:solidFill>
                  <a:schemeClr val="tx1"/>
                </a:solidFill>
              </a:rPr>
              <a:t>  The chromosomes maintain their individuality through out the life cycle of the organism.</a:t>
            </a:r>
          </a:p>
          <a:p>
            <a:pPr algn="just">
              <a:buFont typeface="Arial" pitchFamily="34" charset="0"/>
              <a:buChar char="•"/>
            </a:pPr>
            <a:r>
              <a:rPr lang="en-US" sz="3400" dirty="0" smtClean="0">
                <a:solidFill>
                  <a:schemeClr val="tx1"/>
                </a:solidFill>
              </a:rPr>
              <a:t>  The chromosomes contain the </a:t>
            </a:r>
            <a:r>
              <a:rPr lang="en-US" sz="3400" dirty="0" err="1" smtClean="0">
                <a:solidFill>
                  <a:schemeClr val="tx1"/>
                </a:solidFill>
              </a:rPr>
              <a:t>Mendelian</a:t>
            </a:r>
            <a:r>
              <a:rPr lang="en-US" sz="3400" dirty="0" smtClean="0">
                <a:solidFill>
                  <a:schemeClr val="tx1"/>
                </a:solidFill>
              </a:rPr>
              <a:t> factors or genes, which determine the various characteristics of an individual.</a:t>
            </a:r>
          </a:p>
          <a:p>
            <a:pPr algn="just">
              <a:buFont typeface="Arial" pitchFamily="34" charset="0"/>
              <a:buChar char="•"/>
            </a:pPr>
            <a:r>
              <a:rPr lang="en-US" sz="3400" dirty="0" smtClean="0">
                <a:solidFill>
                  <a:schemeClr val="tx1"/>
                </a:solidFill>
              </a:rPr>
              <a:t>  It was later discovered that the genes are arranged in a linear manner on the chromosomes.</a:t>
            </a:r>
          </a:p>
          <a:p>
            <a:pPr algn="just">
              <a:buFont typeface="Arial" pitchFamily="34" charset="0"/>
              <a:buChar char="•"/>
            </a:pPr>
            <a:r>
              <a:rPr lang="en-US" sz="3400" dirty="0" smtClean="0">
                <a:solidFill>
                  <a:schemeClr val="tx1"/>
                </a:solidFill>
              </a:rPr>
              <a:t>  The position of a gene on the chromosome is called the locus. It always remains the same for a gene. </a:t>
            </a:r>
          </a:p>
          <a:p>
            <a:pPr algn="just"/>
            <a:r>
              <a:rPr lang="en-US" sz="3400" dirty="0" smtClean="0">
                <a:solidFill>
                  <a:schemeClr val="tx1"/>
                </a:solidFill>
              </a:rPr>
              <a:t>The alleles of a gene are present on the homologous chromosomes at the same loci.</a:t>
            </a:r>
          </a:p>
          <a:p>
            <a:pPr algn="just">
              <a:buFont typeface="Arial" pitchFamily="34" charset="0"/>
              <a:buChar char="•"/>
            </a:pPr>
            <a:endParaRPr lang="en-US" dirty="0">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smtClean="0"/>
              <a:t>Genetic Material</a:t>
            </a:r>
            <a:endParaRPr lang="en-US" b="1" dirty="0"/>
          </a:p>
        </p:txBody>
      </p:sp>
      <p:sp>
        <p:nvSpPr>
          <p:cNvPr id="3" name="Subtitle 2"/>
          <p:cNvSpPr>
            <a:spLocks noGrp="1"/>
          </p:cNvSpPr>
          <p:nvPr>
            <p:ph type="subTitle" idx="1"/>
          </p:nvPr>
        </p:nvSpPr>
        <p:spPr>
          <a:xfrm>
            <a:off x="304800" y="1447800"/>
            <a:ext cx="8534400" cy="5181600"/>
          </a:xfrm>
        </p:spPr>
        <p:txBody>
          <a:bodyPr>
            <a:normAutofit fontScale="77500" lnSpcReduction="20000"/>
          </a:bodyPr>
          <a:lstStyle/>
          <a:p>
            <a:pPr algn="just"/>
            <a:r>
              <a:rPr lang="en-US" dirty="0" smtClean="0">
                <a:solidFill>
                  <a:schemeClr val="tx1"/>
                </a:solidFill>
              </a:rPr>
              <a:t>The genetic material is a nucleoprotein called chromatin. It is made up of DNA and protein.</a:t>
            </a:r>
          </a:p>
          <a:p>
            <a:pPr algn="just"/>
            <a:endParaRPr lang="en-US" b="1" dirty="0" smtClean="0">
              <a:solidFill>
                <a:schemeClr val="tx1"/>
              </a:solidFill>
            </a:endParaRPr>
          </a:p>
          <a:p>
            <a:pPr algn="just"/>
            <a:r>
              <a:rPr lang="en-US" b="1" dirty="0" smtClean="0">
                <a:solidFill>
                  <a:schemeClr val="tx1"/>
                </a:solidFill>
              </a:rPr>
              <a:t>DNA or Deoxyribonucleic Acid</a:t>
            </a:r>
          </a:p>
          <a:p>
            <a:pPr algn="just"/>
            <a:r>
              <a:rPr lang="en-US" dirty="0" smtClean="0">
                <a:solidFill>
                  <a:schemeClr val="tx1"/>
                </a:solidFill>
              </a:rPr>
              <a:t>It is a double stranded molecule with each strand being made up of many nucleotide units. Each nucleotide is made up of a nitrogenous base, a sugar molecule and a phosphoric acid molecule. Nitrogenous bases are of two kinds:</a:t>
            </a:r>
          </a:p>
          <a:p>
            <a:pPr algn="just">
              <a:buFont typeface="Arial" pitchFamily="34" charset="0"/>
              <a:buChar char="•"/>
            </a:pPr>
            <a:r>
              <a:rPr lang="en-US" dirty="0" err="1" smtClean="0">
                <a:solidFill>
                  <a:schemeClr val="tx1"/>
                </a:solidFill>
              </a:rPr>
              <a:t>purines</a:t>
            </a:r>
            <a:endParaRPr lang="en-US" dirty="0" smtClean="0">
              <a:solidFill>
                <a:schemeClr val="tx1"/>
              </a:solidFill>
            </a:endParaRPr>
          </a:p>
          <a:p>
            <a:pPr algn="just">
              <a:buFont typeface="Arial" pitchFamily="34" charset="0"/>
              <a:buChar char="•"/>
            </a:pPr>
            <a:r>
              <a:rPr lang="en-US" dirty="0" err="1" smtClean="0">
                <a:solidFill>
                  <a:schemeClr val="tx1"/>
                </a:solidFill>
              </a:rPr>
              <a:t>pyrimidines</a:t>
            </a:r>
            <a:endParaRPr lang="en-US" dirty="0" smtClean="0">
              <a:solidFill>
                <a:schemeClr val="tx1"/>
              </a:solidFill>
            </a:endParaRPr>
          </a:p>
          <a:p>
            <a:pPr algn="just"/>
            <a:r>
              <a:rPr lang="en-US" dirty="0" smtClean="0">
                <a:solidFill>
                  <a:schemeClr val="tx1"/>
                </a:solidFill>
              </a:rPr>
              <a:t>The nitrogenous bases present in DNA are adenine and guanine, which are </a:t>
            </a:r>
            <a:r>
              <a:rPr lang="en-US" dirty="0" err="1" smtClean="0">
                <a:solidFill>
                  <a:schemeClr val="tx1"/>
                </a:solidFill>
              </a:rPr>
              <a:t>purines</a:t>
            </a:r>
            <a:r>
              <a:rPr lang="en-US" dirty="0" smtClean="0">
                <a:solidFill>
                  <a:schemeClr val="tx1"/>
                </a:solidFill>
              </a:rPr>
              <a:t> and cytosine and thymine, which are </a:t>
            </a:r>
            <a:r>
              <a:rPr lang="en-US" dirty="0" err="1" smtClean="0">
                <a:solidFill>
                  <a:schemeClr val="tx1"/>
                </a:solidFill>
              </a:rPr>
              <a:t>pyrimidines</a:t>
            </a:r>
            <a:r>
              <a:rPr lang="en-US" dirty="0" smtClean="0">
                <a:solidFill>
                  <a:schemeClr val="tx1"/>
                </a:solidFill>
              </a:rPr>
              <a:t>. The sugar molecule present in DNA is </a:t>
            </a:r>
            <a:r>
              <a:rPr lang="en-US" dirty="0" err="1" smtClean="0">
                <a:solidFill>
                  <a:schemeClr val="tx1"/>
                </a:solidFill>
              </a:rPr>
              <a:t>deoxyribose</a:t>
            </a:r>
            <a:r>
              <a:rPr lang="en-US" dirty="0" smtClean="0">
                <a:solidFill>
                  <a:schemeClr val="tx1"/>
                </a:solidFill>
              </a:rPr>
              <a:t>. The nitrogenous base, sugar and phosphoric acid together join to form a nucleotide that looks like this: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1"/>
            <a:ext cx="7772400" cy="1219199"/>
          </a:xfrm>
        </p:spPr>
        <p:txBody>
          <a:bodyPr/>
          <a:lstStyle/>
          <a:p>
            <a:r>
              <a:rPr lang="en-US" dirty="0" smtClean="0"/>
              <a:t>Formation of a Nucleotide</a:t>
            </a:r>
            <a:endParaRPr lang="en-US" dirty="0"/>
          </a:p>
        </p:txBody>
      </p:sp>
      <p:sp>
        <p:nvSpPr>
          <p:cNvPr id="3" name="Subtitle 2"/>
          <p:cNvSpPr>
            <a:spLocks noGrp="1"/>
          </p:cNvSpPr>
          <p:nvPr>
            <p:ph type="subTitle" idx="1"/>
          </p:nvPr>
        </p:nvSpPr>
        <p:spPr/>
        <p:txBody>
          <a:bodyPr/>
          <a:lstStyle/>
          <a:p>
            <a:endParaRPr lang="en-US" dirty="0"/>
          </a:p>
        </p:txBody>
      </p:sp>
      <p:pic>
        <p:nvPicPr>
          <p:cNvPr id="2050" name="Picture 2" descr="C:\Users\JOE\Pictures\my pics\nucleotide-formation-process.gif"/>
          <p:cNvPicPr>
            <a:picLocks noChangeAspect="1" noChangeArrowheads="1"/>
          </p:cNvPicPr>
          <p:nvPr/>
        </p:nvPicPr>
        <p:blipFill>
          <a:blip r:embed="rId2"/>
          <a:srcRect/>
          <a:stretch>
            <a:fillRect/>
          </a:stretch>
        </p:blipFill>
        <p:spPr bwMode="auto">
          <a:xfrm>
            <a:off x="507833" y="1447800"/>
            <a:ext cx="8255167" cy="5039299"/>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1"/>
            <a:ext cx="7772400" cy="1219200"/>
          </a:xfrm>
        </p:spPr>
        <p:txBody>
          <a:bodyPr/>
          <a:lstStyle/>
          <a:p>
            <a:r>
              <a:rPr lang="en-US" dirty="0" smtClean="0"/>
              <a:t>Formation of Polynucleotide </a:t>
            </a:r>
            <a:endParaRPr lang="en-US" dirty="0"/>
          </a:p>
        </p:txBody>
      </p:sp>
      <p:sp>
        <p:nvSpPr>
          <p:cNvPr id="3" name="Subtitle 2"/>
          <p:cNvSpPr>
            <a:spLocks noGrp="1"/>
          </p:cNvSpPr>
          <p:nvPr>
            <p:ph type="subTitle" idx="1"/>
          </p:nvPr>
        </p:nvSpPr>
        <p:spPr/>
        <p:txBody>
          <a:bodyPr/>
          <a:lstStyle/>
          <a:p>
            <a:endParaRPr lang="en-US" dirty="0"/>
          </a:p>
        </p:txBody>
      </p:sp>
      <p:pic>
        <p:nvPicPr>
          <p:cNvPr id="3074" name="Picture 2" descr="C:\Users\JOE\Pictures\my pics\polynucleotide-formation.gif"/>
          <p:cNvPicPr>
            <a:picLocks noChangeAspect="1" noChangeArrowheads="1"/>
          </p:cNvPicPr>
          <p:nvPr/>
        </p:nvPicPr>
        <p:blipFill>
          <a:blip r:embed="rId2"/>
          <a:srcRect/>
          <a:stretch>
            <a:fillRect/>
          </a:stretch>
        </p:blipFill>
        <p:spPr bwMode="auto">
          <a:xfrm>
            <a:off x="685800" y="1219200"/>
            <a:ext cx="7696200" cy="5410199"/>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endParaRPr lang="en-US" dirty="0"/>
          </a:p>
        </p:txBody>
      </p:sp>
      <p:sp>
        <p:nvSpPr>
          <p:cNvPr id="3" name="Subtitle 2"/>
          <p:cNvSpPr>
            <a:spLocks noGrp="1"/>
          </p:cNvSpPr>
          <p:nvPr>
            <p:ph type="subTitle" idx="1"/>
          </p:nvPr>
        </p:nvSpPr>
        <p:spPr>
          <a:xfrm>
            <a:off x="685800" y="1828800"/>
            <a:ext cx="7772400" cy="4724400"/>
          </a:xfrm>
        </p:spPr>
        <p:txBody>
          <a:bodyPr/>
          <a:lstStyle/>
          <a:p>
            <a:pPr algn="just"/>
            <a:r>
              <a:rPr lang="en-US" dirty="0" smtClean="0">
                <a:solidFill>
                  <a:schemeClr val="tx1"/>
                </a:solidFill>
              </a:rPr>
              <a:t>Each DNA molecule has two such polynucleotide chains joined to each other by hydrogen bonds. The hydrogen bonds are between the nitrogenous bases of the opposite nucleotides.</a:t>
            </a:r>
          </a:p>
          <a:p>
            <a:pPr algn="just"/>
            <a:endParaRPr lang="en-US" dirty="0" smtClean="0">
              <a:solidFill>
                <a:schemeClr val="tx1"/>
              </a:solidFill>
            </a:endParaRPr>
          </a:p>
          <a:p>
            <a:endParaRPr lang="en-US"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smtClean="0">
                <a:solidFill>
                  <a:schemeClr val="tx1"/>
                </a:solidFill>
              </a:rPr>
              <a:t>Double Helix DNA Structure</a:t>
            </a:r>
            <a:br>
              <a:rPr lang="en-US" b="1" dirty="0" smtClean="0">
                <a:solidFill>
                  <a:schemeClr val="tx1"/>
                </a:solidFill>
              </a:rPr>
            </a:br>
            <a:endParaRPr lang="en-US" dirty="0"/>
          </a:p>
        </p:txBody>
      </p:sp>
      <p:sp>
        <p:nvSpPr>
          <p:cNvPr id="3" name="Subtitle 2"/>
          <p:cNvSpPr>
            <a:spLocks noGrp="1"/>
          </p:cNvSpPr>
          <p:nvPr>
            <p:ph type="subTitle" idx="1"/>
          </p:nvPr>
        </p:nvSpPr>
        <p:spPr>
          <a:xfrm>
            <a:off x="685800" y="1828800"/>
            <a:ext cx="7772400" cy="4724400"/>
          </a:xfrm>
        </p:spPr>
        <p:txBody>
          <a:bodyPr>
            <a:normAutofit fontScale="92500" lnSpcReduction="10000"/>
          </a:bodyPr>
          <a:lstStyle/>
          <a:p>
            <a:pPr algn="just"/>
            <a:r>
              <a:rPr lang="en-US" dirty="0" smtClean="0">
                <a:solidFill>
                  <a:schemeClr val="tx1"/>
                </a:solidFill>
              </a:rPr>
              <a:t>If the polynucleotide chains are the sides of the ladder, the bonds can be compared to the rungs of the ladder. The whole molecule can be likened to a rope ladder twisted around to from a helical structure. The DNA molecule is twisted around a core of proteins.</a:t>
            </a:r>
          </a:p>
          <a:p>
            <a:pPr algn="just"/>
            <a:r>
              <a:rPr lang="en-US" dirty="0" smtClean="0">
                <a:solidFill>
                  <a:schemeClr val="tx1"/>
                </a:solidFill>
              </a:rPr>
              <a:t>Short chains of the DNA form the genes. Each gene is, therefore, a series of nucleotides in a particular sequence. Each gene codes for a particular trait. The genes are arranged in a linear manner on the chromosomes. </a:t>
            </a:r>
            <a:endParaRPr lang="en-US" dirty="0">
              <a:solidFill>
                <a:schemeClr val="tx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1470025"/>
          </a:xfrm>
        </p:spPr>
        <p:txBody>
          <a:bodyPr/>
          <a:lstStyle/>
          <a:p>
            <a:r>
              <a:rPr lang="en-US" b="1" dirty="0" smtClean="0"/>
              <a:t>DNA and Genetic Engineering</a:t>
            </a:r>
            <a:br>
              <a:rPr lang="en-US" b="1" dirty="0" smtClean="0"/>
            </a:br>
            <a:endParaRPr lang="en-US" dirty="0"/>
          </a:p>
        </p:txBody>
      </p:sp>
      <p:sp>
        <p:nvSpPr>
          <p:cNvPr id="3" name="Subtitle 2"/>
          <p:cNvSpPr>
            <a:spLocks noGrp="1"/>
          </p:cNvSpPr>
          <p:nvPr>
            <p:ph type="subTitle" idx="1"/>
          </p:nvPr>
        </p:nvSpPr>
        <p:spPr>
          <a:xfrm>
            <a:off x="685800" y="1752600"/>
            <a:ext cx="7772400" cy="4876800"/>
          </a:xfrm>
        </p:spPr>
        <p:txBody>
          <a:bodyPr>
            <a:normAutofit lnSpcReduction="10000"/>
          </a:bodyPr>
          <a:lstStyle/>
          <a:p>
            <a:pPr algn="just"/>
            <a:r>
              <a:rPr lang="en-US" dirty="0" smtClean="0">
                <a:solidFill>
                  <a:schemeClr val="tx1"/>
                </a:solidFill>
              </a:rPr>
              <a:t>The complimentary property of the nucleotides of DNA has been proved to be the most powerful tool of genetic engineering. After cutting a segment of DNA or gene with the help of specific enzyme, it can be joined or attached with the DNA of a different organism. Such type of organism that contains a segment of foreign DNA or gene, is known as </a:t>
            </a:r>
            <a:r>
              <a:rPr lang="en-US" b="1" dirty="0" smtClean="0">
                <a:solidFill>
                  <a:schemeClr val="tx1"/>
                </a:solidFill>
              </a:rPr>
              <a:t>transgenic organism,</a:t>
            </a:r>
            <a:r>
              <a:rPr lang="en-US" dirty="0" smtClean="0">
                <a:solidFill>
                  <a:schemeClr val="tx1"/>
                </a:solidFill>
              </a:rPr>
              <a:t> or genetically modified organism (GMO).</a:t>
            </a:r>
            <a:endParaRPr lang="en-US" dirty="0">
              <a:solidFill>
                <a:schemeClr val="tx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1"/>
            <a:ext cx="7772400" cy="1143000"/>
          </a:xfrm>
        </p:spPr>
        <p:txBody>
          <a:bodyPr>
            <a:normAutofit fontScale="90000"/>
          </a:bodyPr>
          <a:lstStyle/>
          <a:p>
            <a:r>
              <a:rPr lang="en-US" b="1" dirty="0" smtClean="0"/>
              <a:t>Sex Chromosomes</a:t>
            </a:r>
            <a:br>
              <a:rPr lang="en-US" b="1" dirty="0" smtClean="0"/>
            </a:br>
            <a:endParaRPr lang="en-US" dirty="0"/>
          </a:p>
        </p:txBody>
      </p:sp>
      <p:sp>
        <p:nvSpPr>
          <p:cNvPr id="3" name="Subtitle 2"/>
          <p:cNvSpPr>
            <a:spLocks noGrp="1"/>
          </p:cNvSpPr>
          <p:nvPr>
            <p:ph type="subTitle" idx="1"/>
          </p:nvPr>
        </p:nvSpPr>
        <p:spPr>
          <a:xfrm>
            <a:off x="533400" y="1295400"/>
            <a:ext cx="8077200" cy="4800600"/>
          </a:xfrm>
        </p:spPr>
        <p:txBody>
          <a:bodyPr/>
          <a:lstStyle/>
          <a:p>
            <a:pPr algn="just"/>
            <a:r>
              <a:rPr lang="en-US" dirty="0" smtClean="0">
                <a:solidFill>
                  <a:schemeClr val="tx1"/>
                </a:solidFill>
              </a:rPr>
              <a:t>During the formation of gametes, the females will have only one type of gametes, all with one X chromosome. However, the males will produce two types of gametes or sperms, half with X chromosome and half with Y chromosome. Thus the sex of a zygote is determined by which male gamete fuses with the female gamete.</a:t>
            </a:r>
            <a:endParaRPr lang="en-US" dirty="0">
              <a:solidFill>
                <a:schemeClr val="tx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228600"/>
            <a:ext cx="7010400" cy="1089025"/>
          </a:xfrm>
        </p:spPr>
        <p:txBody>
          <a:bodyPr/>
          <a:lstStyle/>
          <a:p>
            <a:r>
              <a:rPr lang="en-US" dirty="0" smtClean="0"/>
              <a:t>Human Sex Chromosomes</a:t>
            </a:r>
            <a:endParaRPr lang="en-US" dirty="0"/>
          </a:p>
        </p:txBody>
      </p:sp>
      <p:sp>
        <p:nvSpPr>
          <p:cNvPr id="3" name="Subtitle 2"/>
          <p:cNvSpPr>
            <a:spLocks noGrp="1"/>
          </p:cNvSpPr>
          <p:nvPr>
            <p:ph type="subTitle" idx="1"/>
          </p:nvPr>
        </p:nvSpPr>
        <p:spPr>
          <a:xfrm>
            <a:off x="2438400" y="3886200"/>
            <a:ext cx="5334000" cy="1752600"/>
          </a:xfrm>
        </p:spPr>
        <p:txBody>
          <a:bodyPr/>
          <a:lstStyle/>
          <a:p>
            <a:endParaRPr lang="en-US" dirty="0"/>
          </a:p>
        </p:txBody>
      </p:sp>
      <p:pic>
        <p:nvPicPr>
          <p:cNvPr id="4098" name="Picture 2"/>
          <p:cNvPicPr>
            <a:picLocks noChangeAspect="1" noChangeArrowheads="1"/>
          </p:cNvPicPr>
          <p:nvPr/>
        </p:nvPicPr>
        <p:blipFill>
          <a:blip r:embed="rId2"/>
          <a:srcRect/>
          <a:stretch>
            <a:fillRect/>
          </a:stretch>
        </p:blipFill>
        <p:spPr bwMode="auto">
          <a:xfrm>
            <a:off x="970613" y="1254087"/>
            <a:ext cx="7106587" cy="5222913"/>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34975"/>
            <a:ext cx="7772400" cy="1470025"/>
          </a:xfrm>
        </p:spPr>
        <p:txBody>
          <a:bodyPr/>
          <a:lstStyle/>
          <a:p>
            <a:r>
              <a:rPr lang="en-US" dirty="0" smtClean="0"/>
              <a:t>Sex Chromosomes</a:t>
            </a:r>
            <a:endParaRPr lang="en-US" dirty="0"/>
          </a:p>
        </p:txBody>
      </p:sp>
      <p:sp>
        <p:nvSpPr>
          <p:cNvPr id="3" name="Subtitle 2"/>
          <p:cNvSpPr>
            <a:spLocks noGrp="1"/>
          </p:cNvSpPr>
          <p:nvPr>
            <p:ph type="subTitle" idx="1"/>
          </p:nvPr>
        </p:nvSpPr>
        <p:spPr>
          <a:xfrm>
            <a:off x="609600" y="2286000"/>
            <a:ext cx="7924800" cy="4114800"/>
          </a:xfrm>
        </p:spPr>
        <p:txBody>
          <a:bodyPr/>
          <a:lstStyle/>
          <a:p>
            <a:pPr algn="just"/>
            <a:r>
              <a:rPr lang="en-US" dirty="0" smtClean="0">
                <a:solidFill>
                  <a:schemeClr val="tx1"/>
                </a:solidFill>
              </a:rPr>
              <a:t>If the X gamete fuses with the female gamete (also X), the zygote will be a female. If the Y gamete fused with the female gamete, the zygote will be a male. This type of sex determination is called XX-XY type.</a:t>
            </a:r>
            <a:endParaRPr lang="en-US" dirty="0">
              <a:solidFill>
                <a:schemeClr val="tx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1"/>
            <a:ext cx="8382000" cy="1219199"/>
          </a:xfrm>
        </p:spPr>
        <p:txBody>
          <a:bodyPr/>
          <a:lstStyle/>
          <a:p>
            <a:r>
              <a:rPr lang="en-US" b="1" dirty="0" smtClean="0"/>
              <a:t>Variation</a:t>
            </a:r>
            <a:endParaRPr lang="en-US" b="1" dirty="0"/>
          </a:p>
        </p:txBody>
      </p:sp>
      <p:sp>
        <p:nvSpPr>
          <p:cNvPr id="3" name="Subtitle 2"/>
          <p:cNvSpPr>
            <a:spLocks noGrp="1"/>
          </p:cNvSpPr>
          <p:nvPr>
            <p:ph type="subTitle" idx="1"/>
          </p:nvPr>
        </p:nvSpPr>
        <p:spPr>
          <a:xfrm>
            <a:off x="533400" y="1600200"/>
            <a:ext cx="8229600" cy="4953000"/>
          </a:xfrm>
        </p:spPr>
        <p:txBody>
          <a:bodyPr>
            <a:normAutofit lnSpcReduction="10000"/>
          </a:bodyPr>
          <a:lstStyle/>
          <a:p>
            <a:pPr algn="just"/>
            <a:r>
              <a:rPr lang="en-US" dirty="0" smtClean="0">
                <a:solidFill>
                  <a:schemeClr val="tx1"/>
                </a:solidFill>
              </a:rPr>
              <a:t>Variation may be defined as differences among individuals of a species. All around us we see different organisms belonging to different species. Within each species too, no two individuals are identical to each other. Asexual reproduction produces identical offspring called clones and identical twins are seen in sexual reproduction. However, clones and identical twins can also differ from each other if subjected to different environmental conditions.</a:t>
            </a:r>
            <a:endParaRPr lang="en-US" dirty="0">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82575"/>
            <a:ext cx="7772400" cy="1470025"/>
          </a:xfrm>
        </p:spPr>
        <p:txBody>
          <a:bodyPr/>
          <a:lstStyle/>
          <a:p>
            <a:r>
              <a:rPr lang="en-US" b="1" dirty="0" smtClean="0"/>
              <a:t>Variation Cont…</a:t>
            </a:r>
            <a:endParaRPr lang="en-US" dirty="0"/>
          </a:p>
        </p:txBody>
      </p:sp>
      <p:sp>
        <p:nvSpPr>
          <p:cNvPr id="3" name="Subtitle 2"/>
          <p:cNvSpPr>
            <a:spLocks noGrp="1"/>
          </p:cNvSpPr>
          <p:nvPr>
            <p:ph type="subTitle" idx="1"/>
          </p:nvPr>
        </p:nvSpPr>
        <p:spPr>
          <a:xfrm>
            <a:off x="685800" y="1905000"/>
            <a:ext cx="7772400" cy="4648200"/>
          </a:xfrm>
        </p:spPr>
        <p:txBody>
          <a:bodyPr/>
          <a:lstStyle/>
          <a:p>
            <a:pPr algn="just"/>
            <a:r>
              <a:rPr lang="en-US" dirty="0" smtClean="0">
                <a:solidFill>
                  <a:schemeClr val="tx1"/>
                </a:solidFill>
              </a:rPr>
              <a:t>Variations arise either due to environmental influence or genetic factors. The environmental factors like the food, temperature, etc. influence the phenotype of individuals. However, phenotypic changes are not heritable. Genetic changes are those that affect the genes. These changes are heritable and important from the evolutionary point of view.</a:t>
            </a:r>
            <a:endParaRPr lang="en-US" dirty="0">
              <a:solidFill>
                <a:schemeClr val="tx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304801"/>
            <a:ext cx="8458200" cy="1066799"/>
          </a:xfrm>
        </p:spPr>
        <p:txBody>
          <a:bodyPr>
            <a:normAutofit fontScale="90000"/>
          </a:bodyPr>
          <a:lstStyle/>
          <a:p>
            <a:r>
              <a:rPr lang="en-US" b="1" dirty="0" smtClean="0"/>
              <a:t>Types of Variations</a:t>
            </a:r>
            <a:br>
              <a:rPr lang="en-US" b="1" dirty="0" smtClean="0"/>
            </a:br>
            <a:r>
              <a:rPr lang="en-US" sz="2200" dirty="0" smtClean="0"/>
              <a:t>Variations can be classified based on the origin:</a:t>
            </a:r>
            <a:endParaRPr lang="en-US" dirty="0"/>
          </a:p>
        </p:txBody>
      </p:sp>
      <p:sp>
        <p:nvSpPr>
          <p:cNvPr id="3" name="Subtitle 2"/>
          <p:cNvSpPr>
            <a:spLocks noGrp="1"/>
          </p:cNvSpPr>
          <p:nvPr>
            <p:ph type="subTitle" idx="1"/>
          </p:nvPr>
        </p:nvSpPr>
        <p:spPr>
          <a:xfrm>
            <a:off x="381000" y="1447800"/>
            <a:ext cx="8382000" cy="5181600"/>
          </a:xfrm>
        </p:spPr>
        <p:txBody>
          <a:bodyPr>
            <a:normAutofit fontScale="77500" lnSpcReduction="20000"/>
          </a:bodyPr>
          <a:lstStyle/>
          <a:p>
            <a:pPr algn="just"/>
            <a:r>
              <a:rPr lang="en-US" b="1" dirty="0" err="1" smtClean="0">
                <a:solidFill>
                  <a:schemeClr val="tx1"/>
                </a:solidFill>
              </a:rPr>
              <a:t>Somatogenic</a:t>
            </a:r>
            <a:endParaRPr lang="en-US" b="1" dirty="0" smtClean="0">
              <a:solidFill>
                <a:schemeClr val="tx1"/>
              </a:solidFill>
            </a:endParaRPr>
          </a:p>
          <a:p>
            <a:pPr algn="just"/>
            <a:r>
              <a:rPr lang="en-US" dirty="0" smtClean="0">
                <a:solidFill>
                  <a:schemeClr val="tx1"/>
                </a:solidFill>
              </a:rPr>
              <a:t>They are somatic and non-inheritable. They are caused by the influence of the environment upon the somatic cells.</a:t>
            </a:r>
          </a:p>
          <a:p>
            <a:pPr algn="just"/>
            <a:r>
              <a:rPr lang="en-US" b="1" dirty="0" smtClean="0">
                <a:solidFill>
                  <a:schemeClr val="tx1"/>
                </a:solidFill>
              </a:rPr>
              <a:t>For example</a:t>
            </a:r>
          </a:p>
          <a:p>
            <a:pPr algn="just">
              <a:buFont typeface="Arial" pitchFamily="34" charset="0"/>
              <a:buChar char="•"/>
            </a:pPr>
            <a:r>
              <a:rPr lang="en-US" dirty="0" smtClean="0">
                <a:solidFill>
                  <a:schemeClr val="tx1"/>
                </a:solidFill>
              </a:rPr>
              <a:t>  Strong sunlight causes skin to darken in human</a:t>
            </a:r>
          </a:p>
          <a:p>
            <a:pPr algn="just">
              <a:buFont typeface="Arial" pitchFamily="34" charset="0"/>
              <a:buChar char="•"/>
            </a:pPr>
            <a:r>
              <a:rPr lang="en-US" dirty="0" smtClean="0">
                <a:solidFill>
                  <a:schemeClr val="tx1"/>
                </a:solidFill>
              </a:rPr>
              <a:t>  Honeybee larvae fed on royal jelly become fertile and others     that are not become sterile. The fertile larva becomes the queen and the others become workers.</a:t>
            </a:r>
          </a:p>
          <a:p>
            <a:pPr algn="just">
              <a:buFont typeface="Arial" pitchFamily="34" charset="0"/>
              <a:buChar char="•"/>
            </a:pPr>
            <a:r>
              <a:rPr lang="en-US" dirty="0" smtClean="0">
                <a:solidFill>
                  <a:schemeClr val="tx1"/>
                </a:solidFill>
              </a:rPr>
              <a:t>  Continuous exercise makes the muscles of a sportsmen strong and well developed.</a:t>
            </a:r>
          </a:p>
          <a:p>
            <a:pPr algn="just">
              <a:buFont typeface="Arial" pitchFamily="34" charset="0"/>
              <a:buChar char="•"/>
            </a:pPr>
            <a:r>
              <a:rPr lang="en-US" dirty="0" smtClean="0">
                <a:solidFill>
                  <a:schemeClr val="tx1"/>
                </a:solidFill>
              </a:rPr>
              <a:t>  Chinese women wear tight shoes in order to get small feet.</a:t>
            </a:r>
          </a:p>
          <a:p>
            <a:pPr algn="just"/>
            <a:endParaRPr lang="en-US" dirty="0" smtClean="0">
              <a:solidFill>
                <a:schemeClr val="tx1"/>
              </a:solidFill>
            </a:endParaRPr>
          </a:p>
          <a:p>
            <a:pPr algn="just"/>
            <a:r>
              <a:rPr lang="en-US" dirty="0" smtClean="0">
                <a:solidFill>
                  <a:schemeClr val="tx1"/>
                </a:solidFill>
              </a:rPr>
              <a:t>In all the above cases, the changes are not heritable and are caused due to changes in the environment.</a:t>
            </a:r>
          </a:p>
          <a:p>
            <a:pPr algn="just"/>
            <a:endParaRPr lang="en-US" dirty="0">
              <a:solidFill>
                <a:schemeClr val="tx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04801"/>
            <a:ext cx="8382000" cy="1142999"/>
          </a:xfrm>
        </p:spPr>
        <p:txBody>
          <a:bodyPr>
            <a:normAutofit fontScale="90000"/>
          </a:bodyPr>
          <a:lstStyle/>
          <a:p>
            <a:r>
              <a:rPr lang="en-US" b="1" dirty="0" err="1" smtClean="0"/>
              <a:t>Blastogenic</a:t>
            </a:r>
            <a:r>
              <a:rPr lang="en-US" b="1" dirty="0" smtClean="0"/>
              <a:t/>
            </a:r>
            <a:br>
              <a:rPr lang="en-US" b="1" dirty="0" smtClean="0"/>
            </a:br>
            <a:endParaRPr lang="en-US" dirty="0"/>
          </a:p>
        </p:txBody>
      </p:sp>
      <p:sp>
        <p:nvSpPr>
          <p:cNvPr id="3" name="Subtitle 2"/>
          <p:cNvSpPr>
            <a:spLocks noGrp="1"/>
          </p:cNvSpPr>
          <p:nvPr>
            <p:ph type="subTitle" idx="1"/>
          </p:nvPr>
        </p:nvSpPr>
        <p:spPr>
          <a:xfrm>
            <a:off x="381000" y="1219200"/>
            <a:ext cx="8458200" cy="5334000"/>
          </a:xfrm>
        </p:spPr>
        <p:txBody>
          <a:bodyPr/>
          <a:lstStyle/>
          <a:p>
            <a:pPr algn="just"/>
            <a:r>
              <a:rPr lang="en-US" dirty="0" smtClean="0">
                <a:solidFill>
                  <a:schemeClr val="tx1"/>
                </a:solidFill>
              </a:rPr>
              <a:t>There are changes that occur in the genes of the organism. These changes may be heritable. The changes may be due to assortment of genes during meiosis in sexual reproduction or due to some sudden change in the composition of genes or chromosome number. An example of change due to meiosis is the difference in height of a population. An example of change in the number of chromosomes is Down's syndrome where there is an extra 21</a:t>
            </a:r>
            <a:r>
              <a:rPr lang="en-US" baseline="30000" dirty="0" smtClean="0">
                <a:solidFill>
                  <a:schemeClr val="tx1"/>
                </a:solidFill>
              </a:rPr>
              <a:t>st</a:t>
            </a:r>
            <a:r>
              <a:rPr lang="en-US" dirty="0" smtClean="0">
                <a:solidFill>
                  <a:schemeClr val="tx1"/>
                </a:solidFill>
              </a:rPr>
              <a:t> chromosome.</a:t>
            </a:r>
            <a:endParaRPr lang="en-US" dirty="0">
              <a:solidFill>
                <a:schemeClr val="tx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1"/>
            <a:ext cx="8305800" cy="1295399"/>
          </a:xfrm>
        </p:spPr>
        <p:txBody>
          <a:bodyPr>
            <a:normAutofit/>
          </a:bodyPr>
          <a:lstStyle/>
          <a:p>
            <a:r>
              <a:rPr lang="en-US" b="1" dirty="0" err="1" smtClean="0"/>
              <a:t>Blastogenic</a:t>
            </a:r>
            <a:r>
              <a:rPr lang="en-US" b="1" dirty="0" smtClean="0"/>
              <a:t> Cont…</a:t>
            </a:r>
            <a:endParaRPr lang="en-US" dirty="0"/>
          </a:p>
        </p:txBody>
      </p:sp>
      <p:sp>
        <p:nvSpPr>
          <p:cNvPr id="3" name="Subtitle 2"/>
          <p:cNvSpPr>
            <a:spLocks noGrp="1"/>
          </p:cNvSpPr>
          <p:nvPr>
            <p:ph type="subTitle" idx="1"/>
          </p:nvPr>
        </p:nvSpPr>
        <p:spPr>
          <a:xfrm>
            <a:off x="304800" y="1371600"/>
            <a:ext cx="8534400" cy="5181600"/>
          </a:xfrm>
        </p:spPr>
        <p:txBody>
          <a:bodyPr/>
          <a:lstStyle/>
          <a:p>
            <a:pPr algn="just"/>
            <a:r>
              <a:rPr lang="en-US" dirty="0" smtClean="0">
                <a:solidFill>
                  <a:schemeClr val="tx1"/>
                </a:solidFill>
              </a:rPr>
              <a:t>The individual is mentally retarded, has moon face, thick lips and generally does not live to the reproductive age. An example of change in the gene structure is sickle-celled </a:t>
            </a:r>
            <a:r>
              <a:rPr lang="en-US" dirty="0" err="1" smtClean="0">
                <a:solidFill>
                  <a:schemeClr val="tx1"/>
                </a:solidFill>
              </a:rPr>
              <a:t>anaemia</a:t>
            </a:r>
            <a:r>
              <a:rPr lang="en-US" dirty="0" smtClean="0">
                <a:solidFill>
                  <a:schemeClr val="tx1"/>
                </a:solidFill>
              </a:rPr>
              <a:t>. In this, one of the genes undergoes a change in its composition. This results in the red blood cells being sickle shaped. It is a fatal disease. Variations may also be classified as </a:t>
            </a:r>
            <a:r>
              <a:rPr lang="en-US" b="1" dirty="0" smtClean="0">
                <a:solidFill>
                  <a:schemeClr val="tx1"/>
                </a:solidFill>
              </a:rPr>
              <a:t>continuous and discontinuous.</a:t>
            </a:r>
            <a:endParaRPr lang="en-US" dirty="0" smtClean="0">
              <a:solidFill>
                <a:schemeClr val="tx1"/>
              </a:solidFill>
            </a:endParaRP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04801"/>
            <a:ext cx="8305800" cy="1219199"/>
          </a:xfrm>
        </p:spPr>
        <p:txBody>
          <a:bodyPr>
            <a:normAutofit fontScale="90000"/>
          </a:bodyPr>
          <a:lstStyle/>
          <a:p>
            <a:r>
              <a:rPr lang="en-US" b="1" dirty="0" smtClean="0"/>
              <a:t>Continuous Variations</a:t>
            </a:r>
            <a:br>
              <a:rPr lang="en-US" b="1" dirty="0" smtClean="0"/>
            </a:br>
            <a:endParaRPr lang="en-US" dirty="0"/>
          </a:p>
        </p:txBody>
      </p:sp>
      <p:sp>
        <p:nvSpPr>
          <p:cNvPr id="3" name="Subtitle 2"/>
          <p:cNvSpPr>
            <a:spLocks noGrp="1"/>
          </p:cNvSpPr>
          <p:nvPr>
            <p:ph type="subTitle" idx="1"/>
          </p:nvPr>
        </p:nvSpPr>
        <p:spPr>
          <a:xfrm>
            <a:off x="457200" y="1752600"/>
            <a:ext cx="8305800" cy="4800600"/>
          </a:xfrm>
        </p:spPr>
        <p:txBody>
          <a:bodyPr/>
          <a:lstStyle/>
          <a:p>
            <a:pPr algn="just"/>
            <a:r>
              <a:rPr lang="en-US" dirty="0" smtClean="0">
                <a:solidFill>
                  <a:schemeClr val="tx1"/>
                </a:solidFill>
              </a:rPr>
              <a:t>Continuous variations are minute and non-hereditary. They may be due to influence of the environment or genetic. For example, variation in height of a human population, number of arms in a starfish, etc.</a:t>
            </a:r>
            <a:endParaRPr lang="en-US" dirty="0">
              <a:solidFill>
                <a:schemeClr val="tx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457201"/>
            <a:ext cx="8077200" cy="1066799"/>
          </a:xfrm>
        </p:spPr>
        <p:txBody>
          <a:bodyPr>
            <a:normAutofit fontScale="90000"/>
          </a:bodyPr>
          <a:lstStyle/>
          <a:p>
            <a:r>
              <a:rPr lang="en-US" b="1" dirty="0" smtClean="0"/>
              <a:t>Discontinuous Variations</a:t>
            </a:r>
            <a:br>
              <a:rPr lang="en-US" b="1" dirty="0" smtClean="0"/>
            </a:br>
            <a:endParaRPr lang="en-US" dirty="0"/>
          </a:p>
        </p:txBody>
      </p:sp>
      <p:sp>
        <p:nvSpPr>
          <p:cNvPr id="3" name="Subtitle 2"/>
          <p:cNvSpPr>
            <a:spLocks noGrp="1"/>
          </p:cNvSpPr>
          <p:nvPr>
            <p:ph type="subTitle" idx="1"/>
          </p:nvPr>
        </p:nvSpPr>
        <p:spPr>
          <a:xfrm>
            <a:off x="533400" y="1828800"/>
            <a:ext cx="8077200" cy="4724400"/>
          </a:xfrm>
        </p:spPr>
        <p:txBody>
          <a:bodyPr/>
          <a:lstStyle/>
          <a:p>
            <a:pPr algn="just"/>
            <a:r>
              <a:rPr lang="en-US" dirty="0" smtClean="0">
                <a:solidFill>
                  <a:schemeClr val="tx1"/>
                </a:solidFill>
              </a:rPr>
              <a:t>Discontinuous variations are large and prominent. They are due to mutations. For example, six digits in man, tailless kitten, hornless calf, etc.</a:t>
            </a:r>
            <a:endParaRPr lang="en-US" dirty="0">
              <a:solidFill>
                <a:schemeClr val="tx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04801"/>
            <a:ext cx="8153400" cy="990599"/>
          </a:xfrm>
        </p:spPr>
        <p:txBody>
          <a:bodyPr>
            <a:normAutofit fontScale="90000"/>
          </a:bodyPr>
          <a:lstStyle/>
          <a:p>
            <a:r>
              <a:rPr lang="en-US" b="1" dirty="0" smtClean="0"/>
              <a:t>Significance of Variations</a:t>
            </a:r>
            <a:br>
              <a:rPr lang="en-US" b="1" dirty="0" smtClean="0"/>
            </a:br>
            <a:endParaRPr lang="en-US" dirty="0"/>
          </a:p>
        </p:txBody>
      </p:sp>
      <p:sp>
        <p:nvSpPr>
          <p:cNvPr id="3" name="Subtitle 2"/>
          <p:cNvSpPr>
            <a:spLocks noGrp="1"/>
          </p:cNvSpPr>
          <p:nvPr>
            <p:ph type="subTitle" idx="1"/>
          </p:nvPr>
        </p:nvSpPr>
        <p:spPr>
          <a:xfrm>
            <a:off x="457200" y="1600200"/>
            <a:ext cx="8153400" cy="4953000"/>
          </a:xfrm>
        </p:spPr>
        <p:txBody>
          <a:bodyPr>
            <a:normAutofit lnSpcReduction="10000"/>
          </a:bodyPr>
          <a:lstStyle/>
          <a:p>
            <a:pPr algn="just"/>
            <a:r>
              <a:rPr lang="en-US" dirty="0" smtClean="0">
                <a:solidFill>
                  <a:schemeClr val="tx1"/>
                </a:solidFill>
              </a:rPr>
              <a:t>Variations provide the species a way to survive and adapt to the changing environmental conditions. Since there are variations, nature can choose the best suited individual and allow the species to multiply further. Thus, natural selection is possible only because of variation.</a:t>
            </a:r>
          </a:p>
          <a:p>
            <a:pPr algn="just"/>
            <a:endParaRPr lang="en-US" dirty="0" smtClean="0">
              <a:solidFill>
                <a:schemeClr val="tx1"/>
              </a:solidFill>
            </a:endParaRPr>
          </a:p>
          <a:p>
            <a:pPr algn="just"/>
            <a:r>
              <a:rPr lang="en-US" dirty="0" smtClean="0">
                <a:solidFill>
                  <a:schemeClr val="tx1"/>
                </a:solidFill>
              </a:rPr>
              <a:t>Man has also made use of variations. It is because of variations that he is able to improve the animals and plants that are useful to him.</a:t>
            </a:r>
          </a:p>
          <a:p>
            <a:pPr algn="just"/>
            <a:endParaRPr lang="en-US" dirty="0">
              <a:solidFill>
                <a:schemeClr val="tx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04801"/>
            <a:ext cx="8077200" cy="1066799"/>
          </a:xfrm>
        </p:spPr>
        <p:txBody>
          <a:bodyPr>
            <a:normAutofit fontScale="90000"/>
          </a:bodyPr>
          <a:lstStyle/>
          <a:p>
            <a:r>
              <a:rPr lang="en-US" b="1" dirty="0" smtClean="0"/>
              <a:t>Evolution</a:t>
            </a:r>
            <a:br>
              <a:rPr lang="en-US" b="1" dirty="0" smtClean="0"/>
            </a:br>
            <a:endParaRPr lang="en-US" dirty="0"/>
          </a:p>
        </p:txBody>
      </p:sp>
      <p:sp>
        <p:nvSpPr>
          <p:cNvPr id="3" name="Subtitle 2"/>
          <p:cNvSpPr>
            <a:spLocks noGrp="1"/>
          </p:cNvSpPr>
          <p:nvPr>
            <p:ph type="subTitle" idx="1"/>
          </p:nvPr>
        </p:nvSpPr>
        <p:spPr>
          <a:xfrm>
            <a:off x="533400" y="1676400"/>
            <a:ext cx="8229600" cy="4953000"/>
          </a:xfrm>
        </p:spPr>
        <p:txBody>
          <a:bodyPr>
            <a:normAutofit lnSpcReduction="10000"/>
          </a:bodyPr>
          <a:lstStyle/>
          <a:p>
            <a:pPr algn="just"/>
            <a:r>
              <a:rPr lang="en-US" dirty="0" smtClean="0">
                <a:solidFill>
                  <a:schemeClr val="tx1"/>
                </a:solidFill>
              </a:rPr>
              <a:t>Evolution may be defined as a gradual development of more complex species from pre-existing simpler forms. It is an extremely slow process and has occurred over millions of years. Evolution that has occurred is clear because of the evidences of fossils, etc. However, the mechanism of evolution has not satisfactorily been explained.</a:t>
            </a:r>
          </a:p>
          <a:p>
            <a:pPr algn="just"/>
            <a:r>
              <a:rPr lang="en-US" dirty="0" smtClean="0">
                <a:solidFill>
                  <a:schemeClr val="tx1"/>
                </a:solidFill>
              </a:rPr>
              <a:t>This problem has been fascinating scientists and </a:t>
            </a:r>
            <a:r>
              <a:rPr lang="en-US" dirty="0" err="1" smtClean="0">
                <a:solidFill>
                  <a:schemeClr val="tx1"/>
                </a:solidFill>
              </a:rPr>
              <a:t>philosophists</a:t>
            </a:r>
            <a:r>
              <a:rPr lang="en-US" dirty="0" smtClean="0">
                <a:solidFill>
                  <a:schemeClr val="tx1"/>
                </a:solidFill>
              </a:rPr>
              <a:t> since the early times.</a:t>
            </a:r>
          </a:p>
          <a:p>
            <a:pPr algn="just"/>
            <a:endParaRPr lang="en-US" dirty="0">
              <a:solidFill>
                <a:schemeClr val="tx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1"/>
            <a:ext cx="7772400" cy="1143000"/>
          </a:xfrm>
        </p:spPr>
        <p:txBody>
          <a:bodyPr>
            <a:normAutofit fontScale="90000"/>
          </a:bodyPr>
          <a:lstStyle/>
          <a:p>
            <a:r>
              <a:rPr lang="en-US" b="1" dirty="0" smtClean="0"/>
              <a:t>Theories of Evolution</a:t>
            </a:r>
            <a:br>
              <a:rPr lang="en-US" b="1" dirty="0" smtClean="0"/>
            </a:br>
            <a:endParaRPr lang="en-US" dirty="0"/>
          </a:p>
        </p:txBody>
      </p:sp>
      <p:sp>
        <p:nvSpPr>
          <p:cNvPr id="3" name="Subtitle 2"/>
          <p:cNvSpPr>
            <a:spLocks noGrp="1"/>
          </p:cNvSpPr>
          <p:nvPr>
            <p:ph type="subTitle" idx="1"/>
          </p:nvPr>
        </p:nvSpPr>
        <p:spPr>
          <a:xfrm>
            <a:off x="685800" y="1295400"/>
            <a:ext cx="7772400" cy="5334000"/>
          </a:xfrm>
        </p:spPr>
        <p:txBody>
          <a:bodyPr/>
          <a:lstStyle/>
          <a:p>
            <a:pPr algn="just"/>
            <a:r>
              <a:rPr lang="en-US" dirty="0" smtClean="0">
                <a:solidFill>
                  <a:schemeClr val="tx1"/>
                </a:solidFill>
              </a:rPr>
              <a:t>Some of the formal theories on evolution are: </a:t>
            </a:r>
            <a:br>
              <a:rPr lang="en-US" dirty="0" smtClean="0">
                <a:solidFill>
                  <a:schemeClr val="tx1"/>
                </a:solidFill>
              </a:rPr>
            </a:br>
            <a:endParaRPr lang="en-US" dirty="0" smtClean="0">
              <a:solidFill>
                <a:schemeClr val="tx1"/>
              </a:solidFill>
            </a:endParaRPr>
          </a:p>
          <a:p>
            <a:pPr marL="514350" indent="-514350" algn="just">
              <a:buFont typeface="+mj-lt"/>
              <a:buAutoNum type="arabicPeriod"/>
            </a:pPr>
            <a:r>
              <a:rPr lang="en-US" dirty="0" smtClean="0">
                <a:solidFill>
                  <a:schemeClr val="tx1"/>
                </a:solidFill>
              </a:rPr>
              <a:t>Lamarckism</a:t>
            </a:r>
          </a:p>
          <a:p>
            <a:pPr marL="514350" indent="-514350" algn="just">
              <a:buFont typeface="+mj-lt"/>
              <a:buAutoNum type="arabicPeriod"/>
            </a:pPr>
            <a:r>
              <a:rPr lang="en-US" dirty="0" smtClean="0">
                <a:solidFill>
                  <a:schemeClr val="tx1"/>
                </a:solidFill>
              </a:rPr>
              <a:t>Use and Disuse of Parts</a:t>
            </a:r>
          </a:p>
          <a:p>
            <a:pPr marL="514350" indent="-514350" algn="just">
              <a:buFont typeface="+mj-lt"/>
              <a:buAutoNum type="arabicPeriod"/>
            </a:pPr>
            <a:r>
              <a:rPr lang="en-US" dirty="0" smtClean="0">
                <a:solidFill>
                  <a:schemeClr val="tx1"/>
                </a:solidFill>
              </a:rPr>
              <a:t>Inheritance of Acquired Characters</a:t>
            </a:r>
          </a:p>
          <a:p>
            <a:pPr marL="514350" indent="-514350" algn="just">
              <a:buFont typeface="+mj-lt"/>
              <a:buAutoNum type="arabicPeriod"/>
            </a:pPr>
            <a:r>
              <a:rPr lang="en-US" dirty="0" smtClean="0">
                <a:solidFill>
                  <a:schemeClr val="tx1"/>
                </a:solidFill>
              </a:rPr>
              <a:t>Theory of Continuity of </a:t>
            </a:r>
            <a:r>
              <a:rPr lang="en-US" dirty="0" err="1" smtClean="0">
                <a:solidFill>
                  <a:schemeClr val="tx1"/>
                </a:solidFill>
              </a:rPr>
              <a:t>Germplasm</a:t>
            </a:r>
            <a:endParaRPr lang="en-US" dirty="0" smtClean="0">
              <a:solidFill>
                <a:schemeClr val="tx1"/>
              </a:solidFill>
            </a:endParaRPr>
          </a:p>
          <a:p>
            <a:pPr marL="514350" indent="-514350" algn="just">
              <a:buFont typeface="+mj-lt"/>
              <a:buAutoNum type="arabicPeriod"/>
            </a:pPr>
            <a:r>
              <a:rPr lang="en-US" dirty="0" smtClean="0">
                <a:solidFill>
                  <a:schemeClr val="tx1"/>
                </a:solidFill>
              </a:rPr>
              <a:t>Darwinism</a:t>
            </a:r>
          </a:p>
          <a:p>
            <a:pPr marL="514350" indent="-514350" algn="just">
              <a:buFont typeface="+mj-lt"/>
              <a:buAutoNum type="arabicPeriod"/>
            </a:pPr>
            <a:r>
              <a:rPr lang="en-US" dirty="0" smtClean="0">
                <a:solidFill>
                  <a:schemeClr val="tx1"/>
                </a:solidFill>
              </a:rPr>
              <a:t>Neo-Darwinism</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1"/>
            <a:ext cx="7772400" cy="838200"/>
          </a:xfrm>
        </p:spPr>
        <p:txBody>
          <a:bodyPr>
            <a:normAutofit/>
          </a:bodyPr>
          <a:lstStyle/>
          <a:p>
            <a:r>
              <a:rPr lang="en-US" b="1" dirty="0" smtClean="0"/>
              <a:t>Lamarckism</a:t>
            </a:r>
            <a:endParaRPr lang="en-US" dirty="0"/>
          </a:p>
        </p:txBody>
      </p:sp>
      <p:sp>
        <p:nvSpPr>
          <p:cNvPr id="3" name="Subtitle 2"/>
          <p:cNvSpPr>
            <a:spLocks noGrp="1"/>
          </p:cNvSpPr>
          <p:nvPr>
            <p:ph type="subTitle" idx="1"/>
          </p:nvPr>
        </p:nvSpPr>
        <p:spPr>
          <a:xfrm>
            <a:off x="685800" y="1143000"/>
            <a:ext cx="7772400" cy="5486400"/>
          </a:xfrm>
        </p:spPr>
        <p:txBody>
          <a:bodyPr/>
          <a:lstStyle/>
          <a:p>
            <a:pPr algn="just"/>
            <a:r>
              <a:rPr lang="en-US" dirty="0" smtClean="0">
                <a:solidFill>
                  <a:schemeClr val="tx1"/>
                </a:solidFill>
              </a:rPr>
              <a:t>The theory of evolution as put forth by French biologist Lamarck has come to be known as Lamarckism. This theory has two salient features:</a:t>
            </a:r>
            <a:endParaRPr lang="en-US" dirty="0">
              <a:solidFill>
                <a:schemeClr val="tx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1"/>
            <a:ext cx="7772400" cy="990600"/>
          </a:xfrm>
        </p:spPr>
        <p:txBody>
          <a:bodyPr>
            <a:normAutofit/>
          </a:bodyPr>
          <a:lstStyle/>
          <a:p>
            <a:r>
              <a:rPr lang="en-US" b="1" dirty="0" smtClean="0"/>
              <a:t>Use and Disuse of Parts</a:t>
            </a:r>
            <a:endParaRPr lang="en-US" dirty="0"/>
          </a:p>
        </p:txBody>
      </p:sp>
      <p:sp>
        <p:nvSpPr>
          <p:cNvPr id="3" name="Subtitle 2"/>
          <p:cNvSpPr>
            <a:spLocks noGrp="1"/>
          </p:cNvSpPr>
          <p:nvPr>
            <p:ph type="subTitle" idx="1"/>
          </p:nvPr>
        </p:nvSpPr>
        <p:spPr>
          <a:xfrm>
            <a:off x="609600" y="1219200"/>
            <a:ext cx="7924800" cy="5334000"/>
          </a:xfrm>
        </p:spPr>
        <p:txBody>
          <a:bodyPr>
            <a:normAutofit fontScale="92500" lnSpcReduction="20000"/>
          </a:bodyPr>
          <a:lstStyle/>
          <a:p>
            <a:pPr algn="just"/>
            <a:r>
              <a:rPr lang="en-US" dirty="0" smtClean="0">
                <a:solidFill>
                  <a:schemeClr val="tx1"/>
                </a:solidFill>
              </a:rPr>
              <a:t>According to Lamarck, continuous use of a part results in it being well-developed and disuse of a part over a long period of time will result in its degeneration. For example, giraffes were forced to extend their necks and stretch their legs to reach higher vegetation over a period of time. This resulted in every generation having a little longer neck and legs than the previous one. Webbed feet in aquatic birds are thought to have developed due to constant spreading of toes and the stretching of the skin between. Flatfish also are thought to have developed their shape due to lying on their sides in shallow water.</a:t>
            </a:r>
            <a:endParaRPr lang="en-US" dirty="0">
              <a:solidFill>
                <a:schemeClr val="tx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28600"/>
            <a:ext cx="7772400" cy="1470025"/>
          </a:xfrm>
        </p:spPr>
        <p:txBody>
          <a:bodyPr>
            <a:normAutofit/>
          </a:bodyPr>
          <a:lstStyle/>
          <a:p>
            <a:r>
              <a:rPr lang="en-US" sz="4000" b="1" dirty="0" smtClean="0"/>
              <a:t>Inheritance of Acquired Characters</a:t>
            </a:r>
            <a:endParaRPr lang="en-US" sz="4000" dirty="0"/>
          </a:p>
        </p:txBody>
      </p:sp>
      <p:sp>
        <p:nvSpPr>
          <p:cNvPr id="3" name="Subtitle 2"/>
          <p:cNvSpPr>
            <a:spLocks noGrp="1"/>
          </p:cNvSpPr>
          <p:nvPr>
            <p:ph type="subTitle" idx="1"/>
          </p:nvPr>
        </p:nvSpPr>
        <p:spPr>
          <a:xfrm>
            <a:off x="533400" y="1905000"/>
            <a:ext cx="8153400" cy="4648200"/>
          </a:xfrm>
        </p:spPr>
        <p:txBody>
          <a:bodyPr>
            <a:normAutofit fontScale="85000" lnSpcReduction="10000"/>
          </a:bodyPr>
          <a:lstStyle/>
          <a:p>
            <a:pPr algn="just"/>
            <a:r>
              <a:rPr lang="en-US" dirty="0" smtClean="0">
                <a:solidFill>
                  <a:schemeClr val="tx1"/>
                </a:solidFill>
              </a:rPr>
              <a:t>According to Lamarck, the characters that an organism acquired due to a change in their environment such as long neck, webbed feet, flat bodies, etc. were passed on to the next generation. In this way, evolution from simpler to complex forms took place.</a:t>
            </a:r>
          </a:p>
          <a:p>
            <a:pPr algn="just"/>
            <a:r>
              <a:rPr lang="en-US" dirty="0" smtClean="0">
                <a:solidFill>
                  <a:schemeClr val="tx1"/>
                </a:solidFill>
              </a:rPr>
              <a:t>However, this theory was not widely accepted as it is known that acquired characters are only phenotypic changes and not genotypic. Thus, while the cases of giraffe, aquatic birds and flatfish do show that evolution has occurred, Lamarckism does not provide a satisfactory answer to the mystery of evolution.</a:t>
            </a:r>
            <a:endParaRPr lang="en-US" dirty="0">
              <a:solidFill>
                <a:schemeClr val="tx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28601"/>
            <a:ext cx="7772400" cy="1066800"/>
          </a:xfrm>
        </p:spPr>
        <p:txBody>
          <a:bodyPr>
            <a:normAutofit/>
          </a:bodyPr>
          <a:lstStyle/>
          <a:p>
            <a:r>
              <a:rPr lang="en-US" sz="4000" b="1" dirty="0" smtClean="0"/>
              <a:t>Theory of Continuity of </a:t>
            </a:r>
            <a:r>
              <a:rPr lang="en-US" sz="4000" b="1" dirty="0" err="1" smtClean="0"/>
              <a:t>Germplasm</a:t>
            </a:r>
            <a:endParaRPr lang="en-US" sz="4000" dirty="0"/>
          </a:p>
        </p:txBody>
      </p:sp>
      <p:sp>
        <p:nvSpPr>
          <p:cNvPr id="3" name="Subtitle 2"/>
          <p:cNvSpPr>
            <a:spLocks noGrp="1"/>
          </p:cNvSpPr>
          <p:nvPr>
            <p:ph type="subTitle" idx="1"/>
          </p:nvPr>
        </p:nvSpPr>
        <p:spPr>
          <a:xfrm>
            <a:off x="228600" y="1371600"/>
            <a:ext cx="8534400" cy="5257800"/>
          </a:xfrm>
        </p:spPr>
        <p:txBody>
          <a:bodyPr>
            <a:normAutofit fontScale="92500" lnSpcReduction="20000"/>
          </a:bodyPr>
          <a:lstStyle/>
          <a:p>
            <a:pPr algn="just"/>
            <a:r>
              <a:rPr lang="en-US" dirty="0" smtClean="0">
                <a:solidFill>
                  <a:schemeClr val="tx1"/>
                </a:solidFill>
              </a:rPr>
              <a:t>This was proposed by Weismann who did not agree with Lamarck's theory of inheritance of acquired characters. To prove his point, he cut off the tails of many successive generations of mice. This resulted in forced disuse of the tail. According to the theory of use and disuse, the tails should have become progressively shorter. However, this did not happen.</a:t>
            </a:r>
          </a:p>
          <a:p>
            <a:pPr algn="just"/>
            <a:r>
              <a:rPr lang="en-US" dirty="0" smtClean="0">
                <a:solidFill>
                  <a:schemeClr val="tx1"/>
                </a:solidFill>
              </a:rPr>
              <a:t>According to Weismann, the changes affected only the somatic (vegetative) cells and did not affect the germ cells or the gametes. Only the changes that affect the germ cells and the </a:t>
            </a:r>
            <a:r>
              <a:rPr lang="en-US" dirty="0" err="1" smtClean="0">
                <a:solidFill>
                  <a:schemeClr val="tx1"/>
                </a:solidFill>
              </a:rPr>
              <a:t>germplasm</a:t>
            </a:r>
            <a:r>
              <a:rPr lang="en-US" dirty="0" smtClean="0">
                <a:solidFill>
                  <a:schemeClr val="tx1"/>
                </a:solidFill>
              </a:rPr>
              <a:t> (the collection of genes) will be inherited by successive generations.</a:t>
            </a:r>
            <a:endParaRPr lang="en-US" dirty="0">
              <a:solidFill>
                <a:schemeClr val="tx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28600"/>
            <a:ext cx="7772400" cy="1470025"/>
          </a:xfrm>
        </p:spPr>
        <p:txBody>
          <a:bodyPr/>
          <a:lstStyle/>
          <a:p>
            <a:r>
              <a:rPr lang="en-US" b="1" dirty="0" smtClean="0"/>
              <a:t>Darwinism</a:t>
            </a:r>
            <a:endParaRPr lang="en-US" dirty="0"/>
          </a:p>
        </p:txBody>
      </p:sp>
      <p:sp>
        <p:nvSpPr>
          <p:cNvPr id="3" name="Subtitle 2"/>
          <p:cNvSpPr>
            <a:spLocks noGrp="1"/>
          </p:cNvSpPr>
          <p:nvPr>
            <p:ph type="subTitle" idx="1"/>
          </p:nvPr>
        </p:nvSpPr>
        <p:spPr>
          <a:xfrm>
            <a:off x="228600" y="1905000"/>
            <a:ext cx="8686800" cy="4724400"/>
          </a:xfrm>
        </p:spPr>
        <p:txBody>
          <a:bodyPr/>
          <a:lstStyle/>
          <a:p>
            <a:pPr algn="just"/>
            <a:r>
              <a:rPr lang="en-US" dirty="0" smtClean="0">
                <a:solidFill>
                  <a:schemeClr val="tx1"/>
                </a:solidFill>
              </a:rPr>
              <a:t>The theory of natural selection was put forth by Charles Darwin in his book 'On the Origin of Species by Means of Natural Selection', co-authored by Alfred </a:t>
            </a:r>
            <a:r>
              <a:rPr lang="en-US" dirty="0" err="1" smtClean="0">
                <a:solidFill>
                  <a:schemeClr val="tx1"/>
                </a:solidFill>
              </a:rPr>
              <a:t>Russel</a:t>
            </a:r>
            <a:r>
              <a:rPr lang="en-US" dirty="0" smtClean="0">
                <a:solidFill>
                  <a:schemeClr val="tx1"/>
                </a:solidFill>
              </a:rPr>
              <a:t> Wallace. According to Darwin, nature has its own ways of selecting the best from the available species for continuation of life. The mechanism of natural selection works as follows:</a:t>
            </a:r>
            <a:endParaRPr lang="en-US" dirty="0">
              <a:solidFill>
                <a:schemeClr val="tx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flipH="1">
            <a:off x="-3962400" y="838200"/>
            <a:ext cx="3429000" cy="228599"/>
          </a:xfrm>
        </p:spPr>
        <p:txBody>
          <a:bodyPr>
            <a:normAutofit fontScale="90000"/>
          </a:bodyPr>
          <a:lstStyle/>
          <a:p>
            <a:endParaRPr lang="en-US" dirty="0"/>
          </a:p>
        </p:txBody>
      </p:sp>
      <p:sp>
        <p:nvSpPr>
          <p:cNvPr id="3" name="Subtitle 2"/>
          <p:cNvSpPr>
            <a:spLocks noGrp="1"/>
          </p:cNvSpPr>
          <p:nvPr>
            <p:ph type="subTitle" idx="1"/>
          </p:nvPr>
        </p:nvSpPr>
        <p:spPr>
          <a:xfrm>
            <a:off x="533400" y="609600"/>
            <a:ext cx="8229600" cy="5943600"/>
          </a:xfrm>
        </p:spPr>
        <p:txBody>
          <a:bodyPr/>
          <a:lstStyle/>
          <a:p>
            <a:pPr algn="just">
              <a:buFont typeface="Arial" pitchFamily="34" charset="0"/>
              <a:buChar char="•"/>
            </a:pPr>
            <a:r>
              <a:rPr lang="en-US" dirty="0" smtClean="0">
                <a:solidFill>
                  <a:schemeClr val="tx1"/>
                </a:solidFill>
              </a:rPr>
              <a:t>Individuals of a species produce more offspring than necessary to replace themselves.</a:t>
            </a:r>
          </a:p>
          <a:p>
            <a:pPr algn="just">
              <a:buFont typeface="Arial" pitchFamily="34" charset="0"/>
              <a:buChar char="•"/>
            </a:pPr>
            <a:r>
              <a:rPr lang="en-US" dirty="0" smtClean="0">
                <a:solidFill>
                  <a:schemeClr val="tx1"/>
                </a:solidFill>
              </a:rPr>
              <a:t>This results in competition and struggle for existence among the individuals. Within the species itself there is variation that results in minor differences between the individuals.</a:t>
            </a:r>
          </a:p>
          <a:p>
            <a:pPr algn="just">
              <a:buFont typeface="Arial" pitchFamily="34" charset="0"/>
              <a:buChar char="•"/>
            </a:pPr>
            <a:r>
              <a:rPr lang="en-US" dirty="0" smtClean="0">
                <a:solidFill>
                  <a:schemeClr val="tx1"/>
                </a:solidFill>
              </a:rPr>
              <a:t>Thus in the struggle for existence only the ones with the variations best adapted to their environment survive.</a:t>
            </a:r>
          </a:p>
          <a:p>
            <a:pPr algn="just">
              <a:buFont typeface="Arial" pitchFamily="34" charset="0"/>
              <a:buChar char="•"/>
            </a:pPr>
            <a:r>
              <a:rPr lang="en-US" dirty="0" smtClean="0">
                <a:solidFill>
                  <a:schemeClr val="tx1"/>
                </a:solidFill>
              </a:rPr>
              <a:t>In this manner nature ensures survival of the fittest.</a:t>
            </a:r>
          </a:p>
          <a:p>
            <a:pPr algn="just">
              <a:buFont typeface="Arial" pitchFamily="34" charset="0"/>
              <a:buChar char="•"/>
            </a:pPr>
            <a:endParaRPr lang="en-US" dirty="0">
              <a:solidFill>
                <a:schemeClr val="tx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28601"/>
            <a:ext cx="7696200" cy="761999"/>
          </a:xfrm>
        </p:spPr>
        <p:txBody>
          <a:bodyPr>
            <a:normAutofit fontScale="90000"/>
          </a:bodyPr>
          <a:lstStyle/>
          <a:p>
            <a:r>
              <a:rPr lang="en-US" b="1" dirty="0" smtClean="0"/>
              <a:t>Neo-Darwinism</a:t>
            </a:r>
            <a:endParaRPr lang="en-US" dirty="0"/>
          </a:p>
        </p:txBody>
      </p:sp>
      <p:sp>
        <p:nvSpPr>
          <p:cNvPr id="3" name="Subtitle 2"/>
          <p:cNvSpPr>
            <a:spLocks noGrp="1"/>
          </p:cNvSpPr>
          <p:nvPr>
            <p:ph type="subTitle" idx="1"/>
          </p:nvPr>
        </p:nvSpPr>
        <p:spPr>
          <a:xfrm>
            <a:off x="304800" y="1295400"/>
            <a:ext cx="8610600" cy="5257800"/>
          </a:xfrm>
        </p:spPr>
        <p:txBody>
          <a:bodyPr/>
          <a:lstStyle/>
          <a:p>
            <a:pPr algn="just"/>
            <a:r>
              <a:rPr lang="en-US" dirty="0" smtClean="0">
                <a:solidFill>
                  <a:schemeClr val="tx1"/>
                </a:solidFill>
              </a:rPr>
              <a:t>The theory put forth by Darwin and Wallace gained wide acceptance. However, in the light of modern evidences, it was slightly modified and called the neo-Darwinism. In neo-Darwinism, organic evolution is by natural selection of inherited characters. It </a:t>
            </a:r>
            <a:r>
              <a:rPr lang="en-US" dirty="0" err="1" smtClean="0">
                <a:solidFill>
                  <a:schemeClr val="tx1"/>
                </a:solidFill>
              </a:rPr>
              <a:t>utilises</a:t>
            </a:r>
            <a:r>
              <a:rPr lang="en-US" dirty="0" smtClean="0">
                <a:solidFill>
                  <a:schemeClr val="tx1"/>
                </a:solidFill>
              </a:rPr>
              <a:t> evidences from various fields such as genetics, </a:t>
            </a:r>
            <a:r>
              <a:rPr lang="en-US" dirty="0" err="1" smtClean="0">
                <a:solidFill>
                  <a:schemeClr val="tx1"/>
                </a:solidFill>
              </a:rPr>
              <a:t>palaeontology</a:t>
            </a:r>
            <a:r>
              <a:rPr lang="en-US" dirty="0" smtClean="0">
                <a:solidFill>
                  <a:schemeClr val="tx1"/>
                </a:solidFill>
              </a:rPr>
              <a:t>, molecular biology, ecology and </a:t>
            </a:r>
            <a:r>
              <a:rPr lang="en-US" dirty="0" err="1" smtClean="0">
                <a:solidFill>
                  <a:schemeClr val="tx1"/>
                </a:solidFill>
              </a:rPr>
              <a:t>ethology</a:t>
            </a:r>
            <a:r>
              <a:rPr lang="en-US" dirty="0" smtClean="0">
                <a:solidFill>
                  <a:schemeClr val="tx1"/>
                </a:solidFill>
              </a:rPr>
              <a:t> (study of </a:t>
            </a:r>
            <a:r>
              <a:rPr lang="en-US" dirty="0" err="1" smtClean="0">
                <a:solidFill>
                  <a:schemeClr val="tx1"/>
                </a:solidFill>
              </a:rPr>
              <a:t>behaviour</a:t>
            </a:r>
            <a:r>
              <a:rPr lang="en-US" dirty="0" smtClean="0">
                <a:solidFill>
                  <a:schemeClr val="tx1"/>
                </a:solidFill>
              </a:rPr>
              <a:t>).</a:t>
            </a:r>
            <a:endParaRPr lang="en-US" dirty="0">
              <a:solidFill>
                <a:schemeClr val="tx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1"/>
            <a:ext cx="7772400" cy="761999"/>
          </a:xfrm>
        </p:spPr>
        <p:txBody>
          <a:bodyPr>
            <a:normAutofit fontScale="90000"/>
          </a:bodyPr>
          <a:lstStyle/>
          <a:p>
            <a:r>
              <a:rPr lang="en-US" b="1" dirty="0" smtClean="0"/>
              <a:t>Evidences of Evolution</a:t>
            </a:r>
            <a:endParaRPr lang="en-US" dirty="0"/>
          </a:p>
        </p:txBody>
      </p:sp>
      <p:sp>
        <p:nvSpPr>
          <p:cNvPr id="3" name="Subtitle 2"/>
          <p:cNvSpPr>
            <a:spLocks noGrp="1"/>
          </p:cNvSpPr>
          <p:nvPr>
            <p:ph type="subTitle" idx="1"/>
          </p:nvPr>
        </p:nvSpPr>
        <p:spPr>
          <a:xfrm>
            <a:off x="381000" y="1371600"/>
            <a:ext cx="8458200" cy="5181600"/>
          </a:xfrm>
        </p:spPr>
        <p:txBody>
          <a:bodyPr/>
          <a:lstStyle/>
          <a:p>
            <a:pPr algn="just"/>
            <a:r>
              <a:rPr lang="en-US" dirty="0" err="1" smtClean="0">
                <a:solidFill>
                  <a:schemeClr val="tx1"/>
                </a:solidFill>
              </a:rPr>
              <a:t>Inspite</a:t>
            </a:r>
            <a:r>
              <a:rPr lang="en-US" dirty="0" smtClean="0">
                <a:solidFill>
                  <a:schemeClr val="tx1"/>
                </a:solidFill>
              </a:rPr>
              <a:t> of many evidences, studies and theories, we are still not aware of how the evolution actually occurs. The search for this knowledge continues. The various sources from which evidences are available for studying the mechanism of evolution are:</a:t>
            </a:r>
          </a:p>
          <a:p>
            <a:pPr algn="just">
              <a:buFont typeface="Arial" pitchFamily="34" charset="0"/>
              <a:buChar char="•"/>
            </a:pPr>
            <a:r>
              <a:rPr lang="en-US" dirty="0" err="1" smtClean="0">
                <a:solidFill>
                  <a:schemeClr val="tx1"/>
                </a:solidFill>
              </a:rPr>
              <a:t>Palaeontology</a:t>
            </a:r>
            <a:endParaRPr lang="en-US" dirty="0" smtClean="0">
              <a:solidFill>
                <a:schemeClr val="tx1"/>
              </a:solidFill>
            </a:endParaRPr>
          </a:p>
          <a:p>
            <a:pPr algn="just">
              <a:buFont typeface="Arial" pitchFamily="34" charset="0"/>
              <a:buChar char="•"/>
            </a:pPr>
            <a:r>
              <a:rPr lang="en-US" dirty="0" smtClean="0">
                <a:solidFill>
                  <a:schemeClr val="tx1"/>
                </a:solidFill>
              </a:rPr>
              <a:t>Geological Distribution</a:t>
            </a:r>
          </a:p>
          <a:p>
            <a:pPr algn="just">
              <a:buFont typeface="Arial" pitchFamily="34" charset="0"/>
              <a:buChar char="•"/>
            </a:pPr>
            <a:r>
              <a:rPr lang="en-US" dirty="0" smtClean="0">
                <a:solidFill>
                  <a:schemeClr val="tx1"/>
                </a:solidFill>
              </a:rPr>
              <a:t>Comparative Embryology</a:t>
            </a:r>
          </a:p>
          <a:p>
            <a:pPr algn="just"/>
            <a:endParaRPr lang="en-US" dirty="0">
              <a:solidFill>
                <a:schemeClr val="tx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1"/>
            <a:ext cx="7772400" cy="838200"/>
          </a:xfrm>
        </p:spPr>
        <p:txBody>
          <a:bodyPr/>
          <a:lstStyle/>
          <a:p>
            <a:r>
              <a:rPr lang="en-US" b="1" dirty="0" err="1" smtClean="0"/>
              <a:t>Palaeontology</a:t>
            </a:r>
            <a:endParaRPr lang="en-US" dirty="0"/>
          </a:p>
        </p:txBody>
      </p:sp>
      <p:sp>
        <p:nvSpPr>
          <p:cNvPr id="3" name="Subtitle 2"/>
          <p:cNvSpPr>
            <a:spLocks noGrp="1"/>
          </p:cNvSpPr>
          <p:nvPr>
            <p:ph type="subTitle" idx="1"/>
          </p:nvPr>
        </p:nvSpPr>
        <p:spPr>
          <a:xfrm>
            <a:off x="304800" y="1143000"/>
            <a:ext cx="8610600" cy="5410200"/>
          </a:xfrm>
        </p:spPr>
        <p:txBody>
          <a:bodyPr>
            <a:normAutofit lnSpcReduction="10000"/>
          </a:bodyPr>
          <a:lstStyle/>
          <a:p>
            <a:pPr algn="just"/>
            <a:r>
              <a:rPr lang="en-US" dirty="0" smtClean="0">
                <a:solidFill>
                  <a:schemeClr val="tx1"/>
                </a:solidFill>
              </a:rPr>
              <a:t>Study of fossils is called </a:t>
            </a:r>
            <a:r>
              <a:rPr lang="en-US" dirty="0" err="1" smtClean="0">
                <a:solidFill>
                  <a:schemeClr val="tx1"/>
                </a:solidFill>
              </a:rPr>
              <a:t>palaenotolgy</a:t>
            </a:r>
            <a:r>
              <a:rPr lang="en-US" dirty="0" smtClean="0">
                <a:solidFill>
                  <a:schemeClr val="tx1"/>
                </a:solidFill>
              </a:rPr>
              <a:t>. Fossils are defined as preserved remains of a living organism that existed on earth a long time ago. Fossils are formed by the preservation of the remains of the organisms that existed in the earlier days. The dead bodies of the organisms are immediately covered by materials which do not allow decomposition at a fast rate. This preserves the dead bodies which form fossils. For example, we know of the existence of dinosaurs only through fossils.</a:t>
            </a:r>
            <a:endParaRPr lang="en-US" dirty="0">
              <a:solidFill>
                <a:schemeClr val="tx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990599"/>
          </a:xfrm>
        </p:spPr>
        <p:txBody>
          <a:bodyPr/>
          <a:lstStyle/>
          <a:p>
            <a:r>
              <a:rPr lang="en-US" b="1" dirty="0" err="1" smtClean="0"/>
              <a:t>Palaeontology</a:t>
            </a:r>
            <a:r>
              <a:rPr lang="en-US" b="1" dirty="0" smtClean="0"/>
              <a:t> Cont…</a:t>
            </a:r>
            <a:endParaRPr lang="en-US" dirty="0"/>
          </a:p>
        </p:txBody>
      </p:sp>
      <p:sp>
        <p:nvSpPr>
          <p:cNvPr id="3" name="Subtitle 2"/>
          <p:cNvSpPr>
            <a:spLocks noGrp="1"/>
          </p:cNvSpPr>
          <p:nvPr>
            <p:ph type="subTitle" idx="1"/>
          </p:nvPr>
        </p:nvSpPr>
        <p:spPr>
          <a:xfrm>
            <a:off x="304800" y="1447800"/>
            <a:ext cx="8534400" cy="5105400"/>
          </a:xfrm>
        </p:spPr>
        <p:txBody>
          <a:bodyPr>
            <a:normAutofit/>
          </a:bodyPr>
          <a:lstStyle/>
          <a:p>
            <a:pPr algn="just"/>
            <a:r>
              <a:rPr lang="en-US" sz="4000" dirty="0" smtClean="0">
                <a:solidFill>
                  <a:schemeClr val="tx1"/>
                </a:solidFill>
              </a:rPr>
              <a:t>In addition to knowledge about the extinct forms, fossils also provide links between two groups indicating that perhaps one species evolved from the other. For example, a fossil called archaeopteryx show features of both reptiles (teeth) and birds (wings).</a:t>
            </a:r>
          </a:p>
          <a:p>
            <a:pPr algn="just"/>
            <a:endParaRPr lang="en-US" sz="2400" dirty="0">
              <a:solidFill>
                <a:schemeClr val="tx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81400" y="-152400"/>
            <a:ext cx="228600" cy="152400"/>
          </a:xfrm>
        </p:spPr>
        <p:txBody>
          <a:bodyPr>
            <a:normAutofit fontScale="90000"/>
          </a:bodyPr>
          <a:lstStyle/>
          <a:p>
            <a:r>
              <a:rPr lang="en-US" dirty="0" smtClean="0"/>
              <a:t>.</a:t>
            </a:r>
            <a:endParaRPr lang="en-US" dirty="0"/>
          </a:p>
        </p:txBody>
      </p:sp>
      <p:sp>
        <p:nvSpPr>
          <p:cNvPr id="3" name="Subtitle 2"/>
          <p:cNvSpPr>
            <a:spLocks noGrp="1"/>
          </p:cNvSpPr>
          <p:nvPr>
            <p:ph type="subTitle" idx="1"/>
          </p:nvPr>
        </p:nvSpPr>
        <p:spPr>
          <a:xfrm>
            <a:off x="304800" y="1676400"/>
            <a:ext cx="8534400" cy="4724400"/>
          </a:xfrm>
        </p:spPr>
        <p:txBody>
          <a:bodyPr/>
          <a:lstStyle/>
          <a:p>
            <a:endParaRPr lang="en-US" dirty="0" smtClean="0"/>
          </a:p>
          <a:p>
            <a:endParaRPr lang="en-US" dirty="0"/>
          </a:p>
          <a:p>
            <a:endParaRPr lang="en-US" dirty="0" smtClean="0"/>
          </a:p>
          <a:p>
            <a:endParaRPr lang="en-US" dirty="0"/>
          </a:p>
          <a:p>
            <a:endParaRPr lang="en-US" dirty="0" smtClean="0"/>
          </a:p>
          <a:p>
            <a:pPr algn="just"/>
            <a:r>
              <a:rPr lang="en-US" dirty="0" smtClean="0">
                <a:solidFill>
                  <a:schemeClr val="tx1"/>
                </a:solidFill>
              </a:rPr>
              <a:t>The Fossil of the </a:t>
            </a:r>
            <a:r>
              <a:rPr lang="en-US" dirty="0" err="1" smtClean="0">
                <a:solidFill>
                  <a:schemeClr val="tx1"/>
                </a:solidFill>
              </a:rPr>
              <a:t>ArchaeopteryxArchaeopteryx</a:t>
            </a:r>
            <a:r>
              <a:rPr lang="en-US" dirty="0" smtClean="0">
                <a:solidFill>
                  <a:schemeClr val="tx1"/>
                </a:solidFill>
              </a:rPr>
              <a:t> the Connecting Link between Reptiles and Birds</a:t>
            </a:r>
          </a:p>
          <a:p>
            <a:pPr algn="just"/>
            <a:r>
              <a:rPr lang="en-US" dirty="0" smtClean="0">
                <a:solidFill>
                  <a:schemeClr val="tx1"/>
                </a:solidFill>
              </a:rPr>
              <a:t>Thus it provides a link between birds and reptiles</a:t>
            </a:r>
            <a:r>
              <a:rPr lang="en-US" dirty="0" smtClean="0"/>
              <a:t>.</a:t>
            </a:r>
          </a:p>
          <a:p>
            <a:endParaRPr lang="en-US" dirty="0"/>
          </a:p>
        </p:txBody>
      </p:sp>
      <p:pic>
        <p:nvPicPr>
          <p:cNvPr id="4" name="Picture 2"/>
          <p:cNvPicPr>
            <a:picLocks noChangeAspect="1" noChangeArrowheads="1"/>
          </p:cNvPicPr>
          <p:nvPr/>
        </p:nvPicPr>
        <p:blipFill>
          <a:blip r:embed="rId2"/>
          <a:srcRect/>
          <a:stretch>
            <a:fillRect/>
          </a:stretch>
        </p:blipFill>
        <p:spPr bwMode="auto">
          <a:xfrm>
            <a:off x="416257" y="253652"/>
            <a:ext cx="8346743" cy="3830355"/>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6375"/>
            <a:ext cx="7772400" cy="936625"/>
          </a:xfrm>
        </p:spPr>
        <p:txBody>
          <a:bodyPr>
            <a:normAutofit/>
          </a:bodyPr>
          <a:lstStyle/>
          <a:p>
            <a:r>
              <a:rPr lang="en-US" sz="4000" b="1" dirty="0" smtClean="0"/>
              <a:t>Geological Distribution</a:t>
            </a:r>
            <a:endParaRPr lang="en-US" sz="4000" dirty="0"/>
          </a:p>
        </p:txBody>
      </p:sp>
      <p:sp>
        <p:nvSpPr>
          <p:cNvPr id="3" name="Subtitle 2"/>
          <p:cNvSpPr>
            <a:spLocks noGrp="1"/>
          </p:cNvSpPr>
          <p:nvPr>
            <p:ph type="subTitle" idx="1"/>
          </p:nvPr>
        </p:nvSpPr>
        <p:spPr>
          <a:xfrm>
            <a:off x="304800" y="1143000"/>
            <a:ext cx="8610600" cy="5410200"/>
          </a:xfrm>
        </p:spPr>
        <p:txBody>
          <a:bodyPr>
            <a:normAutofit fontScale="92500" lnSpcReduction="20000"/>
          </a:bodyPr>
          <a:lstStyle/>
          <a:p>
            <a:pPr algn="just"/>
            <a:r>
              <a:rPr lang="en-US" dirty="0" smtClean="0">
                <a:solidFill>
                  <a:schemeClr val="tx1"/>
                </a:solidFill>
              </a:rPr>
              <a:t>The organisms show particular patterns of distribution on earth. The distribution of the species give an indication of how the earth was earlier. It is believed that the earth was a single mass called the </a:t>
            </a:r>
            <a:r>
              <a:rPr lang="en-US" dirty="0" err="1" smtClean="0">
                <a:solidFill>
                  <a:schemeClr val="tx1"/>
                </a:solidFill>
              </a:rPr>
              <a:t>Pangea</a:t>
            </a:r>
            <a:r>
              <a:rPr lang="en-US" dirty="0" smtClean="0">
                <a:solidFill>
                  <a:schemeClr val="tx1"/>
                </a:solidFill>
              </a:rPr>
              <a:t>. It consisted of two large continental masses called </a:t>
            </a:r>
            <a:r>
              <a:rPr lang="en-US" dirty="0" err="1" smtClean="0">
                <a:solidFill>
                  <a:schemeClr val="tx1"/>
                </a:solidFill>
              </a:rPr>
              <a:t>Laurasia</a:t>
            </a:r>
            <a:r>
              <a:rPr lang="en-US" dirty="0" smtClean="0">
                <a:solidFill>
                  <a:schemeClr val="tx1"/>
                </a:solidFill>
              </a:rPr>
              <a:t> and Gondwanaland that were interconnected by land bridges. These land masses have continuously drifted away from each other. This theory was proposed by Alfred Wegener and called the theory of continental drift. A proof of this comes from the distribution of lungfish. As can be seen in the maps below, the regions where the lungfish is presently distributed were all close together in the early days</a:t>
            </a:r>
            <a:r>
              <a:rPr lang="en-US" dirty="0" smtClean="0"/>
              <a:t>.</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761999"/>
          </a:xfrm>
        </p:spPr>
        <p:txBody>
          <a:bodyPr>
            <a:normAutofit fontScale="90000"/>
          </a:bodyPr>
          <a:lstStyle/>
          <a:p>
            <a:r>
              <a:rPr lang="en-US" b="1" dirty="0" smtClean="0"/>
              <a:t>Comparative Embryology</a:t>
            </a:r>
            <a:endParaRPr lang="en-US" dirty="0"/>
          </a:p>
        </p:txBody>
      </p:sp>
      <p:sp>
        <p:nvSpPr>
          <p:cNvPr id="3" name="Subtitle 2"/>
          <p:cNvSpPr>
            <a:spLocks noGrp="1"/>
          </p:cNvSpPr>
          <p:nvPr>
            <p:ph type="subTitle" idx="1"/>
          </p:nvPr>
        </p:nvSpPr>
        <p:spPr>
          <a:xfrm>
            <a:off x="228600" y="1905000"/>
            <a:ext cx="8610600" cy="3352800"/>
          </a:xfrm>
        </p:spPr>
        <p:txBody>
          <a:bodyPr/>
          <a:lstStyle/>
          <a:p>
            <a:pPr algn="just"/>
            <a:r>
              <a:rPr lang="en-US" dirty="0" smtClean="0">
                <a:solidFill>
                  <a:schemeClr val="tx1"/>
                </a:solidFill>
              </a:rPr>
              <a:t>Haeckel (1834-1919) formulated that 'ontogeny recapitulates phylogeny'. This means that the developmental stages that an organism goes through repeat the evolutionary history of the group to which the organism belongs.</a:t>
            </a:r>
            <a:endParaRPr lang="en-US" dirty="0">
              <a:solidFill>
                <a:schemeClr val="tx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76200"/>
            <a:ext cx="228600" cy="228600"/>
          </a:xfrm>
        </p:spPr>
        <p:txBody>
          <a:bodyPr>
            <a:normAutofit fontScale="90000"/>
          </a:bodyPr>
          <a:lstStyle/>
          <a:p>
            <a:r>
              <a:rPr lang="en-US" dirty="0" smtClean="0"/>
              <a:t>.</a:t>
            </a:r>
            <a:endParaRPr lang="en-US" dirty="0"/>
          </a:p>
        </p:txBody>
      </p:sp>
      <p:sp>
        <p:nvSpPr>
          <p:cNvPr id="3" name="Subtitle 2"/>
          <p:cNvSpPr>
            <a:spLocks noGrp="1"/>
          </p:cNvSpPr>
          <p:nvPr>
            <p:ph type="subTitle" idx="1"/>
          </p:nvPr>
        </p:nvSpPr>
        <p:spPr>
          <a:xfrm>
            <a:off x="1219200" y="5410200"/>
            <a:ext cx="7391400" cy="1143000"/>
          </a:xfrm>
        </p:spPr>
        <p:txBody>
          <a:bodyPr>
            <a:normAutofit/>
          </a:bodyPr>
          <a:lstStyle/>
          <a:p>
            <a:r>
              <a:rPr lang="en-US" dirty="0" smtClean="0">
                <a:solidFill>
                  <a:schemeClr val="tx1"/>
                </a:solidFill>
              </a:rPr>
              <a:t>Stages in Embryological Development</a:t>
            </a:r>
            <a:endParaRPr lang="en-US" dirty="0">
              <a:solidFill>
                <a:schemeClr val="tx1"/>
              </a:solidFill>
            </a:endParaRPr>
          </a:p>
        </p:txBody>
      </p:sp>
      <p:pic>
        <p:nvPicPr>
          <p:cNvPr id="7170" name="Picture 2"/>
          <p:cNvPicPr>
            <a:picLocks noChangeAspect="1" noChangeArrowheads="1"/>
          </p:cNvPicPr>
          <p:nvPr/>
        </p:nvPicPr>
        <p:blipFill>
          <a:blip r:embed="rId2"/>
          <a:srcRect/>
          <a:stretch>
            <a:fillRect/>
          </a:stretch>
        </p:blipFill>
        <p:spPr bwMode="auto">
          <a:xfrm>
            <a:off x="1219200" y="279401"/>
            <a:ext cx="7391400" cy="5130800"/>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95600" y="228600"/>
            <a:ext cx="228600" cy="304799"/>
          </a:xfrm>
        </p:spPr>
        <p:txBody>
          <a:bodyPr>
            <a:normAutofit fontScale="90000"/>
          </a:bodyPr>
          <a:lstStyle/>
          <a:p>
            <a:r>
              <a:rPr lang="en-US" dirty="0" smtClean="0"/>
              <a:t>.</a:t>
            </a:r>
            <a:endParaRPr lang="en-US" dirty="0"/>
          </a:p>
        </p:txBody>
      </p:sp>
      <p:sp>
        <p:nvSpPr>
          <p:cNvPr id="3" name="Subtitle 2"/>
          <p:cNvSpPr>
            <a:spLocks noGrp="1"/>
          </p:cNvSpPr>
          <p:nvPr>
            <p:ph type="subTitle" idx="1"/>
          </p:nvPr>
        </p:nvSpPr>
        <p:spPr>
          <a:xfrm>
            <a:off x="304800" y="304800"/>
            <a:ext cx="8382000" cy="6324600"/>
          </a:xfrm>
        </p:spPr>
        <p:txBody>
          <a:bodyPr>
            <a:normAutofit fontScale="92500" lnSpcReduction="10000"/>
          </a:bodyPr>
          <a:lstStyle/>
          <a:p>
            <a:pPr algn="just"/>
            <a:r>
              <a:rPr lang="en-US" dirty="0" smtClean="0">
                <a:solidFill>
                  <a:schemeClr val="tx1"/>
                </a:solidFill>
              </a:rPr>
              <a:t>Though it does not explain the mechanism of evolution, the study of the embryos and their development reveal that at the embryonic stages there are features that are absent in the adult form. These features are common to a group of organisms. For example, At a particular stage, all the vertebrate embryos possess a single circulation with two-chambered heart showing no separation into right and left halves.</a:t>
            </a:r>
          </a:p>
          <a:p>
            <a:pPr algn="just"/>
            <a:r>
              <a:rPr lang="en-US" dirty="0" smtClean="0">
                <a:solidFill>
                  <a:schemeClr val="tx1"/>
                </a:solidFill>
              </a:rPr>
              <a:t>As the development progresses, the embryos change according to group they belong to - fish, amphibian, reptile, bird or mammal. The above situation is retained only in the fish and all other vertebrates deviate from this.</a:t>
            </a:r>
          </a:p>
          <a:p>
            <a:pPr algn="just"/>
            <a:endParaRPr lang="en-US" dirty="0">
              <a:solidFill>
                <a:schemeClr val="tx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81000"/>
            <a:ext cx="8686800" cy="1219200"/>
          </a:xfrm>
        </p:spPr>
        <p:txBody>
          <a:bodyPr>
            <a:noAutofit/>
          </a:bodyPr>
          <a:lstStyle/>
          <a:p>
            <a:pPr algn="just"/>
            <a:r>
              <a:rPr lang="en-US" sz="2800" dirty="0" smtClean="0"/>
              <a:t>Given below is another example of the embryological evidence that certain animals have a common ancestor:</a:t>
            </a:r>
            <a:endParaRPr lang="en-US" sz="2800" dirty="0"/>
          </a:p>
        </p:txBody>
      </p:sp>
      <p:sp>
        <p:nvSpPr>
          <p:cNvPr id="3" name="Subtitle 2"/>
          <p:cNvSpPr>
            <a:spLocks noGrp="1"/>
          </p:cNvSpPr>
          <p:nvPr>
            <p:ph type="subTitle" idx="1"/>
          </p:nvPr>
        </p:nvSpPr>
        <p:spPr>
          <a:xfrm>
            <a:off x="2971800" y="3962400"/>
            <a:ext cx="4800600" cy="1676400"/>
          </a:xfrm>
        </p:spPr>
        <p:txBody>
          <a:bodyPr/>
          <a:lstStyle/>
          <a:p>
            <a:endParaRPr lang="en-US" dirty="0"/>
          </a:p>
        </p:txBody>
      </p:sp>
      <p:pic>
        <p:nvPicPr>
          <p:cNvPr id="8194" name="Picture 2"/>
          <p:cNvPicPr>
            <a:picLocks noChangeAspect="1" noChangeArrowheads="1"/>
          </p:cNvPicPr>
          <p:nvPr/>
        </p:nvPicPr>
        <p:blipFill>
          <a:blip r:embed="rId2"/>
          <a:srcRect/>
          <a:stretch>
            <a:fillRect/>
          </a:stretch>
        </p:blipFill>
        <p:spPr bwMode="auto">
          <a:xfrm>
            <a:off x="304800" y="1524000"/>
            <a:ext cx="8458200" cy="5096066"/>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a:bodyPr>
          <a:lstStyle/>
          <a:p>
            <a:r>
              <a:rPr lang="en-US" sz="4000" b="1" dirty="0" smtClean="0"/>
              <a:t>Heredity and Evolution Summary</a:t>
            </a:r>
            <a:endParaRPr lang="en-US" dirty="0"/>
          </a:p>
        </p:txBody>
      </p:sp>
      <p:sp>
        <p:nvSpPr>
          <p:cNvPr id="3" name="Subtitle 2"/>
          <p:cNvSpPr>
            <a:spLocks noGrp="1"/>
          </p:cNvSpPr>
          <p:nvPr>
            <p:ph type="subTitle" idx="1"/>
          </p:nvPr>
        </p:nvSpPr>
        <p:spPr>
          <a:xfrm>
            <a:off x="304800" y="1524000"/>
            <a:ext cx="8458200" cy="5029200"/>
          </a:xfrm>
        </p:spPr>
        <p:txBody>
          <a:bodyPr>
            <a:normAutofit fontScale="70000" lnSpcReduction="20000"/>
          </a:bodyPr>
          <a:lstStyle/>
          <a:p>
            <a:pPr algn="just">
              <a:buFont typeface="Arial" pitchFamily="34" charset="0"/>
              <a:buChar char="•"/>
            </a:pPr>
            <a:r>
              <a:rPr lang="en-US" dirty="0" smtClean="0">
                <a:solidFill>
                  <a:schemeClr val="tx1"/>
                </a:solidFill>
              </a:rPr>
              <a:t>  All these evidences point to the fact that evolution occurs. The exact mechanism of evolution, however, is not yet conclusively proven. But constant study and research in the above fields is continuing for answers.</a:t>
            </a:r>
          </a:p>
          <a:p>
            <a:pPr algn="just">
              <a:buFont typeface="Arial" pitchFamily="34" charset="0"/>
              <a:buChar char="•"/>
            </a:pPr>
            <a:r>
              <a:rPr lang="en-US" dirty="0" smtClean="0">
                <a:solidFill>
                  <a:schemeClr val="tx1"/>
                </a:solidFill>
              </a:rPr>
              <a:t>  Asexual reproduction results in identical offspring whereas sexual reproduction results in variation among the offspring and also between parents and the offspring.</a:t>
            </a:r>
          </a:p>
          <a:p>
            <a:pPr algn="just">
              <a:buFont typeface="Arial" pitchFamily="34" charset="0"/>
              <a:buChar char="•"/>
            </a:pPr>
            <a:r>
              <a:rPr lang="en-US" dirty="0" smtClean="0">
                <a:solidFill>
                  <a:schemeClr val="tx1"/>
                </a:solidFill>
              </a:rPr>
              <a:t>  Heredity may be defined as the transmission of characteristics through generations.</a:t>
            </a:r>
          </a:p>
          <a:p>
            <a:pPr algn="just">
              <a:buFont typeface="Arial" pitchFamily="34" charset="0"/>
              <a:buChar char="•"/>
            </a:pPr>
            <a:r>
              <a:rPr lang="en-US" dirty="0" smtClean="0">
                <a:solidFill>
                  <a:schemeClr val="tx1"/>
                </a:solidFill>
              </a:rPr>
              <a:t>  Variation may be defined as differences among individuals of a species.</a:t>
            </a:r>
          </a:p>
          <a:p>
            <a:pPr algn="just">
              <a:buFont typeface="Arial" pitchFamily="34" charset="0"/>
              <a:buChar char="•"/>
            </a:pPr>
            <a:r>
              <a:rPr lang="en-US" dirty="0" smtClean="0">
                <a:solidFill>
                  <a:schemeClr val="tx1"/>
                </a:solidFill>
              </a:rPr>
              <a:t>  Both heredity and variation play important roles in evolution of organisms.</a:t>
            </a:r>
          </a:p>
          <a:p>
            <a:pPr algn="just">
              <a:buFont typeface="Arial" pitchFamily="34" charset="0"/>
              <a:buChar char="•"/>
            </a:pPr>
            <a:r>
              <a:rPr lang="en-US" dirty="0" smtClean="0">
                <a:solidFill>
                  <a:schemeClr val="tx1"/>
                </a:solidFill>
              </a:rPr>
              <a:t>  The study of the mechanism of transmission of characteristics from parents to the next generations is called genetics.</a:t>
            </a:r>
          </a:p>
          <a:p>
            <a:pPr algn="just">
              <a:buFont typeface="Arial" pitchFamily="34" charset="0"/>
              <a:buChar char="•"/>
            </a:pPr>
            <a:r>
              <a:rPr lang="en-US" dirty="0" smtClean="0">
                <a:solidFill>
                  <a:schemeClr val="tx1"/>
                </a:solidFill>
              </a:rPr>
              <a:t>  </a:t>
            </a:r>
            <a:r>
              <a:rPr lang="en-US" dirty="0" err="1" smtClean="0">
                <a:solidFill>
                  <a:schemeClr val="tx1"/>
                </a:solidFill>
              </a:rPr>
              <a:t>Gregor</a:t>
            </a:r>
            <a:r>
              <a:rPr lang="en-US" dirty="0" smtClean="0">
                <a:solidFill>
                  <a:schemeClr val="tx1"/>
                </a:solidFill>
              </a:rPr>
              <a:t> Mendel was the first to carry out scientific studies on transmission of characteristics from the parent to the offspring.</a:t>
            </a:r>
          </a:p>
          <a:p>
            <a:pPr algn="just">
              <a:buFont typeface="Arial" pitchFamily="34" charset="0"/>
              <a:buChar char="•"/>
            </a:pPr>
            <a:endParaRPr lang="en-US" dirty="0">
              <a:solidFill>
                <a:schemeClr val="tx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1"/>
            <a:ext cx="7772400" cy="1371599"/>
          </a:xfrm>
        </p:spPr>
        <p:txBody>
          <a:bodyPr>
            <a:normAutofit/>
          </a:bodyPr>
          <a:lstStyle/>
          <a:p>
            <a:r>
              <a:rPr lang="en-US" sz="3600" b="1" dirty="0" smtClean="0"/>
              <a:t>Heredity and Evolution Summary Cont…</a:t>
            </a:r>
            <a:endParaRPr lang="en-US" dirty="0"/>
          </a:p>
        </p:txBody>
      </p:sp>
      <p:sp>
        <p:nvSpPr>
          <p:cNvPr id="3" name="Subtitle 2"/>
          <p:cNvSpPr>
            <a:spLocks noGrp="1"/>
          </p:cNvSpPr>
          <p:nvPr>
            <p:ph type="subTitle" idx="1"/>
          </p:nvPr>
        </p:nvSpPr>
        <p:spPr>
          <a:xfrm>
            <a:off x="304800" y="1600200"/>
            <a:ext cx="8610600" cy="5029200"/>
          </a:xfrm>
        </p:spPr>
        <p:txBody>
          <a:bodyPr>
            <a:normAutofit fontScale="77500" lnSpcReduction="20000"/>
          </a:bodyPr>
          <a:lstStyle/>
          <a:p>
            <a:pPr algn="just">
              <a:buFont typeface="Arial" pitchFamily="34" charset="0"/>
              <a:buChar char="•"/>
            </a:pPr>
            <a:r>
              <a:rPr lang="en-US" dirty="0" smtClean="0">
                <a:solidFill>
                  <a:schemeClr val="tx1"/>
                </a:solidFill>
              </a:rPr>
              <a:t>  Based on the experiments he conducted, Mendel came to the conclusion that there are certain physical entities called the factors that are responsible for the transmission of characters. These factors are now called genes.</a:t>
            </a:r>
          </a:p>
          <a:p>
            <a:pPr algn="just">
              <a:buFont typeface="Arial" pitchFamily="34" charset="0"/>
              <a:buChar char="•"/>
            </a:pPr>
            <a:r>
              <a:rPr lang="en-US" dirty="0" smtClean="0">
                <a:solidFill>
                  <a:schemeClr val="tx1"/>
                </a:solidFill>
              </a:rPr>
              <a:t>  There are various laws of genetics also based on Mendel's work.</a:t>
            </a:r>
          </a:p>
          <a:p>
            <a:pPr algn="just">
              <a:buFont typeface="Arial" pitchFamily="34" charset="0"/>
              <a:buChar char="•"/>
            </a:pPr>
            <a:r>
              <a:rPr lang="en-US" dirty="0" smtClean="0">
                <a:solidFill>
                  <a:schemeClr val="tx1"/>
                </a:solidFill>
              </a:rPr>
              <a:t>  These laws explain the dominance of certain traits, the haploid nature of gametes and their independent assortment.</a:t>
            </a:r>
          </a:p>
          <a:p>
            <a:pPr algn="just">
              <a:buFont typeface="Arial" pitchFamily="34" charset="0"/>
              <a:buChar char="•"/>
            </a:pPr>
            <a:r>
              <a:rPr lang="en-US" dirty="0" smtClean="0">
                <a:solidFill>
                  <a:schemeClr val="tx1"/>
                </a:solidFill>
              </a:rPr>
              <a:t>  Inheritance, according to the chromosomal theory, is due to the passage of genes that are present on the chromosomes that are passed on from the parents to the offspring.</a:t>
            </a:r>
          </a:p>
          <a:p>
            <a:pPr algn="just">
              <a:buFont typeface="Arial" pitchFamily="34" charset="0"/>
              <a:buChar char="•"/>
            </a:pPr>
            <a:r>
              <a:rPr lang="en-US" dirty="0" smtClean="0">
                <a:solidFill>
                  <a:schemeClr val="tx1"/>
                </a:solidFill>
              </a:rPr>
              <a:t>  The genetic material is made up of the chromatin or the chromosomes. These contain the genes that are arranged in a linear fashion. Each gene is a short chain of nucleotides arranged in a specific sequence.</a:t>
            </a:r>
          </a:p>
          <a:p>
            <a:pPr algn="just">
              <a:buFont typeface="Arial" pitchFamily="34" charset="0"/>
              <a:buChar char="•"/>
            </a:pPr>
            <a:endParaRPr lang="en-US" dirty="0">
              <a:solidFill>
                <a:schemeClr val="tx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1"/>
            <a:ext cx="7772400" cy="1066799"/>
          </a:xfrm>
        </p:spPr>
        <p:txBody>
          <a:bodyPr>
            <a:normAutofit fontScale="90000"/>
          </a:bodyPr>
          <a:lstStyle/>
          <a:p>
            <a:r>
              <a:rPr lang="en-US" sz="4000" b="1" dirty="0" smtClean="0"/>
              <a:t>Heredity and Evolution Summary Cont…</a:t>
            </a:r>
            <a:endParaRPr lang="en-US" dirty="0"/>
          </a:p>
        </p:txBody>
      </p:sp>
      <p:sp>
        <p:nvSpPr>
          <p:cNvPr id="3" name="Subtitle 2"/>
          <p:cNvSpPr>
            <a:spLocks noGrp="1"/>
          </p:cNvSpPr>
          <p:nvPr>
            <p:ph type="subTitle" idx="1"/>
          </p:nvPr>
        </p:nvSpPr>
        <p:spPr>
          <a:xfrm>
            <a:off x="304800" y="1219200"/>
            <a:ext cx="8382000" cy="5334000"/>
          </a:xfrm>
        </p:spPr>
        <p:txBody>
          <a:bodyPr>
            <a:normAutofit fontScale="77500" lnSpcReduction="20000"/>
          </a:bodyPr>
          <a:lstStyle/>
          <a:p>
            <a:pPr algn="just">
              <a:buFont typeface="Arial" pitchFamily="34" charset="0"/>
              <a:buChar char="•"/>
            </a:pPr>
            <a:r>
              <a:rPr lang="en-US" dirty="0" smtClean="0">
                <a:solidFill>
                  <a:schemeClr val="tx1"/>
                </a:solidFill>
              </a:rPr>
              <a:t>  Each chromosome consists of two strands called the </a:t>
            </a:r>
            <a:r>
              <a:rPr lang="en-US" dirty="0" err="1" smtClean="0">
                <a:solidFill>
                  <a:schemeClr val="tx1"/>
                </a:solidFill>
              </a:rPr>
              <a:t>chromatids</a:t>
            </a:r>
            <a:r>
              <a:rPr lang="en-US" dirty="0" smtClean="0">
                <a:solidFill>
                  <a:schemeClr val="tx1"/>
                </a:solidFill>
              </a:rPr>
              <a:t> that are held together by the </a:t>
            </a:r>
            <a:r>
              <a:rPr lang="en-US" dirty="0" err="1" smtClean="0">
                <a:solidFill>
                  <a:schemeClr val="tx1"/>
                </a:solidFill>
              </a:rPr>
              <a:t>centromere</a:t>
            </a:r>
            <a:r>
              <a:rPr lang="en-US" dirty="0" smtClean="0">
                <a:solidFill>
                  <a:schemeClr val="tx1"/>
                </a:solidFill>
              </a:rPr>
              <a:t>.</a:t>
            </a:r>
          </a:p>
          <a:p>
            <a:pPr algn="just">
              <a:buFont typeface="Arial" pitchFamily="34" charset="0"/>
              <a:buChar char="•"/>
            </a:pPr>
            <a:r>
              <a:rPr lang="en-US" dirty="0" smtClean="0">
                <a:solidFill>
                  <a:schemeClr val="tx1"/>
                </a:solidFill>
              </a:rPr>
              <a:t>  The location of the </a:t>
            </a:r>
            <a:r>
              <a:rPr lang="en-US" dirty="0" err="1" smtClean="0">
                <a:solidFill>
                  <a:schemeClr val="tx1"/>
                </a:solidFill>
              </a:rPr>
              <a:t>centromere</a:t>
            </a:r>
            <a:r>
              <a:rPr lang="en-US" dirty="0" smtClean="0">
                <a:solidFill>
                  <a:schemeClr val="tx1"/>
                </a:solidFill>
              </a:rPr>
              <a:t> decides the shape of the chromosome.</a:t>
            </a:r>
          </a:p>
          <a:p>
            <a:pPr algn="just">
              <a:buFont typeface="Arial" pitchFamily="34" charset="0"/>
              <a:buChar char="•"/>
            </a:pPr>
            <a:r>
              <a:rPr lang="en-US" dirty="0" smtClean="0">
                <a:solidFill>
                  <a:schemeClr val="tx1"/>
                </a:solidFill>
              </a:rPr>
              <a:t>  Each organism contains a fixed number of chromosomes in each of its cells. The chromosomes in each cell are of two types - </a:t>
            </a:r>
            <a:r>
              <a:rPr lang="en-US" dirty="0" err="1" smtClean="0">
                <a:solidFill>
                  <a:schemeClr val="tx1"/>
                </a:solidFill>
              </a:rPr>
              <a:t>autosomes</a:t>
            </a:r>
            <a:r>
              <a:rPr lang="en-US" dirty="0" smtClean="0">
                <a:solidFill>
                  <a:schemeClr val="tx1"/>
                </a:solidFill>
              </a:rPr>
              <a:t> and sex chromosomes. Males have X and Y sex chromosomes whereas females have X and X sex chromosomes.</a:t>
            </a:r>
          </a:p>
          <a:p>
            <a:pPr algn="just">
              <a:buFont typeface="Arial" pitchFamily="34" charset="0"/>
              <a:buChar char="•"/>
            </a:pPr>
            <a:r>
              <a:rPr lang="en-US" dirty="0" smtClean="0">
                <a:solidFill>
                  <a:schemeClr val="tx1"/>
                </a:solidFill>
              </a:rPr>
              <a:t>  Variations are of many types. Based on whether they are phenotypic or genotypic, they are called </a:t>
            </a:r>
            <a:r>
              <a:rPr lang="en-US" dirty="0" err="1" smtClean="0">
                <a:solidFill>
                  <a:schemeClr val="tx1"/>
                </a:solidFill>
              </a:rPr>
              <a:t>somatogenic</a:t>
            </a:r>
            <a:r>
              <a:rPr lang="en-US" dirty="0" smtClean="0">
                <a:solidFill>
                  <a:schemeClr val="tx1"/>
                </a:solidFill>
              </a:rPr>
              <a:t> and </a:t>
            </a:r>
            <a:r>
              <a:rPr lang="en-US" dirty="0" err="1" smtClean="0">
                <a:solidFill>
                  <a:schemeClr val="tx1"/>
                </a:solidFill>
              </a:rPr>
              <a:t>blastogenic</a:t>
            </a:r>
            <a:r>
              <a:rPr lang="en-US" dirty="0" smtClean="0">
                <a:solidFill>
                  <a:schemeClr val="tx1"/>
                </a:solidFill>
              </a:rPr>
              <a:t>.</a:t>
            </a:r>
          </a:p>
          <a:p>
            <a:pPr algn="just">
              <a:buFont typeface="Arial" pitchFamily="34" charset="0"/>
              <a:buChar char="•"/>
            </a:pPr>
            <a:r>
              <a:rPr lang="en-US" dirty="0" smtClean="0">
                <a:solidFill>
                  <a:schemeClr val="tx1"/>
                </a:solidFill>
              </a:rPr>
              <a:t>  If the variation among a group of organisms is large and very obvious, it is called discontinuous and if it is small, it is called continuous.</a:t>
            </a:r>
          </a:p>
          <a:p>
            <a:pPr algn="just">
              <a:buFont typeface="Arial" pitchFamily="34" charset="0"/>
              <a:buChar char="•"/>
            </a:pPr>
            <a:endParaRPr lang="en-US" dirty="0">
              <a:solidFill>
                <a:schemeClr val="tx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841375"/>
          </a:xfrm>
        </p:spPr>
        <p:txBody>
          <a:bodyPr>
            <a:normAutofit/>
          </a:bodyPr>
          <a:lstStyle/>
          <a:p>
            <a:r>
              <a:rPr lang="en-US" sz="3600" b="1" dirty="0" smtClean="0"/>
              <a:t>Heredity and Evolution Summary Cont…</a:t>
            </a:r>
            <a:endParaRPr lang="en-US" sz="3600" dirty="0"/>
          </a:p>
        </p:txBody>
      </p:sp>
      <p:sp>
        <p:nvSpPr>
          <p:cNvPr id="3" name="Subtitle 2"/>
          <p:cNvSpPr>
            <a:spLocks noGrp="1"/>
          </p:cNvSpPr>
          <p:nvPr>
            <p:ph type="subTitle" idx="1"/>
          </p:nvPr>
        </p:nvSpPr>
        <p:spPr>
          <a:xfrm>
            <a:off x="304800" y="1066800"/>
            <a:ext cx="8610600" cy="5562600"/>
          </a:xfrm>
        </p:spPr>
        <p:txBody>
          <a:bodyPr>
            <a:normAutofit fontScale="85000" lnSpcReduction="20000"/>
          </a:bodyPr>
          <a:lstStyle/>
          <a:p>
            <a:pPr algn="just">
              <a:buFont typeface="Arial" pitchFamily="34" charset="0"/>
              <a:buChar char="•"/>
            </a:pPr>
            <a:r>
              <a:rPr lang="en-US" dirty="0" smtClean="0">
                <a:solidFill>
                  <a:schemeClr val="tx1"/>
                </a:solidFill>
              </a:rPr>
              <a:t>  Variations play an important role in evolution, especially those that are inheritable.</a:t>
            </a:r>
          </a:p>
          <a:p>
            <a:pPr algn="just">
              <a:buFont typeface="Arial" pitchFamily="34" charset="0"/>
              <a:buChar char="•"/>
            </a:pPr>
            <a:r>
              <a:rPr lang="en-US" dirty="0" smtClean="0">
                <a:solidFill>
                  <a:schemeClr val="tx1"/>
                </a:solidFill>
              </a:rPr>
              <a:t>  Evolution may be defined as a gradual development of more complex species from pre-existing simpler forms. Some of the formal theories on evolution are Lamarckism, Darwinism, theory of inheritance of </a:t>
            </a:r>
            <a:r>
              <a:rPr lang="en-US" dirty="0" err="1" smtClean="0">
                <a:solidFill>
                  <a:schemeClr val="tx1"/>
                </a:solidFill>
              </a:rPr>
              <a:t>germplasm</a:t>
            </a:r>
            <a:r>
              <a:rPr lang="en-US" dirty="0" smtClean="0">
                <a:solidFill>
                  <a:schemeClr val="tx1"/>
                </a:solidFill>
              </a:rPr>
              <a:t> and neo-Darwinism.</a:t>
            </a:r>
          </a:p>
          <a:p>
            <a:pPr algn="just">
              <a:buFont typeface="Arial" pitchFamily="34" charset="0"/>
              <a:buChar char="•"/>
            </a:pPr>
            <a:r>
              <a:rPr lang="en-US" dirty="0" smtClean="0">
                <a:solidFill>
                  <a:schemeClr val="tx1"/>
                </a:solidFill>
              </a:rPr>
              <a:t>  According to Lamarck, parts that are continuously used develop well and those that are not used get degenerated. These acquired characters are then inherited. This theory is not very widely accepted.</a:t>
            </a:r>
          </a:p>
          <a:p>
            <a:pPr algn="just">
              <a:buFont typeface="Arial" pitchFamily="34" charset="0"/>
              <a:buChar char="•"/>
            </a:pPr>
            <a:r>
              <a:rPr lang="en-US" dirty="0" smtClean="0">
                <a:solidFill>
                  <a:schemeClr val="tx1"/>
                </a:solidFill>
              </a:rPr>
              <a:t>  Weismann proposed the theory of continuity of </a:t>
            </a:r>
            <a:r>
              <a:rPr lang="en-US" dirty="0" err="1" smtClean="0">
                <a:solidFill>
                  <a:schemeClr val="tx1"/>
                </a:solidFill>
              </a:rPr>
              <a:t>germplasm</a:t>
            </a:r>
            <a:r>
              <a:rPr lang="en-US" dirty="0" smtClean="0">
                <a:solidFill>
                  <a:schemeClr val="tx1"/>
                </a:solidFill>
              </a:rPr>
              <a:t>, only the changes that affect the germ cells and the </a:t>
            </a:r>
            <a:r>
              <a:rPr lang="en-US" dirty="0" err="1" smtClean="0">
                <a:solidFill>
                  <a:schemeClr val="tx1"/>
                </a:solidFill>
              </a:rPr>
              <a:t>germplasm</a:t>
            </a:r>
            <a:r>
              <a:rPr lang="en-US" dirty="0" smtClean="0">
                <a:solidFill>
                  <a:schemeClr val="tx1"/>
                </a:solidFill>
              </a:rPr>
              <a:t> (the collection of genes) will be inherited by successive generations.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1"/>
            <a:ext cx="7772400" cy="914400"/>
          </a:xfrm>
        </p:spPr>
        <p:txBody>
          <a:bodyPr>
            <a:normAutofit/>
          </a:bodyPr>
          <a:lstStyle/>
          <a:p>
            <a:r>
              <a:rPr lang="en-US" sz="3600" b="1" dirty="0" smtClean="0"/>
              <a:t>Heredity and Evolution Summary Cont…</a:t>
            </a:r>
            <a:endParaRPr lang="en-US" sz="3600" dirty="0"/>
          </a:p>
        </p:txBody>
      </p:sp>
      <p:sp>
        <p:nvSpPr>
          <p:cNvPr id="3" name="Subtitle 2"/>
          <p:cNvSpPr>
            <a:spLocks noGrp="1"/>
          </p:cNvSpPr>
          <p:nvPr>
            <p:ph type="subTitle" idx="1"/>
          </p:nvPr>
        </p:nvSpPr>
        <p:spPr>
          <a:xfrm>
            <a:off x="533400" y="1143000"/>
            <a:ext cx="8305800" cy="5410200"/>
          </a:xfrm>
        </p:spPr>
        <p:txBody>
          <a:bodyPr>
            <a:normAutofit fontScale="85000" lnSpcReduction="10000"/>
          </a:bodyPr>
          <a:lstStyle/>
          <a:p>
            <a:pPr algn="just">
              <a:buFont typeface="Arial" pitchFamily="34" charset="0"/>
              <a:buChar char="•"/>
            </a:pPr>
            <a:r>
              <a:rPr lang="en-US" dirty="0" smtClean="0">
                <a:solidFill>
                  <a:schemeClr val="tx1"/>
                </a:solidFill>
              </a:rPr>
              <a:t>  Darwin proposed the theory of natural selection. According to this theory, the reproduction in large numbers resulted in a struggle for existence and competition. This leads to survival of the fittest. Thus the best of the genetic combinations is preserved and passed on to the next generation as only the species that survive reach the reproductive age.</a:t>
            </a:r>
          </a:p>
          <a:p>
            <a:pPr algn="just">
              <a:buFont typeface="Arial" pitchFamily="34" charset="0"/>
              <a:buChar char="•"/>
            </a:pPr>
            <a:r>
              <a:rPr lang="en-US" smtClean="0">
                <a:solidFill>
                  <a:schemeClr val="tx1"/>
                </a:solidFill>
              </a:rPr>
              <a:t>  Due </a:t>
            </a:r>
            <a:r>
              <a:rPr lang="en-US" dirty="0" smtClean="0">
                <a:solidFill>
                  <a:schemeClr val="tx1"/>
                </a:solidFill>
              </a:rPr>
              <a:t>to the recent scientific advances by man, there are many more evidences that are coming to light. A study of all these evidences taken from various fields such as paleontology, comparative anatomy, geological distribution, embryology, etc. in search of the exact mechanism of evolution constitutes neo-Darwinism.</a:t>
            </a:r>
          </a:p>
          <a:p>
            <a:pPr algn="just">
              <a:buFont typeface="Arial" pitchFamily="34" charset="0"/>
              <a:buChar char="•"/>
            </a:pPr>
            <a:endParaRPr lang="en-US" dirty="0">
              <a:solidFill>
                <a:schemeClr val="tx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203</TotalTime>
  <Words>4529</Words>
  <Application>Microsoft Office PowerPoint</Application>
  <PresentationFormat>On-screen Show (4:3)</PresentationFormat>
  <Paragraphs>193</Paragraphs>
  <Slides>64</Slides>
  <Notes>1</Notes>
  <HiddenSlides>0</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Office Theme</vt:lpstr>
      <vt:lpstr>MEANING OF HEREDITY </vt:lpstr>
      <vt:lpstr>Mendel's Work</vt:lpstr>
      <vt:lpstr>Mendel's Work Cont…</vt:lpstr>
      <vt:lpstr>Monohybrid Cross </vt:lpstr>
      <vt:lpstr>Monohybrid Cross Cont…</vt:lpstr>
      <vt:lpstr>Monohybrid Cross Cont…</vt:lpstr>
      <vt:lpstr>Physical Basis of Heredity </vt:lpstr>
      <vt:lpstr>Physical Basis of Heredity Cont...</vt:lpstr>
      <vt:lpstr>Physical Basis of Heredity Cont...</vt:lpstr>
      <vt:lpstr>Slide 10</vt:lpstr>
      <vt:lpstr>Physical Basis of Heredity Cont...</vt:lpstr>
      <vt:lpstr>Physical Basis of Heredity Cont...</vt:lpstr>
      <vt:lpstr>Physical Basis of Heredity Cont...</vt:lpstr>
      <vt:lpstr>Physical Basis of Heredity Cont...</vt:lpstr>
      <vt:lpstr>Physical Basis of Heredity Cont...</vt:lpstr>
      <vt:lpstr>Physical Basis of Heredity Cont...</vt:lpstr>
      <vt:lpstr>Laws of Inheritance </vt:lpstr>
      <vt:lpstr>Law of Unit Characters </vt:lpstr>
      <vt:lpstr>Law of Dominance </vt:lpstr>
      <vt:lpstr>Law of Segregation </vt:lpstr>
      <vt:lpstr>Law of Independent Assortment </vt:lpstr>
      <vt:lpstr>Theory of Inheritance </vt:lpstr>
      <vt:lpstr>Theory of Inheritance Cont…</vt:lpstr>
      <vt:lpstr>Theory of Inheritance Cont…</vt:lpstr>
      <vt:lpstr>Genetic Material</vt:lpstr>
      <vt:lpstr>Formation of a Nucleotide</vt:lpstr>
      <vt:lpstr>Formation of Polynucleotide </vt:lpstr>
      <vt:lpstr>Slide 28</vt:lpstr>
      <vt:lpstr>Double Helix DNA Structure </vt:lpstr>
      <vt:lpstr>DNA and Genetic Engineering </vt:lpstr>
      <vt:lpstr>Sex Chromosomes </vt:lpstr>
      <vt:lpstr>Human Sex Chromosomes</vt:lpstr>
      <vt:lpstr>Sex Chromosomes</vt:lpstr>
      <vt:lpstr>Variation</vt:lpstr>
      <vt:lpstr>Variation Cont…</vt:lpstr>
      <vt:lpstr>Types of Variations Variations can be classified based on the origin:</vt:lpstr>
      <vt:lpstr>Blastogenic </vt:lpstr>
      <vt:lpstr>Blastogenic Cont…</vt:lpstr>
      <vt:lpstr>Continuous Variations </vt:lpstr>
      <vt:lpstr>Discontinuous Variations </vt:lpstr>
      <vt:lpstr>Significance of Variations </vt:lpstr>
      <vt:lpstr>Evolution </vt:lpstr>
      <vt:lpstr>Theories of Evolution </vt:lpstr>
      <vt:lpstr>Lamarckism</vt:lpstr>
      <vt:lpstr>Use and Disuse of Parts</vt:lpstr>
      <vt:lpstr>Inheritance of Acquired Characters</vt:lpstr>
      <vt:lpstr>Theory of Continuity of Germplasm</vt:lpstr>
      <vt:lpstr>Darwinism</vt:lpstr>
      <vt:lpstr>Slide 49</vt:lpstr>
      <vt:lpstr>Neo-Darwinism</vt:lpstr>
      <vt:lpstr>Evidences of Evolution</vt:lpstr>
      <vt:lpstr>Palaeontology</vt:lpstr>
      <vt:lpstr>Palaeontology Cont…</vt:lpstr>
      <vt:lpstr>.</vt:lpstr>
      <vt:lpstr>Geological Distribution</vt:lpstr>
      <vt:lpstr>Comparative Embryology</vt:lpstr>
      <vt:lpstr>.</vt:lpstr>
      <vt:lpstr>.</vt:lpstr>
      <vt:lpstr>Given below is another example of the embryological evidence that certain animals have a common ancestor:</vt:lpstr>
      <vt:lpstr>Heredity and Evolution Summary</vt:lpstr>
      <vt:lpstr>Heredity and Evolution Summary Cont…</vt:lpstr>
      <vt:lpstr>Heredity and Evolution Summary Cont…</vt:lpstr>
      <vt:lpstr>Heredity and Evolution Summary Cont…</vt:lpstr>
      <vt:lpstr>Heredity and Evolution Summary Cont…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JOE</dc:creator>
  <cp:lastModifiedBy>RWANG</cp:lastModifiedBy>
  <cp:revision>20</cp:revision>
  <dcterms:created xsi:type="dcterms:W3CDTF">2013-01-12T11:55:00Z</dcterms:created>
  <dcterms:modified xsi:type="dcterms:W3CDTF">2013-02-18T08:40:31Z</dcterms:modified>
</cp:coreProperties>
</file>