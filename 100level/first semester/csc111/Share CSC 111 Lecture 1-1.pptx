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4" r:id="rId1"/>
  </p:sldMasterIdLst>
  <p:notesMasterIdLst>
    <p:notesMasterId r:id="rId51"/>
  </p:notesMasterIdLst>
  <p:sldIdLst>
    <p:sldId id="256" r:id="rId2"/>
    <p:sldId id="257" r:id="rId3"/>
    <p:sldId id="258" r:id="rId4"/>
    <p:sldId id="259" r:id="rId5"/>
    <p:sldId id="260" r:id="rId6"/>
    <p:sldId id="261" r:id="rId7"/>
    <p:sldId id="271" r:id="rId8"/>
    <p:sldId id="273" r:id="rId9"/>
    <p:sldId id="274" r:id="rId10"/>
    <p:sldId id="307" r:id="rId11"/>
    <p:sldId id="276" r:id="rId12"/>
    <p:sldId id="277" r:id="rId13"/>
    <p:sldId id="306" r:id="rId14"/>
    <p:sldId id="296" r:id="rId15"/>
    <p:sldId id="297" r:id="rId16"/>
    <p:sldId id="298" r:id="rId17"/>
    <p:sldId id="299" r:id="rId18"/>
    <p:sldId id="300" r:id="rId19"/>
    <p:sldId id="301" r:id="rId20"/>
    <p:sldId id="302" r:id="rId21"/>
    <p:sldId id="303" r:id="rId22"/>
    <p:sldId id="304" r:id="rId23"/>
    <p:sldId id="312" r:id="rId24"/>
    <p:sldId id="313" r:id="rId25"/>
    <p:sldId id="292" r:id="rId26"/>
    <p:sldId id="309" r:id="rId27"/>
    <p:sldId id="308" r:id="rId28"/>
    <p:sldId id="293" r:id="rId29"/>
    <p:sldId id="294" r:id="rId30"/>
    <p:sldId id="262" r:id="rId31"/>
    <p:sldId id="310" r:id="rId32"/>
    <p:sldId id="314" r:id="rId33"/>
    <p:sldId id="311" r:id="rId34"/>
    <p:sldId id="279" r:id="rId35"/>
    <p:sldId id="280" r:id="rId36"/>
    <p:sldId id="281" r:id="rId37"/>
    <p:sldId id="263" r:id="rId38"/>
    <p:sldId id="282" r:id="rId39"/>
    <p:sldId id="283" r:id="rId40"/>
    <p:sldId id="264" r:id="rId41"/>
    <p:sldId id="284" r:id="rId42"/>
    <p:sldId id="265" r:id="rId43"/>
    <p:sldId id="285" r:id="rId44"/>
    <p:sldId id="286" r:id="rId45"/>
    <p:sldId id="287" r:id="rId46"/>
    <p:sldId id="288" r:id="rId47"/>
    <p:sldId id="289" r:id="rId48"/>
    <p:sldId id="291" r:id="rId49"/>
    <p:sldId id="290"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2167" autoAdjust="0"/>
  </p:normalViewPr>
  <p:slideViewPr>
    <p:cSldViewPr>
      <p:cViewPr varScale="1">
        <p:scale>
          <a:sx n="47" d="100"/>
          <a:sy n="47" d="100"/>
        </p:scale>
        <p:origin x="-61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72E7982-43A6-4211-85A7-2B590B1F8967}" type="datetimeFigureOut">
              <a:rPr lang="en-US" smtClean="0"/>
              <a:pPr/>
              <a:t>10/4/2019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DB2F8A-9730-4A78-B1B7-EC76C7D31B3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3CBF3372-1030-4755-BE9E-1864C678527A}" type="slidenum">
              <a:rPr lang="en-GB" smtClean="0"/>
              <a:pPr/>
              <a:t>8</a:t>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EDB2F8A-9730-4A78-B1B7-EC76C7D31B3B}" type="slidenum">
              <a:rPr lang="en-US" smtClean="0"/>
              <a:pPr/>
              <a:t>18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p:spPr>
      </p:sp>
      <p:sp>
        <p:nvSpPr>
          <p:cNvPr id="4301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GB" smtClean="0"/>
          </a:p>
        </p:txBody>
      </p:sp>
      <p:sp>
        <p:nvSpPr>
          <p:cNvPr id="430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83E6A9E-18B8-4F9F-BE9D-1B388BD358B1}" type="slidenum">
              <a:rPr lang="en-GB" smtClean="0"/>
              <a:pPr/>
              <a:t>39</a:t>
            </a:fld>
            <a:endParaRPr lang="en-GB"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79D6B41D-E878-4648-B808-A7D6AC63B14A}" type="datetime1">
              <a:rPr lang="en-ZA" smtClean="0"/>
              <a:pPr/>
              <a:t>2019/10/04</a:t>
            </a:fld>
            <a:endParaRPr lang="en-ZA"/>
          </a:p>
        </p:txBody>
      </p:sp>
      <p:sp>
        <p:nvSpPr>
          <p:cNvPr id="17" name="Footer Placeholder 16"/>
          <p:cNvSpPr>
            <a:spLocks noGrp="1"/>
          </p:cNvSpPr>
          <p:nvPr>
            <p:ph type="ftr" sz="quarter" idx="11"/>
          </p:nvPr>
        </p:nvSpPr>
        <p:spPr/>
        <p:txBody>
          <a:bodyPr/>
          <a:lstStyle/>
          <a:p>
            <a:endParaRPr lang="en-ZA"/>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0D783054-B380-48EE-A685-F84AE7A6C581}" type="slidenum">
              <a:rPr lang="en-ZA" smtClean="0"/>
              <a:pPr/>
              <a:t>‹#›</a:t>
            </a:fld>
            <a:endParaRPr lang="en-ZA"/>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8C82A183-1885-482C-A4F7-D36A34B4EDF4}" type="datetime1">
              <a:rPr lang="en-ZA" smtClean="0"/>
              <a:pPr/>
              <a:t>2019/10/04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D783054-B380-48EE-A685-F84AE7A6C581}" type="slidenum">
              <a:rPr lang="en-ZA" smtClean="0"/>
              <a:pPr/>
              <a:t>‹#›</a:t>
            </a:fld>
            <a:endParaRPr lang="en-ZA"/>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7E3946E-106A-482C-9C06-61E344751D8B}" type="datetime1">
              <a:rPr lang="en-ZA" smtClean="0"/>
              <a:pPr/>
              <a:t>2019/10/04</a:t>
            </a:fld>
            <a:endParaRPr lang="en-ZA"/>
          </a:p>
        </p:txBody>
      </p:sp>
      <p:sp>
        <p:nvSpPr>
          <p:cNvPr id="5" name="Footer Placeholder 4"/>
          <p:cNvSpPr>
            <a:spLocks noGrp="1"/>
          </p:cNvSpPr>
          <p:nvPr>
            <p:ph type="ftr" sz="quarter" idx="11"/>
          </p:nvPr>
        </p:nvSpPr>
        <p:spPr>
          <a:xfrm>
            <a:off x="800100" y="6172200"/>
            <a:ext cx="4000500" cy="457200"/>
          </a:xfrm>
        </p:spPr>
        <p:txBody>
          <a:bodyPr/>
          <a:lstStyle/>
          <a:p>
            <a:endParaRPr lang="en-ZA"/>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0D783054-B380-48EE-A685-F84AE7A6C581}" type="slidenum">
              <a:rPr lang="en-ZA" smtClean="0"/>
              <a:pPr/>
              <a:t>‹#›</a:t>
            </a:fld>
            <a:endParaRPr lang="en-ZA"/>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45BA9E0A-C1B5-4AD2-91E7-BB13955F6A73}" type="datetime1">
              <a:rPr lang="en-ZA" smtClean="0"/>
              <a:pPr/>
              <a:t>2019/10/04</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0D783054-B380-48EE-A685-F84AE7A6C581}" type="slidenum">
              <a:rPr lang="en-ZA" smtClean="0"/>
              <a:pPr/>
              <a:t>‹#›</a:t>
            </a:fld>
            <a:endParaRPr lang="en-ZA"/>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6DD26ECD-293D-43B6-9767-8D310C05F9CD}" type="datetime1">
              <a:rPr lang="en-ZA" smtClean="0"/>
              <a:pPr/>
              <a:t>2019/10/04</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0D783054-B380-48EE-A685-F84AE7A6C581}" type="slidenum">
              <a:rPr lang="en-ZA" smtClean="0"/>
              <a:pPr/>
              <a:t>‹#›</a:t>
            </a:fld>
            <a:endParaRPr lang="en-ZA"/>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79048EB-8E0B-4EF9-90D0-DAC0FAFEFC8A}" type="datetime1">
              <a:rPr lang="en-ZA" smtClean="0"/>
              <a:pPr/>
              <a:t>2019/10/04</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0D783054-B380-48EE-A685-F84AE7A6C581}" type="slidenum">
              <a:rPr lang="en-ZA" smtClean="0"/>
              <a:pPr/>
              <a:t>‹#›</a:t>
            </a:fld>
            <a:endParaRPr lang="en-Z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EAFDF0-521B-4139-9901-5BEB529F03F2}" type="datetime1">
              <a:rPr lang="en-ZA" smtClean="0"/>
              <a:pPr/>
              <a:t>2019/10/04</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0D783054-B380-48EE-A685-F84AE7A6C581}" type="slidenum">
              <a:rPr lang="en-ZA" smtClean="0"/>
              <a:pPr/>
              <a:t>‹#›</a:t>
            </a:fld>
            <a:endParaRPr lang="en-Z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9C4A41D7-D793-4FC8-A1F1-30B079124AD2}" type="datetime1">
              <a:rPr lang="en-ZA" smtClean="0"/>
              <a:pPr/>
              <a:t>2019/10/04</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0D783054-B380-48EE-A685-F84AE7A6C581}" type="slidenum">
              <a:rPr lang="en-ZA" smtClean="0"/>
              <a:pPr/>
              <a:t>‹#›</a:t>
            </a:fld>
            <a:endParaRPr lang="en-ZA"/>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22F5F5F2-EFF6-4005-A699-887685691281}" type="datetime1">
              <a:rPr lang="en-ZA" smtClean="0"/>
              <a:pPr/>
              <a:t>2019/10/04</a:t>
            </a:fld>
            <a:endParaRPr lang="en-ZA"/>
          </a:p>
        </p:txBody>
      </p:sp>
      <p:sp>
        <p:nvSpPr>
          <p:cNvPr id="6" name="Footer Placeholder 5"/>
          <p:cNvSpPr>
            <a:spLocks noGrp="1"/>
          </p:cNvSpPr>
          <p:nvPr>
            <p:ph type="ftr" sz="quarter" idx="11"/>
          </p:nvPr>
        </p:nvSpPr>
        <p:spPr>
          <a:xfrm>
            <a:off x="914400" y="6172200"/>
            <a:ext cx="3886200" cy="457200"/>
          </a:xfrm>
        </p:spPr>
        <p:txBody>
          <a:bodyPr/>
          <a:lstStyle/>
          <a:p>
            <a:endParaRPr lang="en-ZA"/>
          </a:p>
        </p:txBody>
      </p:sp>
      <p:sp>
        <p:nvSpPr>
          <p:cNvPr id="7" name="Slide Number Placeholder 6"/>
          <p:cNvSpPr>
            <a:spLocks noGrp="1"/>
          </p:cNvSpPr>
          <p:nvPr>
            <p:ph type="sldNum" sz="quarter" idx="12"/>
          </p:nvPr>
        </p:nvSpPr>
        <p:spPr>
          <a:xfrm>
            <a:off x="146304" y="6208776"/>
            <a:ext cx="457200" cy="457200"/>
          </a:xfrm>
        </p:spPr>
        <p:txBody>
          <a:bodyPr/>
          <a:lstStyle/>
          <a:p>
            <a:fld id="{0D783054-B380-48EE-A685-F84AE7A6C581}" type="slidenum">
              <a:rPr lang="en-ZA" smtClean="0"/>
              <a:pPr/>
              <a:t>‹#›</a:t>
            </a:fld>
            <a:endParaRPr lang="en-ZA"/>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3B1EF7A-8CCF-4681-A659-6D4A513B9FC1}" type="datetime1">
              <a:rPr lang="en-ZA" smtClean="0"/>
              <a:pPr/>
              <a:t>2019/10/04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D783054-B380-48EE-A685-F84AE7A6C581}" type="slidenum">
              <a:rPr lang="en-ZA" smtClean="0"/>
              <a:pPr/>
              <a:t>‹#›</a:t>
            </a:fld>
            <a:endParaRPr lang="en-Z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73A409A-38A5-4A96-AA0A-7BC274F4E96D}" type="datetime1">
              <a:rPr lang="en-ZA" smtClean="0"/>
              <a:pPr/>
              <a:t>2019/10/04</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0D783054-B380-48EE-A685-F84AE7A6C581}" type="slidenum">
              <a:rPr lang="en-ZA" smtClean="0"/>
              <a:pPr/>
              <a:t>‹#›</a:t>
            </a:fld>
            <a:endParaRPr lang="en-Z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BBF8C808-B79B-4070-B7A7-88E5652E8C89}" type="datetime1">
              <a:rPr lang="en-ZA" smtClean="0"/>
              <a:pPr/>
              <a:t>2019/10/04</a:t>
            </a:fld>
            <a:endParaRPr lang="en-ZA"/>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ZA"/>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0D783054-B380-48EE-A685-F84AE7A6C581}" type="slidenum">
              <a:rPr lang="en-ZA" smtClean="0"/>
              <a:pPr/>
              <a:t>‹#›</a:t>
            </a:fld>
            <a:endParaRPr lang="en-ZA"/>
          </a:p>
        </p:txBody>
      </p:sp>
    </p:spTree>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9.jpeg"/></Relationships>
</file>

<file path=ppt/slides/_rels/slide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18.jpeg"/><Relationship Id="rId4" Type="http://schemas.openxmlformats.org/officeDocument/2006/relationships/image" Target="../media/image21.jpeg"/></Relationships>
</file>

<file path=ppt/slides/_rels/slide44.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slides/_rels/slide4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jpeg"/><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3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4186254"/>
            <a:ext cx="6400800" cy="1600200"/>
          </a:xfrm>
        </p:spPr>
        <p:txBody>
          <a:bodyPr>
            <a:normAutofit/>
          </a:bodyPr>
          <a:lstStyle/>
          <a:p>
            <a:r>
              <a:rPr lang="en-ZA" dirty="0" smtClean="0"/>
              <a:t>C. I EKE</a:t>
            </a:r>
          </a:p>
          <a:p>
            <a:r>
              <a:rPr lang="en-GB" dirty="0" err="1" smtClean="0"/>
              <a:t>eke.ifeanyi</a:t>
            </a:r>
            <a:r>
              <a:rPr lang="en-GB" dirty="0" smtClean="0"/>
              <a:t> @</a:t>
            </a:r>
            <a:r>
              <a:rPr lang="en-GB" dirty="0" err="1" smtClean="0"/>
              <a:t>fulafia.edu.ng</a:t>
            </a:r>
            <a:endParaRPr lang="en-US" dirty="0" smtClean="0"/>
          </a:p>
          <a:p>
            <a:endParaRPr lang="en-ZA" dirty="0" smtClean="0"/>
          </a:p>
        </p:txBody>
      </p:sp>
      <p:sp>
        <p:nvSpPr>
          <p:cNvPr id="2" name="Title 1"/>
          <p:cNvSpPr>
            <a:spLocks noGrp="1"/>
          </p:cNvSpPr>
          <p:nvPr>
            <p:ph type="ctrTitle"/>
          </p:nvPr>
        </p:nvSpPr>
        <p:spPr/>
        <p:txBody>
          <a:bodyPr>
            <a:normAutofit/>
          </a:bodyPr>
          <a:lstStyle/>
          <a:p>
            <a:r>
              <a:rPr lang="en-ZA" sz="3600" dirty="0" smtClean="0"/>
              <a:t>CSC 111 – Introduction to Computing</a:t>
            </a:r>
            <a:br>
              <a:rPr lang="en-ZA" sz="3600" dirty="0" smtClean="0"/>
            </a:br>
            <a:r>
              <a:rPr lang="en-ZA" sz="3600" dirty="0" smtClean="0"/>
              <a:t>lecture One</a:t>
            </a:r>
            <a:endParaRPr lang="en-ZA" sz="3600" dirty="0"/>
          </a:p>
        </p:txBody>
      </p:sp>
      <p:sp>
        <p:nvSpPr>
          <p:cNvPr id="4" name="Slide Number Placeholder 3"/>
          <p:cNvSpPr>
            <a:spLocks noGrp="1"/>
          </p:cNvSpPr>
          <p:nvPr>
            <p:ph type="sldNum" sz="quarter" idx="12"/>
          </p:nvPr>
        </p:nvSpPr>
        <p:spPr/>
        <p:txBody>
          <a:bodyPr/>
          <a:lstStyle/>
          <a:p>
            <a:fld id="{0D783054-B380-48EE-A685-F84AE7A6C581}" type="slidenum">
              <a:rPr lang="en-ZA" smtClean="0"/>
              <a:pPr/>
              <a:t>1</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Reference books</a:t>
            </a:r>
            <a:endParaRPr lang="en-ZA" dirty="0"/>
          </a:p>
        </p:txBody>
      </p:sp>
      <p:sp>
        <p:nvSpPr>
          <p:cNvPr id="4" name="Slide Number Placeholder 3"/>
          <p:cNvSpPr>
            <a:spLocks noGrp="1"/>
          </p:cNvSpPr>
          <p:nvPr>
            <p:ph type="sldNum" sz="quarter" idx="12"/>
          </p:nvPr>
        </p:nvSpPr>
        <p:spPr/>
        <p:txBody>
          <a:bodyPr/>
          <a:lstStyle/>
          <a:p>
            <a:fld id="{0D783054-B380-48EE-A685-F84AE7A6C581}" type="slidenum">
              <a:rPr lang="en-ZA" smtClean="0"/>
              <a:pPr/>
              <a:t>2</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
        <p:nvSpPr>
          <p:cNvPr id="7" name="Content Placeholder 6"/>
          <p:cNvSpPr>
            <a:spLocks noGrp="1"/>
          </p:cNvSpPr>
          <p:nvPr>
            <p:ph sz="quarter" idx="1"/>
          </p:nvPr>
        </p:nvSpPr>
        <p:spPr/>
        <p:txBody>
          <a:bodyPr/>
          <a:lstStyle/>
          <a:p>
            <a:pPr>
              <a:buNone/>
            </a:pPr>
            <a:r>
              <a:rPr lang="en-GB" dirty="0" smtClean="0"/>
              <a:t>The standard textbook for this module is given below</a:t>
            </a:r>
            <a:endParaRPr lang="en-US" dirty="0" smtClean="0"/>
          </a:p>
          <a:p>
            <a:r>
              <a:rPr lang="en-GB" dirty="0" smtClean="0"/>
              <a:t>Computer science for fresh undergraduates. </a:t>
            </a:r>
            <a:r>
              <a:rPr lang="en-GB" dirty="0" err="1" smtClean="0"/>
              <a:t>Fundermentals</a:t>
            </a:r>
            <a:r>
              <a:rPr lang="en-GB" dirty="0" smtClean="0"/>
              <a:t> of information technology, S.B. </a:t>
            </a:r>
            <a:r>
              <a:rPr lang="en-GB" dirty="0" err="1" smtClean="0"/>
              <a:t>Junaidu</a:t>
            </a:r>
            <a:r>
              <a:rPr lang="en-GB" dirty="0" smtClean="0"/>
              <a:t>.</a:t>
            </a:r>
            <a:endParaRPr lang="en-US" dirty="0" smtClean="0"/>
          </a:p>
          <a:p>
            <a:r>
              <a:rPr lang="en-GB" i="1" dirty="0" smtClean="0"/>
              <a:t>Discovering Computers 2011: Living in a Digital World , Seventh Edition</a:t>
            </a:r>
            <a:r>
              <a:rPr lang="en-GB" dirty="0" smtClean="0"/>
              <a:t>, by: Gary B. Shelly and Misty E. </a:t>
            </a:r>
            <a:r>
              <a:rPr lang="en-GB" dirty="0" err="1" smtClean="0"/>
              <a:t>Vermaat</a:t>
            </a:r>
            <a:r>
              <a:rPr lang="en-GB" dirty="0" smtClean="0"/>
              <a:t>, published by Course Technology, </a:t>
            </a:r>
            <a:r>
              <a:rPr lang="en-GB" dirty="0" err="1" smtClean="0"/>
              <a:t>Cengage</a:t>
            </a:r>
            <a:r>
              <a:rPr lang="en-GB" dirty="0" smtClean="0"/>
              <a:t> Learning. </a:t>
            </a:r>
            <a:endParaRPr lang="en-US" dirty="0" smtClean="0"/>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8746" y="274638"/>
            <a:ext cx="7300906" cy="582594"/>
          </a:xfrm>
        </p:spPr>
        <p:txBody>
          <a:bodyPr>
            <a:normAutofit fontScale="90000"/>
          </a:bodyPr>
          <a:lstStyle/>
          <a:p>
            <a:r>
              <a:rPr lang="en-ZA" dirty="0" smtClean="0"/>
              <a:t>Lecturers taking the course</a:t>
            </a:r>
            <a:endParaRPr lang="en-ZA" dirty="0"/>
          </a:p>
        </p:txBody>
      </p:sp>
      <p:sp>
        <p:nvSpPr>
          <p:cNvPr id="4" name="Slide Number Placeholder 3"/>
          <p:cNvSpPr>
            <a:spLocks noGrp="1"/>
          </p:cNvSpPr>
          <p:nvPr>
            <p:ph type="sldNum" sz="quarter" idx="12"/>
          </p:nvPr>
        </p:nvSpPr>
        <p:spPr/>
        <p:txBody>
          <a:bodyPr/>
          <a:lstStyle/>
          <a:p>
            <a:fld id="{0D783054-B380-48EE-A685-F84AE7A6C581}" type="slidenum">
              <a:rPr lang="en-ZA" smtClean="0"/>
              <a:pPr/>
              <a:t>3</a:t>
            </a:fld>
            <a:endParaRPr lang="en-ZA" dirty="0"/>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
        <p:nvSpPr>
          <p:cNvPr id="7" name="Content Placeholder 6"/>
          <p:cNvSpPr>
            <a:spLocks noGrp="1"/>
          </p:cNvSpPr>
          <p:nvPr>
            <p:ph sz="quarter" idx="1"/>
          </p:nvPr>
        </p:nvSpPr>
        <p:spPr/>
        <p:txBody>
          <a:bodyPr/>
          <a:lstStyle/>
          <a:p>
            <a:r>
              <a:rPr lang="en-GB" dirty="0" smtClean="0"/>
              <a:t>Prof. D.N </a:t>
            </a:r>
            <a:r>
              <a:rPr lang="en-GB" dirty="0" err="1" smtClean="0"/>
              <a:t>Choji</a:t>
            </a:r>
            <a:endParaRPr lang="en-GB" dirty="0" smtClean="0"/>
          </a:p>
          <a:p>
            <a:r>
              <a:rPr lang="en-GB" dirty="0" smtClean="0"/>
              <a:t>C.I Eke	(course coordinator)</a:t>
            </a:r>
          </a:p>
          <a:p>
            <a:r>
              <a:rPr lang="en-GB" dirty="0" err="1" smtClean="0"/>
              <a:t>Umar</a:t>
            </a:r>
            <a:r>
              <a:rPr lang="en-GB" dirty="0" smtClean="0"/>
              <a:t> </a:t>
            </a:r>
            <a:r>
              <a:rPr lang="en-GB" dirty="0" err="1" smtClean="0"/>
              <a:t>Bako</a:t>
            </a:r>
            <a:r>
              <a:rPr lang="en-GB" dirty="0" smtClean="0"/>
              <a:t> </a:t>
            </a:r>
          </a:p>
          <a:p>
            <a:r>
              <a:rPr lang="en-GB" dirty="0" smtClean="0"/>
              <a:t>P.A </a:t>
            </a:r>
            <a:r>
              <a:rPr lang="en-GB" dirty="0" err="1" smtClean="0"/>
              <a:t>Ochang</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Course Outline (cont.)</a:t>
            </a:r>
            <a:endParaRPr lang="en-ZA" dirty="0"/>
          </a:p>
        </p:txBody>
      </p:sp>
      <p:sp>
        <p:nvSpPr>
          <p:cNvPr id="4" name="Slide Number Placeholder 3"/>
          <p:cNvSpPr>
            <a:spLocks noGrp="1"/>
          </p:cNvSpPr>
          <p:nvPr>
            <p:ph type="sldNum" sz="quarter" idx="12"/>
          </p:nvPr>
        </p:nvSpPr>
        <p:spPr/>
        <p:txBody>
          <a:bodyPr/>
          <a:lstStyle/>
          <a:p>
            <a:fld id="{0D783054-B380-48EE-A685-F84AE7A6C581}" type="slidenum">
              <a:rPr lang="en-ZA" smtClean="0"/>
              <a:pPr/>
              <a:t>4</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
        <p:nvSpPr>
          <p:cNvPr id="7" name="Content Placeholder 6"/>
          <p:cNvSpPr>
            <a:spLocks noGrp="1"/>
          </p:cNvSpPr>
          <p:nvPr>
            <p:ph sz="quarter" idx="1"/>
          </p:nvPr>
        </p:nvSpPr>
        <p:spPr/>
        <p:txBody>
          <a:bodyPr/>
          <a:lstStyle/>
          <a:p>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Assessment</a:t>
            </a:r>
            <a:endParaRPr lang="en-ZA" dirty="0"/>
          </a:p>
        </p:txBody>
      </p:sp>
      <p:sp>
        <p:nvSpPr>
          <p:cNvPr id="3" name="Content Placeholder 2"/>
          <p:cNvSpPr>
            <a:spLocks noGrp="1"/>
          </p:cNvSpPr>
          <p:nvPr>
            <p:ph sz="quarter" idx="1"/>
          </p:nvPr>
        </p:nvSpPr>
        <p:spPr/>
        <p:txBody>
          <a:bodyPr>
            <a:normAutofit/>
          </a:bodyPr>
          <a:lstStyle/>
          <a:p>
            <a:r>
              <a:rPr lang="en-ZA" dirty="0" smtClean="0"/>
              <a:t>Assignments at the end of every lecture</a:t>
            </a:r>
          </a:p>
          <a:p>
            <a:r>
              <a:rPr lang="en-ZA" dirty="0" smtClean="0"/>
              <a:t>2 Tests</a:t>
            </a:r>
          </a:p>
          <a:p>
            <a:r>
              <a:rPr lang="en-ZA" dirty="0" smtClean="0"/>
              <a:t>Practical classes</a:t>
            </a:r>
          </a:p>
          <a:p>
            <a:r>
              <a:rPr lang="en-ZA" dirty="0" smtClean="0"/>
              <a:t>Exam</a:t>
            </a:r>
          </a:p>
          <a:p>
            <a:pPr>
              <a:buNone/>
            </a:pPr>
            <a:endParaRPr lang="en-ZA" dirty="0" smtClean="0"/>
          </a:p>
          <a:p>
            <a:endParaRPr lang="en-ZA" dirty="0" smtClean="0"/>
          </a:p>
          <a:p>
            <a:pPr>
              <a:buNone/>
            </a:pPr>
            <a:endParaRPr lang="en-ZA" dirty="0"/>
          </a:p>
        </p:txBody>
      </p:sp>
      <p:sp>
        <p:nvSpPr>
          <p:cNvPr id="4" name="Slide Number Placeholder 3"/>
          <p:cNvSpPr>
            <a:spLocks noGrp="1"/>
          </p:cNvSpPr>
          <p:nvPr>
            <p:ph type="sldNum" sz="quarter" idx="12"/>
          </p:nvPr>
        </p:nvSpPr>
        <p:spPr/>
        <p:txBody>
          <a:bodyPr/>
          <a:lstStyle/>
          <a:p>
            <a:fld id="{0D783054-B380-48EE-A685-F84AE7A6C581}" type="slidenum">
              <a:rPr lang="en-ZA" smtClean="0"/>
              <a:pPr/>
              <a:t>5</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142844" y="142876"/>
            <a:ext cx="904403" cy="7143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00" y="791234"/>
            <a:ext cx="7858180" cy="1066130"/>
          </a:xfrm>
        </p:spPr>
        <p:txBody>
          <a:bodyPr>
            <a:normAutofit fontScale="90000"/>
          </a:bodyPr>
          <a:lstStyle/>
          <a:p>
            <a:r>
              <a:rPr lang="en-US" sz="3600" b="1" dirty="0"/>
              <a:t>Introductory Concepts in Computer Science</a:t>
            </a:r>
            <a:r>
              <a:rPr lang="en-ZA" dirty="0"/>
              <a:t/>
            </a:r>
            <a:br>
              <a:rPr lang="en-ZA" dirty="0"/>
            </a:br>
            <a:endParaRPr lang="en-ZA" dirty="0"/>
          </a:p>
        </p:txBody>
      </p:sp>
      <p:sp>
        <p:nvSpPr>
          <p:cNvPr id="3" name="Content Placeholder 2"/>
          <p:cNvSpPr>
            <a:spLocks noGrp="1"/>
          </p:cNvSpPr>
          <p:nvPr>
            <p:ph sz="quarter" idx="1"/>
          </p:nvPr>
        </p:nvSpPr>
        <p:spPr/>
        <p:txBody>
          <a:bodyPr>
            <a:normAutofit/>
          </a:bodyPr>
          <a:lstStyle/>
          <a:p>
            <a:pPr algn="just">
              <a:buNone/>
            </a:pPr>
            <a:r>
              <a:rPr lang="en-US" sz="4400" dirty="0"/>
              <a:t>What is a </a:t>
            </a:r>
            <a:r>
              <a:rPr lang="en-US" sz="4400" dirty="0" smtClean="0"/>
              <a:t>Computer</a:t>
            </a:r>
            <a:r>
              <a:rPr lang="en-US" sz="4400" dirty="0"/>
              <a:t>?</a:t>
            </a:r>
            <a:endParaRPr lang="en-ZA" sz="4400" dirty="0"/>
          </a:p>
          <a:p>
            <a:pPr lvl="0" algn="just"/>
            <a:r>
              <a:rPr lang="en-US" dirty="0"/>
              <a:t>A device which senses / accepts </a:t>
            </a:r>
            <a:r>
              <a:rPr lang="en-US" dirty="0" smtClean="0"/>
              <a:t>data as inputs, </a:t>
            </a:r>
            <a:r>
              <a:rPr lang="en-US" dirty="0"/>
              <a:t>performs operations on the data based on a prearranged sequence </a:t>
            </a:r>
            <a:r>
              <a:rPr lang="en-US" dirty="0" smtClean="0"/>
              <a:t>of instructions called a </a:t>
            </a:r>
            <a:r>
              <a:rPr lang="en-US" dirty="0"/>
              <a:t>program and provides the result as an output.</a:t>
            </a:r>
            <a:endParaRPr lang="en-ZA" dirty="0"/>
          </a:p>
          <a:p>
            <a:pPr lvl="0" algn="just"/>
            <a:r>
              <a:rPr lang="en-US" dirty="0" smtClean="0"/>
              <a:t>An </a:t>
            </a:r>
            <a:r>
              <a:rPr lang="en-US" dirty="0"/>
              <a:t>electronic device for storing and processing data, typically in binary form, according to instructions given to it in a variable </a:t>
            </a:r>
            <a:r>
              <a:rPr lang="en-US" dirty="0" smtClean="0"/>
              <a:t>format. </a:t>
            </a:r>
            <a:endParaRPr lang="en-ZA" dirty="0"/>
          </a:p>
          <a:p>
            <a:endParaRPr lang="en-ZA" dirty="0"/>
          </a:p>
        </p:txBody>
      </p:sp>
      <p:sp>
        <p:nvSpPr>
          <p:cNvPr id="4" name="Slide Number Placeholder 3"/>
          <p:cNvSpPr>
            <a:spLocks noGrp="1"/>
          </p:cNvSpPr>
          <p:nvPr>
            <p:ph type="sldNum" sz="quarter" idx="12"/>
          </p:nvPr>
        </p:nvSpPr>
        <p:spPr/>
        <p:txBody>
          <a:bodyPr/>
          <a:lstStyle/>
          <a:p>
            <a:fld id="{0D783054-B380-48EE-A685-F84AE7A6C581}" type="slidenum">
              <a:rPr lang="en-ZA" smtClean="0"/>
              <a:pPr/>
              <a:t>6</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414" y="274638"/>
            <a:ext cx="7643866" cy="1011222"/>
          </a:xfrm>
        </p:spPr>
        <p:txBody>
          <a:bodyPr>
            <a:noAutofit/>
          </a:bodyPr>
          <a:lstStyle/>
          <a:p>
            <a:r>
              <a:rPr lang="en-US" sz="3200" b="1" dirty="0" smtClean="0"/>
              <a:t>Introductory Concepts in Computer Science</a:t>
            </a:r>
            <a:r>
              <a:rPr lang="en-ZA" sz="3200" dirty="0" smtClean="0"/>
              <a:t/>
            </a:r>
            <a:br>
              <a:rPr lang="en-ZA" sz="3200" dirty="0" smtClean="0"/>
            </a:br>
            <a:endParaRPr lang="en-US" sz="3200" dirty="0"/>
          </a:p>
        </p:txBody>
      </p:sp>
      <p:sp>
        <p:nvSpPr>
          <p:cNvPr id="3" name="Content Placeholder 2"/>
          <p:cNvSpPr>
            <a:spLocks noGrp="1"/>
          </p:cNvSpPr>
          <p:nvPr>
            <p:ph sz="quarter" idx="1"/>
          </p:nvPr>
        </p:nvSpPr>
        <p:spPr/>
        <p:txBody>
          <a:bodyPr/>
          <a:lstStyle/>
          <a:p>
            <a:r>
              <a:rPr lang="en-GB" dirty="0" smtClean="0"/>
              <a:t>It can also be referred to as an electronics devices / machine that are capable of accepting data as </a:t>
            </a:r>
            <a:r>
              <a:rPr lang="en-GB" i="1" dirty="0" smtClean="0"/>
              <a:t>input,</a:t>
            </a:r>
            <a:r>
              <a:rPr lang="en-GB" dirty="0" smtClean="0"/>
              <a:t> processes the data based on the </a:t>
            </a:r>
            <a:r>
              <a:rPr lang="en-GB" i="1" dirty="0" smtClean="0"/>
              <a:t>instruction</a:t>
            </a:r>
            <a:r>
              <a:rPr lang="en-GB" dirty="0" smtClean="0"/>
              <a:t> and produces result as an </a:t>
            </a:r>
            <a:r>
              <a:rPr lang="en-GB" i="1" dirty="0" smtClean="0"/>
              <a:t>output</a:t>
            </a:r>
            <a:r>
              <a:rPr lang="en-GB" dirty="0" smtClean="0"/>
              <a:t>.</a:t>
            </a:r>
          </a:p>
          <a:p>
            <a:endParaRPr lang="en-US" dirty="0"/>
          </a:p>
        </p:txBody>
      </p:sp>
      <p:sp>
        <p:nvSpPr>
          <p:cNvPr id="4" name="Slide Number Placeholder 3"/>
          <p:cNvSpPr>
            <a:spLocks noGrp="1"/>
          </p:cNvSpPr>
          <p:nvPr>
            <p:ph type="sldNum" sz="quarter" idx="12"/>
          </p:nvPr>
        </p:nvSpPr>
        <p:spPr/>
        <p:txBody>
          <a:bodyPr/>
          <a:lstStyle/>
          <a:p>
            <a:fld id="{0D783054-B380-48EE-A685-F84AE7A6C581}" type="slidenum">
              <a:rPr lang="en-ZA" smtClean="0"/>
              <a:pPr/>
              <a:t>7</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28" y="274638"/>
            <a:ext cx="7467600" cy="725470"/>
          </a:xfrm>
        </p:spPr>
        <p:txBody>
          <a:bodyPr>
            <a:normAutofit fontScale="90000"/>
          </a:bodyPr>
          <a:lstStyle/>
          <a:p>
            <a:r>
              <a:rPr lang="en-GB" dirty="0" smtClean="0"/>
              <a:t>Characteristic of computer System</a:t>
            </a:r>
            <a:endParaRPr lang="en-GB" dirty="0"/>
          </a:p>
        </p:txBody>
      </p:sp>
      <p:sp>
        <p:nvSpPr>
          <p:cNvPr id="4" name="Slide Number Placeholder 3"/>
          <p:cNvSpPr>
            <a:spLocks noGrp="1"/>
          </p:cNvSpPr>
          <p:nvPr>
            <p:ph type="sldNum" sz="quarter" idx="12"/>
          </p:nvPr>
        </p:nvSpPr>
        <p:spPr>
          <a:xfrm>
            <a:off x="8143900" y="6215082"/>
            <a:ext cx="609600" cy="521208"/>
          </a:xfrm>
          <a:prstGeom prst="rect">
            <a:avLst/>
          </a:prstGeom>
        </p:spPr>
        <p:txBody>
          <a:bodyPr/>
          <a:lstStyle/>
          <a:p>
            <a:fld id="{922B45CC-9ACA-42A7-ADD8-E4B2103520F8}" type="slidenum">
              <a:rPr lang="en-GB" smtClean="0"/>
              <a:pPr/>
              <a:t>8</a:t>
            </a:fld>
            <a:endParaRPr lang="en-GB" dirty="0"/>
          </a:p>
        </p:txBody>
      </p:sp>
      <p:sp>
        <p:nvSpPr>
          <p:cNvPr id="3" name="Content Placeholder 2"/>
          <p:cNvSpPr>
            <a:spLocks noGrp="1"/>
          </p:cNvSpPr>
          <p:nvPr>
            <p:ph sz="quarter" idx="1"/>
          </p:nvPr>
        </p:nvSpPr>
        <p:spPr>
          <a:xfrm>
            <a:off x="457200" y="1241304"/>
            <a:ext cx="8043890" cy="5402406"/>
          </a:xfrm>
        </p:spPr>
        <p:txBody>
          <a:bodyPr>
            <a:normAutofit/>
          </a:bodyPr>
          <a:lstStyle/>
          <a:p>
            <a:pPr algn="just">
              <a:buNone/>
            </a:pPr>
            <a:r>
              <a:rPr lang="en-GB" dirty="0" smtClean="0">
                <a:latin typeface="Calibri" pitchFamily="34" charset="0"/>
                <a:cs typeface="Calibri" pitchFamily="34" charset="0"/>
              </a:rPr>
              <a:t>Despite their differences in shape and size, they share several common basic characteristics.</a:t>
            </a:r>
          </a:p>
          <a:p>
            <a:pPr algn="just">
              <a:buNone/>
            </a:pPr>
            <a:endParaRPr lang="en-GB" dirty="0" smtClean="0">
              <a:latin typeface="Calibri" pitchFamily="34" charset="0"/>
              <a:cs typeface="Calibri" pitchFamily="34" charset="0"/>
            </a:endParaRPr>
          </a:p>
          <a:p>
            <a:pPr algn="just"/>
            <a:r>
              <a:rPr lang="en-GB" i="1" dirty="0" smtClean="0">
                <a:latin typeface="Calibri" pitchFamily="34" charset="0"/>
                <a:cs typeface="Calibri" pitchFamily="34" charset="0"/>
              </a:rPr>
              <a:t>Speed</a:t>
            </a:r>
          </a:p>
          <a:p>
            <a:pPr algn="just"/>
            <a:r>
              <a:rPr lang="en-GB" i="1" dirty="0" smtClean="0">
                <a:latin typeface="Calibri" pitchFamily="34" charset="0"/>
                <a:cs typeface="Calibri" pitchFamily="34" charset="0"/>
              </a:rPr>
              <a:t>Storage ability</a:t>
            </a:r>
          </a:p>
          <a:p>
            <a:pPr algn="just"/>
            <a:r>
              <a:rPr lang="en-GB" i="1" dirty="0" smtClean="0">
                <a:latin typeface="Calibri" pitchFamily="34" charset="0"/>
                <a:cs typeface="Calibri" pitchFamily="34" charset="0"/>
              </a:rPr>
              <a:t>No IQ</a:t>
            </a:r>
          </a:p>
          <a:p>
            <a:pPr algn="just"/>
            <a:r>
              <a:rPr lang="en-GB" i="1" dirty="0" smtClean="0">
                <a:latin typeface="Calibri" pitchFamily="34" charset="0"/>
                <a:cs typeface="Calibri" pitchFamily="34" charset="0"/>
              </a:rPr>
              <a:t>Accuracy</a:t>
            </a:r>
          </a:p>
          <a:p>
            <a:pPr algn="just"/>
            <a:r>
              <a:rPr lang="en-GB" i="1" dirty="0" smtClean="0">
                <a:latin typeface="Calibri" pitchFamily="34" charset="0"/>
                <a:cs typeface="Calibri" pitchFamily="34" charset="0"/>
              </a:rPr>
              <a:t>Versatility</a:t>
            </a:r>
          </a:p>
          <a:p>
            <a:pPr algn="just"/>
            <a:r>
              <a:rPr lang="en-GB" i="1" dirty="0" smtClean="0">
                <a:latin typeface="Calibri" pitchFamily="34" charset="0"/>
                <a:cs typeface="Calibri" pitchFamily="34" charset="0"/>
              </a:rPr>
              <a:t>Diligence</a:t>
            </a:r>
          </a:p>
          <a:p>
            <a:pPr algn="just"/>
            <a:r>
              <a:rPr lang="en-GB" i="1" dirty="0" smtClean="0">
                <a:latin typeface="Calibri" pitchFamily="34" charset="0"/>
                <a:cs typeface="Calibri" pitchFamily="34" charset="0"/>
              </a:rPr>
              <a:t>Power of Remembering</a:t>
            </a:r>
          </a:p>
          <a:p>
            <a:pPr algn="just"/>
            <a:r>
              <a:rPr lang="en-GB" i="1" dirty="0" smtClean="0">
                <a:latin typeface="Calibri" pitchFamily="34" charset="0"/>
                <a:cs typeface="Calibri" pitchFamily="34" charset="0"/>
              </a:rPr>
              <a:t>programmability</a:t>
            </a:r>
          </a:p>
        </p:txBody>
      </p:sp>
      <p:pic>
        <p:nvPicPr>
          <p:cNvPr id="6" name="Picture 5" descr="logo"/>
          <p:cNvPicPr>
            <a:picLocks noChangeAspect="1" noChangeArrowheads="1"/>
          </p:cNvPicPr>
          <p:nvPr/>
        </p:nvPicPr>
        <p:blipFill>
          <a:blip r:embed="rId3"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720" y="1000108"/>
            <a:ext cx="8429684" cy="6463308"/>
          </a:xfrm>
          <a:prstGeom prst="rect">
            <a:avLst/>
          </a:prstGeom>
        </p:spPr>
        <p:txBody>
          <a:bodyPr wrap="square">
            <a:spAutoFit/>
          </a:bodyPr>
          <a:lstStyle/>
          <a:p>
            <a:pPr marL="457200" indent="-457200" algn="just">
              <a:buAutoNum type="arabicPeriod"/>
            </a:pPr>
            <a:r>
              <a:rPr lang="en-GB" sz="2000" b="1" dirty="0" smtClean="0">
                <a:latin typeface="Calibri" pitchFamily="34" charset="0"/>
                <a:cs typeface="Calibri" pitchFamily="34" charset="0"/>
              </a:rPr>
              <a:t>Speed:</a:t>
            </a:r>
            <a:r>
              <a:rPr lang="en-GB" sz="2000" dirty="0" smtClean="0">
                <a:latin typeface="Calibri" pitchFamily="34" charset="0"/>
                <a:cs typeface="Calibri" pitchFamily="34" charset="0"/>
              </a:rPr>
              <a:t> computers work very fast. A computer has no problem in solving thousands of problems within a second or even microsecond, nanosecond, or </a:t>
            </a:r>
            <a:r>
              <a:rPr lang="en-GB" sz="2000" dirty="0" err="1" smtClean="0">
                <a:latin typeface="Calibri" pitchFamily="34" charset="0"/>
                <a:cs typeface="Calibri" pitchFamily="34" charset="0"/>
              </a:rPr>
              <a:t>pico</a:t>
            </a:r>
            <a:r>
              <a:rPr lang="en-GB" sz="2000" dirty="0" smtClean="0">
                <a:latin typeface="Calibri" pitchFamily="34" charset="0"/>
                <a:cs typeface="Calibri" pitchFamily="34" charset="0"/>
              </a:rPr>
              <a:t> second. </a:t>
            </a:r>
          </a:p>
          <a:p>
            <a:pPr marL="457200" indent="-457200" algn="just"/>
            <a:endParaRPr lang="en-GB" sz="2000" dirty="0" smtClean="0">
              <a:latin typeface="Calibri" pitchFamily="34" charset="0"/>
              <a:cs typeface="Calibri" pitchFamily="34" charset="0"/>
            </a:endParaRPr>
          </a:p>
          <a:p>
            <a:pPr marL="457200" indent="-457200" algn="just">
              <a:buAutoNum type="arabicPeriod" startAt="2"/>
            </a:pPr>
            <a:r>
              <a:rPr lang="en-GB" sz="2000" b="1" dirty="0" smtClean="0">
                <a:latin typeface="Calibri" pitchFamily="34" charset="0"/>
                <a:cs typeface="Calibri" pitchFamily="34" charset="0"/>
              </a:rPr>
              <a:t>Storage ability: </a:t>
            </a:r>
            <a:r>
              <a:rPr lang="en-GB" sz="2000" dirty="0" smtClean="0">
                <a:latin typeface="Calibri" pitchFamily="34" charset="0"/>
                <a:cs typeface="Calibri" pitchFamily="34" charset="0"/>
              </a:rPr>
              <a:t>due to auxiliary storage unit, unlimited amounts of information can be stored in a computer system. This information is never forgotten unless it is deleted, removed or changed. Therefore the information stored inside the computer is reliably stored and easier to retrieve when needed.</a:t>
            </a:r>
          </a:p>
          <a:p>
            <a:pPr marL="457200" indent="-457200" algn="just">
              <a:buAutoNum type="arabicPeriod" startAt="2"/>
            </a:pPr>
            <a:endParaRPr lang="en-GB" sz="2000" dirty="0" smtClean="0">
              <a:latin typeface="Calibri" pitchFamily="34" charset="0"/>
              <a:cs typeface="Calibri" pitchFamily="34" charset="0"/>
            </a:endParaRPr>
          </a:p>
          <a:p>
            <a:pPr marL="457200" indent="-457200" algn="just">
              <a:buAutoNum type="arabicPeriod" startAt="2"/>
            </a:pPr>
            <a:r>
              <a:rPr lang="en-GB" sz="2000" dirty="0" smtClean="0">
                <a:latin typeface="Calibri" pitchFamily="34" charset="0"/>
                <a:cs typeface="Calibri" pitchFamily="34" charset="0"/>
              </a:rPr>
              <a:t>NO IQ: computer cannot do any work without instruction from the user. It is the user who decides what the computer  should do, how it should be done and the moment the task should be carried out.</a:t>
            </a:r>
          </a:p>
          <a:p>
            <a:pPr marL="457200" indent="-457200" algn="just">
              <a:buAutoNum type="arabicPeriod" startAt="2"/>
            </a:pPr>
            <a:endParaRPr lang="en-GB" sz="2000" dirty="0" smtClean="0">
              <a:latin typeface="Calibri" pitchFamily="34" charset="0"/>
              <a:cs typeface="Calibri" pitchFamily="34" charset="0"/>
            </a:endParaRPr>
          </a:p>
          <a:p>
            <a:pPr marL="457200" indent="-457200" algn="just">
              <a:buAutoNum type="arabicPeriod" startAt="2"/>
            </a:pPr>
            <a:r>
              <a:rPr lang="en-GB" sz="2000" dirty="0" smtClean="0">
                <a:latin typeface="Calibri" pitchFamily="34" charset="0"/>
                <a:cs typeface="Calibri" pitchFamily="34" charset="0"/>
              </a:rPr>
              <a:t>Diligence: a computer is free from tiredness, lack of concentration, fatigue, etc . It can work for hours without creating any error.</a:t>
            </a:r>
          </a:p>
          <a:p>
            <a:pPr marL="457200" indent="-457200" algn="just">
              <a:buAutoNum type="arabicPeriod" startAt="2"/>
            </a:pPr>
            <a:r>
              <a:rPr lang="en-GB" sz="2000" dirty="0" smtClean="0">
                <a:latin typeface="Calibri" pitchFamily="34" charset="0"/>
                <a:cs typeface="Calibri" pitchFamily="34" charset="0"/>
              </a:rPr>
              <a:t>Power of remembering: computer has the power of storing any amount of information or data and for several years. </a:t>
            </a:r>
          </a:p>
          <a:p>
            <a:pPr marL="342900" indent="-342900" algn="just"/>
            <a:endParaRPr lang="en-GB" dirty="0" smtClean="0">
              <a:latin typeface="Calibri" pitchFamily="34" charset="0"/>
              <a:cs typeface="Calibri" pitchFamily="34" charset="0"/>
            </a:endParaRPr>
          </a:p>
          <a:p>
            <a:pPr marL="457200" indent="-457200" algn="just"/>
            <a:endParaRPr lang="en-GB" dirty="0" smtClean="0">
              <a:latin typeface="Calibri" pitchFamily="34" charset="0"/>
              <a:cs typeface="Calibri" pitchFamily="34" charset="0"/>
            </a:endParaRPr>
          </a:p>
          <a:p>
            <a:pPr marL="457200" indent="-457200" algn="just">
              <a:buAutoNum type="arabicPeriod"/>
            </a:pPr>
            <a:endParaRPr lang="en-GB" dirty="0" smtClean="0"/>
          </a:p>
        </p:txBody>
      </p:sp>
      <p:sp>
        <p:nvSpPr>
          <p:cNvPr id="3" name="Slide Number Placeholder 2"/>
          <p:cNvSpPr>
            <a:spLocks noGrp="1"/>
          </p:cNvSpPr>
          <p:nvPr>
            <p:ph type="sldNum" sz="quarter" idx="12"/>
          </p:nvPr>
        </p:nvSpPr>
        <p:spPr/>
        <p:txBody>
          <a:bodyPr/>
          <a:lstStyle/>
          <a:p>
            <a:fld id="{0D783054-B380-48EE-A685-F84AE7A6C581}" type="slidenum">
              <a:rPr lang="en-ZA" smtClean="0"/>
              <a:pPr/>
              <a:t>9</a:t>
            </a:fld>
            <a:endParaRPr lang="en-ZA"/>
          </a:p>
        </p:txBody>
      </p:sp>
      <p:pic>
        <p:nvPicPr>
          <p:cNvPr id="5" name="Picture 4"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
        <p:nvSpPr>
          <p:cNvPr id="6" name="Rectangle 5"/>
          <p:cNvSpPr/>
          <p:nvPr/>
        </p:nvSpPr>
        <p:spPr>
          <a:xfrm>
            <a:off x="1285852" y="357166"/>
            <a:ext cx="6643734" cy="523220"/>
          </a:xfrm>
          <a:prstGeom prst="rect">
            <a:avLst/>
          </a:prstGeom>
        </p:spPr>
        <p:txBody>
          <a:bodyPr wrap="square">
            <a:spAutoFit/>
          </a:bodyPr>
          <a:lstStyle/>
          <a:p>
            <a:r>
              <a:rPr lang="en-GB" sz="2800" dirty="0" smtClean="0">
                <a:latin typeface="Calibri" pitchFamily="34" charset="0"/>
                <a:cs typeface="Calibri" pitchFamily="34" charset="0"/>
              </a:rPr>
              <a:t>Characteristic of computer System</a:t>
            </a:r>
            <a:endParaRPr lang="en-US" sz="2800"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662" y="1142984"/>
            <a:ext cx="7772400" cy="654032"/>
          </a:xfrm>
        </p:spPr>
        <p:txBody>
          <a:bodyPr>
            <a:normAutofit fontScale="90000"/>
          </a:bodyPr>
          <a:lstStyle/>
          <a:p>
            <a:r>
              <a:rPr lang="en-GB" dirty="0" smtClean="0">
                <a:latin typeface="Calibri" pitchFamily="34" charset="0"/>
                <a:cs typeface="Calibri" pitchFamily="34" charset="0"/>
              </a:rPr>
              <a:t>Characteristic of computer System</a:t>
            </a:r>
            <a:r>
              <a:rPr lang="en-US" dirty="0" smtClean="0">
                <a:latin typeface="Calibri" pitchFamily="34" charset="0"/>
                <a:cs typeface="Calibri" pitchFamily="34" charset="0"/>
              </a:rPr>
              <a:t/>
            </a:r>
            <a:br>
              <a:rPr lang="en-US" dirty="0" smtClean="0">
                <a:latin typeface="Calibri" pitchFamily="34" charset="0"/>
                <a:cs typeface="Calibri" pitchFamily="34" charset="0"/>
              </a:rPr>
            </a:br>
            <a:endParaRPr lang="en-US" dirty="0"/>
          </a:p>
        </p:txBody>
      </p:sp>
      <p:sp>
        <p:nvSpPr>
          <p:cNvPr id="3" name="Slide Number Placeholder 2"/>
          <p:cNvSpPr>
            <a:spLocks noGrp="1"/>
          </p:cNvSpPr>
          <p:nvPr>
            <p:ph type="sldNum" sz="quarter" idx="12"/>
          </p:nvPr>
        </p:nvSpPr>
        <p:spPr/>
        <p:txBody>
          <a:bodyPr/>
          <a:lstStyle/>
          <a:p>
            <a:fld id="{0D783054-B380-48EE-A685-F84AE7A6C581}" type="slidenum">
              <a:rPr lang="en-ZA" smtClean="0"/>
              <a:pPr/>
              <a:t>10</a:t>
            </a:fld>
            <a:endParaRPr lang="en-ZA"/>
          </a:p>
        </p:txBody>
      </p:sp>
      <p:sp>
        <p:nvSpPr>
          <p:cNvPr id="4" name="Content Placeholder 3"/>
          <p:cNvSpPr>
            <a:spLocks noGrp="1"/>
          </p:cNvSpPr>
          <p:nvPr>
            <p:ph sz="quarter" idx="1"/>
          </p:nvPr>
        </p:nvSpPr>
        <p:spPr/>
        <p:txBody>
          <a:bodyPr>
            <a:normAutofit fontScale="77500" lnSpcReduction="20000"/>
          </a:bodyPr>
          <a:lstStyle/>
          <a:p>
            <a:pPr marL="457200" indent="-457200" algn="just">
              <a:buAutoNum type="arabicPeriod" startAt="2"/>
            </a:pPr>
            <a:endParaRPr lang="en-GB" dirty="0" smtClean="0">
              <a:latin typeface="Calibri" pitchFamily="34" charset="0"/>
              <a:cs typeface="Calibri" pitchFamily="34" charset="0"/>
            </a:endParaRPr>
          </a:p>
          <a:p>
            <a:pPr marL="514350" indent="-514350" algn="just">
              <a:buFont typeface="+mj-lt"/>
              <a:buAutoNum type="arabicPeriod" startAt="6"/>
            </a:pPr>
            <a:r>
              <a:rPr lang="en-GB" dirty="0" smtClean="0">
                <a:latin typeface="Calibri" pitchFamily="34" charset="0"/>
                <a:cs typeface="Calibri" pitchFamily="34" charset="0"/>
              </a:rPr>
              <a:t> </a:t>
            </a:r>
            <a:r>
              <a:rPr lang="en-GB" b="1" dirty="0" smtClean="0">
                <a:latin typeface="Calibri" pitchFamily="34" charset="0"/>
                <a:cs typeface="Calibri" pitchFamily="34" charset="0"/>
              </a:rPr>
              <a:t>Accuracy</a:t>
            </a:r>
            <a:r>
              <a:rPr lang="en-GB" dirty="0" smtClean="0">
                <a:latin typeface="Calibri" pitchFamily="34" charset="0"/>
                <a:cs typeface="Calibri" pitchFamily="34" charset="0"/>
              </a:rPr>
              <a:t>: it is a very accurate and reliable machine though not every result is      Accurate. Computers nowadays are able to report if the hardware misbehaves while processing information or if the information proceeding from one unit to another is corrupted. They perform finite arithmetic or calculation. </a:t>
            </a:r>
          </a:p>
          <a:p>
            <a:pPr marL="514350" indent="-514350" algn="just">
              <a:buFont typeface="+mj-lt"/>
              <a:buAutoNum type="arabicPeriod" startAt="6"/>
            </a:pPr>
            <a:endParaRPr lang="en-GB" dirty="0" smtClean="0">
              <a:latin typeface="Calibri" pitchFamily="34" charset="0"/>
              <a:cs typeface="Calibri" pitchFamily="34" charset="0"/>
            </a:endParaRPr>
          </a:p>
          <a:p>
            <a:pPr marL="514350" indent="-514350" algn="just">
              <a:buFont typeface="+mj-lt"/>
              <a:buAutoNum type="arabicPeriod" startAt="6"/>
            </a:pPr>
            <a:r>
              <a:rPr lang="en-GB" dirty="0" smtClean="0">
                <a:latin typeface="Calibri" pitchFamily="34" charset="0"/>
                <a:cs typeface="Calibri" pitchFamily="34" charset="0"/>
              </a:rPr>
              <a:t>Versatility: the same computer can perform different type of work. The same computer can be used for playing video game, for managing a business, for editing a word document.</a:t>
            </a:r>
          </a:p>
          <a:p>
            <a:pPr marL="514350" indent="-514350" algn="just">
              <a:buFont typeface="+mj-lt"/>
              <a:buAutoNum type="arabicPeriod" startAt="6"/>
            </a:pPr>
            <a:endParaRPr lang="en-GB" dirty="0" smtClean="0">
              <a:latin typeface="Calibri" pitchFamily="34" charset="0"/>
              <a:cs typeface="Calibri" pitchFamily="34" charset="0"/>
            </a:endParaRPr>
          </a:p>
          <a:p>
            <a:pPr marL="514350" indent="-514350" algn="just">
              <a:buFont typeface="+mj-lt"/>
              <a:buAutoNum type="arabicPeriod" startAt="6"/>
            </a:pPr>
            <a:endParaRPr lang="en-GB" dirty="0" smtClean="0">
              <a:latin typeface="Calibri" pitchFamily="34" charset="0"/>
              <a:cs typeface="Calibri" pitchFamily="34" charset="0"/>
            </a:endParaRPr>
          </a:p>
          <a:p>
            <a:pPr marL="514350" indent="-514350" algn="just">
              <a:buFont typeface="+mj-lt"/>
              <a:buAutoNum type="arabicPeriod" startAt="6"/>
            </a:pPr>
            <a:r>
              <a:rPr lang="en-GB" b="1" dirty="0" smtClean="0">
                <a:latin typeface="Calibri" pitchFamily="34" charset="0"/>
                <a:cs typeface="Calibri" pitchFamily="34" charset="0"/>
              </a:rPr>
              <a:t>Programmability: </a:t>
            </a:r>
            <a:r>
              <a:rPr lang="en-GB" dirty="0" smtClean="0">
                <a:latin typeface="Calibri" pitchFamily="34" charset="0"/>
                <a:cs typeface="Calibri" pitchFamily="34" charset="0"/>
              </a:rPr>
              <a:t>this is one of the unique characteristics that distinguish computer from other calculating machines (Calculator). A computer can be programmed to perform any desired Operation, ranging from business to Sciences, economy , environmental study.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1342330"/>
            <a:ext cx="8501122" cy="4801314"/>
          </a:xfrm>
          <a:prstGeom prst="rect">
            <a:avLst/>
          </a:prstGeom>
        </p:spPr>
        <p:txBody>
          <a:bodyPr wrap="square">
            <a:spAutoFit/>
          </a:bodyPr>
          <a:lstStyle/>
          <a:p>
            <a:r>
              <a:rPr lang="en-GB" sz="2800" b="1" dirty="0" smtClean="0"/>
              <a:t>What Is Computer Science? </a:t>
            </a:r>
            <a:br>
              <a:rPr lang="en-GB" sz="2800" b="1" dirty="0" smtClean="0"/>
            </a:br>
            <a:r>
              <a:rPr lang="en-GB" sz="2800" b="1" dirty="0" smtClean="0"/>
              <a:t>Some Possible Misconceptions Are:</a:t>
            </a:r>
            <a:endParaRPr lang="en-GB" sz="2800" dirty="0" smtClean="0"/>
          </a:p>
          <a:p>
            <a:endParaRPr lang="en-GB" sz="2800" dirty="0" smtClean="0"/>
          </a:p>
          <a:p>
            <a:r>
              <a:rPr lang="en-GB" sz="2800" dirty="0" smtClean="0"/>
              <a:t>The study of Computers</a:t>
            </a:r>
          </a:p>
          <a:p>
            <a:pPr>
              <a:buNone/>
            </a:pPr>
            <a:endParaRPr lang="en-GB" sz="2800" dirty="0" smtClean="0"/>
          </a:p>
          <a:p>
            <a:r>
              <a:rPr lang="en-GB" sz="2800" dirty="0" smtClean="0"/>
              <a:t>Programming and programming languages</a:t>
            </a:r>
          </a:p>
          <a:p>
            <a:pPr>
              <a:buNone/>
            </a:pPr>
            <a:endParaRPr lang="en-GB" sz="2800" dirty="0" smtClean="0"/>
          </a:p>
          <a:p>
            <a:r>
              <a:rPr lang="en-GB" sz="2800" dirty="0" smtClean="0"/>
              <a:t>Applications software like MS word, Adobe Photoshop, </a:t>
            </a:r>
            <a:r>
              <a:rPr lang="en-GB" sz="2800" dirty="0" err="1" smtClean="0"/>
              <a:t>Vlc</a:t>
            </a:r>
            <a:r>
              <a:rPr lang="en-GB" sz="2800" dirty="0" smtClean="0"/>
              <a:t> player, Mp3 player, Video games</a:t>
            </a:r>
          </a:p>
          <a:p>
            <a:endParaRPr lang="en-GB" dirty="0" smtClean="0"/>
          </a:p>
          <a:p>
            <a:endParaRPr lang="en-GB" dirty="0" smtClean="0"/>
          </a:p>
          <a:p>
            <a:endParaRPr lang="en-GB" dirty="0" smtClean="0"/>
          </a:p>
        </p:txBody>
      </p:sp>
      <p:sp>
        <p:nvSpPr>
          <p:cNvPr id="3" name="Slide Number Placeholder 2"/>
          <p:cNvSpPr>
            <a:spLocks noGrp="1"/>
          </p:cNvSpPr>
          <p:nvPr>
            <p:ph type="sldNum" sz="quarter" idx="12"/>
          </p:nvPr>
        </p:nvSpPr>
        <p:spPr/>
        <p:txBody>
          <a:bodyPr/>
          <a:lstStyle/>
          <a:p>
            <a:fld id="{0D783054-B380-48EE-A685-F84AE7A6C581}" type="slidenum">
              <a:rPr lang="en-ZA" smtClean="0"/>
              <a:pPr/>
              <a:t>11</a:t>
            </a:fld>
            <a:endParaRPr lang="en-ZA"/>
          </a:p>
        </p:txBody>
      </p:sp>
      <p:pic>
        <p:nvPicPr>
          <p:cNvPr id="5" name="Picture 4"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4282" y="928670"/>
            <a:ext cx="8643998" cy="5262979"/>
          </a:xfrm>
          <a:prstGeom prst="rect">
            <a:avLst/>
          </a:prstGeom>
        </p:spPr>
        <p:txBody>
          <a:bodyPr wrap="square">
            <a:spAutoFit/>
          </a:bodyPr>
          <a:lstStyle/>
          <a:p>
            <a:pPr algn="just"/>
            <a:r>
              <a:rPr lang="en-GB" sz="2400" dirty="0" smtClean="0">
                <a:latin typeface="Calibri" pitchFamily="34" charset="0"/>
                <a:cs typeface="Calibri" pitchFamily="34" charset="0"/>
              </a:rPr>
              <a:t>A widely accepted definition of Computer science was given by Norman Gibbs and Allen Tucker:</a:t>
            </a:r>
          </a:p>
          <a:p>
            <a:pPr algn="just">
              <a:buNone/>
            </a:pPr>
            <a:r>
              <a:rPr lang="en-GB" sz="2400" b="1" dirty="0" smtClean="0">
                <a:latin typeface="Calibri" pitchFamily="34" charset="0"/>
                <a:cs typeface="Calibri" pitchFamily="34" charset="0"/>
              </a:rPr>
              <a:t>Computer Science </a:t>
            </a:r>
            <a:r>
              <a:rPr lang="en-GB" sz="2400" dirty="0" smtClean="0">
                <a:latin typeface="Calibri" pitchFamily="34" charset="0"/>
                <a:cs typeface="Calibri" pitchFamily="34" charset="0"/>
              </a:rPr>
              <a:t>is the study of Algorithms, especially their</a:t>
            </a:r>
          </a:p>
          <a:p>
            <a:pPr algn="just">
              <a:buNone/>
            </a:pPr>
            <a:endParaRPr lang="en-GB" sz="2400" dirty="0" smtClean="0">
              <a:latin typeface="Calibri" pitchFamily="34" charset="0"/>
              <a:cs typeface="Calibri" pitchFamily="34" charset="0"/>
            </a:endParaRPr>
          </a:p>
          <a:p>
            <a:pPr lvl="1" algn="just">
              <a:buFont typeface="Wingdings" pitchFamily="2" charset="2"/>
              <a:buChar char="v"/>
            </a:pPr>
            <a:r>
              <a:rPr lang="en-GB" sz="2400" dirty="0" smtClean="0">
                <a:latin typeface="Calibri" pitchFamily="34" charset="0"/>
                <a:cs typeface="Calibri" pitchFamily="34" charset="0"/>
              </a:rPr>
              <a:t>Mathematical Properties: Correctness, Efficiency, Complexity (time and space)</a:t>
            </a:r>
          </a:p>
          <a:p>
            <a:pPr lvl="1" algn="just"/>
            <a:endParaRPr lang="en-GB" sz="2400" dirty="0" smtClean="0">
              <a:latin typeface="Calibri" pitchFamily="34" charset="0"/>
              <a:cs typeface="Calibri" pitchFamily="34" charset="0"/>
            </a:endParaRPr>
          </a:p>
          <a:p>
            <a:pPr lvl="1" algn="just">
              <a:buFont typeface="Wingdings" pitchFamily="2" charset="2"/>
              <a:buChar char="v"/>
            </a:pPr>
            <a:r>
              <a:rPr lang="en-GB" sz="2400" dirty="0" smtClean="0">
                <a:latin typeface="Calibri" pitchFamily="34" charset="0"/>
                <a:cs typeface="Calibri" pitchFamily="34" charset="0"/>
              </a:rPr>
              <a:t>Hardware Realizations: Logic Gates, Circuits, Architecture</a:t>
            </a:r>
          </a:p>
          <a:p>
            <a:pPr lvl="1" algn="just"/>
            <a:endParaRPr lang="en-GB" sz="2400" dirty="0" smtClean="0">
              <a:latin typeface="Calibri" pitchFamily="34" charset="0"/>
              <a:cs typeface="Calibri" pitchFamily="34" charset="0"/>
            </a:endParaRPr>
          </a:p>
          <a:p>
            <a:pPr lvl="1" algn="just">
              <a:buFont typeface="Wingdings" pitchFamily="2" charset="2"/>
              <a:buChar char="v"/>
            </a:pPr>
            <a:r>
              <a:rPr lang="en-GB" sz="2400" dirty="0" smtClean="0">
                <a:latin typeface="Calibri" pitchFamily="34" charset="0"/>
                <a:cs typeface="Calibri" pitchFamily="34" charset="0"/>
              </a:rPr>
              <a:t>Software Realizations: Programming and Programming Methodologies</a:t>
            </a:r>
          </a:p>
          <a:p>
            <a:pPr lvl="1" algn="just"/>
            <a:endParaRPr lang="en-GB" sz="2400" dirty="0" smtClean="0">
              <a:latin typeface="Calibri" pitchFamily="34" charset="0"/>
              <a:cs typeface="Calibri" pitchFamily="34" charset="0"/>
            </a:endParaRPr>
          </a:p>
          <a:p>
            <a:pPr lvl="1" algn="just">
              <a:buFont typeface="Wingdings" pitchFamily="2" charset="2"/>
              <a:buChar char="v"/>
            </a:pPr>
            <a:r>
              <a:rPr lang="en-GB" sz="2400" dirty="0" smtClean="0">
                <a:latin typeface="Calibri" pitchFamily="34" charset="0"/>
                <a:cs typeface="Calibri" pitchFamily="34" charset="0"/>
              </a:rPr>
              <a:t>Applications to Other Disciplines: Mathematics, Physics, Engineering, Business</a:t>
            </a:r>
          </a:p>
        </p:txBody>
      </p:sp>
      <p:sp>
        <p:nvSpPr>
          <p:cNvPr id="3" name="Slide Number Placeholder 2"/>
          <p:cNvSpPr>
            <a:spLocks noGrp="1"/>
          </p:cNvSpPr>
          <p:nvPr>
            <p:ph type="sldNum" sz="quarter" idx="12"/>
          </p:nvPr>
        </p:nvSpPr>
        <p:spPr/>
        <p:txBody>
          <a:bodyPr/>
          <a:lstStyle/>
          <a:p>
            <a:fld id="{0D783054-B380-48EE-A685-F84AE7A6C581}" type="slidenum">
              <a:rPr lang="en-ZA" smtClean="0"/>
              <a:pPr/>
              <a:t>12</a:t>
            </a:fld>
            <a:endParaRPr lang="en-ZA"/>
          </a:p>
        </p:txBody>
      </p:sp>
      <p:pic>
        <p:nvPicPr>
          <p:cNvPr id="5" name="Picture 4"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t>
            </a:r>
            <a:endParaRPr lang="en-US" dirty="0"/>
          </a:p>
        </p:txBody>
      </p:sp>
      <p:sp>
        <p:nvSpPr>
          <p:cNvPr id="3" name="Content Placeholder 2"/>
          <p:cNvSpPr>
            <a:spLocks noGrp="1"/>
          </p:cNvSpPr>
          <p:nvPr>
            <p:ph sz="quarter" idx="1"/>
          </p:nvPr>
        </p:nvSpPr>
        <p:spPr>
          <a:xfrm>
            <a:off x="0" y="1447800"/>
            <a:ext cx="8686800" cy="4572000"/>
          </a:xfrm>
        </p:spPr>
        <p:txBody>
          <a:bodyPr>
            <a:normAutofit/>
          </a:bodyPr>
          <a:lstStyle/>
          <a:p>
            <a:r>
              <a:rPr lang="en-US" sz="2800" dirty="0" smtClean="0">
                <a:latin typeface="Calibri" pitchFamily="34" charset="0"/>
              </a:rPr>
              <a:t>Data </a:t>
            </a:r>
            <a:r>
              <a:rPr lang="en-US" sz="2800" b="1" dirty="0" smtClean="0">
                <a:latin typeface="Calibri" pitchFamily="34" charset="0"/>
              </a:rPr>
              <a:t>are </a:t>
            </a:r>
            <a:r>
              <a:rPr lang="en-US" sz="2800" dirty="0" smtClean="0">
                <a:latin typeface="Calibri" pitchFamily="34" charset="0"/>
              </a:rPr>
              <a:t>raw facts and figures </a:t>
            </a:r>
          </a:p>
          <a:p>
            <a:pPr>
              <a:buNone/>
            </a:pPr>
            <a:r>
              <a:rPr lang="en-US" sz="2800" dirty="0" smtClean="0">
                <a:latin typeface="Calibri" pitchFamily="34" charset="0"/>
              </a:rPr>
              <a:t>that on their own have </a:t>
            </a:r>
          </a:p>
          <a:p>
            <a:pPr>
              <a:buNone/>
            </a:pPr>
            <a:r>
              <a:rPr lang="en-US" sz="2800" dirty="0" smtClean="0">
                <a:latin typeface="Calibri" pitchFamily="34" charset="0"/>
              </a:rPr>
              <a:t>no meaning</a:t>
            </a:r>
          </a:p>
          <a:p>
            <a:pPr>
              <a:buNone/>
            </a:pPr>
            <a:endParaRPr lang="en-US" sz="2800" dirty="0" smtClean="0">
              <a:latin typeface="Calibri" pitchFamily="34" charset="0"/>
            </a:endParaRPr>
          </a:p>
          <a:p>
            <a:r>
              <a:rPr lang="en-US" sz="2800" dirty="0" smtClean="0">
                <a:latin typeface="Calibri" pitchFamily="34" charset="0"/>
              </a:rPr>
              <a:t> These can be any alphanumeric</a:t>
            </a:r>
          </a:p>
          <a:p>
            <a:pPr>
              <a:buNone/>
            </a:pPr>
            <a:r>
              <a:rPr lang="en-US" sz="2800" dirty="0" smtClean="0">
                <a:latin typeface="Calibri" pitchFamily="34" charset="0"/>
              </a:rPr>
              <a:t> characters i.e. text, numbers,</a:t>
            </a:r>
          </a:p>
          <a:p>
            <a:pPr>
              <a:buNone/>
            </a:pPr>
            <a:r>
              <a:rPr lang="en-US" sz="2800" dirty="0" smtClean="0">
                <a:latin typeface="Calibri" pitchFamily="34" charset="0"/>
              </a:rPr>
              <a:t> symbols</a:t>
            </a:r>
          </a:p>
          <a:p>
            <a:pPr>
              <a:buNone/>
            </a:pPr>
            <a:endParaRPr lang="en-US" dirty="0" smtClean="0"/>
          </a:p>
          <a:p>
            <a:r>
              <a:rPr lang="en-US" dirty="0" smtClean="0"/>
              <a:t>Note the “are” bit above? What does this mean</a:t>
            </a:r>
            <a:endParaRPr lang="en-US" dirty="0"/>
          </a:p>
        </p:txBody>
      </p:sp>
      <p:pic>
        <p:nvPicPr>
          <p:cNvPr id="4" name="Picture 5" descr="data matrix"/>
          <p:cNvPicPr>
            <a:picLocks noChangeAspect="1" noChangeArrowheads="1"/>
          </p:cNvPicPr>
          <p:nvPr/>
        </p:nvPicPr>
        <p:blipFill>
          <a:blip r:embed="rId2"/>
          <a:srcRect/>
          <a:stretch>
            <a:fillRect/>
          </a:stretch>
        </p:blipFill>
        <p:spPr bwMode="auto">
          <a:xfrm>
            <a:off x="5219700" y="2133600"/>
            <a:ext cx="3048000" cy="3143250"/>
          </a:xfrm>
          <a:prstGeom prst="rect">
            <a:avLst/>
          </a:prstGeom>
          <a:noFill/>
          <a:ln w="9525">
            <a:solidFill>
              <a:schemeClr val="tx1"/>
            </a:solidFill>
            <a:miter lim="800000"/>
            <a:headEnd/>
            <a:tailEnd/>
          </a:ln>
        </p:spPr>
      </p:pic>
      <p:sp>
        <p:nvSpPr>
          <p:cNvPr id="5" name="Slide Number Placeholder 4"/>
          <p:cNvSpPr>
            <a:spLocks noGrp="1"/>
          </p:cNvSpPr>
          <p:nvPr>
            <p:ph type="sldNum" sz="quarter" idx="12"/>
          </p:nvPr>
        </p:nvSpPr>
        <p:spPr/>
        <p:txBody>
          <a:bodyPr/>
          <a:lstStyle/>
          <a:p>
            <a:fld id="{0D783054-B380-48EE-A685-F84AE7A6C581}" type="slidenum">
              <a:rPr lang="en-ZA" smtClean="0"/>
              <a:pPr/>
              <a:t>13</a:t>
            </a:fld>
            <a:endParaRPr lang="en-ZA"/>
          </a:p>
        </p:txBody>
      </p:sp>
      <p:pic>
        <p:nvPicPr>
          <p:cNvPr id="7" name="Picture 6" descr="logo"/>
          <p:cNvPicPr>
            <a:picLocks noChangeAspect="1" noChangeArrowheads="1"/>
          </p:cNvPicPr>
          <p:nvPr/>
        </p:nvPicPr>
        <p:blipFill>
          <a:blip r:embed="rId3"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r>
              <a:rPr lang="en-GB" dirty="0"/>
              <a:t>Data Examples</a:t>
            </a:r>
          </a:p>
        </p:txBody>
      </p:sp>
      <p:sp>
        <p:nvSpPr>
          <p:cNvPr id="6" name="Slide Number Placeholder 5"/>
          <p:cNvSpPr>
            <a:spLocks noGrp="1"/>
          </p:cNvSpPr>
          <p:nvPr>
            <p:ph type="sldNum" sz="quarter" idx="12"/>
          </p:nvPr>
        </p:nvSpPr>
        <p:spPr/>
        <p:txBody>
          <a:bodyPr/>
          <a:lstStyle/>
          <a:p>
            <a:fld id="{0D783054-B380-48EE-A685-F84AE7A6C581}" type="slidenum">
              <a:rPr lang="en-ZA" smtClean="0"/>
              <a:pPr/>
              <a:t>14</a:t>
            </a:fld>
            <a:endParaRPr lang="en-ZA"/>
          </a:p>
        </p:txBody>
      </p:sp>
      <p:sp>
        <p:nvSpPr>
          <p:cNvPr id="8" name="Rectangle 3"/>
          <p:cNvSpPr>
            <a:spLocks noGrp="1" noChangeArrowheads="1"/>
          </p:cNvSpPr>
          <p:nvPr>
            <p:ph sz="quarter" idx="1"/>
          </p:nvPr>
        </p:nvSpPr>
        <p:spPr/>
        <p:txBody>
          <a:bodyPr/>
          <a:lstStyle/>
          <a:p>
            <a:r>
              <a:rPr lang="en-GB" dirty="0"/>
              <a:t>Yes, Yes, No, Yes, No, Yes, No, Yes</a:t>
            </a:r>
          </a:p>
          <a:p>
            <a:r>
              <a:rPr lang="en-GB" dirty="0"/>
              <a:t>42, 63, 96, 74, 56, 86</a:t>
            </a:r>
          </a:p>
          <a:p>
            <a:r>
              <a:rPr lang="en-GB" dirty="0"/>
              <a:t>111192, 111234</a:t>
            </a:r>
          </a:p>
          <a:p>
            <a:endParaRPr lang="en-GB" dirty="0"/>
          </a:p>
          <a:p>
            <a:r>
              <a:rPr lang="en-GB" dirty="0"/>
              <a:t>None of the above data sets have any meaning until they are given a </a:t>
            </a:r>
            <a:r>
              <a:rPr lang="en-GB" b="1" dirty="0">
                <a:solidFill>
                  <a:schemeClr val="tx2"/>
                </a:solidFill>
              </a:rPr>
              <a:t>CONTEXT </a:t>
            </a:r>
            <a:r>
              <a:rPr lang="en-GB" dirty="0"/>
              <a:t>and</a:t>
            </a:r>
            <a:r>
              <a:rPr lang="en-GB" b="1" dirty="0">
                <a:solidFill>
                  <a:schemeClr val="tx2"/>
                </a:solidFill>
              </a:rPr>
              <a:t> PROCESSED </a:t>
            </a:r>
            <a:r>
              <a:rPr lang="en-GB" dirty="0"/>
              <a:t>into a useable form</a:t>
            </a:r>
          </a:p>
          <a:p>
            <a:endParaRPr lang="en-GB" dirty="0"/>
          </a:p>
        </p:txBody>
      </p:sp>
      <p:pic>
        <p:nvPicPr>
          <p:cNvPr id="9" name="Picture 8"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dissolve">
                                      <p:cBhvr>
                                        <p:cTn id="7" dur="10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GB" dirty="0"/>
              <a:t>Data Into Information</a:t>
            </a:r>
          </a:p>
        </p:txBody>
      </p:sp>
      <p:sp>
        <p:nvSpPr>
          <p:cNvPr id="88067" name="Rectangle 3"/>
          <p:cNvSpPr>
            <a:spLocks noGrp="1" noChangeArrowheads="1"/>
          </p:cNvSpPr>
          <p:nvPr>
            <p:ph sz="quarter" idx="1"/>
          </p:nvPr>
        </p:nvSpPr>
        <p:spPr/>
        <p:txBody>
          <a:bodyPr/>
          <a:lstStyle/>
          <a:p>
            <a:pPr>
              <a:buNone/>
            </a:pPr>
            <a:r>
              <a:rPr lang="en-GB" dirty="0"/>
              <a:t>To achieve its aims the organisation will need to </a:t>
            </a:r>
            <a:r>
              <a:rPr lang="en-GB" b="1" dirty="0">
                <a:solidFill>
                  <a:schemeClr val="tx2"/>
                </a:solidFill>
              </a:rPr>
              <a:t>process</a:t>
            </a:r>
            <a:r>
              <a:rPr lang="en-GB" dirty="0"/>
              <a:t> data into information.</a:t>
            </a:r>
          </a:p>
          <a:p>
            <a:pPr>
              <a:buNone/>
            </a:pPr>
            <a:r>
              <a:rPr lang="en-GB" dirty="0"/>
              <a:t>Data needs to be turned into meaningful information and presented in its most useful format</a:t>
            </a:r>
          </a:p>
          <a:p>
            <a:pPr>
              <a:buNone/>
            </a:pPr>
            <a:r>
              <a:rPr lang="en-GB" dirty="0"/>
              <a:t>Data must be processed in a </a:t>
            </a:r>
            <a:r>
              <a:rPr lang="en-GB" b="1" dirty="0">
                <a:solidFill>
                  <a:schemeClr val="tx2"/>
                </a:solidFill>
              </a:rPr>
              <a:t>context</a:t>
            </a:r>
            <a:r>
              <a:rPr lang="en-GB" dirty="0"/>
              <a:t> in order to give it meaning</a:t>
            </a:r>
          </a:p>
        </p:txBody>
      </p:sp>
      <p:sp>
        <p:nvSpPr>
          <p:cNvPr id="4" name="Slide Number Placeholder 3"/>
          <p:cNvSpPr>
            <a:spLocks noGrp="1"/>
          </p:cNvSpPr>
          <p:nvPr>
            <p:ph type="sldNum" sz="quarter" idx="12"/>
          </p:nvPr>
        </p:nvSpPr>
        <p:spPr/>
        <p:txBody>
          <a:bodyPr/>
          <a:lstStyle/>
          <a:p>
            <a:fld id="{0D783054-B380-48EE-A685-F84AE7A6C581}" type="slidenum">
              <a:rPr lang="en-ZA" smtClean="0"/>
              <a:pPr/>
              <a:t>15</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animEffect transition="in" filter="checkerboard(across)">
                                      <p:cBhvr>
                                        <p:cTn id="7" dur="1000"/>
                                        <p:tgtEl>
                                          <p:spTgt spid="880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8067">
                                            <p:txEl>
                                              <p:pRg st="1" end="1"/>
                                            </p:txEl>
                                          </p:spTgt>
                                        </p:tgtEl>
                                        <p:attrNameLst>
                                          <p:attrName>style.visibility</p:attrName>
                                        </p:attrNameLst>
                                      </p:cBhvr>
                                      <p:to>
                                        <p:strVal val="visible"/>
                                      </p:to>
                                    </p:set>
                                    <p:animEffect transition="in" filter="checkerboard(across)">
                                      <p:cBhvr>
                                        <p:cTn id="12" dur="1000"/>
                                        <p:tgtEl>
                                          <p:spTgt spid="880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8067">
                                            <p:txEl>
                                              <p:pRg st="2" end="2"/>
                                            </p:txEl>
                                          </p:spTgt>
                                        </p:tgtEl>
                                        <p:attrNameLst>
                                          <p:attrName>style.visibility</p:attrName>
                                        </p:attrNameLst>
                                      </p:cBhvr>
                                      <p:to>
                                        <p:strVal val="visible"/>
                                      </p:to>
                                    </p:set>
                                    <p:animEffect transition="in" filter="checkerboard(across)">
                                      <p:cBhvr>
                                        <p:cTn id="17" dur="1000"/>
                                        <p:tgtEl>
                                          <p:spTgt spid="880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GB"/>
              <a:t>Information</a:t>
            </a:r>
          </a:p>
        </p:txBody>
      </p:sp>
      <p:sp>
        <p:nvSpPr>
          <p:cNvPr id="89091" name="Rectangle 3"/>
          <p:cNvSpPr>
            <a:spLocks noGrp="1" noChangeArrowheads="1"/>
          </p:cNvSpPr>
          <p:nvPr>
            <p:ph sz="quarter" idx="1"/>
          </p:nvPr>
        </p:nvSpPr>
        <p:spPr>
          <a:xfrm>
            <a:off x="571472" y="1600200"/>
            <a:ext cx="8229600" cy="4525963"/>
          </a:xfrm>
        </p:spPr>
        <p:txBody>
          <a:bodyPr/>
          <a:lstStyle/>
          <a:p>
            <a:r>
              <a:rPr lang="en-GB" dirty="0"/>
              <a:t>Data that has been processed within  a context to give it meaning</a:t>
            </a:r>
          </a:p>
          <a:p>
            <a:endParaRPr lang="en-GB" dirty="0"/>
          </a:p>
          <a:p>
            <a:pPr algn="ctr">
              <a:buFont typeface="Wingdings" pitchFamily="2" charset="2"/>
              <a:buNone/>
            </a:pPr>
            <a:r>
              <a:rPr lang="en-GB" b="1" dirty="0">
                <a:solidFill>
                  <a:schemeClr val="tx2"/>
                </a:solidFill>
              </a:rPr>
              <a:t>OR</a:t>
            </a:r>
          </a:p>
          <a:p>
            <a:endParaRPr lang="en-GB" dirty="0"/>
          </a:p>
          <a:p>
            <a:r>
              <a:rPr lang="en-GB" dirty="0"/>
              <a:t>Data that has been processed into a form that gives it meaning</a:t>
            </a:r>
          </a:p>
        </p:txBody>
      </p:sp>
      <p:sp>
        <p:nvSpPr>
          <p:cNvPr id="4" name="Slide Number Placeholder 3"/>
          <p:cNvSpPr>
            <a:spLocks noGrp="1"/>
          </p:cNvSpPr>
          <p:nvPr>
            <p:ph type="sldNum" sz="quarter" idx="12"/>
          </p:nvPr>
        </p:nvSpPr>
        <p:spPr/>
        <p:txBody>
          <a:bodyPr/>
          <a:lstStyle/>
          <a:p>
            <a:fld id="{0D783054-B380-48EE-A685-F84AE7A6C581}" type="slidenum">
              <a:rPr lang="en-ZA" smtClean="0"/>
              <a:pPr/>
              <a:t>16</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89091">
                                            <p:txEl>
                                              <p:pRg st="0" end="0"/>
                                            </p:txEl>
                                          </p:spTgt>
                                        </p:tgtEl>
                                        <p:attrNameLst>
                                          <p:attrName>style.visibility</p:attrName>
                                        </p:attrNameLst>
                                      </p:cBhvr>
                                      <p:to>
                                        <p:strVal val="visible"/>
                                      </p:to>
                                    </p:set>
                                    <p:anim calcmode="lin" valueType="num">
                                      <p:cBhvr additive="base">
                                        <p:cTn id="7" dur="1000" fill="hold"/>
                                        <p:tgtEl>
                                          <p:spTgt spid="89091">
                                            <p:txEl>
                                              <p:pRg st="0" end="0"/>
                                            </p:txEl>
                                          </p:spTgt>
                                        </p:tgtEl>
                                        <p:attrNameLst>
                                          <p:attrName>ppt_x</p:attrName>
                                        </p:attrNameLst>
                                      </p:cBhvr>
                                      <p:tavLst>
                                        <p:tav tm="0">
                                          <p:val>
                                            <p:strVal val="0-#ppt_w/2"/>
                                          </p:val>
                                        </p:tav>
                                        <p:tav tm="100000">
                                          <p:val>
                                            <p:strVal val="#ppt_x"/>
                                          </p:val>
                                        </p:tav>
                                      </p:tavLst>
                                    </p:anim>
                                    <p:anim calcmode="lin" valueType="num">
                                      <p:cBhvr additive="base">
                                        <p:cTn id="8" dur="1000" fill="hold"/>
                                        <p:tgtEl>
                                          <p:spTgt spid="8909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89091">
                                            <p:txEl>
                                              <p:pRg st="2" end="2"/>
                                            </p:txEl>
                                          </p:spTgt>
                                        </p:tgtEl>
                                        <p:attrNameLst>
                                          <p:attrName>style.visibility</p:attrName>
                                        </p:attrNameLst>
                                      </p:cBhvr>
                                      <p:to>
                                        <p:strVal val="visible"/>
                                      </p:to>
                                    </p:set>
                                    <p:anim calcmode="lin" valueType="num">
                                      <p:cBhvr additive="base">
                                        <p:cTn id="13" dur="1000" fill="hold"/>
                                        <p:tgtEl>
                                          <p:spTgt spid="89091">
                                            <p:txEl>
                                              <p:pRg st="2" end="2"/>
                                            </p:txEl>
                                          </p:spTgt>
                                        </p:tgtEl>
                                        <p:attrNameLst>
                                          <p:attrName>ppt_x</p:attrName>
                                        </p:attrNameLst>
                                      </p:cBhvr>
                                      <p:tavLst>
                                        <p:tav tm="0">
                                          <p:val>
                                            <p:strVal val="0-#ppt_w/2"/>
                                          </p:val>
                                        </p:tav>
                                        <p:tav tm="100000">
                                          <p:val>
                                            <p:strVal val="#ppt_x"/>
                                          </p:val>
                                        </p:tav>
                                      </p:tavLst>
                                    </p:anim>
                                    <p:anim calcmode="lin" valueType="num">
                                      <p:cBhvr additive="base">
                                        <p:cTn id="14" dur="1000" fill="hold"/>
                                        <p:tgtEl>
                                          <p:spTgt spid="8909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89091">
                                            <p:txEl>
                                              <p:pRg st="4" end="4"/>
                                            </p:txEl>
                                          </p:spTgt>
                                        </p:tgtEl>
                                        <p:attrNameLst>
                                          <p:attrName>style.visibility</p:attrName>
                                        </p:attrNameLst>
                                      </p:cBhvr>
                                      <p:to>
                                        <p:strVal val="visible"/>
                                      </p:to>
                                    </p:set>
                                    <p:anim calcmode="lin" valueType="num">
                                      <p:cBhvr additive="base">
                                        <p:cTn id="19" dur="1000" fill="hold"/>
                                        <p:tgtEl>
                                          <p:spTgt spid="89091">
                                            <p:txEl>
                                              <p:pRg st="4" end="4"/>
                                            </p:txEl>
                                          </p:spTgt>
                                        </p:tgtEl>
                                        <p:attrNameLst>
                                          <p:attrName>ppt_x</p:attrName>
                                        </p:attrNameLst>
                                      </p:cBhvr>
                                      <p:tavLst>
                                        <p:tav tm="0">
                                          <p:val>
                                            <p:strVal val="0-#ppt_w/2"/>
                                          </p:val>
                                        </p:tav>
                                        <p:tav tm="100000">
                                          <p:val>
                                            <p:strVal val="#ppt_x"/>
                                          </p:val>
                                        </p:tav>
                                      </p:tavLst>
                                    </p:anim>
                                    <p:anim calcmode="lin" valueType="num">
                                      <p:cBhvr additive="base">
                                        <p:cTn id="20" dur="1000" fill="hold"/>
                                        <p:tgtEl>
                                          <p:spTgt spid="8909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GB"/>
              <a:t>Examples</a:t>
            </a:r>
          </a:p>
        </p:txBody>
      </p:sp>
      <p:sp>
        <p:nvSpPr>
          <p:cNvPr id="93187" name="Rectangle 3"/>
          <p:cNvSpPr>
            <a:spLocks noGrp="1" noChangeArrowheads="1"/>
          </p:cNvSpPr>
          <p:nvPr>
            <p:ph sz="quarter" idx="1"/>
          </p:nvPr>
        </p:nvSpPr>
        <p:spPr>
          <a:xfrm>
            <a:off x="762000" y="1905000"/>
            <a:ext cx="4314825" cy="3324225"/>
          </a:xfrm>
        </p:spPr>
        <p:txBody>
          <a:bodyPr>
            <a:normAutofit/>
          </a:bodyPr>
          <a:lstStyle/>
          <a:p>
            <a:pPr>
              <a:lnSpc>
                <a:spcPct val="90000"/>
              </a:lnSpc>
            </a:pPr>
            <a:r>
              <a:rPr lang="en-GB" sz="2800" dirty="0"/>
              <a:t>In the next 3 examples explain how the data could be processed to give it meaning</a:t>
            </a:r>
            <a:br>
              <a:rPr lang="en-GB" sz="2800" dirty="0"/>
            </a:br>
            <a:endParaRPr lang="en-GB" sz="2800" dirty="0"/>
          </a:p>
          <a:p>
            <a:pPr>
              <a:lnSpc>
                <a:spcPct val="90000"/>
              </a:lnSpc>
            </a:pPr>
            <a:r>
              <a:rPr lang="en-GB" sz="2800" dirty="0"/>
              <a:t>What information can then be derived from the data?</a:t>
            </a:r>
          </a:p>
          <a:p>
            <a:pPr>
              <a:lnSpc>
                <a:spcPct val="90000"/>
              </a:lnSpc>
            </a:pPr>
            <a:endParaRPr lang="en-GB" sz="2800" dirty="0"/>
          </a:p>
          <a:p>
            <a:pPr>
              <a:lnSpc>
                <a:spcPct val="90000"/>
              </a:lnSpc>
            </a:pPr>
            <a:endParaRPr lang="en-GB" sz="3200" dirty="0"/>
          </a:p>
          <a:p>
            <a:pPr>
              <a:lnSpc>
                <a:spcPct val="90000"/>
              </a:lnSpc>
            </a:pPr>
            <a:endParaRPr lang="en-GB" sz="3200" dirty="0"/>
          </a:p>
        </p:txBody>
      </p:sp>
      <p:sp>
        <p:nvSpPr>
          <p:cNvPr id="93188" name="Rectangle 4"/>
          <p:cNvSpPr>
            <a:spLocks noChangeArrowheads="1"/>
          </p:cNvSpPr>
          <p:nvPr/>
        </p:nvSpPr>
        <p:spPr bwMode="auto">
          <a:xfrm>
            <a:off x="876318" y="5357826"/>
            <a:ext cx="7623241" cy="461665"/>
          </a:xfrm>
          <a:prstGeom prst="rect">
            <a:avLst/>
          </a:prstGeom>
          <a:noFill/>
          <a:ln w="9525">
            <a:noFill/>
            <a:miter lim="800000"/>
            <a:headEnd/>
            <a:tailEnd/>
          </a:ln>
          <a:effectLst/>
        </p:spPr>
        <p:txBody>
          <a:bodyPr wrap="none">
            <a:spAutoFit/>
          </a:bodyPr>
          <a:lstStyle/>
          <a:p>
            <a:pPr>
              <a:spcBef>
                <a:spcPct val="20000"/>
              </a:spcBef>
              <a:buClr>
                <a:schemeClr val="bg2"/>
              </a:buClr>
              <a:buSzPct val="70000"/>
              <a:buFont typeface="Wingdings" pitchFamily="2" charset="2"/>
              <a:buNone/>
            </a:pPr>
            <a:r>
              <a:rPr lang="en-GB" sz="2400" dirty="0"/>
              <a:t>Suggested answers are given at the end of this presentation</a:t>
            </a:r>
          </a:p>
        </p:txBody>
      </p:sp>
      <p:pic>
        <p:nvPicPr>
          <p:cNvPr id="93190" name="Picture 6" descr="_40001012_gcse2"/>
          <p:cNvPicPr>
            <a:picLocks noChangeAspect="1" noChangeArrowheads="1"/>
          </p:cNvPicPr>
          <p:nvPr/>
        </p:nvPicPr>
        <p:blipFill>
          <a:blip r:embed="rId2"/>
          <a:srcRect/>
          <a:stretch>
            <a:fillRect/>
          </a:stretch>
        </p:blipFill>
        <p:spPr bwMode="auto">
          <a:xfrm>
            <a:off x="5257831" y="2276475"/>
            <a:ext cx="3671887" cy="2751138"/>
          </a:xfrm>
          <a:prstGeom prst="rect">
            <a:avLst/>
          </a:prstGeom>
          <a:noFill/>
        </p:spPr>
      </p:pic>
      <p:sp>
        <p:nvSpPr>
          <p:cNvPr id="6" name="Slide Number Placeholder 5"/>
          <p:cNvSpPr>
            <a:spLocks noGrp="1"/>
          </p:cNvSpPr>
          <p:nvPr>
            <p:ph type="sldNum" sz="quarter" idx="12"/>
          </p:nvPr>
        </p:nvSpPr>
        <p:spPr/>
        <p:txBody>
          <a:bodyPr/>
          <a:lstStyle/>
          <a:p>
            <a:fld id="{0D783054-B380-48EE-A685-F84AE7A6C581}" type="slidenum">
              <a:rPr lang="en-ZA" smtClean="0"/>
              <a:pPr/>
              <a:t>17</a:t>
            </a:fld>
            <a:endParaRPr lang="en-ZA"/>
          </a:p>
        </p:txBody>
      </p:sp>
      <p:pic>
        <p:nvPicPr>
          <p:cNvPr id="8" name="Picture 7" descr="logo"/>
          <p:cNvPicPr>
            <a:picLocks noChangeAspect="1" noChangeArrowheads="1"/>
          </p:cNvPicPr>
          <p:nvPr/>
        </p:nvPicPr>
        <p:blipFill>
          <a:blip r:embed="rId3"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r>
              <a:rPr lang="en-GB"/>
              <a:t>Example 1</a:t>
            </a:r>
          </a:p>
        </p:txBody>
      </p:sp>
      <p:sp>
        <p:nvSpPr>
          <p:cNvPr id="90115" name="Rectangle 3"/>
          <p:cNvSpPr>
            <a:spLocks noGrp="1" noChangeArrowheads="1"/>
          </p:cNvSpPr>
          <p:nvPr>
            <p:ph sz="quarter" idx="1"/>
          </p:nvPr>
        </p:nvSpPr>
        <p:spPr>
          <a:xfrm>
            <a:off x="4787900" y="2276475"/>
            <a:ext cx="3671888" cy="865188"/>
          </a:xfrm>
          <a:ln>
            <a:solidFill>
              <a:schemeClr val="tx1"/>
            </a:solidFill>
          </a:ln>
        </p:spPr>
        <p:txBody>
          <a:bodyPr/>
          <a:lstStyle/>
          <a:p>
            <a:pPr marL="0" indent="0" algn="ctr">
              <a:buFont typeface="Wingdings" pitchFamily="2" charset="2"/>
              <a:buNone/>
            </a:pPr>
            <a:r>
              <a:rPr lang="en-GB" sz="2000" b="1"/>
              <a:t>Yes, Yes, No, Yes, No, Yes, No, Yes, No, Yes, Yes</a:t>
            </a:r>
          </a:p>
        </p:txBody>
      </p:sp>
      <p:sp>
        <p:nvSpPr>
          <p:cNvPr id="90116" name="Rectangle 4"/>
          <p:cNvSpPr>
            <a:spLocks noChangeArrowheads="1"/>
          </p:cNvSpPr>
          <p:nvPr/>
        </p:nvSpPr>
        <p:spPr bwMode="auto">
          <a:xfrm>
            <a:off x="827088" y="2205038"/>
            <a:ext cx="2663825" cy="863600"/>
          </a:xfrm>
          <a:prstGeom prst="rect">
            <a:avLst/>
          </a:prstGeom>
          <a:solidFill>
            <a:schemeClr val="accent1"/>
          </a:solidFill>
          <a:ln w="9525">
            <a:solidFill>
              <a:schemeClr val="tx1"/>
            </a:solidFill>
            <a:miter lim="800000"/>
            <a:headEnd/>
            <a:tailEnd/>
          </a:ln>
          <a:effectLst/>
        </p:spPr>
        <p:txBody>
          <a:bodyPr wrap="none" anchor="ctr"/>
          <a:lstStyle/>
          <a:p>
            <a:pPr algn="ctr"/>
            <a:r>
              <a:rPr lang="en-GB" sz="2400"/>
              <a:t>Raw Data</a:t>
            </a:r>
          </a:p>
        </p:txBody>
      </p:sp>
      <p:sp>
        <p:nvSpPr>
          <p:cNvPr id="90117" name="Rectangle 5"/>
          <p:cNvSpPr>
            <a:spLocks noChangeArrowheads="1"/>
          </p:cNvSpPr>
          <p:nvPr/>
        </p:nvSpPr>
        <p:spPr bwMode="auto">
          <a:xfrm>
            <a:off x="827088" y="3644900"/>
            <a:ext cx="2663825" cy="863600"/>
          </a:xfrm>
          <a:prstGeom prst="rect">
            <a:avLst/>
          </a:prstGeom>
          <a:solidFill>
            <a:schemeClr val="bg2"/>
          </a:solidFill>
          <a:ln w="9525">
            <a:solidFill>
              <a:schemeClr val="tx1"/>
            </a:solidFill>
            <a:miter lim="800000"/>
            <a:headEnd/>
            <a:tailEnd/>
          </a:ln>
          <a:effectLst/>
        </p:spPr>
        <p:txBody>
          <a:bodyPr wrap="none" anchor="ctr"/>
          <a:lstStyle/>
          <a:p>
            <a:pPr algn="ctr"/>
            <a:r>
              <a:rPr lang="en-GB" sz="2400"/>
              <a:t>Context</a:t>
            </a:r>
          </a:p>
        </p:txBody>
      </p:sp>
      <p:sp>
        <p:nvSpPr>
          <p:cNvPr id="90118" name="Rectangle 6"/>
          <p:cNvSpPr>
            <a:spLocks noChangeArrowheads="1"/>
          </p:cNvSpPr>
          <p:nvPr/>
        </p:nvSpPr>
        <p:spPr bwMode="auto">
          <a:xfrm>
            <a:off x="4787900" y="3573463"/>
            <a:ext cx="3670300" cy="935037"/>
          </a:xfrm>
          <a:prstGeom prst="rect">
            <a:avLst/>
          </a:prstGeom>
          <a:noFill/>
          <a:ln w="9525">
            <a:solidFill>
              <a:schemeClr val="tx1"/>
            </a:solidFill>
            <a:miter lim="800000"/>
            <a:headEnd/>
            <a:tailEnd/>
          </a:ln>
          <a:effectLst/>
        </p:spPr>
        <p:txBody>
          <a:bodyPr/>
          <a:lstStyle/>
          <a:p>
            <a:pPr algn="ctr">
              <a:lnSpc>
                <a:spcPct val="90000"/>
              </a:lnSpc>
              <a:spcBef>
                <a:spcPct val="20000"/>
              </a:spcBef>
              <a:buClr>
                <a:schemeClr val="bg2"/>
              </a:buClr>
              <a:buSzPct val="70000"/>
              <a:buFont typeface="Wingdings" pitchFamily="2" charset="2"/>
              <a:buNone/>
            </a:pPr>
            <a:r>
              <a:rPr lang="en-GB" sz="2000" b="1"/>
              <a:t>Responses to the market research question – “Would you buy brand x at price y?”</a:t>
            </a:r>
          </a:p>
        </p:txBody>
      </p:sp>
      <p:sp>
        <p:nvSpPr>
          <p:cNvPr id="90119" name="Rectangle 7"/>
          <p:cNvSpPr>
            <a:spLocks noChangeArrowheads="1"/>
          </p:cNvSpPr>
          <p:nvPr/>
        </p:nvSpPr>
        <p:spPr bwMode="auto">
          <a:xfrm>
            <a:off x="827088" y="5084763"/>
            <a:ext cx="2663825" cy="863600"/>
          </a:xfrm>
          <a:prstGeom prst="rect">
            <a:avLst/>
          </a:prstGeom>
          <a:solidFill>
            <a:schemeClr val="folHlink"/>
          </a:solidFill>
          <a:ln w="9525">
            <a:solidFill>
              <a:schemeClr val="tx1"/>
            </a:solidFill>
            <a:miter lim="800000"/>
            <a:headEnd/>
            <a:tailEnd/>
          </a:ln>
          <a:effectLst/>
        </p:spPr>
        <p:txBody>
          <a:bodyPr wrap="none" anchor="ctr"/>
          <a:lstStyle/>
          <a:p>
            <a:pPr algn="ctr"/>
            <a:r>
              <a:rPr lang="en-GB" sz="2400">
                <a:solidFill>
                  <a:schemeClr val="bg1"/>
                </a:solidFill>
              </a:rPr>
              <a:t>Information</a:t>
            </a:r>
          </a:p>
        </p:txBody>
      </p:sp>
      <p:sp>
        <p:nvSpPr>
          <p:cNvPr id="90120" name="AutoShape 8"/>
          <p:cNvSpPr>
            <a:spLocks noChangeArrowheads="1"/>
          </p:cNvSpPr>
          <p:nvPr/>
        </p:nvSpPr>
        <p:spPr bwMode="auto">
          <a:xfrm>
            <a:off x="1979613" y="3213100"/>
            <a:ext cx="360362" cy="360363"/>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0121" name="AutoShape 9"/>
          <p:cNvSpPr>
            <a:spLocks noChangeArrowheads="1"/>
          </p:cNvSpPr>
          <p:nvPr/>
        </p:nvSpPr>
        <p:spPr bwMode="auto">
          <a:xfrm rot="16200000">
            <a:off x="3924300" y="3933825"/>
            <a:ext cx="360363" cy="360363"/>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0122" name="AutoShape 10"/>
          <p:cNvSpPr>
            <a:spLocks noChangeArrowheads="1"/>
          </p:cNvSpPr>
          <p:nvPr/>
        </p:nvSpPr>
        <p:spPr bwMode="auto">
          <a:xfrm>
            <a:off x="1979613" y="4652963"/>
            <a:ext cx="360362" cy="360362"/>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0123" name="AutoShape 11"/>
          <p:cNvSpPr>
            <a:spLocks noChangeArrowheads="1"/>
          </p:cNvSpPr>
          <p:nvPr/>
        </p:nvSpPr>
        <p:spPr bwMode="auto">
          <a:xfrm rot="16200000">
            <a:off x="3924301" y="5373687"/>
            <a:ext cx="360362" cy="360363"/>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0124" name="Text Box 12"/>
          <p:cNvSpPr txBox="1">
            <a:spLocks noChangeArrowheads="1"/>
          </p:cNvSpPr>
          <p:nvPr/>
        </p:nvSpPr>
        <p:spPr bwMode="auto">
          <a:xfrm>
            <a:off x="4787900" y="5157788"/>
            <a:ext cx="3744913" cy="711200"/>
          </a:xfrm>
          <a:prstGeom prst="rect">
            <a:avLst/>
          </a:prstGeom>
          <a:noFill/>
          <a:ln w="9525">
            <a:solidFill>
              <a:schemeClr val="tx1"/>
            </a:solidFill>
            <a:miter lim="800000"/>
            <a:headEnd/>
            <a:tailEnd/>
          </a:ln>
          <a:effectLst/>
        </p:spPr>
        <p:txBody>
          <a:bodyPr>
            <a:spAutoFit/>
          </a:bodyPr>
          <a:lstStyle/>
          <a:p>
            <a:pPr algn="ctr"/>
            <a:r>
              <a:rPr lang="en-GB" sz="4000" b="1">
                <a:solidFill>
                  <a:schemeClr val="tx2"/>
                </a:solidFill>
              </a:rPr>
              <a:t>???</a:t>
            </a:r>
          </a:p>
        </p:txBody>
      </p:sp>
      <p:sp>
        <p:nvSpPr>
          <p:cNvPr id="90126" name="Text Box 14"/>
          <p:cNvSpPr txBox="1">
            <a:spLocks noChangeArrowheads="1"/>
          </p:cNvSpPr>
          <p:nvPr/>
        </p:nvSpPr>
        <p:spPr bwMode="auto">
          <a:xfrm>
            <a:off x="2411413" y="4581525"/>
            <a:ext cx="1416050" cy="366713"/>
          </a:xfrm>
          <a:prstGeom prst="rect">
            <a:avLst/>
          </a:prstGeom>
          <a:noFill/>
          <a:ln w="9525">
            <a:noFill/>
            <a:miter lim="800000"/>
            <a:headEnd/>
            <a:tailEnd/>
          </a:ln>
          <a:effectLst/>
        </p:spPr>
        <p:txBody>
          <a:bodyPr wrap="none">
            <a:spAutoFit/>
          </a:bodyPr>
          <a:lstStyle/>
          <a:p>
            <a:r>
              <a:rPr lang="en-GB" b="1">
                <a:solidFill>
                  <a:schemeClr val="folHlink"/>
                </a:solidFill>
              </a:rPr>
              <a:t>Processing</a:t>
            </a:r>
          </a:p>
        </p:txBody>
      </p:sp>
      <p:sp>
        <p:nvSpPr>
          <p:cNvPr id="14" name="Slide Number Placeholder 13"/>
          <p:cNvSpPr>
            <a:spLocks noGrp="1"/>
          </p:cNvSpPr>
          <p:nvPr>
            <p:ph type="sldNum" sz="quarter" idx="12"/>
          </p:nvPr>
        </p:nvSpPr>
        <p:spPr/>
        <p:txBody>
          <a:bodyPr/>
          <a:lstStyle/>
          <a:p>
            <a:fld id="{0D783054-B380-48EE-A685-F84AE7A6C581}" type="slidenum">
              <a:rPr lang="en-ZA" smtClean="0"/>
              <a:pPr/>
              <a:t>18</a:t>
            </a:fld>
            <a:endParaRPr lang="en-ZA"/>
          </a:p>
        </p:txBody>
      </p:sp>
      <p:pic>
        <p:nvPicPr>
          <p:cNvPr id="16" name="Picture 15" descr="logo"/>
          <p:cNvPicPr>
            <a:picLocks noChangeAspect="1" noChangeArrowheads="1"/>
          </p:cNvPicPr>
          <p:nvPr/>
        </p:nvPicPr>
        <p:blipFill>
          <a:blip r:embed="rId3" cstate="print"/>
          <a:srcRect l="25273" t="29860" r="41530" b="24966"/>
          <a:stretch>
            <a:fillRect/>
          </a:stretch>
        </p:blipFill>
        <p:spPr bwMode="auto">
          <a:xfrm>
            <a:off x="214314" y="142876"/>
            <a:ext cx="904403" cy="714356"/>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0120"/>
                                        </p:tgtEl>
                                        <p:attrNameLst>
                                          <p:attrName>style.visibility</p:attrName>
                                        </p:attrNameLst>
                                      </p:cBhvr>
                                      <p:to>
                                        <p:strVal val="visible"/>
                                      </p:to>
                                    </p:set>
                                    <p:animEffect transition="in" filter="checkerboard(across)">
                                      <p:cBhvr>
                                        <p:cTn id="7" dur="1000"/>
                                        <p:tgtEl>
                                          <p:spTgt spid="9012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0117"/>
                                        </p:tgtEl>
                                        <p:attrNameLst>
                                          <p:attrName>style.visibility</p:attrName>
                                        </p:attrNameLst>
                                      </p:cBhvr>
                                      <p:to>
                                        <p:strVal val="visible"/>
                                      </p:to>
                                    </p:set>
                                    <p:animEffect transition="in" filter="checkerboard(across)">
                                      <p:cBhvr>
                                        <p:cTn id="10" dur="1000"/>
                                        <p:tgtEl>
                                          <p:spTgt spid="90117"/>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90121"/>
                                        </p:tgtEl>
                                        <p:attrNameLst>
                                          <p:attrName>style.visibility</p:attrName>
                                        </p:attrNameLst>
                                      </p:cBhvr>
                                      <p:to>
                                        <p:strVal val="visible"/>
                                      </p:to>
                                    </p:set>
                                    <p:animEffect transition="in" filter="checkerboard(across)">
                                      <p:cBhvr>
                                        <p:cTn id="13" dur="1000"/>
                                        <p:tgtEl>
                                          <p:spTgt spid="90121"/>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90118"/>
                                        </p:tgtEl>
                                        <p:attrNameLst>
                                          <p:attrName>style.visibility</p:attrName>
                                        </p:attrNameLst>
                                      </p:cBhvr>
                                      <p:to>
                                        <p:strVal val="visible"/>
                                      </p:to>
                                    </p:set>
                                    <p:animEffect transition="in" filter="checkerboard(across)">
                                      <p:cBhvr>
                                        <p:cTn id="16" dur="1000"/>
                                        <p:tgtEl>
                                          <p:spTgt spid="9011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90122"/>
                                        </p:tgtEl>
                                        <p:attrNameLst>
                                          <p:attrName>style.visibility</p:attrName>
                                        </p:attrNameLst>
                                      </p:cBhvr>
                                      <p:to>
                                        <p:strVal val="visible"/>
                                      </p:to>
                                    </p:set>
                                    <p:animEffect transition="in" filter="dissolve">
                                      <p:cBhvr>
                                        <p:cTn id="21" dur="1000"/>
                                        <p:tgtEl>
                                          <p:spTgt spid="90122"/>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90119"/>
                                        </p:tgtEl>
                                        <p:attrNameLst>
                                          <p:attrName>style.visibility</p:attrName>
                                        </p:attrNameLst>
                                      </p:cBhvr>
                                      <p:to>
                                        <p:strVal val="visible"/>
                                      </p:to>
                                    </p:set>
                                    <p:animEffect transition="in" filter="dissolve">
                                      <p:cBhvr>
                                        <p:cTn id="24" dur="1000"/>
                                        <p:tgtEl>
                                          <p:spTgt spid="90119"/>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90123"/>
                                        </p:tgtEl>
                                        <p:attrNameLst>
                                          <p:attrName>style.visibility</p:attrName>
                                        </p:attrNameLst>
                                      </p:cBhvr>
                                      <p:to>
                                        <p:strVal val="visible"/>
                                      </p:to>
                                    </p:set>
                                    <p:animEffect transition="in" filter="dissolve">
                                      <p:cBhvr>
                                        <p:cTn id="27" dur="1000"/>
                                        <p:tgtEl>
                                          <p:spTgt spid="90123"/>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90124"/>
                                        </p:tgtEl>
                                        <p:attrNameLst>
                                          <p:attrName>style.visibility</p:attrName>
                                        </p:attrNameLst>
                                      </p:cBhvr>
                                      <p:to>
                                        <p:strVal val="visible"/>
                                      </p:to>
                                    </p:set>
                                    <p:animEffect transition="in" filter="dissolve">
                                      <p:cBhvr>
                                        <p:cTn id="30" dur="1000"/>
                                        <p:tgtEl>
                                          <p:spTgt spid="90124"/>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90126"/>
                                        </p:tgtEl>
                                        <p:attrNameLst>
                                          <p:attrName>style.visibility</p:attrName>
                                        </p:attrNameLst>
                                      </p:cBhvr>
                                      <p:to>
                                        <p:strVal val="visible"/>
                                      </p:to>
                                    </p:set>
                                    <p:animEffect transition="in" filter="checkerboard(across)">
                                      <p:cBhvr>
                                        <p:cTn id="33" dur="1000"/>
                                        <p:tgtEl>
                                          <p:spTgt spid="901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7" grpId="0" animBg="1"/>
      <p:bldP spid="90118" grpId="0" animBg="1"/>
      <p:bldP spid="90119" grpId="0" animBg="1"/>
      <p:bldP spid="90120" grpId="0" animBg="1"/>
      <p:bldP spid="90121" grpId="0" animBg="1"/>
      <p:bldP spid="90122" grpId="0" animBg="1"/>
      <p:bldP spid="90123" grpId="0" animBg="1"/>
      <p:bldP spid="90124" grpId="0" animBg="1"/>
      <p:bldP spid="9012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914400" y="357174"/>
            <a:ext cx="7772400" cy="1143000"/>
          </a:xfrm>
        </p:spPr>
        <p:txBody>
          <a:bodyPr/>
          <a:lstStyle/>
          <a:p>
            <a:r>
              <a:rPr lang="en-GB" dirty="0" smtClean="0"/>
              <a:t>Example 2</a:t>
            </a:r>
            <a:endParaRPr lang="en-GB" dirty="0"/>
          </a:p>
        </p:txBody>
      </p:sp>
      <p:sp>
        <p:nvSpPr>
          <p:cNvPr id="91147" name="Rectangle 11"/>
          <p:cNvSpPr>
            <a:spLocks noGrp="1" noChangeArrowheads="1"/>
          </p:cNvSpPr>
          <p:nvPr>
            <p:ph sz="quarter" idx="1"/>
          </p:nvPr>
        </p:nvSpPr>
        <p:spPr>
          <a:xfrm>
            <a:off x="4859338" y="2205038"/>
            <a:ext cx="3671887" cy="865187"/>
          </a:xfrm>
          <a:noFill/>
          <a:ln>
            <a:solidFill>
              <a:schemeClr val="tx1"/>
            </a:solidFill>
          </a:ln>
        </p:spPr>
        <p:txBody>
          <a:bodyPr/>
          <a:lstStyle/>
          <a:p>
            <a:pPr marL="0" indent="0" algn="ctr">
              <a:buFont typeface="Wingdings" pitchFamily="2" charset="2"/>
              <a:buNone/>
            </a:pPr>
            <a:r>
              <a:rPr lang="en-GB" sz="2000" b="1" smtClean="0"/>
              <a:t/>
            </a:r>
            <a:br>
              <a:rPr lang="en-GB" sz="2000" b="1" smtClean="0"/>
            </a:br>
            <a:r>
              <a:rPr lang="en-GB" sz="2000" b="1" smtClean="0"/>
              <a:t>42, 63, 96, 74, 56, 86</a:t>
            </a:r>
            <a:endParaRPr lang="en-GB" sz="2000" b="1"/>
          </a:p>
        </p:txBody>
      </p:sp>
      <p:sp>
        <p:nvSpPr>
          <p:cNvPr id="91140" name="Rectangle 4"/>
          <p:cNvSpPr>
            <a:spLocks noChangeArrowheads="1"/>
          </p:cNvSpPr>
          <p:nvPr/>
        </p:nvSpPr>
        <p:spPr bwMode="auto">
          <a:xfrm>
            <a:off x="827088" y="2205038"/>
            <a:ext cx="2663825" cy="863600"/>
          </a:xfrm>
          <a:prstGeom prst="rect">
            <a:avLst/>
          </a:prstGeom>
          <a:solidFill>
            <a:schemeClr val="accent1"/>
          </a:solidFill>
          <a:ln w="9525">
            <a:solidFill>
              <a:schemeClr val="tx1"/>
            </a:solidFill>
            <a:miter lim="800000"/>
            <a:headEnd/>
            <a:tailEnd/>
          </a:ln>
          <a:effectLst/>
        </p:spPr>
        <p:txBody>
          <a:bodyPr wrap="none" anchor="ctr"/>
          <a:lstStyle/>
          <a:p>
            <a:pPr algn="ctr"/>
            <a:r>
              <a:rPr lang="en-GB" sz="2400"/>
              <a:t>Raw Data</a:t>
            </a:r>
          </a:p>
        </p:txBody>
      </p:sp>
      <p:sp>
        <p:nvSpPr>
          <p:cNvPr id="91141" name="Rectangle 5"/>
          <p:cNvSpPr>
            <a:spLocks noChangeArrowheads="1"/>
          </p:cNvSpPr>
          <p:nvPr/>
        </p:nvSpPr>
        <p:spPr bwMode="auto">
          <a:xfrm>
            <a:off x="827088" y="3644900"/>
            <a:ext cx="2663825" cy="863600"/>
          </a:xfrm>
          <a:prstGeom prst="rect">
            <a:avLst/>
          </a:prstGeom>
          <a:solidFill>
            <a:schemeClr val="bg2"/>
          </a:solidFill>
          <a:ln w="9525">
            <a:solidFill>
              <a:schemeClr val="tx1"/>
            </a:solidFill>
            <a:miter lim="800000"/>
            <a:headEnd/>
            <a:tailEnd/>
          </a:ln>
          <a:effectLst/>
        </p:spPr>
        <p:txBody>
          <a:bodyPr wrap="none" anchor="ctr"/>
          <a:lstStyle/>
          <a:p>
            <a:pPr algn="ctr"/>
            <a:r>
              <a:rPr lang="en-GB" sz="2400"/>
              <a:t>Context</a:t>
            </a:r>
          </a:p>
        </p:txBody>
      </p:sp>
      <p:sp>
        <p:nvSpPr>
          <p:cNvPr id="91142" name="Rectangle 6"/>
          <p:cNvSpPr>
            <a:spLocks noChangeArrowheads="1"/>
          </p:cNvSpPr>
          <p:nvPr/>
        </p:nvSpPr>
        <p:spPr bwMode="auto">
          <a:xfrm>
            <a:off x="827088" y="5084763"/>
            <a:ext cx="2663825" cy="863600"/>
          </a:xfrm>
          <a:prstGeom prst="rect">
            <a:avLst/>
          </a:prstGeom>
          <a:solidFill>
            <a:schemeClr val="folHlink"/>
          </a:solidFill>
          <a:ln w="9525">
            <a:solidFill>
              <a:schemeClr val="tx1"/>
            </a:solidFill>
            <a:miter lim="800000"/>
            <a:headEnd/>
            <a:tailEnd/>
          </a:ln>
          <a:effectLst/>
        </p:spPr>
        <p:txBody>
          <a:bodyPr wrap="none" anchor="ctr"/>
          <a:lstStyle/>
          <a:p>
            <a:pPr algn="ctr"/>
            <a:r>
              <a:rPr lang="en-GB" sz="2400">
                <a:solidFill>
                  <a:schemeClr val="bg1"/>
                </a:solidFill>
              </a:rPr>
              <a:t>Information</a:t>
            </a:r>
          </a:p>
        </p:txBody>
      </p:sp>
      <p:sp>
        <p:nvSpPr>
          <p:cNvPr id="91143" name="AutoShape 7"/>
          <p:cNvSpPr>
            <a:spLocks noChangeArrowheads="1"/>
          </p:cNvSpPr>
          <p:nvPr/>
        </p:nvSpPr>
        <p:spPr bwMode="auto">
          <a:xfrm>
            <a:off x="1979613" y="3213100"/>
            <a:ext cx="360362" cy="360363"/>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1145" name="AutoShape 9"/>
          <p:cNvSpPr>
            <a:spLocks noChangeArrowheads="1"/>
          </p:cNvSpPr>
          <p:nvPr/>
        </p:nvSpPr>
        <p:spPr bwMode="auto">
          <a:xfrm>
            <a:off x="1979613" y="4581525"/>
            <a:ext cx="360362" cy="360363"/>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1148" name="Rectangle 12"/>
          <p:cNvSpPr>
            <a:spLocks noChangeArrowheads="1"/>
          </p:cNvSpPr>
          <p:nvPr/>
        </p:nvSpPr>
        <p:spPr bwMode="auto">
          <a:xfrm>
            <a:off x="4932363" y="3573463"/>
            <a:ext cx="3670300" cy="935037"/>
          </a:xfrm>
          <a:prstGeom prst="rect">
            <a:avLst/>
          </a:prstGeom>
          <a:noFill/>
          <a:ln w="9525">
            <a:solidFill>
              <a:schemeClr val="tx1"/>
            </a:solidFill>
            <a:miter lim="800000"/>
            <a:headEnd/>
            <a:tailEnd/>
          </a:ln>
          <a:effectLst/>
        </p:spPr>
        <p:txBody>
          <a:bodyPr/>
          <a:lstStyle/>
          <a:p>
            <a:pPr algn="ctr">
              <a:lnSpc>
                <a:spcPct val="90000"/>
              </a:lnSpc>
              <a:spcBef>
                <a:spcPct val="20000"/>
              </a:spcBef>
              <a:buClr>
                <a:schemeClr val="bg2"/>
              </a:buClr>
              <a:buSzPct val="70000"/>
              <a:buFont typeface="Wingdings" pitchFamily="2" charset="2"/>
              <a:buNone/>
            </a:pPr>
            <a:r>
              <a:rPr lang="en-GB" sz="2000" b="1" dirty="0" smtClean="0"/>
              <a:t>James </a:t>
            </a:r>
            <a:r>
              <a:rPr lang="en-GB" sz="2000" b="1" dirty="0"/>
              <a:t>scores in the six AS/A2 ICT modules</a:t>
            </a:r>
          </a:p>
        </p:txBody>
      </p:sp>
      <p:sp>
        <p:nvSpPr>
          <p:cNvPr id="91149" name="Text Box 13"/>
          <p:cNvSpPr txBox="1">
            <a:spLocks noChangeArrowheads="1"/>
          </p:cNvSpPr>
          <p:nvPr/>
        </p:nvSpPr>
        <p:spPr bwMode="auto">
          <a:xfrm>
            <a:off x="4787900" y="5157788"/>
            <a:ext cx="3744913" cy="711200"/>
          </a:xfrm>
          <a:prstGeom prst="rect">
            <a:avLst/>
          </a:prstGeom>
          <a:noFill/>
          <a:ln w="9525">
            <a:solidFill>
              <a:schemeClr val="tx1"/>
            </a:solidFill>
            <a:miter lim="800000"/>
            <a:headEnd/>
            <a:tailEnd/>
          </a:ln>
          <a:effectLst/>
        </p:spPr>
        <p:txBody>
          <a:bodyPr>
            <a:spAutoFit/>
          </a:bodyPr>
          <a:lstStyle/>
          <a:p>
            <a:pPr algn="ctr"/>
            <a:r>
              <a:rPr lang="en-GB" sz="4000" b="1">
                <a:solidFill>
                  <a:schemeClr val="tx2"/>
                </a:solidFill>
              </a:rPr>
              <a:t>???</a:t>
            </a:r>
          </a:p>
        </p:txBody>
      </p:sp>
      <p:sp>
        <p:nvSpPr>
          <p:cNvPr id="91150" name="AutoShape 14"/>
          <p:cNvSpPr>
            <a:spLocks noChangeArrowheads="1"/>
          </p:cNvSpPr>
          <p:nvPr/>
        </p:nvSpPr>
        <p:spPr bwMode="auto">
          <a:xfrm rot="16200000">
            <a:off x="3924300" y="3933825"/>
            <a:ext cx="360363" cy="360363"/>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1151" name="AutoShape 15"/>
          <p:cNvSpPr>
            <a:spLocks noChangeArrowheads="1"/>
          </p:cNvSpPr>
          <p:nvPr/>
        </p:nvSpPr>
        <p:spPr bwMode="auto">
          <a:xfrm rot="16200000">
            <a:off x="3924301" y="5373687"/>
            <a:ext cx="360362" cy="360363"/>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1152" name="Text Box 16"/>
          <p:cNvSpPr txBox="1">
            <a:spLocks noChangeArrowheads="1"/>
          </p:cNvSpPr>
          <p:nvPr/>
        </p:nvSpPr>
        <p:spPr bwMode="auto">
          <a:xfrm>
            <a:off x="2411413" y="4581525"/>
            <a:ext cx="1416050" cy="366713"/>
          </a:xfrm>
          <a:prstGeom prst="rect">
            <a:avLst/>
          </a:prstGeom>
          <a:noFill/>
          <a:ln w="9525">
            <a:noFill/>
            <a:miter lim="800000"/>
            <a:headEnd/>
            <a:tailEnd/>
          </a:ln>
          <a:effectLst/>
        </p:spPr>
        <p:txBody>
          <a:bodyPr wrap="none">
            <a:spAutoFit/>
          </a:bodyPr>
          <a:lstStyle/>
          <a:p>
            <a:r>
              <a:rPr lang="en-GB" b="1">
                <a:solidFill>
                  <a:schemeClr val="folHlink"/>
                </a:solidFill>
              </a:rPr>
              <a:t>Processing</a:t>
            </a:r>
          </a:p>
        </p:txBody>
      </p:sp>
      <p:sp>
        <p:nvSpPr>
          <p:cNvPr id="16" name="Slide Number Placeholder 15"/>
          <p:cNvSpPr>
            <a:spLocks noGrp="1"/>
          </p:cNvSpPr>
          <p:nvPr>
            <p:ph type="sldNum" sz="quarter" idx="12"/>
          </p:nvPr>
        </p:nvSpPr>
        <p:spPr/>
        <p:txBody>
          <a:bodyPr/>
          <a:lstStyle/>
          <a:p>
            <a:fld id="{0D783054-B380-48EE-A685-F84AE7A6C581}" type="slidenum">
              <a:rPr lang="en-ZA" smtClean="0"/>
              <a:pPr/>
              <a:t>19</a:t>
            </a:fld>
            <a:endParaRPr lang="en-ZA"/>
          </a:p>
        </p:txBody>
      </p:sp>
      <p:pic>
        <p:nvPicPr>
          <p:cNvPr id="18" name="Picture 17" descr="logo"/>
          <p:cNvPicPr>
            <a:picLocks noChangeAspect="1" noChangeArrowheads="1"/>
          </p:cNvPicPr>
          <p:nvPr/>
        </p:nvPicPr>
        <p:blipFill>
          <a:blip r:embed="rId2"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1143"/>
                                        </p:tgtEl>
                                        <p:attrNameLst>
                                          <p:attrName>style.visibility</p:attrName>
                                        </p:attrNameLst>
                                      </p:cBhvr>
                                      <p:to>
                                        <p:strVal val="visible"/>
                                      </p:to>
                                    </p:set>
                                    <p:animEffect transition="in" filter="checkerboard(across)">
                                      <p:cBhvr>
                                        <p:cTn id="7" dur="1000"/>
                                        <p:tgtEl>
                                          <p:spTgt spid="9114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1141"/>
                                        </p:tgtEl>
                                        <p:attrNameLst>
                                          <p:attrName>style.visibility</p:attrName>
                                        </p:attrNameLst>
                                      </p:cBhvr>
                                      <p:to>
                                        <p:strVal val="visible"/>
                                      </p:to>
                                    </p:set>
                                    <p:animEffect transition="in" filter="checkerboard(across)">
                                      <p:cBhvr>
                                        <p:cTn id="10" dur="1000"/>
                                        <p:tgtEl>
                                          <p:spTgt spid="91141"/>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91150"/>
                                        </p:tgtEl>
                                        <p:attrNameLst>
                                          <p:attrName>style.visibility</p:attrName>
                                        </p:attrNameLst>
                                      </p:cBhvr>
                                      <p:to>
                                        <p:strVal val="visible"/>
                                      </p:to>
                                    </p:set>
                                    <p:animEffect transition="in" filter="checkerboard(across)">
                                      <p:cBhvr>
                                        <p:cTn id="13" dur="1000"/>
                                        <p:tgtEl>
                                          <p:spTgt spid="91150"/>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91148"/>
                                        </p:tgtEl>
                                        <p:attrNameLst>
                                          <p:attrName>style.visibility</p:attrName>
                                        </p:attrNameLst>
                                      </p:cBhvr>
                                      <p:to>
                                        <p:strVal val="visible"/>
                                      </p:to>
                                    </p:set>
                                    <p:animEffect transition="in" filter="checkerboard(across)">
                                      <p:cBhvr>
                                        <p:cTn id="16" dur="1000"/>
                                        <p:tgtEl>
                                          <p:spTgt spid="91148"/>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91145"/>
                                        </p:tgtEl>
                                        <p:attrNameLst>
                                          <p:attrName>style.visibility</p:attrName>
                                        </p:attrNameLst>
                                      </p:cBhvr>
                                      <p:to>
                                        <p:strVal val="visible"/>
                                      </p:to>
                                    </p:set>
                                    <p:animEffect transition="in" filter="checkerboard(across)">
                                      <p:cBhvr>
                                        <p:cTn id="21" dur="1000"/>
                                        <p:tgtEl>
                                          <p:spTgt spid="91145"/>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91142"/>
                                        </p:tgtEl>
                                        <p:attrNameLst>
                                          <p:attrName>style.visibility</p:attrName>
                                        </p:attrNameLst>
                                      </p:cBhvr>
                                      <p:to>
                                        <p:strVal val="visible"/>
                                      </p:to>
                                    </p:set>
                                    <p:animEffect transition="in" filter="checkerboard(across)">
                                      <p:cBhvr>
                                        <p:cTn id="24" dur="1000"/>
                                        <p:tgtEl>
                                          <p:spTgt spid="91142"/>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91151"/>
                                        </p:tgtEl>
                                        <p:attrNameLst>
                                          <p:attrName>style.visibility</p:attrName>
                                        </p:attrNameLst>
                                      </p:cBhvr>
                                      <p:to>
                                        <p:strVal val="visible"/>
                                      </p:to>
                                    </p:set>
                                    <p:animEffect transition="in" filter="checkerboard(across)">
                                      <p:cBhvr>
                                        <p:cTn id="27" dur="1000"/>
                                        <p:tgtEl>
                                          <p:spTgt spid="91151"/>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91149"/>
                                        </p:tgtEl>
                                        <p:attrNameLst>
                                          <p:attrName>style.visibility</p:attrName>
                                        </p:attrNameLst>
                                      </p:cBhvr>
                                      <p:to>
                                        <p:strVal val="visible"/>
                                      </p:to>
                                    </p:set>
                                    <p:animEffect transition="in" filter="checkerboard(across)">
                                      <p:cBhvr>
                                        <p:cTn id="30" dur="1000"/>
                                        <p:tgtEl>
                                          <p:spTgt spid="91149"/>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91152"/>
                                        </p:tgtEl>
                                        <p:attrNameLst>
                                          <p:attrName>style.visibility</p:attrName>
                                        </p:attrNameLst>
                                      </p:cBhvr>
                                      <p:to>
                                        <p:strVal val="visible"/>
                                      </p:to>
                                    </p:set>
                                    <p:animEffect transition="in" filter="checkerboard(across)">
                                      <p:cBhvr>
                                        <p:cTn id="33" dur="1000"/>
                                        <p:tgtEl>
                                          <p:spTgt spid="91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1" grpId="0" uiExpand="1" animBg="1"/>
      <p:bldP spid="91142" grpId="0" animBg="1"/>
      <p:bldP spid="91143" grpId="0" uiExpand="1" animBg="1"/>
      <p:bldP spid="91145" grpId="0" animBg="1"/>
      <p:bldP spid="91148" grpId="0" animBg="1"/>
      <p:bldP spid="91149" grpId="0" animBg="1"/>
      <p:bldP spid="91150" grpId="0" animBg="1"/>
      <p:bldP spid="91151" grpId="0" animBg="1"/>
      <p:bldP spid="9115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914400" y="428612"/>
            <a:ext cx="7772400" cy="1143000"/>
          </a:xfrm>
        </p:spPr>
        <p:txBody>
          <a:bodyPr/>
          <a:lstStyle/>
          <a:p>
            <a:r>
              <a:rPr lang="en-GB" dirty="0"/>
              <a:t>Example 3</a:t>
            </a:r>
          </a:p>
        </p:txBody>
      </p:sp>
      <p:sp>
        <p:nvSpPr>
          <p:cNvPr id="92170" name="Rectangle 10"/>
          <p:cNvSpPr>
            <a:spLocks noGrp="1" noChangeArrowheads="1"/>
          </p:cNvSpPr>
          <p:nvPr>
            <p:ph sz="quarter" idx="1"/>
          </p:nvPr>
        </p:nvSpPr>
        <p:spPr>
          <a:xfrm>
            <a:off x="4787900" y="2276475"/>
            <a:ext cx="3671888" cy="865188"/>
          </a:xfrm>
          <a:noFill/>
          <a:ln>
            <a:solidFill>
              <a:schemeClr val="tx1"/>
            </a:solidFill>
          </a:ln>
        </p:spPr>
        <p:txBody>
          <a:bodyPr/>
          <a:lstStyle/>
          <a:p>
            <a:pPr marL="0" indent="0" algn="ctr">
              <a:buFont typeface="Wingdings" pitchFamily="2" charset="2"/>
              <a:buNone/>
            </a:pPr>
            <a:r>
              <a:rPr lang="en-GB" sz="2000" b="1"/>
              <a:t>111192, 111234</a:t>
            </a:r>
          </a:p>
        </p:txBody>
      </p:sp>
      <p:sp>
        <p:nvSpPr>
          <p:cNvPr id="92164" name="Rectangle 4"/>
          <p:cNvSpPr>
            <a:spLocks noChangeArrowheads="1"/>
          </p:cNvSpPr>
          <p:nvPr/>
        </p:nvSpPr>
        <p:spPr bwMode="auto">
          <a:xfrm>
            <a:off x="827088" y="2205038"/>
            <a:ext cx="2663825" cy="863600"/>
          </a:xfrm>
          <a:prstGeom prst="rect">
            <a:avLst/>
          </a:prstGeom>
          <a:solidFill>
            <a:schemeClr val="accent1"/>
          </a:solidFill>
          <a:ln w="9525">
            <a:solidFill>
              <a:schemeClr val="tx1"/>
            </a:solidFill>
            <a:miter lim="800000"/>
            <a:headEnd/>
            <a:tailEnd/>
          </a:ln>
          <a:effectLst/>
        </p:spPr>
        <p:txBody>
          <a:bodyPr wrap="none" anchor="ctr"/>
          <a:lstStyle/>
          <a:p>
            <a:pPr algn="ctr"/>
            <a:r>
              <a:rPr lang="en-GB" sz="2400"/>
              <a:t>Raw Data</a:t>
            </a:r>
          </a:p>
        </p:txBody>
      </p:sp>
      <p:sp>
        <p:nvSpPr>
          <p:cNvPr id="92165" name="Rectangle 5"/>
          <p:cNvSpPr>
            <a:spLocks noChangeArrowheads="1"/>
          </p:cNvSpPr>
          <p:nvPr/>
        </p:nvSpPr>
        <p:spPr bwMode="auto">
          <a:xfrm>
            <a:off x="827088" y="3644900"/>
            <a:ext cx="2663825" cy="863600"/>
          </a:xfrm>
          <a:prstGeom prst="rect">
            <a:avLst/>
          </a:prstGeom>
          <a:solidFill>
            <a:schemeClr val="bg2"/>
          </a:solidFill>
          <a:ln w="9525">
            <a:solidFill>
              <a:schemeClr val="tx1"/>
            </a:solidFill>
            <a:miter lim="800000"/>
            <a:headEnd/>
            <a:tailEnd/>
          </a:ln>
          <a:effectLst/>
        </p:spPr>
        <p:txBody>
          <a:bodyPr wrap="none" anchor="ctr"/>
          <a:lstStyle/>
          <a:p>
            <a:pPr algn="ctr"/>
            <a:r>
              <a:rPr lang="en-GB" sz="2400" dirty="0"/>
              <a:t>Context</a:t>
            </a:r>
          </a:p>
        </p:txBody>
      </p:sp>
      <p:sp>
        <p:nvSpPr>
          <p:cNvPr id="92166" name="Rectangle 6"/>
          <p:cNvSpPr>
            <a:spLocks noChangeArrowheads="1"/>
          </p:cNvSpPr>
          <p:nvPr/>
        </p:nvSpPr>
        <p:spPr bwMode="auto">
          <a:xfrm>
            <a:off x="827088" y="5084763"/>
            <a:ext cx="2663825" cy="863600"/>
          </a:xfrm>
          <a:prstGeom prst="rect">
            <a:avLst/>
          </a:prstGeom>
          <a:solidFill>
            <a:schemeClr val="folHlink"/>
          </a:solidFill>
          <a:ln w="9525">
            <a:solidFill>
              <a:schemeClr val="tx1"/>
            </a:solidFill>
            <a:miter lim="800000"/>
            <a:headEnd/>
            <a:tailEnd/>
          </a:ln>
          <a:effectLst/>
        </p:spPr>
        <p:txBody>
          <a:bodyPr wrap="none" anchor="ctr"/>
          <a:lstStyle/>
          <a:p>
            <a:pPr algn="ctr"/>
            <a:r>
              <a:rPr lang="en-GB" sz="2400">
                <a:solidFill>
                  <a:schemeClr val="bg1"/>
                </a:solidFill>
              </a:rPr>
              <a:t>Information</a:t>
            </a:r>
          </a:p>
        </p:txBody>
      </p:sp>
      <p:sp>
        <p:nvSpPr>
          <p:cNvPr id="92167" name="AutoShape 7"/>
          <p:cNvSpPr>
            <a:spLocks noChangeArrowheads="1"/>
          </p:cNvSpPr>
          <p:nvPr/>
        </p:nvSpPr>
        <p:spPr bwMode="auto">
          <a:xfrm>
            <a:off x="1979613" y="3213100"/>
            <a:ext cx="360362" cy="360363"/>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2169" name="AutoShape 9"/>
          <p:cNvSpPr>
            <a:spLocks noChangeArrowheads="1"/>
          </p:cNvSpPr>
          <p:nvPr/>
        </p:nvSpPr>
        <p:spPr bwMode="auto">
          <a:xfrm>
            <a:off x="1979613" y="4581525"/>
            <a:ext cx="360362" cy="360363"/>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2171" name="Rectangle 11"/>
          <p:cNvSpPr>
            <a:spLocks noChangeArrowheads="1"/>
          </p:cNvSpPr>
          <p:nvPr/>
        </p:nvSpPr>
        <p:spPr bwMode="auto">
          <a:xfrm>
            <a:off x="4787900" y="3573463"/>
            <a:ext cx="3670300" cy="935037"/>
          </a:xfrm>
          <a:prstGeom prst="rect">
            <a:avLst/>
          </a:prstGeom>
          <a:noFill/>
          <a:ln w="9525">
            <a:solidFill>
              <a:schemeClr val="tx1"/>
            </a:solidFill>
            <a:miter lim="800000"/>
            <a:headEnd/>
            <a:tailEnd/>
          </a:ln>
          <a:effectLst/>
        </p:spPr>
        <p:txBody>
          <a:bodyPr/>
          <a:lstStyle/>
          <a:p>
            <a:pPr algn="ctr">
              <a:lnSpc>
                <a:spcPct val="90000"/>
              </a:lnSpc>
              <a:spcBef>
                <a:spcPct val="20000"/>
              </a:spcBef>
              <a:buClr>
                <a:schemeClr val="bg2"/>
              </a:buClr>
              <a:buSzPct val="70000"/>
              <a:buFont typeface="Wingdings" pitchFamily="2" charset="2"/>
              <a:buNone/>
            </a:pPr>
            <a:r>
              <a:rPr lang="en-GB" sz="2000" b="1"/>
              <a:t>The previous and current readings of a customer’s gas meter</a:t>
            </a:r>
          </a:p>
        </p:txBody>
      </p:sp>
      <p:sp>
        <p:nvSpPr>
          <p:cNvPr id="92172" name="AutoShape 12"/>
          <p:cNvSpPr>
            <a:spLocks noChangeArrowheads="1"/>
          </p:cNvSpPr>
          <p:nvPr/>
        </p:nvSpPr>
        <p:spPr bwMode="auto">
          <a:xfrm rot="16200000">
            <a:off x="3924300" y="3933825"/>
            <a:ext cx="360363" cy="360363"/>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2173" name="AutoShape 13"/>
          <p:cNvSpPr>
            <a:spLocks noChangeArrowheads="1"/>
          </p:cNvSpPr>
          <p:nvPr/>
        </p:nvSpPr>
        <p:spPr bwMode="auto">
          <a:xfrm rot="16200000">
            <a:off x="3924301" y="5373687"/>
            <a:ext cx="360362" cy="360363"/>
          </a:xfrm>
          <a:prstGeom prst="downArrow">
            <a:avLst>
              <a:gd name="adj1" fmla="val 50000"/>
              <a:gd name="adj2" fmla="val 25000"/>
            </a:avLst>
          </a:prstGeom>
          <a:solidFill>
            <a:schemeClr val="accent2"/>
          </a:solidFill>
          <a:ln w="9525">
            <a:solidFill>
              <a:schemeClr val="tx1"/>
            </a:solidFill>
            <a:miter lim="800000"/>
            <a:headEnd/>
            <a:tailEnd/>
          </a:ln>
          <a:effectLst/>
        </p:spPr>
        <p:txBody>
          <a:bodyPr vert="eaVert" wrap="none" anchor="ctr"/>
          <a:lstStyle/>
          <a:p>
            <a:endParaRPr lang="en-US"/>
          </a:p>
        </p:txBody>
      </p:sp>
      <p:sp>
        <p:nvSpPr>
          <p:cNvPr id="92174" name="Text Box 14"/>
          <p:cNvSpPr txBox="1">
            <a:spLocks noChangeArrowheads="1"/>
          </p:cNvSpPr>
          <p:nvPr/>
        </p:nvSpPr>
        <p:spPr bwMode="auto">
          <a:xfrm>
            <a:off x="4787900" y="5157788"/>
            <a:ext cx="3744913" cy="711200"/>
          </a:xfrm>
          <a:prstGeom prst="rect">
            <a:avLst/>
          </a:prstGeom>
          <a:noFill/>
          <a:ln w="9525">
            <a:solidFill>
              <a:schemeClr val="tx1"/>
            </a:solidFill>
            <a:miter lim="800000"/>
            <a:headEnd/>
            <a:tailEnd/>
          </a:ln>
          <a:effectLst/>
        </p:spPr>
        <p:txBody>
          <a:bodyPr>
            <a:spAutoFit/>
          </a:bodyPr>
          <a:lstStyle/>
          <a:p>
            <a:pPr algn="ctr"/>
            <a:r>
              <a:rPr lang="en-GB" sz="4000" b="1">
                <a:solidFill>
                  <a:schemeClr val="tx2"/>
                </a:solidFill>
              </a:rPr>
              <a:t>???</a:t>
            </a:r>
          </a:p>
        </p:txBody>
      </p:sp>
      <p:sp>
        <p:nvSpPr>
          <p:cNvPr id="92175" name="Text Box 15"/>
          <p:cNvSpPr txBox="1">
            <a:spLocks noChangeArrowheads="1"/>
          </p:cNvSpPr>
          <p:nvPr/>
        </p:nvSpPr>
        <p:spPr bwMode="auto">
          <a:xfrm>
            <a:off x="2411413" y="4581525"/>
            <a:ext cx="1416050" cy="366713"/>
          </a:xfrm>
          <a:prstGeom prst="rect">
            <a:avLst/>
          </a:prstGeom>
          <a:noFill/>
          <a:ln w="9525">
            <a:noFill/>
            <a:miter lim="800000"/>
            <a:headEnd/>
            <a:tailEnd/>
          </a:ln>
          <a:effectLst/>
        </p:spPr>
        <p:txBody>
          <a:bodyPr wrap="none">
            <a:spAutoFit/>
          </a:bodyPr>
          <a:lstStyle/>
          <a:p>
            <a:r>
              <a:rPr lang="en-GB" b="1">
                <a:solidFill>
                  <a:schemeClr val="folHlink"/>
                </a:solidFill>
              </a:rPr>
              <a:t>Processing</a:t>
            </a:r>
          </a:p>
        </p:txBody>
      </p:sp>
      <p:sp>
        <p:nvSpPr>
          <p:cNvPr id="14" name="Slide Number Placeholder 13"/>
          <p:cNvSpPr>
            <a:spLocks noGrp="1"/>
          </p:cNvSpPr>
          <p:nvPr>
            <p:ph type="sldNum" sz="quarter" idx="12"/>
          </p:nvPr>
        </p:nvSpPr>
        <p:spPr/>
        <p:txBody>
          <a:bodyPr/>
          <a:lstStyle/>
          <a:p>
            <a:fld id="{0D783054-B380-48EE-A685-F84AE7A6C581}" type="slidenum">
              <a:rPr lang="en-ZA" smtClean="0"/>
              <a:pPr/>
              <a:t>20</a:t>
            </a:fld>
            <a:endParaRPr lang="en-ZA"/>
          </a:p>
        </p:txBody>
      </p:sp>
      <p:pic>
        <p:nvPicPr>
          <p:cNvPr id="16" name="Picture 15" descr="logo"/>
          <p:cNvPicPr>
            <a:picLocks noChangeAspect="1" noChangeArrowheads="1"/>
          </p:cNvPicPr>
          <p:nvPr/>
        </p:nvPicPr>
        <p:blipFill>
          <a:blip r:embed="rId2"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2167"/>
                                        </p:tgtEl>
                                        <p:attrNameLst>
                                          <p:attrName>style.visibility</p:attrName>
                                        </p:attrNameLst>
                                      </p:cBhvr>
                                      <p:to>
                                        <p:strVal val="visible"/>
                                      </p:to>
                                    </p:set>
                                    <p:animEffect transition="in" filter="checkerboard(across)">
                                      <p:cBhvr>
                                        <p:cTn id="7" dur="1000"/>
                                        <p:tgtEl>
                                          <p:spTgt spid="92167"/>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2165"/>
                                        </p:tgtEl>
                                        <p:attrNameLst>
                                          <p:attrName>style.visibility</p:attrName>
                                        </p:attrNameLst>
                                      </p:cBhvr>
                                      <p:to>
                                        <p:strVal val="visible"/>
                                      </p:to>
                                    </p:set>
                                    <p:animEffect transition="in" filter="checkerboard(across)">
                                      <p:cBhvr>
                                        <p:cTn id="10" dur="1000"/>
                                        <p:tgtEl>
                                          <p:spTgt spid="9216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92172"/>
                                        </p:tgtEl>
                                        <p:attrNameLst>
                                          <p:attrName>style.visibility</p:attrName>
                                        </p:attrNameLst>
                                      </p:cBhvr>
                                      <p:to>
                                        <p:strVal val="visible"/>
                                      </p:to>
                                    </p:set>
                                    <p:animEffect transition="in" filter="checkerboard(across)">
                                      <p:cBhvr>
                                        <p:cTn id="13" dur="1000"/>
                                        <p:tgtEl>
                                          <p:spTgt spid="92172"/>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92171"/>
                                        </p:tgtEl>
                                        <p:attrNameLst>
                                          <p:attrName>style.visibility</p:attrName>
                                        </p:attrNameLst>
                                      </p:cBhvr>
                                      <p:to>
                                        <p:strVal val="visible"/>
                                      </p:to>
                                    </p:set>
                                    <p:animEffect transition="in" filter="checkerboard(across)">
                                      <p:cBhvr>
                                        <p:cTn id="16" dur="1000"/>
                                        <p:tgtEl>
                                          <p:spTgt spid="92171"/>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92169"/>
                                        </p:tgtEl>
                                        <p:attrNameLst>
                                          <p:attrName>style.visibility</p:attrName>
                                        </p:attrNameLst>
                                      </p:cBhvr>
                                      <p:to>
                                        <p:strVal val="visible"/>
                                      </p:to>
                                    </p:set>
                                    <p:animEffect transition="in" filter="checkerboard(across)">
                                      <p:cBhvr>
                                        <p:cTn id="21" dur="1000"/>
                                        <p:tgtEl>
                                          <p:spTgt spid="92169"/>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92166"/>
                                        </p:tgtEl>
                                        <p:attrNameLst>
                                          <p:attrName>style.visibility</p:attrName>
                                        </p:attrNameLst>
                                      </p:cBhvr>
                                      <p:to>
                                        <p:strVal val="visible"/>
                                      </p:to>
                                    </p:set>
                                    <p:animEffect transition="in" filter="checkerboard(across)">
                                      <p:cBhvr>
                                        <p:cTn id="24" dur="1000"/>
                                        <p:tgtEl>
                                          <p:spTgt spid="92166"/>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92173"/>
                                        </p:tgtEl>
                                        <p:attrNameLst>
                                          <p:attrName>style.visibility</p:attrName>
                                        </p:attrNameLst>
                                      </p:cBhvr>
                                      <p:to>
                                        <p:strVal val="visible"/>
                                      </p:to>
                                    </p:set>
                                    <p:animEffect transition="in" filter="checkerboard(across)">
                                      <p:cBhvr>
                                        <p:cTn id="27" dur="1000"/>
                                        <p:tgtEl>
                                          <p:spTgt spid="92173"/>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92174"/>
                                        </p:tgtEl>
                                        <p:attrNameLst>
                                          <p:attrName>style.visibility</p:attrName>
                                        </p:attrNameLst>
                                      </p:cBhvr>
                                      <p:to>
                                        <p:strVal val="visible"/>
                                      </p:to>
                                    </p:set>
                                    <p:animEffect transition="in" filter="checkerboard(across)">
                                      <p:cBhvr>
                                        <p:cTn id="30" dur="1000"/>
                                        <p:tgtEl>
                                          <p:spTgt spid="92174"/>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92175"/>
                                        </p:tgtEl>
                                        <p:attrNameLst>
                                          <p:attrName>style.visibility</p:attrName>
                                        </p:attrNameLst>
                                      </p:cBhvr>
                                      <p:to>
                                        <p:strVal val="visible"/>
                                      </p:to>
                                    </p:set>
                                    <p:animEffect transition="in" filter="checkerboard(across)">
                                      <p:cBhvr>
                                        <p:cTn id="33" dur="1000"/>
                                        <p:tgtEl>
                                          <p:spTgt spid="92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5" grpId="0" animBg="1"/>
      <p:bldP spid="92166" grpId="0" animBg="1"/>
      <p:bldP spid="92167" grpId="0" uiExpand="1" animBg="1"/>
      <p:bldP spid="92169" grpId="0" animBg="1"/>
      <p:bldP spid="92171" grpId="0" animBg="1"/>
      <p:bldP spid="92172" grpId="0" uiExpand="1" animBg="1"/>
      <p:bldP spid="92173" grpId="0" animBg="1"/>
      <p:bldP spid="92174" grpId="0" animBg="1"/>
      <p:bldP spid="9217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914400" y="357174"/>
            <a:ext cx="7772400" cy="1143000"/>
          </a:xfrm>
        </p:spPr>
        <p:txBody>
          <a:bodyPr/>
          <a:lstStyle/>
          <a:p>
            <a:r>
              <a:rPr lang="en-GB" dirty="0"/>
              <a:t>Suggested answers to examples</a:t>
            </a:r>
          </a:p>
        </p:txBody>
      </p:sp>
      <p:sp>
        <p:nvSpPr>
          <p:cNvPr id="95235" name="Rectangle 3"/>
          <p:cNvSpPr>
            <a:spLocks noGrp="1" noChangeArrowheads="1"/>
          </p:cNvSpPr>
          <p:nvPr>
            <p:ph sz="quarter" idx="1"/>
          </p:nvPr>
        </p:nvSpPr>
        <p:spPr/>
        <p:txBody>
          <a:bodyPr/>
          <a:lstStyle/>
          <a:p>
            <a:pPr>
              <a:lnSpc>
                <a:spcPct val="80000"/>
              </a:lnSpc>
            </a:pPr>
            <a:r>
              <a:rPr lang="en-GB" sz="2200" dirty="0"/>
              <a:t>Example 1</a:t>
            </a:r>
          </a:p>
          <a:p>
            <a:pPr lvl="1">
              <a:lnSpc>
                <a:spcPct val="80000"/>
              </a:lnSpc>
            </a:pPr>
            <a:r>
              <a:rPr lang="en-GB" sz="2000" dirty="0"/>
              <a:t>We could add up the yes and no responses and calculate the percentage of customers who would buy product X at price Y. The information could be presented as a chart to make it easier to understand.</a:t>
            </a:r>
          </a:p>
          <a:p>
            <a:pPr>
              <a:lnSpc>
                <a:spcPct val="80000"/>
              </a:lnSpc>
            </a:pPr>
            <a:r>
              <a:rPr lang="en-GB" sz="2200" dirty="0"/>
              <a:t>Example 2</a:t>
            </a:r>
          </a:p>
          <a:p>
            <a:pPr lvl="1">
              <a:lnSpc>
                <a:spcPct val="80000"/>
              </a:lnSpc>
            </a:pPr>
            <a:r>
              <a:rPr lang="en-GB" sz="2000" dirty="0"/>
              <a:t>Adding </a:t>
            </a:r>
            <a:r>
              <a:rPr lang="en-GB" sz="2000" dirty="0" smtClean="0"/>
              <a:t>James </a:t>
            </a:r>
            <a:r>
              <a:rPr lang="en-GB" sz="2000" dirty="0"/>
              <a:t>scores would give us a mark out of 600 that could then be converted to an A level grade. Alternatively we could convert the individual module results into grades.</a:t>
            </a:r>
          </a:p>
          <a:p>
            <a:pPr>
              <a:lnSpc>
                <a:spcPct val="80000"/>
              </a:lnSpc>
            </a:pPr>
            <a:r>
              <a:rPr lang="en-GB" sz="2200" dirty="0"/>
              <a:t>Example 3</a:t>
            </a:r>
          </a:p>
          <a:p>
            <a:pPr lvl="1">
              <a:lnSpc>
                <a:spcPct val="80000"/>
              </a:lnSpc>
            </a:pPr>
            <a:r>
              <a:rPr lang="en-GB" sz="2000" dirty="0"/>
              <a:t>By subtracting the second value from the first we can work out how many units of gas the consumer has used. This can then be multiplied by the price per unit to determine the customer’s gas bill.</a:t>
            </a:r>
          </a:p>
        </p:txBody>
      </p:sp>
      <p:sp>
        <p:nvSpPr>
          <p:cNvPr id="4" name="Slide Number Placeholder 3"/>
          <p:cNvSpPr>
            <a:spLocks noGrp="1"/>
          </p:cNvSpPr>
          <p:nvPr>
            <p:ph type="sldNum" sz="quarter" idx="12"/>
          </p:nvPr>
        </p:nvSpPr>
        <p:spPr/>
        <p:txBody>
          <a:bodyPr/>
          <a:lstStyle/>
          <a:p>
            <a:fld id="{0D783054-B380-48EE-A685-F84AE7A6C581}" type="slidenum">
              <a:rPr lang="en-ZA" smtClean="0"/>
              <a:pPr/>
              <a:t>21</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effectLst/>
      </p:bgPr>
    </p:bg>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914400" y="428612"/>
            <a:ext cx="7772400" cy="1143000"/>
          </a:xfrm>
        </p:spPr>
        <p:txBody>
          <a:bodyPr/>
          <a:lstStyle/>
          <a:p>
            <a:r>
              <a:rPr lang="en-GB" dirty="0"/>
              <a:t>Summary</a:t>
            </a:r>
          </a:p>
        </p:txBody>
      </p:sp>
      <p:sp>
        <p:nvSpPr>
          <p:cNvPr id="102404" name="Rectangle 4"/>
          <p:cNvSpPr>
            <a:spLocks noChangeArrowheads="1"/>
          </p:cNvSpPr>
          <p:nvPr/>
        </p:nvSpPr>
        <p:spPr bwMode="auto">
          <a:xfrm>
            <a:off x="611188" y="2565400"/>
            <a:ext cx="1512887" cy="720725"/>
          </a:xfrm>
          <a:prstGeom prst="rect">
            <a:avLst/>
          </a:prstGeom>
          <a:solidFill>
            <a:schemeClr val="tx2"/>
          </a:solidFill>
          <a:ln w="9525">
            <a:solidFill>
              <a:schemeClr val="tx1"/>
            </a:solidFill>
            <a:miter lim="800000"/>
            <a:headEnd/>
            <a:tailEnd/>
          </a:ln>
          <a:effectLst/>
        </p:spPr>
        <p:txBody>
          <a:bodyPr wrap="none" anchor="ctr"/>
          <a:lstStyle/>
          <a:p>
            <a:pPr algn="ctr"/>
            <a:r>
              <a:rPr lang="en-GB" b="1" dirty="0">
                <a:solidFill>
                  <a:schemeClr val="bg1"/>
                </a:solidFill>
              </a:rPr>
              <a:t>Information</a:t>
            </a:r>
          </a:p>
        </p:txBody>
      </p:sp>
      <p:sp>
        <p:nvSpPr>
          <p:cNvPr id="102405" name="Rectangle 5"/>
          <p:cNvSpPr>
            <a:spLocks noChangeArrowheads="1"/>
          </p:cNvSpPr>
          <p:nvPr/>
        </p:nvSpPr>
        <p:spPr bwMode="auto">
          <a:xfrm>
            <a:off x="2700338" y="2565400"/>
            <a:ext cx="1512887" cy="720725"/>
          </a:xfrm>
          <a:prstGeom prst="rect">
            <a:avLst/>
          </a:prstGeom>
          <a:solidFill>
            <a:schemeClr val="accent1"/>
          </a:solidFill>
          <a:ln w="9525">
            <a:solidFill>
              <a:schemeClr val="tx1"/>
            </a:solidFill>
            <a:miter lim="800000"/>
            <a:headEnd/>
            <a:tailEnd/>
          </a:ln>
          <a:effectLst/>
        </p:spPr>
        <p:txBody>
          <a:bodyPr wrap="none" anchor="ctr"/>
          <a:lstStyle/>
          <a:p>
            <a:pPr algn="ctr"/>
            <a:r>
              <a:rPr lang="en-GB" b="1"/>
              <a:t>Data</a:t>
            </a:r>
          </a:p>
        </p:txBody>
      </p:sp>
      <p:sp>
        <p:nvSpPr>
          <p:cNvPr id="102406" name="Rectangle 6"/>
          <p:cNvSpPr>
            <a:spLocks noChangeArrowheads="1"/>
          </p:cNvSpPr>
          <p:nvPr/>
        </p:nvSpPr>
        <p:spPr bwMode="auto">
          <a:xfrm>
            <a:off x="4859338" y="2565400"/>
            <a:ext cx="1512887" cy="720725"/>
          </a:xfrm>
          <a:prstGeom prst="rect">
            <a:avLst/>
          </a:prstGeom>
          <a:solidFill>
            <a:schemeClr val="accent2"/>
          </a:solidFill>
          <a:ln w="9525">
            <a:solidFill>
              <a:schemeClr val="tx1"/>
            </a:solidFill>
            <a:miter lim="800000"/>
            <a:headEnd/>
            <a:tailEnd/>
          </a:ln>
          <a:effectLst/>
        </p:spPr>
        <p:txBody>
          <a:bodyPr wrap="none" anchor="ctr"/>
          <a:lstStyle/>
          <a:p>
            <a:pPr algn="ctr"/>
            <a:r>
              <a:rPr lang="en-GB" b="1"/>
              <a:t>Context</a:t>
            </a:r>
          </a:p>
        </p:txBody>
      </p:sp>
      <p:sp>
        <p:nvSpPr>
          <p:cNvPr id="102407" name="Rectangle 7"/>
          <p:cNvSpPr>
            <a:spLocks noChangeArrowheads="1"/>
          </p:cNvSpPr>
          <p:nvPr/>
        </p:nvSpPr>
        <p:spPr bwMode="auto">
          <a:xfrm>
            <a:off x="7019925" y="2565400"/>
            <a:ext cx="1512888" cy="720725"/>
          </a:xfrm>
          <a:prstGeom prst="rect">
            <a:avLst/>
          </a:prstGeom>
          <a:solidFill>
            <a:schemeClr val="accent2"/>
          </a:solidFill>
          <a:ln w="9525">
            <a:solidFill>
              <a:schemeClr val="tx1"/>
            </a:solidFill>
            <a:miter lim="800000"/>
            <a:headEnd/>
            <a:tailEnd/>
          </a:ln>
          <a:effectLst/>
        </p:spPr>
        <p:txBody>
          <a:bodyPr wrap="none" anchor="ctr"/>
          <a:lstStyle/>
          <a:p>
            <a:pPr algn="ctr"/>
            <a:r>
              <a:rPr lang="en-GB" b="1"/>
              <a:t>Meaning</a:t>
            </a:r>
          </a:p>
        </p:txBody>
      </p:sp>
      <p:sp>
        <p:nvSpPr>
          <p:cNvPr id="102408" name="Text Box 8"/>
          <p:cNvSpPr txBox="1">
            <a:spLocks noChangeArrowheads="1"/>
          </p:cNvSpPr>
          <p:nvPr/>
        </p:nvSpPr>
        <p:spPr bwMode="auto">
          <a:xfrm>
            <a:off x="2195513" y="2636838"/>
            <a:ext cx="392112" cy="519112"/>
          </a:xfrm>
          <a:prstGeom prst="rect">
            <a:avLst/>
          </a:prstGeom>
          <a:noFill/>
          <a:ln w="9525">
            <a:noFill/>
            <a:miter lim="800000"/>
            <a:headEnd/>
            <a:tailEnd/>
          </a:ln>
          <a:effectLst/>
        </p:spPr>
        <p:txBody>
          <a:bodyPr wrap="none">
            <a:spAutoFit/>
          </a:bodyPr>
          <a:lstStyle/>
          <a:p>
            <a:r>
              <a:rPr lang="en-GB" sz="2800" b="1" dirty="0"/>
              <a:t>=</a:t>
            </a:r>
          </a:p>
        </p:txBody>
      </p:sp>
      <p:sp>
        <p:nvSpPr>
          <p:cNvPr id="102409" name="Text Box 9"/>
          <p:cNvSpPr txBox="1">
            <a:spLocks noChangeArrowheads="1"/>
          </p:cNvSpPr>
          <p:nvPr/>
        </p:nvSpPr>
        <p:spPr bwMode="auto">
          <a:xfrm>
            <a:off x="6516688" y="2636838"/>
            <a:ext cx="392112" cy="519112"/>
          </a:xfrm>
          <a:prstGeom prst="rect">
            <a:avLst/>
          </a:prstGeom>
          <a:noFill/>
          <a:ln w="9525">
            <a:noFill/>
            <a:miter lim="800000"/>
            <a:headEnd/>
            <a:tailEnd/>
          </a:ln>
          <a:effectLst/>
        </p:spPr>
        <p:txBody>
          <a:bodyPr wrap="none">
            <a:spAutoFit/>
          </a:bodyPr>
          <a:lstStyle/>
          <a:p>
            <a:r>
              <a:rPr lang="en-GB" sz="2800" b="1"/>
              <a:t>+</a:t>
            </a:r>
          </a:p>
        </p:txBody>
      </p:sp>
      <p:sp>
        <p:nvSpPr>
          <p:cNvPr id="102410" name="Text Box 10"/>
          <p:cNvSpPr txBox="1">
            <a:spLocks noChangeArrowheads="1"/>
          </p:cNvSpPr>
          <p:nvPr/>
        </p:nvSpPr>
        <p:spPr bwMode="auto">
          <a:xfrm>
            <a:off x="4356100" y="2636838"/>
            <a:ext cx="392113" cy="519112"/>
          </a:xfrm>
          <a:prstGeom prst="rect">
            <a:avLst/>
          </a:prstGeom>
          <a:noFill/>
          <a:ln w="9525">
            <a:noFill/>
            <a:miter lim="800000"/>
            <a:headEnd/>
            <a:tailEnd/>
          </a:ln>
          <a:effectLst/>
        </p:spPr>
        <p:txBody>
          <a:bodyPr wrap="none">
            <a:spAutoFit/>
          </a:bodyPr>
          <a:lstStyle/>
          <a:p>
            <a:r>
              <a:rPr lang="en-GB" sz="2800" b="1"/>
              <a:t>+</a:t>
            </a:r>
          </a:p>
        </p:txBody>
      </p:sp>
      <p:sp>
        <p:nvSpPr>
          <p:cNvPr id="102412" name="AutoShape 12"/>
          <p:cNvSpPr>
            <a:spLocks/>
          </p:cNvSpPr>
          <p:nvPr/>
        </p:nvSpPr>
        <p:spPr bwMode="auto">
          <a:xfrm rot="5400000">
            <a:off x="6443663" y="1917700"/>
            <a:ext cx="433387" cy="3744913"/>
          </a:xfrm>
          <a:prstGeom prst="rightBrace">
            <a:avLst>
              <a:gd name="adj1" fmla="val 72009"/>
              <a:gd name="adj2" fmla="val 50565"/>
            </a:avLst>
          </a:prstGeom>
          <a:noFill/>
          <a:ln w="9525">
            <a:solidFill>
              <a:schemeClr val="tx1"/>
            </a:solidFill>
            <a:round/>
            <a:headEnd/>
            <a:tailEnd/>
          </a:ln>
          <a:effectLst/>
        </p:spPr>
        <p:txBody>
          <a:bodyPr wrap="none" anchor="ctr"/>
          <a:lstStyle/>
          <a:p>
            <a:endParaRPr lang="en-US"/>
          </a:p>
        </p:txBody>
      </p:sp>
      <p:sp>
        <p:nvSpPr>
          <p:cNvPr id="102414" name="Text Box 14"/>
          <p:cNvSpPr txBox="1">
            <a:spLocks noChangeArrowheads="1"/>
          </p:cNvSpPr>
          <p:nvPr/>
        </p:nvSpPr>
        <p:spPr bwMode="auto">
          <a:xfrm>
            <a:off x="5867400" y="4221163"/>
            <a:ext cx="1416050" cy="366712"/>
          </a:xfrm>
          <a:prstGeom prst="rect">
            <a:avLst/>
          </a:prstGeom>
          <a:noFill/>
          <a:ln w="9525">
            <a:noFill/>
            <a:miter lim="800000"/>
            <a:headEnd/>
            <a:tailEnd/>
          </a:ln>
          <a:effectLst/>
        </p:spPr>
        <p:txBody>
          <a:bodyPr wrap="none">
            <a:spAutoFit/>
          </a:bodyPr>
          <a:lstStyle/>
          <a:p>
            <a:r>
              <a:rPr lang="en-GB" b="1" dirty="0" smtClean="0"/>
              <a:t>Processing</a:t>
            </a:r>
            <a:endParaRPr lang="en-GB" b="1" dirty="0"/>
          </a:p>
        </p:txBody>
      </p:sp>
      <p:sp>
        <p:nvSpPr>
          <p:cNvPr id="102415" name="Text Box 15"/>
          <p:cNvSpPr txBox="1">
            <a:spLocks noChangeArrowheads="1"/>
          </p:cNvSpPr>
          <p:nvPr/>
        </p:nvSpPr>
        <p:spPr bwMode="auto">
          <a:xfrm>
            <a:off x="611188" y="4437063"/>
            <a:ext cx="3384550" cy="366712"/>
          </a:xfrm>
          <a:prstGeom prst="rect">
            <a:avLst/>
          </a:prstGeom>
          <a:noFill/>
          <a:ln w="9525">
            <a:noFill/>
            <a:miter lim="800000"/>
            <a:headEnd/>
            <a:tailEnd/>
          </a:ln>
          <a:effectLst/>
        </p:spPr>
        <p:txBody>
          <a:bodyPr>
            <a:spAutoFit/>
          </a:bodyPr>
          <a:lstStyle/>
          <a:p>
            <a:r>
              <a:rPr lang="en-GB"/>
              <a:t>Data – raw facts and figures</a:t>
            </a:r>
          </a:p>
        </p:txBody>
      </p:sp>
      <p:sp>
        <p:nvSpPr>
          <p:cNvPr id="102416" name="Text Box 16"/>
          <p:cNvSpPr txBox="1">
            <a:spLocks noChangeArrowheads="1"/>
          </p:cNvSpPr>
          <p:nvPr/>
        </p:nvSpPr>
        <p:spPr bwMode="auto">
          <a:xfrm>
            <a:off x="611188" y="5013325"/>
            <a:ext cx="7993062" cy="366713"/>
          </a:xfrm>
          <a:prstGeom prst="rect">
            <a:avLst/>
          </a:prstGeom>
          <a:noFill/>
          <a:ln w="9525">
            <a:noFill/>
            <a:miter lim="800000"/>
            <a:headEnd/>
            <a:tailEnd/>
          </a:ln>
          <a:effectLst/>
        </p:spPr>
        <p:txBody>
          <a:bodyPr>
            <a:spAutoFit/>
          </a:bodyPr>
          <a:lstStyle/>
          <a:p>
            <a:r>
              <a:rPr lang="en-GB"/>
              <a:t>Information – data that has been processed (in a context) to give it meaning</a:t>
            </a:r>
          </a:p>
        </p:txBody>
      </p:sp>
      <p:sp>
        <p:nvSpPr>
          <p:cNvPr id="14" name="Slide Number Placeholder 13"/>
          <p:cNvSpPr>
            <a:spLocks noGrp="1"/>
          </p:cNvSpPr>
          <p:nvPr>
            <p:ph type="sldNum" sz="quarter" idx="12"/>
          </p:nvPr>
        </p:nvSpPr>
        <p:spPr/>
        <p:txBody>
          <a:bodyPr/>
          <a:lstStyle/>
          <a:p>
            <a:fld id="{0D783054-B380-48EE-A685-F84AE7A6C581}" type="slidenum">
              <a:rPr lang="en-ZA" smtClean="0"/>
              <a:pPr/>
              <a:t>22</a:t>
            </a:fld>
            <a:endParaRPr lang="en-ZA"/>
          </a:p>
        </p:txBody>
      </p:sp>
      <p:pic>
        <p:nvPicPr>
          <p:cNvPr id="16" name="Picture 15" descr="logo"/>
          <p:cNvPicPr>
            <a:picLocks noChangeAspect="1" noChangeArrowheads="1"/>
          </p:cNvPicPr>
          <p:nvPr/>
        </p:nvPicPr>
        <p:blipFill>
          <a:blip r:embed="rId2"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2405"/>
                                        </p:tgtEl>
                                        <p:attrNameLst>
                                          <p:attrName>style.visibility</p:attrName>
                                        </p:attrNameLst>
                                      </p:cBhvr>
                                      <p:to>
                                        <p:strVal val="visible"/>
                                      </p:to>
                                    </p:set>
                                    <p:animEffect transition="in" filter="dissolve">
                                      <p:cBhvr>
                                        <p:cTn id="7" dur="1000"/>
                                        <p:tgtEl>
                                          <p:spTgt spid="10240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02410"/>
                                        </p:tgtEl>
                                        <p:attrNameLst>
                                          <p:attrName>style.visibility</p:attrName>
                                        </p:attrNameLst>
                                      </p:cBhvr>
                                      <p:to>
                                        <p:strVal val="visible"/>
                                      </p:to>
                                    </p:set>
                                    <p:animEffect transition="in" filter="dissolve">
                                      <p:cBhvr>
                                        <p:cTn id="10" dur="1000"/>
                                        <p:tgtEl>
                                          <p:spTgt spid="102410"/>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102406"/>
                                        </p:tgtEl>
                                        <p:attrNameLst>
                                          <p:attrName>style.visibility</p:attrName>
                                        </p:attrNameLst>
                                      </p:cBhvr>
                                      <p:to>
                                        <p:strVal val="visible"/>
                                      </p:to>
                                    </p:set>
                                    <p:animEffect transition="in" filter="dissolve">
                                      <p:cBhvr>
                                        <p:cTn id="15" dur="1000"/>
                                        <p:tgtEl>
                                          <p:spTgt spid="10240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102409"/>
                                        </p:tgtEl>
                                        <p:attrNameLst>
                                          <p:attrName>style.visibility</p:attrName>
                                        </p:attrNameLst>
                                      </p:cBhvr>
                                      <p:to>
                                        <p:strVal val="visible"/>
                                      </p:to>
                                    </p:set>
                                    <p:animEffect transition="in" filter="dissolve">
                                      <p:cBhvr>
                                        <p:cTn id="18" dur="1000"/>
                                        <p:tgtEl>
                                          <p:spTgt spid="102409"/>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02407"/>
                                        </p:tgtEl>
                                        <p:attrNameLst>
                                          <p:attrName>style.visibility</p:attrName>
                                        </p:attrNameLst>
                                      </p:cBhvr>
                                      <p:to>
                                        <p:strVal val="visible"/>
                                      </p:to>
                                    </p:set>
                                    <p:animEffect transition="in" filter="dissolve">
                                      <p:cBhvr>
                                        <p:cTn id="21" dur="1000"/>
                                        <p:tgtEl>
                                          <p:spTgt spid="102407"/>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02412"/>
                                        </p:tgtEl>
                                        <p:attrNameLst>
                                          <p:attrName>style.visibility</p:attrName>
                                        </p:attrNameLst>
                                      </p:cBhvr>
                                      <p:to>
                                        <p:strVal val="visible"/>
                                      </p:to>
                                    </p:set>
                                    <p:animEffect transition="in" filter="dissolve">
                                      <p:cBhvr>
                                        <p:cTn id="26" dur="1000"/>
                                        <p:tgtEl>
                                          <p:spTgt spid="102412"/>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102414"/>
                                        </p:tgtEl>
                                        <p:attrNameLst>
                                          <p:attrName>style.visibility</p:attrName>
                                        </p:attrNameLst>
                                      </p:cBhvr>
                                      <p:to>
                                        <p:strVal val="visible"/>
                                      </p:to>
                                    </p:set>
                                    <p:animEffect transition="in" filter="dissolve">
                                      <p:cBhvr>
                                        <p:cTn id="29" dur="1000"/>
                                        <p:tgtEl>
                                          <p:spTgt spid="102414"/>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02415"/>
                                        </p:tgtEl>
                                        <p:attrNameLst>
                                          <p:attrName>style.visibility</p:attrName>
                                        </p:attrNameLst>
                                      </p:cBhvr>
                                      <p:to>
                                        <p:strVal val="visible"/>
                                      </p:to>
                                    </p:set>
                                    <p:anim calcmode="lin" valueType="num">
                                      <p:cBhvr additive="base">
                                        <p:cTn id="34" dur="1000" fill="hold"/>
                                        <p:tgtEl>
                                          <p:spTgt spid="102415"/>
                                        </p:tgtEl>
                                        <p:attrNameLst>
                                          <p:attrName>ppt_x</p:attrName>
                                        </p:attrNameLst>
                                      </p:cBhvr>
                                      <p:tavLst>
                                        <p:tav tm="0">
                                          <p:val>
                                            <p:strVal val="#ppt_x"/>
                                          </p:val>
                                        </p:tav>
                                        <p:tav tm="100000">
                                          <p:val>
                                            <p:strVal val="#ppt_x"/>
                                          </p:val>
                                        </p:tav>
                                      </p:tavLst>
                                    </p:anim>
                                    <p:anim calcmode="lin" valueType="num">
                                      <p:cBhvr additive="base">
                                        <p:cTn id="35" dur="1000" fill="hold"/>
                                        <p:tgtEl>
                                          <p:spTgt spid="102415"/>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102416"/>
                                        </p:tgtEl>
                                        <p:attrNameLst>
                                          <p:attrName>style.visibility</p:attrName>
                                        </p:attrNameLst>
                                      </p:cBhvr>
                                      <p:to>
                                        <p:strVal val="visible"/>
                                      </p:to>
                                    </p:set>
                                    <p:anim calcmode="lin" valueType="num">
                                      <p:cBhvr additive="base">
                                        <p:cTn id="38" dur="1000" fill="hold"/>
                                        <p:tgtEl>
                                          <p:spTgt spid="102416"/>
                                        </p:tgtEl>
                                        <p:attrNameLst>
                                          <p:attrName>ppt_x</p:attrName>
                                        </p:attrNameLst>
                                      </p:cBhvr>
                                      <p:tavLst>
                                        <p:tav tm="0">
                                          <p:val>
                                            <p:strVal val="#ppt_x"/>
                                          </p:val>
                                        </p:tav>
                                        <p:tav tm="100000">
                                          <p:val>
                                            <p:strVal val="#ppt_x"/>
                                          </p:val>
                                        </p:tav>
                                      </p:tavLst>
                                    </p:anim>
                                    <p:anim calcmode="lin" valueType="num">
                                      <p:cBhvr additive="base">
                                        <p:cTn id="39" dur="1000" fill="hold"/>
                                        <p:tgtEl>
                                          <p:spTgt spid="1024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5" grpId="0" uiExpand="1" animBg="1"/>
      <p:bldP spid="102406" grpId="0" animBg="1"/>
      <p:bldP spid="102407" grpId="0" uiExpand="1" animBg="1"/>
      <p:bldP spid="102409" grpId="0" uiExpand="1"/>
      <p:bldP spid="102410" grpId="0" uiExpand="1"/>
      <p:bldP spid="102412" grpId="0" uiExpand="1" animBg="1"/>
      <p:bldP spid="102414" grpId="0"/>
      <p:bldP spid="102415" grpId="0" uiExpand="1"/>
      <p:bldP spid="1024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6908"/>
          </a:xfrm>
        </p:spPr>
        <p:txBody>
          <a:bodyPr/>
          <a:lstStyle/>
          <a:p>
            <a:r>
              <a:rPr lang="en-US" dirty="0" smtClean="0"/>
              <a:t>Applications of computer systems</a:t>
            </a:r>
          </a:p>
        </p:txBody>
      </p:sp>
      <p:sp>
        <p:nvSpPr>
          <p:cNvPr id="3" name="Slide Number Placeholder 2"/>
          <p:cNvSpPr>
            <a:spLocks noGrp="1"/>
          </p:cNvSpPr>
          <p:nvPr>
            <p:ph type="sldNum" sz="quarter" idx="12"/>
          </p:nvPr>
        </p:nvSpPr>
        <p:spPr/>
        <p:txBody>
          <a:bodyPr/>
          <a:lstStyle/>
          <a:p>
            <a:fld id="{0D783054-B380-48EE-A685-F84AE7A6C581}" type="slidenum">
              <a:rPr lang="en-ZA" smtClean="0"/>
              <a:pPr/>
              <a:t>23</a:t>
            </a:fld>
            <a:endParaRPr lang="en-ZA"/>
          </a:p>
        </p:txBody>
      </p:sp>
      <p:sp>
        <p:nvSpPr>
          <p:cNvPr id="4" name="Content Placeholder 3"/>
          <p:cNvSpPr>
            <a:spLocks noGrp="1"/>
          </p:cNvSpPr>
          <p:nvPr>
            <p:ph sz="quarter" idx="1"/>
          </p:nvPr>
        </p:nvSpPr>
        <p:spPr>
          <a:xfrm>
            <a:off x="857224" y="1000108"/>
            <a:ext cx="7772400" cy="4572000"/>
          </a:xfrm>
        </p:spPr>
        <p:txBody>
          <a:bodyPr>
            <a:noAutofit/>
          </a:bodyPr>
          <a:lstStyle/>
          <a:p>
            <a:pPr algn="just">
              <a:buNone/>
            </a:pPr>
            <a:r>
              <a:rPr lang="en-US" sz="2200" dirty="0" smtClean="0"/>
              <a:t>A computer in the growing technology offers a wide range of functions and services. They includes</a:t>
            </a:r>
          </a:p>
          <a:p>
            <a:pPr lvl="0" algn="just"/>
            <a:r>
              <a:rPr lang="en-US" sz="2200" dirty="0" smtClean="0"/>
              <a:t>Education: computers have significantly enhanced the quality of teaching and learning. Internet has helped improving the quality of academic research by making needed materials available to researchers and learners.  Distance learning offers a variety of internet and video based online courses. They are used to give online exams and get instant results.</a:t>
            </a:r>
          </a:p>
          <a:p>
            <a:pPr lvl="0" algn="just"/>
            <a:r>
              <a:rPr lang="en-US" sz="2200" dirty="0" smtClean="0"/>
              <a:t>Medicine:  it is used to store patient data, diagnose diseases and learn the cures. Software is used in magnetic resonance imaging to examine the internal organs of the human body. Software is used in performing surgery.</a:t>
            </a:r>
          </a:p>
          <a:p>
            <a:pPr lvl="0" algn="just"/>
            <a:r>
              <a:rPr lang="en-US" sz="2200" dirty="0" smtClean="0"/>
              <a:t>Business: it is used to manage stock and sales, to calculate the bills and taxes, accounting is done using computers. One can predict future trends of business using artificial intelligent. Software is used in many stock markets. One can trade online. </a:t>
            </a:r>
          </a:p>
          <a:p>
            <a:pPr algn="just"/>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662" y="0"/>
            <a:ext cx="7772400" cy="1143000"/>
          </a:xfrm>
        </p:spPr>
        <p:txBody>
          <a:bodyPr/>
          <a:lstStyle/>
          <a:p>
            <a:r>
              <a:rPr lang="en-US" dirty="0" smtClean="0"/>
              <a:t>Applications of computer systems</a:t>
            </a:r>
            <a:endParaRPr lang="en-US" dirty="0"/>
          </a:p>
        </p:txBody>
      </p:sp>
      <p:sp>
        <p:nvSpPr>
          <p:cNvPr id="3" name="Slide Number Placeholder 2"/>
          <p:cNvSpPr>
            <a:spLocks noGrp="1"/>
          </p:cNvSpPr>
          <p:nvPr>
            <p:ph type="sldNum" sz="quarter" idx="12"/>
          </p:nvPr>
        </p:nvSpPr>
        <p:spPr/>
        <p:txBody>
          <a:bodyPr/>
          <a:lstStyle/>
          <a:p>
            <a:fld id="{0D783054-B380-48EE-A685-F84AE7A6C581}" type="slidenum">
              <a:rPr lang="en-ZA" smtClean="0"/>
              <a:pPr/>
              <a:t>24</a:t>
            </a:fld>
            <a:endParaRPr lang="en-ZA"/>
          </a:p>
        </p:txBody>
      </p:sp>
      <p:sp>
        <p:nvSpPr>
          <p:cNvPr id="4" name="Content Placeholder 3"/>
          <p:cNvSpPr>
            <a:spLocks noGrp="1"/>
          </p:cNvSpPr>
          <p:nvPr>
            <p:ph sz="quarter" idx="1"/>
          </p:nvPr>
        </p:nvSpPr>
        <p:spPr/>
        <p:txBody>
          <a:bodyPr>
            <a:normAutofit lnSpcReduction="10000"/>
          </a:bodyPr>
          <a:lstStyle/>
          <a:p>
            <a:pPr lvl="0"/>
            <a:r>
              <a:rPr lang="en-US" dirty="0" smtClean="0"/>
              <a:t>Banking: all financial transactions are done by computer software. They provide security, speed, and convenience. Automated teller machine let us conduct banking transaction from virtually anywhere in the world.</a:t>
            </a:r>
          </a:p>
          <a:p>
            <a:pPr lvl="0"/>
            <a:r>
              <a:rPr lang="en-US" dirty="0" smtClean="0"/>
              <a:t>Government: various departments of government use computer for their planning, control and law enforcement activities.</a:t>
            </a:r>
          </a:p>
          <a:p>
            <a:pPr lvl="0"/>
            <a:r>
              <a:rPr lang="en-US" dirty="0" smtClean="0"/>
              <a:t>Communication: through e-mail, you can communicate with a person sitting thousands of miles away in few seconds. Chat software enables one to chat with another on a real-time basis</a:t>
            </a:r>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184" y="185790"/>
            <a:ext cx="7586658" cy="814318"/>
          </a:xfrm>
        </p:spPr>
        <p:txBody>
          <a:bodyPr/>
          <a:lstStyle/>
          <a:p>
            <a:r>
              <a:rPr lang="en-ZA" dirty="0" smtClean="0"/>
              <a:t>Classification of Computers</a:t>
            </a:r>
            <a:endParaRPr lang="en-ZA" dirty="0"/>
          </a:p>
        </p:txBody>
      </p:sp>
      <p:sp>
        <p:nvSpPr>
          <p:cNvPr id="3" name="Content Placeholder 2"/>
          <p:cNvSpPr>
            <a:spLocks noGrp="1"/>
          </p:cNvSpPr>
          <p:nvPr>
            <p:ph sz="quarter" idx="1"/>
          </p:nvPr>
        </p:nvSpPr>
        <p:spPr>
          <a:xfrm>
            <a:off x="457200" y="980728"/>
            <a:ext cx="8229600" cy="5472608"/>
          </a:xfrm>
        </p:spPr>
        <p:txBody>
          <a:bodyPr>
            <a:normAutofit fontScale="25000" lnSpcReduction="20000"/>
          </a:bodyPr>
          <a:lstStyle/>
          <a:p>
            <a:pPr algn="just">
              <a:buNone/>
            </a:pPr>
            <a:r>
              <a:rPr lang="en-US" sz="8600" dirty="0" smtClean="0"/>
              <a:t>Classification based on Size</a:t>
            </a:r>
          </a:p>
          <a:p>
            <a:pPr lvl="0" algn="just"/>
            <a:r>
              <a:rPr lang="en-US" sz="8600" dirty="0" smtClean="0"/>
              <a:t>Super Computer</a:t>
            </a:r>
          </a:p>
          <a:p>
            <a:pPr lvl="0" algn="just"/>
            <a:r>
              <a:rPr lang="en-US" sz="8600" dirty="0" smtClean="0"/>
              <a:t>Mainframe Computers</a:t>
            </a:r>
            <a:endParaRPr lang="en-ZA" sz="8600" dirty="0"/>
          </a:p>
          <a:p>
            <a:pPr lvl="0" algn="just"/>
            <a:r>
              <a:rPr lang="en-US" sz="8600" dirty="0"/>
              <a:t>Minicomputer</a:t>
            </a:r>
            <a:endParaRPr lang="en-ZA" sz="8600" dirty="0"/>
          </a:p>
          <a:p>
            <a:pPr lvl="0" algn="just"/>
            <a:r>
              <a:rPr lang="en-US" sz="8600" dirty="0" smtClean="0"/>
              <a:t>Microcomputer/ Personal computer</a:t>
            </a:r>
          </a:p>
          <a:p>
            <a:pPr lvl="0" algn="just"/>
            <a:endParaRPr lang="en-US" sz="8600" dirty="0" smtClean="0"/>
          </a:p>
          <a:p>
            <a:pPr lvl="1" algn="just"/>
            <a:r>
              <a:rPr lang="en-US" sz="8400" dirty="0" smtClean="0"/>
              <a:t>Super Computer: The fastest and most powerful type of computer. Supercomputer are very expenses and are employed for specialized applications that require immense amounts of mathematical calculations. For example, weather forecasting requires supercomputer. Other uses of super computers includes animated graphics, fluid dynamic calculations, nuclear energy research and petroleum exploration. The chief difference between a supercomputer and a mainframe computer is that a supercomputer channels all its power into executing a few programs as fast as possible, whereas mainframe uses its power to execute many programs concurrently.  </a:t>
            </a:r>
            <a:endParaRPr lang="en-ZA" sz="8400" dirty="0"/>
          </a:p>
        </p:txBody>
      </p:sp>
      <p:sp>
        <p:nvSpPr>
          <p:cNvPr id="4" name="Slide Number Placeholder 3"/>
          <p:cNvSpPr>
            <a:spLocks noGrp="1"/>
          </p:cNvSpPr>
          <p:nvPr>
            <p:ph type="sldNum" sz="quarter" idx="12"/>
          </p:nvPr>
        </p:nvSpPr>
        <p:spPr/>
        <p:txBody>
          <a:bodyPr/>
          <a:lstStyle/>
          <a:p>
            <a:fld id="{0D783054-B380-48EE-A685-F84AE7A6C581}" type="slidenum">
              <a:rPr lang="en-ZA" smtClean="0"/>
              <a:pPr/>
              <a:t>25</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Classification of Computers</a:t>
            </a:r>
            <a:endParaRPr lang="en-US" dirty="0"/>
          </a:p>
        </p:txBody>
      </p:sp>
      <p:sp>
        <p:nvSpPr>
          <p:cNvPr id="3" name="Slide Number Placeholder 2"/>
          <p:cNvSpPr>
            <a:spLocks noGrp="1"/>
          </p:cNvSpPr>
          <p:nvPr>
            <p:ph type="sldNum" sz="quarter" idx="12"/>
          </p:nvPr>
        </p:nvSpPr>
        <p:spPr/>
        <p:txBody>
          <a:bodyPr/>
          <a:lstStyle/>
          <a:p>
            <a:fld id="{0D783054-B380-48EE-A685-F84AE7A6C581}" type="slidenum">
              <a:rPr lang="en-ZA" smtClean="0"/>
              <a:pPr/>
              <a:t>26</a:t>
            </a:fld>
            <a:endParaRPr lang="en-ZA"/>
          </a:p>
        </p:txBody>
      </p:sp>
      <p:sp>
        <p:nvSpPr>
          <p:cNvPr id="4" name="Content Placeholder 3"/>
          <p:cNvSpPr>
            <a:spLocks noGrp="1"/>
          </p:cNvSpPr>
          <p:nvPr>
            <p:ph sz="quarter" idx="1"/>
          </p:nvPr>
        </p:nvSpPr>
        <p:spPr/>
        <p:txBody>
          <a:bodyPr>
            <a:normAutofit fontScale="25000" lnSpcReduction="20000"/>
          </a:bodyPr>
          <a:lstStyle/>
          <a:p>
            <a:pPr marL="274320" lvl="1" indent="-274320">
              <a:spcBef>
                <a:spcPts val="580"/>
              </a:spcBef>
              <a:buClr>
                <a:schemeClr val="accent1"/>
              </a:buClr>
            </a:pPr>
            <a:r>
              <a:rPr lang="en-US" sz="8400" dirty="0" smtClean="0"/>
              <a:t>Super Computer: The fastest and most powerful type of computer. Supercomputer are very expenses and are employed for specialized applications that require immense amounts of mathematical calculations. exploration. The chief difference between a supercomputer and a mainframe computer is that a supercomputer channels all its power into executing a few programs as fast as possible, whereas mainframe uses its power to execute many programs concurrently.  </a:t>
            </a:r>
          </a:p>
          <a:p>
            <a:pPr marL="274320" lvl="1" indent="-274320">
              <a:spcBef>
                <a:spcPts val="580"/>
              </a:spcBef>
              <a:buClr>
                <a:schemeClr val="accent1"/>
              </a:buClr>
              <a:buNone/>
            </a:pPr>
            <a:r>
              <a:rPr lang="en-US" sz="8400" dirty="0" smtClean="0"/>
              <a:t>Applications</a:t>
            </a:r>
          </a:p>
          <a:p>
            <a:pPr marL="274320" lvl="1" indent="-274320">
              <a:spcBef>
                <a:spcPts val="580"/>
              </a:spcBef>
              <a:buClr>
                <a:schemeClr val="accent1"/>
              </a:buClr>
            </a:pPr>
            <a:r>
              <a:rPr lang="en-US" sz="8400" dirty="0" smtClean="0"/>
              <a:t> weather forecasting requires supercomputer. </a:t>
            </a:r>
          </a:p>
          <a:p>
            <a:pPr marL="274320" lvl="1" indent="-274320">
              <a:spcBef>
                <a:spcPts val="580"/>
              </a:spcBef>
              <a:buClr>
                <a:schemeClr val="accent1"/>
              </a:buClr>
            </a:pPr>
            <a:r>
              <a:rPr lang="en-US" sz="8400" dirty="0" smtClean="0"/>
              <a:t>Animated graphics </a:t>
            </a:r>
          </a:p>
          <a:p>
            <a:pPr marL="274320" lvl="1" indent="-274320">
              <a:spcBef>
                <a:spcPts val="580"/>
              </a:spcBef>
              <a:buClr>
                <a:schemeClr val="accent1"/>
              </a:buClr>
            </a:pPr>
            <a:r>
              <a:rPr lang="en-US" sz="8400" dirty="0" smtClean="0"/>
              <a:t>fluid dynamic calculations.</a:t>
            </a:r>
          </a:p>
          <a:p>
            <a:pPr marL="274320" lvl="1" indent="-274320">
              <a:spcBef>
                <a:spcPts val="580"/>
              </a:spcBef>
              <a:buClr>
                <a:schemeClr val="accent1"/>
              </a:buClr>
            </a:pPr>
            <a:r>
              <a:rPr lang="en-US" sz="8400" dirty="0" smtClean="0"/>
              <a:t> nuclear energy research and petroleum exploration</a:t>
            </a:r>
            <a:endParaRPr lang="en-ZA" sz="8400" dirty="0" smtClean="0"/>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Classification of Computers</a:t>
            </a:r>
            <a:endParaRPr lang="en-US" dirty="0"/>
          </a:p>
        </p:txBody>
      </p:sp>
      <p:sp>
        <p:nvSpPr>
          <p:cNvPr id="3" name="Slide Number Placeholder 2"/>
          <p:cNvSpPr>
            <a:spLocks noGrp="1"/>
          </p:cNvSpPr>
          <p:nvPr>
            <p:ph type="sldNum" sz="quarter" idx="12"/>
          </p:nvPr>
        </p:nvSpPr>
        <p:spPr/>
        <p:txBody>
          <a:bodyPr/>
          <a:lstStyle/>
          <a:p>
            <a:fld id="{0D783054-B380-48EE-A685-F84AE7A6C581}" type="slidenum">
              <a:rPr lang="en-ZA" smtClean="0"/>
              <a:pPr/>
              <a:t>27</a:t>
            </a:fld>
            <a:endParaRPr lang="en-ZA"/>
          </a:p>
        </p:txBody>
      </p:sp>
      <p:sp>
        <p:nvSpPr>
          <p:cNvPr id="4" name="Content Placeholder 3"/>
          <p:cNvSpPr>
            <a:spLocks noGrp="1"/>
          </p:cNvSpPr>
          <p:nvPr>
            <p:ph sz="quarter" idx="1"/>
          </p:nvPr>
        </p:nvSpPr>
        <p:spPr/>
        <p:txBody>
          <a:bodyPr>
            <a:normAutofit fontScale="32500" lnSpcReduction="20000"/>
          </a:bodyPr>
          <a:lstStyle/>
          <a:p>
            <a:pPr lvl="1" algn="just"/>
            <a:r>
              <a:rPr lang="en-US" sz="8600" dirty="0" smtClean="0"/>
              <a:t>Mainframe: Largest type of digital computer and a multi user system. Capable of supporting hundreds and thousands of users simultaneously. They are expensive. Require air conditioning for temperature control. Needs many people to operate and maintain them. Mainframe are just below supercomputers and in some way more powerful because they support more simultaneous programs.</a:t>
            </a:r>
          </a:p>
          <a:p>
            <a:pPr algn="just">
              <a:buNone/>
            </a:pPr>
            <a:r>
              <a:rPr lang="en-GB" sz="8600" dirty="0" smtClean="0"/>
              <a:t>	Applications</a:t>
            </a:r>
          </a:p>
          <a:p>
            <a:pPr algn="just"/>
            <a:r>
              <a:rPr lang="en-GB" sz="8600" dirty="0" smtClean="0"/>
              <a:t>Used as controlling nodes in WANs</a:t>
            </a:r>
          </a:p>
          <a:p>
            <a:pPr algn="just"/>
            <a:r>
              <a:rPr lang="en-GB" sz="8600" dirty="0" smtClean="0"/>
              <a:t>Used to manage large centralized databases</a:t>
            </a:r>
          </a:p>
          <a:p>
            <a:pPr algn="just">
              <a:buFont typeface="Arial" charset="0"/>
              <a:buChar char="•"/>
            </a:pPr>
            <a:endParaRPr lang="en-GB" dirty="0" smtClean="0"/>
          </a:p>
          <a:p>
            <a:pPr lvl="1" algn="just"/>
            <a:endParaRPr lang="en-ZA" sz="9200" dirty="0" smtClean="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271622" y="185790"/>
            <a:ext cx="7515220" cy="814318"/>
          </a:xfrm>
        </p:spPr>
        <p:txBody>
          <a:bodyPr/>
          <a:lstStyle/>
          <a:p>
            <a:r>
              <a:rPr lang="en-ZA" dirty="0" smtClean="0"/>
              <a:t>Classification of Computers</a:t>
            </a:r>
            <a:endParaRPr lang="en-ZA" dirty="0"/>
          </a:p>
        </p:txBody>
      </p:sp>
      <p:sp>
        <p:nvSpPr>
          <p:cNvPr id="3" name="Content Placeholder 2"/>
          <p:cNvSpPr>
            <a:spLocks noGrp="1"/>
          </p:cNvSpPr>
          <p:nvPr>
            <p:ph sz="quarter" idx="1"/>
          </p:nvPr>
        </p:nvSpPr>
        <p:spPr>
          <a:xfrm>
            <a:off x="457200" y="1600200"/>
            <a:ext cx="8229600" cy="5043510"/>
          </a:xfrm>
        </p:spPr>
        <p:txBody>
          <a:bodyPr>
            <a:noAutofit/>
          </a:bodyPr>
          <a:lstStyle/>
          <a:p>
            <a:pPr lvl="1" algn="just"/>
            <a:r>
              <a:rPr lang="en-US" sz="2500" dirty="0" smtClean="0">
                <a:latin typeface="Calibri" pitchFamily="34" charset="0"/>
              </a:rPr>
              <a:t>Minicomputers: Multiuser. Designed for use in a network system. Typically used in applications that don’t require the fast computational speed or large memory capacity available on large scale system. Have program flexibility but are sometimes programmed for a specific job and many times used only for that job. </a:t>
            </a:r>
            <a:r>
              <a:rPr lang="en-GB" sz="2500" dirty="0" smtClean="0">
                <a:solidFill>
                  <a:srgbClr val="000000"/>
                </a:solidFill>
                <a:latin typeface="Calibri" pitchFamily="34" charset="0"/>
                <a:ea typeface="Calibri" pitchFamily="34" charset="0"/>
                <a:cs typeface="Times New Roman" pitchFamily="18" charset="0"/>
              </a:rPr>
              <a:t>Support faster peripheral devices like high speed printers</a:t>
            </a:r>
            <a:endParaRPr lang="en-US" sz="2500" dirty="0" smtClean="0">
              <a:latin typeface="Calibri" pitchFamily="34" charset="0"/>
            </a:endParaRPr>
          </a:p>
          <a:p>
            <a:pPr lvl="1" algn="just"/>
            <a:r>
              <a:rPr lang="en-US" sz="2500" dirty="0" smtClean="0">
                <a:latin typeface="Calibri" pitchFamily="34" charset="0"/>
              </a:rPr>
              <a:t>Application</a:t>
            </a:r>
          </a:p>
          <a:p>
            <a:pPr algn="just" eaLnBrk="0" hangingPunct="0">
              <a:buNone/>
            </a:pPr>
            <a:r>
              <a:rPr lang="en-GB" sz="2500" dirty="0" smtClean="0">
                <a:solidFill>
                  <a:srgbClr val="000000"/>
                </a:solidFill>
                <a:latin typeface="Calibri" pitchFamily="34" charset="0"/>
                <a:ea typeface="Calibri" pitchFamily="34" charset="0"/>
                <a:cs typeface="Times New Roman" pitchFamily="18" charset="0"/>
              </a:rPr>
              <a:t>	Used to control and monitor production processes</a:t>
            </a:r>
            <a:endParaRPr lang="en-GB" sz="2500" dirty="0" smtClean="0">
              <a:latin typeface="Calibri" pitchFamily="34" charset="0"/>
              <a:ea typeface="Calibri" pitchFamily="34" charset="0"/>
              <a:cs typeface="Times New Roman" pitchFamily="18" charset="0"/>
            </a:endParaRPr>
          </a:p>
          <a:p>
            <a:pPr algn="just" eaLnBrk="0" hangingPunct="0">
              <a:buNone/>
            </a:pPr>
            <a:r>
              <a:rPr lang="en-GB" sz="2500" dirty="0" smtClean="0">
                <a:solidFill>
                  <a:srgbClr val="000000"/>
                </a:solidFill>
                <a:latin typeface="Calibri" pitchFamily="34" charset="0"/>
                <a:ea typeface="Calibri" pitchFamily="34" charset="0"/>
                <a:cs typeface="Times New Roman" pitchFamily="18" charset="0"/>
              </a:rPr>
              <a:t>	To analyze results of experiments in laboratories </a:t>
            </a:r>
          </a:p>
          <a:p>
            <a:pPr algn="just" eaLnBrk="0" hangingPunct="0">
              <a:buNone/>
            </a:pPr>
            <a:r>
              <a:rPr lang="en-GB" sz="2500" dirty="0" smtClean="0">
                <a:solidFill>
                  <a:srgbClr val="000000"/>
                </a:solidFill>
                <a:latin typeface="Calibri" pitchFamily="34" charset="0"/>
                <a:ea typeface="Calibri" pitchFamily="34" charset="0"/>
                <a:cs typeface="Times New Roman" pitchFamily="18" charset="0"/>
              </a:rPr>
              <a:t>	Used as servers in LANs (Local Area Networks) </a:t>
            </a:r>
            <a:endParaRPr lang="en-GB" sz="2500" dirty="0" smtClean="0">
              <a:latin typeface="Calibri" pitchFamily="34" charset="0"/>
              <a:ea typeface="Calibri" pitchFamily="34" charset="0"/>
              <a:cs typeface="Times New Roman" pitchFamily="18" charset="0"/>
            </a:endParaRPr>
          </a:p>
          <a:p>
            <a:pPr algn="just" eaLnBrk="0" hangingPunct="0"/>
            <a:endParaRPr lang="en-GB" sz="2500" dirty="0" smtClean="0">
              <a:latin typeface="Calibri" pitchFamily="34" charset="0"/>
              <a:ea typeface="Calibri" pitchFamily="34" charset="0"/>
              <a:cs typeface="Times New Roman" pitchFamily="18" charset="0"/>
            </a:endParaRPr>
          </a:p>
          <a:p>
            <a:pPr lvl="1">
              <a:buNone/>
            </a:pPr>
            <a:endParaRPr lang="en-ZA" sz="2500" dirty="0" smtClean="0">
              <a:latin typeface="Calibri" pitchFamily="34" charset="0"/>
            </a:endParaRPr>
          </a:p>
          <a:p>
            <a:endParaRPr lang="en-ZA" sz="2500" dirty="0" smtClean="0">
              <a:latin typeface="Calibri" pitchFamily="34" charset="0"/>
            </a:endParaRPr>
          </a:p>
          <a:p>
            <a:endParaRPr lang="en-US" sz="2500" dirty="0">
              <a:latin typeface="Calibri" pitchFamily="34" charset="0"/>
            </a:endParaRPr>
          </a:p>
        </p:txBody>
      </p:sp>
      <p:sp>
        <p:nvSpPr>
          <p:cNvPr id="6" name="Slide Number Placeholder 5"/>
          <p:cNvSpPr>
            <a:spLocks noGrp="1"/>
          </p:cNvSpPr>
          <p:nvPr>
            <p:ph type="sldNum" sz="quarter" idx="12"/>
          </p:nvPr>
        </p:nvSpPr>
        <p:spPr/>
        <p:txBody>
          <a:bodyPr/>
          <a:lstStyle/>
          <a:p>
            <a:fld id="{0D783054-B380-48EE-A685-F84AE7A6C581}" type="slidenum">
              <a:rPr lang="en-ZA" smtClean="0"/>
              <a:pPr/>
              <a:t>28</a:t>
            </a:fld>
            <a:endParaRPr lang="en-ZA"/>
          </a:p>
        </p:txBody>
      </p:sp>
      <p:pic>
        <p:nvPicPr>
          <p:cNvPr id="8" name="Picture 7" descr="logo"/>
          <p:cNvPicPr>
            <a:picLocks noChangeAspect="1" noChangeArrowheads="1"/>
          </p:cNvPicPr>
          <p:nvPr/>
        </p:nvPicPr>
        <p:blipFill>
          <a:blip r:embed="rId2"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343060" y="400104"/>
            <a:ext cx="7515220" cy="814318"/>
          </a:xfrm>
        </p:spPr>
        <p:txBody>
          <a:bodyPr/>
          <a:lstStyle/>
          <a:p>
            <a:r>
              <a:rPr lang="en-ZA" dirty="0" smtClean="0"/>
              <a:t>Classification of Computers</a:t>
            </a:r>
            <a:endParaRPr lang="en-ZA" dirty="0"/>
          </a:p>
        </p:txBody>
      </p:sp>
      <p:sp>
        <p:nvSpPr>
          <p:cNvPr id="3" name="Content Placeholder 2"/>
          <p:cNvSpPr>
            <a:spLocks noGrp="1"/>
          </p:cNvSpPr>
          <p:nvPr>
            <p:ph sz="quarter" idx="1"/>
          </p:nvPr>
        </p:nvSpPr>
        <p:spPr>
          <a:xfrm>
            <a:off x="857224" y="1142984"/>
            <a:ext cx="7772400" cy="4572000"/>
          </a:xfrm>
        </p:spPr>
        <p:txBody>
          <a:bodyPr>
            <a:noAutofit/>
          </a:bodyPr>
          <a:lstStyle/>
          <a:p>
            <a:pPr lvl="1">
              <a:buNone/>
            </a:pPr>
            <a:endParaRPr lang="en-ZA" dirty="0" smtClean="0">
              <a:latin typeface="Calibri" pitchFamily="34" charset="0"/>
              <a:cs typeface="Calibri" pitchFamily="34" charset="0"/>
            </a:endParaRPr>
          </a:p>
          <a:p>
            <a:pPr lvl="1"/>
            <a:r>
              <a:rPr lang="en-US" dirty="0" smtClean="0">
                <a:latin typeface="Calibri" pitchFamily="34" charset="0"/>
                <a:cs typeface="Calibri" pitchFamily="34" charset="0"/>
              </a:rPr>
              <a:t>Microcomputers: </a:t>
            </a:r>
            <a:r>
              <a:rPr lang="en-GB" dirty="0" smtClean="0">
                <a:latin typeface="Calibri" pitchFamily="34" charset="0"/>
                <a:cs typeface="Calibri" pitchFamily="34" charset="0"/>
              </a:rPr>
              <a:t>Micros are the smallest of all the classes of computers in physical sizes. They are various kinds of personal computers: desktops, laptops, handheld computers, and Tablet PCs most widely used because of their compatibility e.g. IBM PC, PS/2 and Apple Macintosh </a:t>
            </a:r>
          </a:p>
          <a:p>
            <a:pPr lvl="1">
              <a:buNone/>
            </a:pPr>
            <a:r>
              <a:rPr lang="en-US" dirty="0" smtClean="0">
                <a:latin typeface="Calibri" pitchFamily="34" charset="0"/>
                <a:cs typeface="Calibri" pitchFamily="34" charset="0"/>
              </a:rPr>
              <a:t>characteristics</a:t>
            </a:r>
          </a:p>
          <a:p>
            <a:pPr lvl="1"/>
            <a:r>
              <a:rPr lang="en-GB" dirty="0" smtClean="0">
                <a:latin typeface="Calibri" pitchFamily="34" charset="0"/>
                <a:cs typeface="Calibri" pitchFamily="34" charset="0"/>
              </a:rPr>
              <a:t>They are designed to be used by only one person at a time</a:t>
            </a:r>
          </a:p>
          <a:p>
            <a:pPr lvl="1" algn="just"/>
            <a:r>
              <a:rPr lang="en-GB" dirty="0" smtClean="0">
                <a:latin typeface="Calibri" pitchFamily="34" charset="0"/>
                <a:cs typeface="Calibri" pitchFamily="34" charset="0"/>
              </a:rPr>
              <a:t>A micro Computer uses a microprocessor as its central Processing Unit</a:t>
            </a:r>
          </a:p>
          <a:p>
            <a:pPr lvl="1" algn="just"/>
            <a:r>
              <a:rPr lang="en-US" dirty="0" smtClean="0">
                <a:latin typeface="Calibri" pitchFamily="34" charset="0"/>
                <a:cs typeface="Calibri" pitchFamily="34" charset="0"/>
              </a:rPr>
              <a:t>Low cost and often used for specific applications. </a:t>
            </a:r>
          </a:p>
        </p:txBody>
      </p:sp>
      <p:sp>
        <p:nvSpPr>
          <p:cNvPr id="5" name="Slide Number Placeholder 4"/>
          <p:cNvSpPr>
            <a:spLocks noGrp="1"/>
          </p:cNvSpPr>
          <p:nvPr>
            <p:ph type="sldNum" sz="quarter" idx="12"/>
          </p:nvPr>
        </p:nvSpPr>
        <p:spPr/>
        <p:txBody>
          <a:bodyPr/>
          <a:lstStyle/>
          <a:p>
            <a:fld id="{0D783054-B380-48EE-A685-F84AE7A6C581}" type="slidenum">
              <a:rPr lang="en-ZA" smtClean="0"/>
              <a:pPr/>
              <a:t>29</a:t>
            </a:fld>
            <a:endParaRPr lang="en-ZA"/>
          </a:p>
        </p:txBody>
      </p:sp>
      <p:pic>
        <p:nvPicPr>
          <p:cNvPr id="7" name="Picture 6" descr="logo"/>
          <p:cNvPicPr>
            <a:picLocks noChangeAspect="1" noChangeArrowheads="1"/>
          </p:cNvPicPr>
          <p:nvPr/>
        </p:nvPicPr>
        <p:blipFill>
          <a:blip r:embed="rId2"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1622" y="185220"/>
            <a:ext cx="7586658" cy="600574"/>
          </a:xfrm>
        </p:spPr>
        <p:txBody>
          <a:bodyPr>
            <a:normAutofit fontScale="90000"/>
          </a:bodyPr>
          <a:lstStyle/>
          <a:p>
            <a:r>
              <a:rPr lang="en-ZA" dirty="0" smtClean="0"/>
              <a:t>Types of Computers</a:t>
            </a:r>
            <a:endParaRPr lang="en-ZA" dirty="0"/>
          </a:p>
        </p:txBody>
      </p:sp>
      <p:sp>
        <p:nvSpPr>
          <p:cNvPr id="3" name="Content Placeholder 2"/>
          <p:cNvSpPr>
            <a:spLocks noGrp="1"/>
          </p:cNvSpPr>
          <p:nvPr>
            <p:ph sz="quarter" idx="1"/>
          </p:nvPr>
        </p:nvSpPr>
        <p:spPr>
          <a:xfrm>
            <a:off x="214282" y="928670"/>
            <a:ext cx="8472518" cy="5929330"/>
          </a:xfrm>
        </p:spPr>
        <p:txBody>
          <a:bodyPr>
            <a:normAutofit/>
          </a:bodyPr>
          <a:lstStyle/>
          <a:p>
            <a:pPr>
              <a:buNone/>
            </a:pPr>
            <a:r>
              <a:rPr lang="en-US" sz="2400" dirty="0" smtClean="0">
                <a:latin typeface="Calibri" pitchFamily="34" charset="0"/>
                <a:cs typeface="Calibri" pitchFamily="34" charset="0"/>
              </a:rPr>
              <a:t>Classification based on method of processing.</a:t>
            </a:r>
            <a:endParaRPr lang="en-ZA" sz="2400" dirty="0">
              <a:latin typeface="Calibri" pitchFamily="34" charset="0"/>
              <a:cs typeface="Calibri" pitchFamily="34" charset="0"/>
            </a:endParaRPr>
          </a:p>
          <a:p>
            <a:pPr lvl="0">
              <a:buNone/>
            </a:pPr>
            <a:r>
              <a:rPr lang="en-US" sz="2400" dirty="0" smtClean="0">
                <a:latin typeface="Calibri" pitchFamily="34" charset="0"/>
                <a:cs typeface="Calibri" pitchFamily="34" charset="0"/>
              </a:rPr>
              <a:t>a. Analog    </a:t>
            </a:r>
          </a:p>
          <a:p>
            <a:pPr lvl="0">
              <a:buNone/>
            </a:pPr>
            <a:r>
              <a:rPr lang="en-US" sz="2400" dirty="0" smtClean="0">
                <a:latin typeface="Calibri" pitchFamily="34" charset="0"/>
                <a:cs typeface="Calibri" pitchFamily="34" charset="0"/>
              </a:rPr>
              <a:t>b</a:t>
            </a:r>
            <a:r>
              <a:rPr lang="en-US" sz="2400" dirty="0">
                <a:latin typeface="Calibri" pitchFamily="34" charset="0"/>
                <a:cs typeface="Calibri" pitchFamily="34" charset="0"/>
              </a:rPr>
              <a:t>. Digital   </a:t>
            </a:r>
            <a:endParaRPr lang="en-US" sz="2400" dirty="0" smtClean="0">
              <a:latin typeface="Calibri" pitchFamily="34" charset="0"/>
              <a:cs typeface="Calibri" pitchFamily="34" charset="0"/>
            </a:endParaRPr>
          </a:p>
          <a:p>
            <a:pPr lvl="0">
              <a:buNone/>
            </a:pPr>
            <a:r>
              <a:rPr lang="en-US" sz="2400" dirty="0" smtClean="0">
                <a:latin typeface="Calibri" pitchFamily="34" charset="0"/>
                <a:cs typeface="Calibri" pitchFamily="34" charset="0"/>
              </a:rPr>
              <a:t>c</a:t>
            </a:r>
            <a:r>
              <a:rPr lang="en-US" sz="2400" dirty="0">
                <a:latin typeface="Calibri" pitchFamily="34" charset="0"/>
                <a:cs typeface="Calibri" pitchFamily="34" charset="0"/>
              </a:rPr>
              <a:t>. Hybrid</a:t>
            </a:r>
            <a:endParaRPr lang="en-ZA" sz="2400" dirty="0">
              <a:latin typeface="Calibri" pitchFamily="34" charset="0"/>
              <a:cs typeface="Calibri" pitchFamily="34" charset="0"/>
            </a:endParaRPr>
          </a:p>
          <a:p>
            <a:pPr lvl="0"/>
            <a:r>
              <a:rPr lang="en-US" sz="2400" dirty="0">
                <a:latin typeface="Calibri" pitchFamily="34" charset="0"/>
                <a:cs typeface="Calibri" pitchFamily="34" charset="0"/>
              </a:rPr>
              <a:t>Analog: </a:t>
            </a:r>
            <a:r>
              <a:rPr lang="en-US" sz="2400" dirty="0" smtClean="0">
                <a:latin typeface="Calibri" pitchFamily="34" charset="0"/>
                <a:cs typeface="Calibri" pitchFamily="34" charset="0"/>
              </a:rPr>
              <a:t>Works </a:t>
            </a:r>
            <a:r>
              <a:rPr lang="en-US" sz="2400" dirty="0">
                <a:latin typeface="Calibri" pitchFamily="34" charset="0"/>
                <a:cs typeface="Calibri" pitchFamily="34" charset="0"/>
              </a:rPr>
              <a:t>on numerical data represented by some physical quantity which varies continuously </a:t>
            </a:r>
            <a:r>
              <a:rPr lang="en-US" sz="2400" dirty="0" smtClean="0">
                <a:latin typeface="Calibri" pitchFamily="34" charset="0"/>
                <a:cs typeface="Calibri" pitchFamily="34" charset="0"/>
              </a:rPr>
              <a:t>i.e. </a:t>
            </a:r>
            <a:r>
              <a:rPr lang="en-US" sz="2400" dirty="0">
                <a:latin typeface="Calibri" pitchFamily="34" charset="0"/>
                <a:cs typeface="Calibri" pitchFamily="34" charset="0"/>
              </a:rPr>
              <a:t>it measures physical changes </a:t>
            </a:r>
            <a:r>
              <a:rPr lang="en-US" sz="2400" dirty="0" smtClean="0">
                <a:latin typeface="Calibri" pitchFamily="34" charset="0"/>
                <a:cs typeface="Calibri" pitchFamily="34" charset="0"/>
              </a:rPr>
              <a:t> such as  </a:t>
            </a:r>
            <a:r>
              <a:rPr lang="en-US" sz="2400" dirty="0">
                <a:latin typeface="Calibri" pitchFamily="34" charset="0"/>
                <a:cs typeface="Calibri" pitchFamily="34" charset="0"/>
              </a:rPr>
              <a:t>temperature, </a:t>
            </a:r>
            <a:r>
              <a:rPr lang="en-US" sz="2400" dirty="0" smtClean="0">
                <a:latin typeface="Calibri" pitchFamily="34" charset="0"/>
                <a:cs typeface="Calibri" pitchFamily="34" charset="0"/>
              </a:rPr>
              <a:t>pressure to model the problem being solved. Such computers do not deal directly with the numbers</a:t>
            </a:r>
            <a:endParaRPr lang="en-ZA" sz="2400" dirty="0">
              <a:latin typeface="Calibri" pitchFamily="34" charset="0"/>
              <a:cs typeface="Calibri" pitchFamily="34" charset="0"/>
            </a:endParaRPr>
          </a:p>
          <a:p>
            <a:pPr lvl="0"/>
            <a:r>
              <a:rPr lang="en-US" sz="2400" dirty="0" smtClean="0">
                <a:latin typeface="Calibri" pitchFamily="34" charset="0"/>
                <a:cs typeface="Calibri" pitchFamily="34" charset="0"/>
              </a:rPr>
              <a:t>Digital: High speed &amp; programmable. They compute values and stores results. Performs calculations &amp; logical operations with quantities represented as digits, usually in binary number. Data is represented in 0s &amp; 1s. They give the results with more accuracy and at a fast rate.</a:t>
            </a:r>
            <a:endParaRPr lang="en-ZA" sz="2400" dirty="0" smtClean="0">
              <a:latin typeface="Calibri" pitchFamily="34" charset="0"/>
              <a:cs typeface="Calibri" pitchFamily="34" charset="0"/>
            </a:endParaRPr>
          </a:p>
          <a:p>
            <a:endParaRPr lang="en-ZA" sz="2400" dirty="0">
              <a:latin typeface="Calibri" pitchFamily="34" charset="0"/>
              <a:cs typeface="Calibri" pitchFamily="34" charset="0"/>
            </a:endParaRPr>
          </a:p>
        </p:txBody>
      </p:sp>
      <p:sp>
        <p:nvSpPr>
          <p:cNvPr id="4" name="Slide Number Placeholder 3"/>
          <p:cNvSpPr>
            <a:spLocks noGrp="1"/>
          </p:cNvSpPr>
          <p:nvPr>
            <p:ph type="sldNum" sz="quarter" idx="12"/>
          </p:nvPr>
        </p:nvSpPr>
        <p:spPr/>
        <p:txBody>
          <a:bodyPr/>
          <a:lstStyle/>
          <a:p>
            <a:fld id="{0D783054-B380-48EE-A685-F84AE7A6C581}" type="slidenum">
              <a:rPr lang="en-ZA" smtClean="0"/>
              <a:pPr/>
              <a:t>30</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Classification of Computers</a:t>
            </a:r>
            <a:endParaRPr lang="en-US" dirty="0"/>
          </a:p>
        </p:txBody>
      </p:sp>
      <p:sp>
        <p:nvSpPr>
          <p:cNvPr id="3" name="Slide Number Placeholder 2"/>
          <p:cNvSpPr>
            <a:spLocks noGrp="1"/>
          </p:cNvSpPr>
          <p:nvPr>
            <p:ph type="sldNum" sz="quarter" idx="12"/>
          </p:nvPr>
        </p:nvSpPr>
        <p:spPr/>
        <p:txBody>
          <a:bodyPr/>
          <a:lstStyle/>
          <a:p>
            <a:fld id="{0D783054-B380-48EE-A685-F84AE7A6C581}" type="slidenum">
              <a:rPr lang="en-ZA" smtClean="0"/>
              <a:pPr/>
              <a:t>31</a:t>
            </a:fld>
            <a:endParaRPr lang="en-ZA"/>
          </a:p>
        </p:txBody>
      </p:sp>
      <p:sp>
        <p:nvSpPr>
          <p:cNvPr id="4" name="Content Placeholder 3"/>
          <p:cNvSpPr>
            <a:spLocks noGrp="1"/>
          </p:cNvSpPr>
          <p:nvPr>
            <p:ph sz="quarter" idx="1"/>
          </p:nvPr>
        </p:nvSpPr>
        <p:spPr/>
        <p:txBody>
          <a:bodyPr/>
          <a:lstStyle/>
          <a:p>
            <a:pPr lvl="0"/>
            <a:r>
              <a:rPr lang="en-US" sz="2800" dirty="0" smtClean="0">
                <a:latin typeface="Calibri" pitchFamily="34" charset="0"/>
                <a:cs typeface="Calibri" pitchFamily="34" charset="0"/>
              </a:rPr>
              <a:t>Hybrid: Combines both analog &amp; digital features and operations combining the advantages of analog and digital computers when working as a system. Hybrid computers are being used extensively in process control system where  it is necessary to have a close representation with the physical world. </a:t>
            </a:r>
            <a:endParaRPr lang="en-ZA" sz="2800" dirty="0" smtClean="0">
              <a:latin typeface="Calibri" pitchFamily="34" charset="0"/>
              <a:cs typeface="Calibri" pitchFamily="34" charset="0"/>
            </a:endParaRP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smtClean="0"/>
              <a:t>Classification of Computers</a:t>
            </a:r>
            <a:endParaRPr lang="en-US" dirty="0"/>
          </a:p>
        </p:txBody>
      </p:sp>
      <p:sp>
        <p:nvSpPr>
          <p:cNvPr id="3" name="Slide Number Placeholder 2"/>
          <p:cNvSpPr>
            <a:spLocks noGrp="1"/>
          </p:cNvSpPr>
          <p:nvPr>
            <p:ph type="sldNum" sz="quarter" idx="12"/>
          </p:nvPr>
        </p:nvSpPr>
        <p:spPr/>
        <p:txBody>
          <a:bodyPr/>
          <a:lstStyle/>
          <a:p>
            <a:fld id="{0D783054-B380-48EE-A685-F84AE7A6C581}" type="slidenum">
              <a:rPr lang="en-ZA" smtClean="0"/>
              <a:pPr/>
              <a:t>32</a:t>
            </a:fld>
            <a:endParaRPr lang="en-ZA"/>
          </a:p>
        </p:txBody>
      </p:sp>
      <p:sp>
        <p:nvSpPr>
          <p:cNvPr id="4" name="Content Placeholder 3"/>
          <p:cNvSpPr>
            <a:spLocks noGrp="1"/>
          </p:cNvSpPr>
          <p:nvPr>
            <p:ph sz="quarter" idx="1"/>
          </p:nvPr>
        </p:nvSpPr>
        <p:spPr/>
        <p:txBody>
          <a:bodyPr>
            <a:normAutofit fontScale="92500" lnSpcReduction="10000"/>
          </a:bodyPr>
          <a:lstStyle/>
          <a:p>
            <a:pPr>
              <a:buNone/>
            </a:pPr>
            <a:r>
              <a:rPr lang="en-US" dirty="0" smtClean="0"/>
              <a:t>Classification based on Purpose and usage.</a:t>
            </a:r>
          </a:p>
          <a:p>
            <a:r>
              <a:rPr lang="en-US" dirty="0" smtClean="0"/>
              <a:t>General purpose computers</a:t>
            </a:r>
          </a:p>
          <a:p>
            <a:pPr>
              <a:buNone/>
            </a:pPr>
            <a:r>
              <a:rPr lang="en-US" dirty="0" smtClean="0"/>
              <a:t>These machines have the capability of dealing with variety of different problems, and are able to act in response to programs created to meet different needs. A general purpose computer is one that has the ability to store different programs of instruction and thus to perform a variety of operation.</a:t>
            </a:r>
          </a:p>
          <a:p>
            <a:r>
              <a:rPr lang="en-US" dirty="0" smtClean="0"/>
              <a:t>Special purpose computers</a:t>
            </a:r>
          </a:p>
          <a:p>
            <a:pPr>
              <a:buNone/>
            </a:pPr>
            <a:r>
              <a:rPr lang="en-US" dirty="0" smtClean="0"/>
              <a:t>As to the name implies, is designed to perform one specific task. The program of instructions is built into, or permanently stored in the machine. Most special purpose computers have the capability of performing just one task.</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5880" y="274638"/>
            <a:ext cx="7772400" cy="1143000"/>
          </a:xfrm>
        </p:spPr>
        <p:txBody>
          <a:bodyPr>
            <a:normAutofit/>
          </a:bodyPr>
          <a:lstStyle/>
          <a:p>
            <a:r>
              <a:rPr lang="en-US" dirty="0" smtClean="0"/>
              <a:t>Classification based on Generation</a:t>
            </a:r>
            <a:endParaRPr lang="en-US" dirty="0"/>
          </a:p>
        </p:txBody>
      </p:sp>
      <p:sp>
        <p:nvSpPr>
          <p:cNvPr id="4" name="Content Placeholder 3"/>
          <p:cNvSpPr>
            <a:spLocks noGrp="1" noChangeArrowheads="1"/>
          </p:cNvSpPr>
          <p:nvPr>
            <p:ph sz="quarter" idx="1"/>
          </p:nvPr>
        </p:nvSpPr>
        <p:spPr bwMode="auto">
          <a:xfrm>
            <a:off x="457200" y="1600200"/>
            <a:ext cx="8229600" cy="4247317"/>
          </a:xfrm>
          <a:prstGeom prst="rect">
            <a:avLst/>
          </a:prstGeom>
          <a:noFill/>
          <a:ln w="9525">
            <a:noFill/>
            <a:miter lim="800000"/>
            <a:headEnd/>
            <a:tailEnd/>
          </a:ln>
        </p:spPr>
        <p:txBody>
          <a:bodyPr>
            <a:spAutoFit/>
          </a:bodyPr>
          <a:lstStyle/>
          <a:p>
            <a:pPr algn="just"/>
            <a:r>
              <a:rPr lang="en-GB" dirty="0" smtClean="0">
                <a:latin typeface="Calibri" pitchFamily="34" charset="0"/>
                <a:cs typeface="Calibri" pitchFamily="34" charset="0"/>
              </a:rPr>
              <a:t>This refers to the periods and stages of development of computer. This stages or periods started from 1946 to date.</a:t>
            </a:r>
          </a:p>
          <a:p>
            <a:pPr algn="just"/>
            <a:r>
              <a:rPr lang="en-GB" dirty="0" smtClean="0">
                <a:latin typeface="Calibri" pitchFamily="34" charset="0"/>
                <a:cs typeface="Calibri" pitchFamily="34" charset="0"/>
              </a:rPr>
              <a:t>The </a:t>
            </a:r>
            <a:r>
              <a:rPr lang="en-GB" dirty="0">
                <a:latin typeface="Calibri" pitchFamily="34" charset="0"/>
                <a:cs typeface="Calibri" pitchFamily="34" charset="0"/>
              </a:rPr>
              <a:t>first electronic Computer was designed and built at the University of Pennsylvania based on vacuum tube technology. Vacuum tubes were used to perform logic operations and to store data. </a:t>
            </a:r>
            <a:endParaRPr lang="en-GB" dirty="0" smtClean="0">
              <a:latin typeface="Calibri" pitchFamily="34" charset="0"/>
              <a:cs typeface="Calibri" pitchFamily="34" charset="0"/>
            </a:endParaRPr>
          </a:p>
          <a:p>
            <a:pPr algn="just"/>
            <a:r>
              <a:rPr lang="en-GB" dirty="0" smtClean="0">
                <a:latin typeface="Calibri" pitchFamily="34" charset="0"/>
                <a:cs typeface="Calibri" pitchFamily="34" charset="0"/>
              </a:rPr>
              <a:t>Generations </a:t>
            </a:r>
            <a:r>
              <a:rPr lang="en-GB" dirty="0">
                <a:latin typeface="Calibri" pitchFamily="34" charset="0"/>
                <a:cs typeface="Calibri" pitchFamily="34" charset="0"/>
              </a:rPr>
              <a:t>of Computers has been divided into five according to the development of technologies used to fabricate the processors, memories and I/O units </a:t>
            </a:r>
          </a:p>
        </p:txBody>
      </p:sp>
      <p:sp>
        <p:nvSpPr>
          <p:cNvPr id="5" name="Slide Number Placeholder 4"/>
          <p:cNvSpPr>
            <a:spLocks noGrp="1"/>
          </p:cNvSpPr>
          <p:nvPr>
            <p:ph type="sldNum" sz="quarter" idx="12"/>
          </p:nvPr>
        </p:nvSpPr>
        <p:spPr/>
        <p:txBody>
          <a:bodyPr/>
          <a:lstStyle/>
          <a:p>
            <a:fld id="{0D783054-B380-48EE-A685-F84AE7A6C581}" type="slidenum">
              <a:rPr lang="en-ZA" smtClean="0"/>
              <a:pPr/>
              <a:t>33</a:t>
            </a:fld>
            <a:endParaRPr lang="en-ZA"/>
          </a:p>
        </p:txBody>
      </p:sp>
      <p:pic>
        <p:nvPicPr>
          <p:cNvPr id="7" name="Picture 6" descr="logo"/>
          <p:cNvPicPr>
            <a:picLocks noChangeAspect="1" noChangeArrowheads="1"/>
          </p:cNvPicPr>
          <p:nvPr/>
        </p:nvPicPr>
        <p:blipFill>
          <a:blip r:embed="rId2"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1" descr="http://htmlimg2.scribdassets.com/1ioutuels011w587/images/2-cd1326d455.jpg"/>
          <p:cNvPicPr>
            <a:picLocks noChangeAspect="1" noChangeArrowheads="1"/>
          </p:cNvPicPr>
          <p:nvPr/>
        </p:nvPicPr>
        <p:blipFill>
          <a:blip r:embed="rId2"/>
          <a:srcRect/>
          <a:stretch>
            <a:fillRect/>
          </a:stretch>
        </p:blipFill>
        <p:spPr bwMode="auto">
          <a:xfrm>
            <a:off x="428625" y="1071563"/>
            <a:ext cx="7786688" cy="5500687"/>
          </a:xfrm>
          <a:prstGeom prst="rect">
            <a:avLst/>
          </a:prstGeom>
          <a:noFill/>
          <a:ln w="9525">
            <a:noFill/>
            <a:miter lim="800000"/>
            <a:headEnd/>
            <a:tailEnd/>
          </a:ln>
        </p:spPr>
      </p:pic>
      <p:sp>
        <p:nvSpPr>
          <p:cNvPr id="11268" name="TextBox 3"/>
          <p:cNvSpPr txBox="1">
            <a:spLocks noChangeArrowheads="1"/>
          </p:cNvSpPr>
          <p:nvPr/>
        </p:nvSpPr>
        <p:spPr bwMode="auto">
          <a:xfrm>
            <a:off x="2357438" y="500063"/>
            <a:ext cx="3617912" cy="369887"/>
          </a:xfrm>
          <a:prstGeom prst="rect">
            <a:avLst/>
          </a:prstGeom>
          <a:noFill/>
          <a:ln w="9525">
            <a:noFill/>
            <a:miter lim="800000"/>
            <a:headEnd/>
            <a:tailEnd/>
          </a:ln>
        </p:spPr>
        <p:txBody>
          <a:bodyPr wrap="none">
            <a:spAutoFit/>
          </a:bodyPr>
          <a:lstStyle/>
          <a:p>
            <a:r>
              <a:rPr lang="en-GB"/>
              <a:t>GENERATIONS OF COMPUTER</a:t>
            </a:r>
          </a:p>
        </p:txBody>
      </p:sp>
      <p:sp>
        <p:nvSpPr>
          <p:cNvPr id="5" name="Slide Number Placeholder 4"/>
          <p:cNvSpPr>
            <a:spLocks noGrp="1"/>
          </p:cNvSpPr>
          <p:nvPr>
            <p:ph type="sldNum" sz="quarter" idx="12"/>
          </p:nvPr>
        </p:nvSpPr>
        <p:spPr/>
        <p:txBody>
          <a:bodyPr/>
          <a:lstStyle/>
          <a:p>
            <a:fld id="{0D783054-B380-48EE-A685-F84AE7A6C581}" type="slidenum">
              <a:rPr lang="en-ZA" smtClean="0"/>
              <a:pPr/>
              <a:t>34</a:t>
            </a:fld>
            <a:endParaRPr lang="en-ZA"/>
          </a:p>
        </p:txBody>
      </p:sp>
      <p:pic>
        <p:nvPicPr>
          <p:cNvPr id="7" name="Picture 6" descr="logo"/>
          <p:cNvPicPr>
            <a:picLocks noChangeAspect="1" noChangeArrowheads="1"/>
          </p:cNvPicPr>
          <p:nvPr/>
        </p:nvPicPr>
        <p:blipFill>
          <a:blip r:embed="rId3"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1"/>
          <p:cNvSpPr txBox="1">
            <a:spLocks noChangeArrowheads="1"/>
          </p:cNvSpPr>
          <p:nvPr/>
        </p:nvSpPr>
        <p:spPr bwMode="auto">
          <a:xfrm>
            <a:off x="928688" y="214313"/>
            <a:ext cx="2406749" cy="400110"/>
          </a:xfrm>
          <a:prstGeom prst="rect">
            <a:avLst/>
          </a:prstGeom>
          <a:noFill/>
          <a:ln w="9525">
            <a:noFill/>
            <a:miter lim="800000"/>
            <a:headEnd/>
            <a:tailEnd/>
          </a:ln>
        </p:spPr>
        <p:txBody>
          <a:bodyPr wrap="none">
            <a:spAutoFit/>
          </a:bodyPr>
          <a:lstStyle/>
          <a:p>
            <a:r>
              <a:rPr lang="en-GB" sz="2000" b="1" dirty="0">
                <a:solidFill>
                  <a:schemeClr val="accent1"/>
                </a:solidFill>
              </a:rPr>
              <a:t>FIRST GENERATION</a:t>
            </a:r>
          </a:p>
        </p:txBody>
      </p:sp>
      <p:pic>
        <p:nvPicPr>
          <p:cNvPr id="12291" name="Picture 2"/>
          <p:cNvPicPr>
            <a:picLocks noChangeAspect="1" noChangeArrowheads="1"/>
          </p:cNvPicPr>
          <p:nvPr/>
        </p:nvPicPr>
        <p:blipFill>
          <a:blip r:embed="rId2"/>
          <a:srcRect/>
          <a:stretch>
            <a:fillRect/>
          </a:stretch>
        </p:blipFill>
        <p:spPr bwMode="auto">
          <a:xfrm>
            <a:off x="4714876" y="4786322"/>
            <a:ext cx="4071958" cy="1643063"/>
          </a:xfrm>
          <a:prstGeom prst="rect">
            <a:avLst/>
          </a:prstGeom>
          <a:noFill/>
          <a:ln w="9525">
            <a:noFill/>
            <a:miter lim="800000"/>
            <a:headEnd/>
            <a:tailEnd/>
          </a:ln>
        </p:spPr>
      </p:pic>
      <p:sp>
        <p:nvSpPr>
          <p:cNvPr id="12292" name="TextBox 3"/>
          <p:cNvSpPr txBox="1">
            <a:spLocks noChangeArrowheads="1"/>
          </p:cNvSpPr>
          <p:nvPr/>
        </p:nvSpPr>
        <p:spPr bwMode="auto">
          <a:xfrm>
            <a:off x="5715008" y="6488113"/>
            <a:ext cx="1979612" cy="369887"/>
          </a:xfrm>
          <a:prstGeom prst="rect">
            <a:avLst/>
          </a:prstGeom>
          <a:noFill/>
          <a:ln w="9525">
            <a:noFill/>
            <a:miter lim="800000"/>
            <a:headEnd/>
            <a:tailEnd/>
          </a:ln>
        </p:spPr>
        <p:txBody>
          <a:bodyPr wrap="none">
            <a:spAutoFit/>
          </a:bodyPr>
          <a:lstStyle/>
          <a:p>
            <a:r>
              <a:rPr lang="en-GB" dirty="0"/>
              <a:t>ENIAC  computer</a:t>
            </a:r>
          </a:p>
        </p:txBody>
      </p:sp>
      <p:pic>
        <p:nvPicPr>
          <p:cNvPr id="12293" name="Picture 4" descr="http://htmlimg4.scribdassets.com/1ioutuels011w587/images/5-e949cf2f22.jpg"/>
          <p:cNvPicPr>
            <a:picLocks noChangeAspect="1" noChangeArrowheads="1"/>
          </p:cNvPicPr>
          <p:nvPr/>
        </p:nvPicPr>
        <p:blipFill>
          <a:blip r:embed="rId3"/>
          <a:srcRect/>
          <a:stretch>
            <a:fillRect/>
          </a:stretch>
        </p:blipFill>
        <p:spPr bwMode="auto">
          <a:xfrm>
            <a:off x="142875" y="642938"/>
            <a:ext cx="8572500" cy="4071937"/>
          </a:xfrm>
          <a:prstGeom prst="rect">
            <a:avLst/>
          </a:prstGeom>
          <a:noFill/>
          <a:ln w="9525">
            <a:noFill/>
            <a:miter lim="800000"/>
            <a:headEnd/>
            <a:tailEnd/>
          </a:ln>
        </p:spPr>
      </p:pic>
      <p:pic>
        <p:nvPicPr>
          <p:cNvPr id="12294" name="Picture 5" descr="http://htmlimg2.scribdassets.com/1ioutuels011w587/images/6-8baa98cfab.jpg"/>
          <p:cNvPicPr>
            <a:picLocks noChangeAspect="1" noChangeArrowheads="1"/>
          </p:cNvPicPr>
          <p:nvPr/>
        </p:nvPicPr>
        <p:blipFill>
          <a:blip r:embed="rId4"/>
          <a:srcRect l="12070" t="26933" r="21121"/>
          <a:stretch>
            <a:fillRect/>
          </a:stretch>
        </p:blipFill>
        <p:spPr bwMode="auto">
          <a:xfrm>
            <a:off x="357188" y="4643438"/>
            <a:ext cx="3643308" cy="2214562"/>
          </a:xfrm>
          <a:prstGeom prst="rect">
            <a:avLst/>
          </a:prstGeom>
          <a:noFill/>
          <a:ln w="9525">
            <a:noFill/>
            <a:miter lim="800000"/>
            <a:headEnd/>
            <a:tailEnd/>
          </a:ln>
        </p:spPr>
      </p:pic>
      <p:sp>
        <p:nvSpPr>
          <p:cNvPr id="12295" name="TextBox 6"/>
          <p:cNvSpPr txBox="1">
            <a:spLocks noChangeArrowheads="1"/>
          </p:cNvSpPr>
          <p:nvPr/>
        </p:nvSpPr>
        <p:spPr bwMode="auto">
          <a:xfrm>
            <a:off x="714348" y="6488112"/>
            <a:ext cx="2128838" cy="369888"/>
          </a:xfrm>
          <a:prstGeom prst="rect">
            <a:avLst/>
          </a:prstGeom>
          <a:noFill/>
          <a:ln w="9525">
            <a:noFill/>
            <a:miter lim="800000"/>
            <a:headEnd/>
            <a:tailEnd/>
          </a:ln>
        </p:spPr>
        <p:txBody>
          <a:bodyPr wrap="none">
            <a:spAutoFit/>
          </a:bodyPr>
          <a:lstStyle/>
          <a:p>
            <a:r>
              <a:rPr lang="en-GB" dirty="0"/>
              <a:t>UNIVAC  computer</a:t>
            </a:r>
          </a:p>
        </p:txBody>
      </p:sp>
      <p:pic>
        <p:nvPicPr>
          <p:cNvPr id="12296" name="Picture 7" descr="logo"/>
          <p:cNvPicPr>
            <a:picLocks noChangeAspect="1" noChangeArrowheads="1"/>
          </p:cNvPicPr>
          <p:nvPr/>
        </p:nvPicPr>
        <p:blipFill>
          <a:blip r:embed="rId5"/>
          <a:srcRect l="25273" t="29860" r="41530" b="24966"/>
          <a:stretch>
            <a:fillRect/>
          </a:stretch>
        </p:blipFill>
        <p:spPr bwMode="auto">
          <a:xfrm>
            <a:off x="0" y="0"/>
            <a:ext cx="928688" cy="642938"/>
          </a:xfrm>
          <a:prstGeom prst="rect">
            <a:avLst/>
          </a:prstGeom>
          <a:noFill/>
          <a:ln w="9525">
            <a:noFill/>
            <a:miter lim="800000"/>
            <a:headEnd/>
            <a:tailEnd/>
          </a:ln>
        </p:spPr>
      </p:pic>
      <p:sp>
        <p:nvSpPr>
          <p:cNvPr id="12299" name="TextBox 10"/>
          <p:cNvSpPr txBox="1">
            <a:spLocks noChangeArrowheads="1"/>
          </p:cNvSpPr>
          <p:nvPr/>
        </p:nvSpPr>
        <p:spPr bwMode="auto">
          <a:xfrm>
            <a:off x="3571875" y="214313"/>
            <a:ext cx="5072063" cy="369887"/>
          </a:xfrm>
          <a:prstGeom prst="rect">
            <a:avLst/>
          </a:prstGeom>
          <a:noFill/>
          <a:ln w="9525">
            <a:noFill/>
            <a:miter lim="800000"/>
            <a:headEnd/>
            <a:tailEnd/>
          </a:ln>
        </p:spPr>
        <p:txBody>
          <a:bodyPr>
            <a:spAutoFit/>
          </a:bodyPr>
          <a:lstStyle/>
          <a:p>
            <a:r>
              <a:rPr lang="en-GB" b="1" dirty="0"/>
              <a:t>(</a:t>
            </a:r>
            <a:r>
              <a:rPr lang="en-GB" b="1" dirty="0">
                <a:solidFill>
                  <a:schemeClr val="accent1"/>
                </a:solidFill>
              </a:rPr>
              <a:t>VACCUM TUBE TECHNOLOGY</a:t>
            </a:r>
            <a:r>
              <a:rPr lang="en-GB" b="1" dirty="0"/>
              <a:t>) </a:t>
            </a:r>
            <a:r>
              <a:rPr lang="en-GB" b="1" dirty="0" smtClean="0"/>
              <a:t>1946-1958</a:t>
            </a:r>
            <a:endParaRPr lang="en-GB" b="1" dirty="0"/>
          </a:p>
        </p:txBody>
      </p:sp>
      <p:sp>
        <p:nvSpPr>
          <p:cNvPr id="12" name="Slide Number Placeholder 11"/>
          <p:cNvSpPr>
            <a:spLocks noGrp="1"/>
          </p:cNvSpPr>
          <p:nvPr>
            <p:ph type="sldNum" sz="quarter" idx="12"/>
          </p:nvPr>
        </p:nvSpPr>
        <p:spPr/>
        <p:txBody>
          <a:bodyPr/>
          <a:lstStyle/>
          <a:p>
            <a:fld id="{0D783054-B380-48EE-A685-F84AE7A6C581}" type="slidenum">
              <a:rPr lang="en-ZA" smtClean="0"/>
              <a:pPr/>
              <a:t>35</a:t>
            </a:fld>
            <a:endParaRPr lang="en-ZA"/>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Vacuum tube technology</a:t>
            </a:r>
            <a:endParaRPr lang="en-US" dirty="0"/>
          </a:p>
        </p:txBody>
      </p:sp>
      <p:pic>
        <p:nvPicPr>
          <p:cNvPr id="4" name="Picture 6" descr="http://t2.gstatic.com/images?q=tbn:ANd9GcSLbDQtKconftpCYidbM1pWIchZ34XojtGXvVavl_D7mWSi5eYcZw"/>
          <p:cNvPicPr>
            <a:picLocks noGrp="1" noChangeAspect="1" noChangeArrowheads="1"/>
          </p:cNvPicPr>
          <p:nvPr>
            <p:ph sz="quarter" idx="1"/>
          </p:nvPr>
        </p:nvPicPr>
        <p:blipFill>
          <a:blip r:embed="rId2"/>
          <a:srcRect/>
          <a:stretch>
            <a:fillRect/>
          </a:stretch>
        </p:blipFill>
        <p:spPr bwMode="auto">
          <a:xfrm>
            <a:off x="1357290" y="1500174"/>
            <a:ext cx="2466975" cy="1847850"/>
          </a:xfrm>
          <a:prstGeom prst="rect">
            <a:avLst/>
          </a:prstGeom>
          <a:noFill/>
          <a:ln w="9525">
            <a:noFill/>
            <a:miter lim="800000"/>
            <a:headEnd/>
            <a:tailEnd/>
          </a:ln>
        </p:spPr>
      </p:pic>
      <p:sp>
        <p:nvSpPr>
          <p:cNvPr id="5" name="TextBox 5"/>
          <p:cNvSpPr txBox="1">
            <a:spLocks noChangeArrowheads="1"/>
          </p:cNvSpPr>
          <p:nvPr/>
        </p:nvSpPr>
        <p:spPr bwMode="auto">
          <a:xfrm>
            <a:off x="285750" y="3514555"/>
            <a:ext cx="8572530" cy="1569660"/>
          </a:xfrm>
          <a:prstGeom prst="rect">
            <a:avLst/>
          </a:prstGeom>
          <a:noFill/>
          <a:ln w="9525">
            <a:noFill/>
            <a:miter lim="800000"/>
            <a:headEnd/>
            <a:tailEnd/>
          </a:ln>
        </p:spPr>
        <p:txBody>
          <a:bodyPr wrap="square">
            <a:spAutoFit/>
          </a:bodyPr>
          <a:lstStyle/>
          <a:p>
            <a:pPr algn="just"/>
            <a:r>
              <a:rPr lang="en-GB" sz="3200" dirty="0" smtClean="0"/>
              <a:t>What are vacuum tubes?</a:t>
            </a:r>
          </a:p>
          <a:p>
            <a:pPr algn="just"/>
            <a:r>
              <a:rPr lang="en-GB" sz="3200" dirty="0" smtClean="0"/>
              <a:t>Vacuum </a:t>
            </a:r>
            <a:r>
              <a:rPr lang="en-GB" sz="3200" dirty="0"/>
              <a:t>tubes are electronic devices that are</a:t>
            </a:r>
          </a:p>
          <a:p>
            <a:pPr algn="just"/>
            <a:r>
              <a:rPr lang="en-GB" sz="3200" dirty="0"/>
              <a:t> used to generate electrical signals </a:t>
            </a:r>
          </a:p>
        </p:txBody>
      </p:sp>
      <p:sp>
        <p:nvSpPr>
          <p:cNvPr id="6" name="Slide Number Placeholder 5"/>
          <p:cNvSpPr>
            <a:spLocks noGrp="1"/>
          </p:cNvSpPr>
          <p:nvPr>
            <p:ph type="sldNum" sz="quarter" idx="12"/>
          </p:nvPr>
        </p:nvSpPr>
        <p:spPr/>
        <p:txBody>
          <a:bodyPr/>
          <a:lstStyle/>
          <a:p>
            <a:fld id="{0D783054-B380-48EE-A685-F84AE7A6C581}" type="slidenum">
              <a:rPr lang="en-ZA" smtClean="0"/>
              <a:pPr/>
              <a:t>36</a:t>
            </a:fld>
            <a:endParaRPr lang="en-ZA"/>
          </a:p>
        </p:txBody>
      </p:sp>
      <p:pic>
        <p:nvPicPr>
          <p:cNvPr id="8" name="Picture 7" descr="logo"/>
          <p:cNvPicPr>
            <a:picLocks noChangeAspect="1" noChangeArrowheads="1"/>
          </p:cNvPicPr>
          <p:nvPr/>
        </p:nvPicPr>
        <p:blipFill>
          <a:blip r:embed="rId3"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184" y="414622"/>
            <a:ext cx="8229600" cy="1156990"/>
          </a:xfrm>
        </p:spPr>
        <p:txBody>
          <a:bodyPr>
            <a:normAutofit fontScale="90000"/>
          </a:bodyPr>
          <a:lstStyle/>
          <a:p>
            <a:pPr algn="ctr"/>
            <a:r>
              <a:rPr lang="en-US" sz="3100" dirty="0"/>
              <a:t>Development of Electronic Computers ( Computer Generations )</a:t>
            </a:r>
            <a:r>
              <a:rPr lang="en-ZA" dirty="0"/>
              <a:t/>
            </a:r>
            <a:br>
              <a:rPr lang="en-ZA" dirty="0"/>
            </a:br>
            <a:endParaRPr lang="en-ZA" dirty="0"/>
          </a:p>
        </p:txBody>
      </p:sp>
      <p:sp>
        <p:nvSpPr>
          <p:cNvPr id="3" name="Content Placeholder 2"/>
          <p:cNvSpPr>
            <a:spLocks noGrp="1"/>
          </p:cNvSpPr>
          <p:nvPr>
            <p:ph sz="quarter" idx="1"/>
          </p:nvPr>
        </p:nvSpPr>
        <p:spPr>
          <a:xfrm>
            <a:off x="457200" y="1000108"/>
            <a:ext cx="8472518" cy="5857892"/>
          </a:xfrm>
        </p:spPr>
        <p:txBody>
          <a:bodyPr>
            <a:normAutofit/>
          </a:bodyPr>
          <a:lstStyle/>
          <a:p>
            <a:pPr lvl="0" algn="ctr">
              <a:buNone/>
            </a:pPr>
            <a:r>
              <a:rPr lang="en-US" sz="3000" u="sng" dirty="0"/>
              <a:t>First Generation of Computers (</a:t>
            </a:r>
            <a:r>
              <a:rPr lang="en-US" sz="3000" u="sng" dirty="0" smtClean="0"/>
              <a:t>1946 </a:t>
            </a:r>
            <a:r>
              <a:rPr lang="en-US" sz="3000" u="sng" dirty="0"/>
              <a:t>– 1958)</a:t>
            </a:r>
            <a:endParaRPr lang="en-ZA" sz="3000" dirty="0"/>
          </a:p>
          <a:p>
            <a:pPr lvl="0"/>
            <a:r>
              <a:rPr lang="en-US" sz="3000" dirty="0"/>
              <a:t>Earliest general purpose computers</a:t>
            </a:r>
            <a:endParaRPr lang="en-ZA" sz="3000" dirty="0"/>
          </a:p>
          <a:p>
            <a:pPr lvl="0"/>
            <a:r>
              <a:rPr lang="en-US" sz="3000" dirty="0"/>
              <a:t>Its input &amp; output media were punched cards &amp; magnetic tapes respectively</a:t>
            </a:r>
            <a:endParaRPr lang="en-ZA" sz="3000" dirty="0"/>
          </a:p>
          <a:p>
            <a:pPr lvl="0"/>
            <a:r>
              <a:rPr lang="en-US" sz="3000" dirty="0"/>
              <a:t>Main memory made up of medium vacuum tubes</a:t>
            </a:r>
            <a:endParaRPr lang="en-ZA" sz="3000" dirty="0"/>
          </a:p>
          <a:p>
            <a:pPr lvl="0"/>
            <a:r>
              <a:rPr lang="en-US" sz="3000" dirty="0"/>
              <a:t>They </a:t>
            </a:r>
            <a:r>
              <a:rPr lang="en-US" sz="3000" dirty="0" smtClean="0"/>
              <a:t>were </a:t>
            </a:r>
            <a:r>
              <a:rPr lang="en-US" sz="3000" dirty="0"/>
              <a:t>slow and </a:t>
            </a:r>
            <a:r>
              <a:rPr lang="en-US" sz="3000" dirty="0" smtClean="0"/>
              <a:t>large</a:t>
            </a:r>
          </a:p>
          <a:p>
            <a:pPr lvl="0"/>
            <a:r>
              <a:rPr lang="en-ZA" sz="3000" dirty="0" smtClean="0"/>
              <a:t>They were very expenses to operate as they used large amount of electricity</a:t>
            </a:r>
            <a:endParaRPr lang="en-ZA" sz="3000" dirty="0"/>
          </a:p>
          <a:p>
            <a:pPr lvl="0"/>
            <a:r>
              <a:rPr lang="en-US" sz="3000" dirty="0"/>
              <a:t>They produced a tremendous amount of </a:t>
            </a:r>
            <a:r>
              <a:rPr lang="en-US" sz="3000" dirty="0" smtClean="0"/>
              <a:t>heat</a:t>
            </a:r>
          </a:p>
          <a:p>
            <a:pPr lvl="0"/>
            <a:r>
              <a:rPr lang="en-US" sz="3000" dirty="0" smtClean="0"/>
              <a:t>Fixed point arithmetic were used</a:t>
            </a:r>
            <a:endParaRPr lang="en-ZA" sz="3000" dirty="0"/>
          </a:p>
          <a:p>
            <a:pPr lvl="0"/>
            <a:r>
              <a:rPr lang="en-US" sz="3000" dirty="0"/>
              <a:t>Could run only one program at a time </a:t>
            </a:r>
            <a:endParaRPr lang="en-ZA" sz="3000" dirty="0"/>
          </a:p>
          <a:p>
            <a:endParaRPr lang="en-ZA" dirty="0"/>
          </a:p>
        </p:txBody>
      </p:sp>
      <p:sp>
        <p:nvSpPr>
          <p:cNvPr id="4" name="Slide Number Placeholder 3"/>
          <p:cNvSpPr>
            <a:spLocks noGrp="1"/>
          </p:cNvSpPr>
          <p:nvPr>
            <p:ph type="sldNum" sz="quarter" idx="12"/>
          </p:nvPr>
        </p:nvSpPr>
        <p:spPr/>
        <p:txBody>
          <a:bodyPr/>
          <a:lstStyle/>
          <a:p>
            <a:fld id="{0D783054-B380-48EE-A685-F84AE7A6C581}" type="slidenum">
              <a:rPr lang="en-ZA" smtClean="0"/>
              <a:pPr/>
              <a:t>37</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9568" y="142876"/>
            <a:ext cx="994846"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Box 1"/>
          <p:cNvSpPr txBox="1">
            <a:spLocks noChangeArrowheads="1"/>
          </p:cNvSpPr>
          <p:nvPr/>
        </p:nvSpPr>
        <p:spPr bwMode="auto">
          <a:xfrm>
            <a:off x="1285875" y="0"/>
            <a:ext cx="6581775" cy="954088"/>
          </a:xfrm>
          <a:prstGeom prst="rect">
            <a:avLst/>
          </a:prstGeom>
          <a:noFill/>
          <a:ln w="9525">
            <a:noFill/>
            <a:miter lim="800000"/>
            <a:headEnd/>
            <a:tailEnd/>
          </a:ln>
        </p:spPr>
        <p:txBody>
          <a:bodyPr wrap="none">
            <a:spAutoFit/>
          </a:bodyPr>
          <a:lstStyle/>
          <a:p>
            <a:pPr algn="ctr"/>
            <a:r>
              <a:rPr lang="en-GB" sz="2800" b="1">
                <a:latin typeface="Times New Roman" pitchFamily="18" charset="0"/>
                <a:cs typeface="Times New Roman" pitchFamily="18" charset="0"/>
              </a:rPr>
              <a:t>SECOND GENERATION COMPUTERS</a:t>
            </a:r>
          </a:p>
          <a:p>
            <a:pPr algn="ctr"/>
            <a:r>
              <a:rPr lang="en-GB" sz="2800" b="1">
                <a:latin typeface="Times New Roman" pitchFamily="18" charset="0"/>
                <a:cs typeface="Times New Roman" pitchFamily="18" charset="0"/>
              </a:rPr>
              <a:t>1959-1964 (TRANSISTOR AGE)</a:t>
            </a:r>
          </a:p>
        </p:txBody>
      </p:sp>
      <p:pic>
        <p:nvPicPr>
          <p:cNvPr id="14339" name="Picture 2" descr="http://htmlimg2.scribdassets.com/1ioutuels011w587/images/8-4616ae972b.png"/>
          <p:cNvPicPr>
            <a:picLocks noChangeAspect="1" noChangeArrowheads="1"/>
          </p:cNvPicPr>
          <p:nvPr/>
        </p:nvPicPr>
        <p:blipFill>
          <a:blip r:embed="rId2"/>
          <a:srcRect l="1994" t="58742" r="6105"/>
          <a:stretch>
            <a:fillRect/>
          </a:stretch>
        </p:blipFill>
        <p:spPr bwMode="auto">
          <a:xfrm>
            <a:off x="571500" y="1000125"/>
            <a:ext cx="3857625" cy="2357438"/>
          </a:xfrm>
          <a:prstGeom prst="rect">
            <a:avLst/>
          </a:prstGeom>
          <a:noFill/>
          <a:ln w="9525">
            <a:noFill/>
            <a:miter lim="800000"/>
            <a:headEnd/>
            <a:tailEnd/>
          </a:ln>
        </p:spPr>
      </p:pic>
      <p:pic>
        <p:nvPicPr>
          <p:cNvPr id="14340" name="Picture 3" descr="http://htmlimg1.scribdassets.com/1ioutuels011w587/images/10-9221c586d5.jpg"/>
          <p:cNvPicPr>
            <a:picLocks noChangeAspect="1" noChangeArrowheads="1"/>
          </p:cNvPicPr>
          <p:nvPr/>
        </p:nvPicPr>
        <p:blipFill>
          <a:blip r:embed="rId3"/>
          <a:srcRect l="3822" t="19690" r="4774" b="4646"/>
          <a:stretch>
            <a:fillRect/>
          </a:stretch>
        </p:blipFill>
        <p:spPr bwMode="auto">
          <a:xfrm>
            <a:off x="5072063" y="1000125"/>
            <a:ext cx="3571875" cy="2143125"/>
          </a:xfrm>
          <a:prstGeom prst="rect">
            <a:avLst/>
          </a:prstGeom>
          <a:noFill/>
          <a:ln w="9525">
            <a:noFill/>
            <a:miter lim="800000"/>
            <a:headEnd/>
            <a:tailEnd/>
          </a:ln>
        </p:spPr>
      </p:pic>
      <p:sp>
        <p:nvSpPr>
          <p:cNvPr id="14341" name="TextBox 4"/>
          <p:cNvSpPr txBox="1">
            <a:spLocks noChangeArrowheads="1"/>
          </p:cNvSpPr>
          <p:nvPr/>
        </p:nvSpPr>
        <p:spPr bwMode="auto">
          <a:xfrm>
            <a:off x="7286625" y="714375"/>
            <a:ext cx="1171575" cy="369888"/>
          </a:xfrm>
          <a:prstGeom prst="rect">
            <a:avLst/>
          </a:prstGeom>
          <a:noFill/>
          <a:ln w="9525">
            <a:noFill/>
            <a:miter lim="800000"/>
            <a:headEnd/>
            <a:tailEnd/>
          </a:ln>
        </p:spPr>
        <p:txBody>
          <a:bodyPr wrap="none">
            <a:spAutoFit/>
          </a:bodyPr>
          <a:lstStyle/>
          <a:p>
            <a:r>
              <a:rPr lang="en-GB"/>
              <a:t>IBM 7094</a:t>
            </a:r>
          </a:p>
        </p:txBody>
      </p:sp>
      <p:pic>
        <p:nvPicPr>
          <p:cNvPr id="14342" name="Picture 5" descr="http://htmlimg3.scribdassets.com/1ioutuels011w587/images/12-e6515111f2.png"/>
          <p:cNvPicPr>
            <a:picLocks noChangeAspect="1" noChangeArrowheads="1"/>
          </p:cNvPicPr>
          <p:nvPr/>
        </p:nvPicPr>
        <p:blipFill>
          <a:blip r:embed="rId4"/>
          <a:srcRect t="57159" r="6438"/>
          <a:stretch>
            <a:fillRect/>
          </a:stretch>
        </p:blipFill>
        <p:spPr bwMode="auto">
          <a:xfrm>
            <a:off x="571500" y="3714750"/>
            <a:ext cx="6786563" cy="2933700"/>
          </a:xfrm>
          <a:prstGeom prst="rect">
            <a:avLst/>
          </a:prstGeom>
          <a:noFill/>
          <a:ln w="9525">
            <a:noFill/>
            <a:miter lim="800000"/>
            <a:headEnd/>
            <a:tailEnd/>
          </a:ln>
        </p:spPr>
      </p:pic>
      <p:sp>
        <p:nvSpPr>
          <p:cNvPr id="14343" name="TextBox 6"/>
          <p:cNvSpPr txBox="1">
            <a:spLocks noChangeArrowheads="1"/>
          </p:cNvSpPr>
          <p:nvPr/>
        </p:nvSpPr>
        <p:spPr bwMode="auto">
          <a:xfrm>
            <a:off x="571500" y="3357563"/>
            <a:ext cx="3479800" cy="369887"/>
          </a:xfrm>
          <a:prstGeom prst="rect">
            <a:avLst/>
          </a:prstGeom>
          <a:noFill/>
          <a:ln w="9525">
            <a:noFill/>
            <a:miter lim="800000"/>
            <a:headEnd/>
            <a:tailEnd/>
          </a:ln>
        </p:spPr>
        <p:txBody>
          <a:bodyPr wrap="none">
            <a:spAutoFit/>
          </a:bodyPr>
          <a:lstStyle/>
          <a:p>
            <a:r>
              <a:rPr lang="en-GB"/>
              <a:t>IBM 1401, 1402, 1403 and 1406</a:t>
            </a:r>
          </a:p>
        </p:txBody>
      </p:sp>
      <p:pic>
        <p:nvPicPr>
          <p:cNvPr id="14344" name="Picture 7" descr="logo"/>
          <p:cNvPicPr>
            <a:picLocks noChangeAspect="1" noChangeArrowheads="1"/>
          </p:cNvPicPr>
          <p:nvPr/>
        </p:nvPicPr>
        <p:blipFill>
          <a:blip r:embed="rId5"/>
          <a:srcRect l="25273" t="29860" r="41530" b="24966"/>
          <a:stretch>
            <a:fillRect/>
          </a:stretch>
        </p:blipFill>
        <p:spPr bwMode="auto">
          <a:xfrm>
            <a:off x="214313" y="0"/>
            <a:ext cx="928687" cy="714375"/>
          </a:xfrm>
          <a:prstGeom prst="rect">
            <a:avLst/>
          </a:prstGeom>
          <a:noFill/>
          <a:ln w="9525">
            <a:noFill/>
            <a:miter lim="800000"/>
            <a:headEnd/>
            <a:tailEnd/>
          </a:ln>
        </p:spPr>
      </p:pic>
      <p:sp>
        <p:nvSpPr>
          <p:cNvPr id="9" name="Slide Number Placeholder 8"/>
          <p:cNvSpPr>
            <a:spLocks noGrp="1"/>
          </p:cNvSpPr>
          <p:nvPr>
            <p:ph type="sldNum" sz="quarter" idx="12"/>
          </p:nvPr>
        </p:nvSpPr>
        <p:spPr/>
        <p:txBody>
          <a:bodyPr/>
          <a:lstStyle/>
          <a:p>
            <a:fld id="{0D783054-B380-48EE-A685-F84AE7A6C581}" type="slidenum">
              <a:rPr lang="en-ZA" smtClean="0"/>
              <a:pPr/>
              <a:t>38</a:t>
            </a:fld>
            <a:endParaRPr lang="en-ZA"/>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4" name="Picture 3" descr="logo"/>
          <p:cNvPicPr>
            <a:picLocks noChangeAspect="1" noChangeArrowheads="1"/>
          </p:cNvPicPr>
          <p:nvPr/>
        </p:nvPicPr>
        <p:blipFill>
          <a:blip r:embed="rId3"/>
          <a:srcRect l="25273" t="29860" r="41530" b="24966"/>
          <a:stretch>
            <a:fillRect/>
          </a:stretch>
        </p:blipFill>
        <p:spPr bwMode="auto">
          <a:xfrm>
            <a:off x="214288" y="142857"/>
            <a:ext cx="857250" cy="714375"/>
          </a:xfrm>
          <a:prstGeom prst="rect">
            <a:avLst/>
          </a:prstGeom>
          <a:noFill/>
          <a:ln w="9525">
            <a:noFill/>
            <a:miter lim="800000"/>
            <a:headEnd/>
            <a:tailEnd/>
          </a:ln>
        </p:spPr>
      </p:pic>
      <p:sp>
        <p:nvSpPr>
          <p:cNvPr id="5" name="Rectangle 4"/>
          <p:cNvSpPr/>
          <p:nvPr/>
        </p:nvSpPr>
        <p:spPr>
          <a:xfrm>
            <a:off x="357188" y="785813"/>
            <a:ext cx="8358216" cy="4549835"/>
          </a:xfrm>
          <a:prstGeom prst="rect">
            <a:avLst/>
          </a:prstGeom>
        </p:spPr>
        <p:txBody>
          <a:bodyPr wrap="square">
            <a:spAutoFit/>
          </a:bodyPr>
          <a:lstStyle/>
          <a:p>
            <a:pPr algn="just">
              <a:lnSpc>
                <a:spcPct val="150000"/>
              </a:lnSpc>
              <a:defRPr/>
            </a:pPr>
            <a:r>
              <a:rPr lang="en-GB" sz="2800" dirty="0">
                <a:latin typeface="+mj-lt"/>
              </a:rPr>
              <a:t>The </a:t>
            </a:r>
            <a:r>
              <a:rPr lang="en-GB" sz="2800" b="1" dirty="0">
                <a:latin typeface="+mj-lt"/>
              </a:rPr>
              <a:t>transistor</a:t>
            </a:r>
            <a:r>
              <a:rPr lang="en-GB" sz="2800" dirty="0">
                <a:latin typeface="+mj-lt"/>
              </a:rPr>
              <a:t> (short for transfer resistance) is made up of semi-conductor and is a component used to control the amount of current or voltage or used for amplification/modulation or switching of an electronic signal. The transistor is the primary building block of all microchips, including your CPU, and is what creates the binary 0's and 1's your computer uses to communicate.</a:t>
            </a:r>
          </a:p>
        </p:txBody>
      </p:sp>
      <p:sp>
        <p:nvSpPr>
          <p:cNvPr id="15366" name="TextBox 5"/>
          <p:cNvSpPr txBox="1">
            <a:spLocks noChangeArrowheads="1"/>
          </p:cNvSpPr>
          <p:nvPr/>
        </p:nvSpPr>
        <p:spPr bwMode="auto">
          <a:xfrm>
            <a:off x="1000125" y="357188"/>
            <a:ext cx="3777124" cy="523220"/>
          </a:xfrm>
          <a:prstGeom prst="rect">
            <a:avLst/>
          </a:prstGeom>
          <a:noFill/>
          <a:ln w="9525">
            <a:noFill/>
            <a:miter lim="800000"/>
            <a:headEnd/>
            <a:tailEnd/>
          </a:ln>
        </p:spPr>
        <p:txBody>
          <a:bodyPr wrap="none">
            <a:spAutoFit/>
          </a:bodyPr>
          <a:lstStyle/>
          <a:p>
            <a:r>
              <a:rPr lang="en-GB" sz="2800" b="1" dirty="0">
                <a:solidFill>
                  <a:schemeClr val="accent1"/>
                </a:solidFill>
              </a:rPr>
              <a:t>Do you know that........?</a:t>
            </a:r>
          </a:p>
        </p:txBody>
      </p:sp>
      <p:sp>
        <p:nvSpPr>
          <p:cNvPr id="9" name="Slide Number Placeholder 8"/>
          <p:cNvSpPr>
            <a:spLocks noGrp="1"/>
          </p:cNvSpPr>
          <p:nvPr>
            <p:ph type="sldNum" sz="quarter" idx="12"/>
          </p:nvPr>
        </p:nvSpPr>
        <p:spPr/>
        <p:txBody>
          <a:bodyPr/>
          <a:lstStyle/>
          <a:p>
            <a:fld id="{0D783054-B380-48EE-A685-F84AE7A6C581}" type="slidenum">
              <a:rPr lang="en-ZA" smtClean="0"/>
              <a:pPr/>
              <a:t>39</a:t>
            </a:fld>
            <a:endParaRPr lang="en-ZA"/>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184" y="71414"/>
            <a:ext cx="7300906" cy="582594"/>
          </a:xfrm>
        </p:spPr>
        <p:txBody>
          <a:bodyPr>
            <a:normAutofit fontScale="90000"/>
          </a:bodyPr>
          <a:lstStyle/>
          <a:p>
            <a:r>
              <a:rPr lang="en-ZA" dirty="0" smtClean="0"/>
              <a:t>Computer Generations (cont.)</a:t>
            </a:r>
            <a:endParaRPr lang="en-ZA" dirty="0"/>
          </a:p>
        </p:txBody>
      </p:sp>
      <p:sp>
        <p:nvSpPr>
          <p:cNvPr id="3" name="Content Placeholder 2"/>
          <p:cNvSpPr>
            <a:spLocks noGrp="1"/>
          </p:cNvSpPr>
          <p:nvPr>
            <p:ph sz="quarter" idx="1"/>
          </p:nvPr>
        </p:nvSpPr>
        <p:spPr>
          <a:xfrm>
            <a:off x="214282" y="714356"/>
            <a:ext cx="8715436" cy="5929354"/>
          </a:xfrm>
        </p:spPr>
        <p:txBody>
          <a:bodyPr>
            <a:normAutofit lnSpcReduction="10000"/>
          </a:bodyPr>
          <a:lstStyle/>
          <a:p>
            <a:pPr lvl="0" algn="ctr">
              <a:buNone/>
            </a:pPr>
            <a:r>
              <a:rPr lang="en-US" u="sng" dirty="0"/>
              <a:t>Second Generation of Computers (</a:t>
            </a:r>
            <a:r>
              <a:rPr lang="en-US" u="sng" dirty="0" smtClean="0"/>
              <a:t>1959–1964)</a:t>
            </a:r>
            <a:endParaRPr lang="en-ZA" dirty="0"/>
          </a:p>
          <a:p>
            <a:pPr lvl="0"/>
            <a:r>
              <a:rPr lang="en-US" dirty="0" smtClean="0"/>
              <a:t>Transistors replaced vacuum tubes</a:t>
            </a:r>
          </a:p>
          <a:p>
            <a:pPr lvl="0"/>
            <a:r>
              <a:rPr lang="en-US" dirty="0" smtClean="0"/>
              <a:t>Memory </a:t>
            </a:r>
            <a:r>
              <a:rPr lang="en-US" dirty="0"/>
              <a:t>made up of magnetic cores</a:t>
            </a:r>
            <a:endParaRPr lang="en-ZA" dirty="0"/>
          </a:p>
          <a:p>
            <a:pPr lvl="0"/>
            <a:r>
              <a:rPr lang="en-US" dirty="0"/>
              <a:t>Uses removable magnetic disk packs as storage </a:t>
            </a:r>
            <a:r>
              <a:rPr lang="en-US" dirty="0" smtClean="0"/>
              <a:t>devices</a:t>
            </a:r>
          </a:p>
          <a:p>
            <a:pPr lvl="0"/>
            <a:r>
              <a:rPr lang="en-US" dirty="0" smtClean="0"/>
              <a:t>High level programming language such as FORTRAN and COBOL were used</a:t>
            </a:r>
          </a:p>
          <a:p>
            <a:pPr lvl="0"/>
            <a:r>
              <a:rPr lang="en-US" dirty="0" smtClean="0"/>
              <a:t>Hardware for floating point arithmetic operations were developed</a:t>
            </a:r>
          </a:p>
          <a:p>
            <a:pPr lvl="0"/>
            <a:r>
              <a:rPr lang="en-US" dirty="0" smtClean="0"/>
              <a:t>Computational time were reduced to microseconds from milliseconds</a:t>
            </a:r>
          </a:p>
          <a:p>
            <a:pPr lvl="0"/>
            <a:r>
              <a:rPr lang="en-US" dirty="0" smtClean="0"/>
              <a:t>Flexibility of program were increased as a result of index register</a:t>
            </a:r>
            <a:endParaRPr lang="en-ZA" dirty="0"/>
          </a:p>
          <a:p>
            <a:pPr lvl="0"/>
            <a:r>
              <a:rPr lang="en-US" dirty="0"/>
              <a:t>They are smaller, more reliable and significantly </a:t>
            </a:r>
            <a:r>
              <a:rPr lang="en-US" dirty="0" smtClean="0"/>
              <a:t>faster than the first generation</a:t>
            </a:r>
            <a:endParaRPr lang="en-ZA" dirty="0"/>
          </a:p>
          <a:p>
            <a:pPr lvl="0"/>
            <a:r>
              <a:rPr lang="en-US" dirty="0"/>
              <a:t>Uses solid state devices such as transistors, which generate less heat and are more reliable </a:t>
            </a:r>
            <a:endParaRPr lang="en-ZA" dirty="0"/>
          </a:p>
          <a:p>
            <a:endParaRPr lang="en-ZA" dirty="0"/>
          </a:p>
        </p:txBody>
      </p:sp>
      <p:sp>
        <p:nvSpPr>
          <p:cNvPr id="4" name="Slide Number Placeholder 3"/>
          <p:cNvSpPr>
            <a:spLocks noGrp="1"/>
          </p:cNvSpPr>
          <p:nvPr>
            <p:ph type="sldNum" sz="quarter" idx="12"/>
          </p:nvPr>
        </p:nvSpPr>
        <p:spPr/>
        <p:txBody>
          <a:bodyPr/>
          <a:lstStyle/>
          <a:p>
            <a:fld id="{0D783054-B380-48EE-A685-F84AE7A6C581}" type="slidenum">
              <a:rPr lang="en-ZA" smtClean="0"/>
              <a:pPr/>
              <a:t>40</a:t>
            </a:fld>
            <a:endParaRPr lang="en-ZA"/>
          </a:p>
        </p:txBody>
      </p:sp>
      <p:pic>
        <p:nvPicPr>
          <p:cNvPr id="6" name="Picture 5" descr="logo"/>
          <p:cNvPicPr>
            <a:picLocks noChangeAspect="1" noChangeArrowheads="1"/>
          </p:cNvPicPr>
          <p:nvPr/>
        </p:nvPicPr>
        <p:blipFill>
          <a:blip r:embed="rId2" cstate="print"/>
          <a:srcRect l="25273" t="29860" r="41530" b="24966"/>
          <a:stretch>
            <a:fillRect/>
          </a:stretch>
        </p:blipFill>
        <p:spPr bwMode="auto">
          <a:xfrm>
            <a:off x="214314" y="142876"/>
            <a:ext cx="994846" cy="7857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Box 1"/>
          <p:cNvSpPr txBox="1">
            <a:spLocks noChangeArrowheads="1"/>
          </p:cNvSpPr>
          <p:nvPr/>
        </p:nvSpPr>
        <p:spPr bwMode="auto">
          <a:xfrm>
            <a:off x="1000125" y="357188"/>
            <a:ext cx="7072313" cy="708025"/>
          </a:xfrm>
          <a:prstGeom prst="rect">
            <a:avLst/>
          </a:prstGeom>
          <a:noFill/>
          <a:ln w="9525">
            <a:noFill/>
            <a:miter lim="800000"/>
            <a:headEnd/>
            <a:tailEnd/>
          </a:ln>
        </p:spPr>
        <p:txBody>
          <a:bodyPr>
            <a:spAutoFit/>
          </a:bodyPr>
          <a:lstStyle/>
          <a:p>
            <a:pPr algn="ctr"/>
            <a:r>
              <a:rPr lang="en-GB" sz="2000" dirty="0" smtClean="0"/>
              <a:t>Third Generation Computers 1965-1970</a:t>
            </a:r>
          </a:p>
          <a:p>
            <a:pPr algn="ctr"/>
            <a:r>
              <a:rPr lang="en-GB" sz="2000" dirty="0" smtClean="0"/>
              <a:t>(Integrated Circuit (IC) Technology)</a:t>
            </a:r>
            <a:endParaRPr lang="en-GB" sz="2000" dirty="0"/>
          </a:p>
        </p:txBody>
      </p:sp>
      <p:pic>
        <p:nvPicPr>
          <p:cNvPr id="16387" name="Picture 2" descr="C:\Users\user\AppData\Local\Temp\msohtmlclip1\01\clip_image001.png"/>
          <p:cNvPicPr>
            <a:picLocks noChangeAspect="1" noChangeArrowheads="1"/>
          </p:cNvPicPr>
          <p:nvPr/>
        </p:nvPicPr>
        <p:blipFill>
          <a:blip r:embed="rId2"/>
          <a:srcRect/>
          <a:stretch>
            <a:fillRect/>
          </a:stretch>
        </p:blipFill>
        <p:spPr bwMode="auto">
          <a:xfrm>
            <a:off x="857250" y="1312863"/>
            <a:ext cx="7429500" cy="5330825"/>
          </a:xfrm>
          <a:prstGeom prst="rect">
            <a:avLst/>
          </a:prstGeom>
          <a:noFill/>
          <a:ln w="9525">
            <a:noFill/>
            <a:miter lim="800000"/>
            <a:headEnd/>
            <a:tailEnd/>
          </a:ln>
        </p:spPr>
      </p:pic>
      <p:pic>
        <p:nvPicPr>
          <p:cNvPr id="16388" name="Picture 3" descr="logo"/>
          <p:cNvPicPr>
            <a:picLocks noChangeAspect="1" noChangeArrowheads="1"/>
          </p:cNvPicPr>
          <p:nvPr/>
        </p:nvPicPr>
        <p:blipFill>
          <a:blip r:embed="rId3"/>
          <a:srcRect l="25273" t="29860" r="41530" b="24966"/>
          <a:stretch>
            <a:fillRect/>
          </a:stretch>
        </p:blipFill>
        <p:spPr bwMode="auto">
          <a:xfrm>
            <a:off x="214313" y="0"/>
            <a:ext cx="1284287" cy="1014413"/>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0D783054-B380-48EE-A685-F84AE7A6C581}" type="slidenum">
              <a:rPr lang="en-ZA" smtClean="0"/>
              <a:pPr/>
              <a:t>41</a:t>
            </a:fld>
            <a:endParaRPr lang="en-ZA"/>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0184" y="214290"/>
            <a:ext cx="7515220" cy="500066"/>
          </a:xfrm>
        </p:spPr>
        <p:txBody>
          <a:bodyPr>
            <a:normAutofit fontScale="90000"/>
          </a:bodyPr>
          <a:lstStyle/>
          <a:p>
            <a:r>
              <a:rPr lang="en-ZA" dirty="0" smtClean="0"/>
              <a:t>Computer Generations (cont.)</a:t>
            </a:r>
            <a:endParaRPr lang="en-ZA" dirty="0"/>
          </a:p>
        </p:txBody>
      </p:sp>
      <p:sp>
        <p:nvSpPr>
          <p:cNvPr id="3" name="Content Placeholder 2"/>
          <p:cNvSpPr>
            <a:spLocks noGrp="1"/>
          </p:cNvSpPr>
          <p:nvPr>
            <p:ph sz="quarter" idx="1"/>
          </p:nvPr>
        </p:nvSpPr>
        <p:spPr>
          <a:xfrm>
            <a:off x="457200" y="642918"/>
            <a:ext cx="8229600" cy="6000792"/>
          </a:xfrm>
        </p:spPr>
        <p:txBody>
          <a:bodyPr>
            <a:normAutofit fontScale="92500" lnSpcReduction="10000"/>
          </a:bodyPr>
          <a:lstStyle/>
          <a:p>
            <a:pPr lvl="0" algn="ctr">
              <a:buNone/>
            </a:pPr>
            <a:r>
              <a:rPr lang="en-US" u="sng" dirty="0" smtClean="0"/>
              <a:t>Third Generation of Computers (1965 – 1970)</a:t>
            </a:r>
          </a:p>
          <a:p>
            <a:pPr lvl="0" algn="ctr">
              <a:buNone/>
            </a:pPr>
            <a:endParaRPr lang="en-ZA" dirty="0" smtClean="0"/>
          </a:p>
          <a:p>
            <a:pPr lvl="0"/>
            <a:r>
              <a:rPr lang="en-US" dirty="0" smtClean="0"/>
              <a:t>Integrated </a:t>
            </a:r>
            <a:r>
              <a:rPr lang="en-US" dirty="0"/>
              <a:t>circuit – a complete electronic circuit on a silicon chip – replace transistorized circuitry</a:t>
            </a:r>
            <a:endParaRPr lang="en-ZA" dirty="0"/>
          </a:p>
          <a:p>
            <a:r>
              <a:rPr lang="en-US" dirty="0" smtClean="0"/>
              <a:t>In the beginning magnetic core memories were used. Later they were </a:t>
            </a:r>
          </a:p>
          <a:p>
            <a:pPr>
              <a:buNone/>
            </a:pPr>
            <a:r>
              <a:rPr lang="en-US" dirty="0" smtClean="0"/>
              <a:t>    replaced by semiconductor memories (RAM &amp; ROM)</a:t>
            </a:r>
            <a:endParaRPr lang="en-ZA" dirty="0"/>
          </a:p>
          <a:p>
            <a:pPr lvl="0"/>
            <a:r>
              <a:rPr lang="en-US" dirty="0"/>
              <a:t>Computer began to support such capabilities as multiprogramming and timesharing</a:t>
            </a:r>
            <a:endParaRPr lang="en-ZA" dirty="0"/>
          </a:p>
          <a:p>
            <a:pPr lvl="0"/>
            <a:r>
              <a:rPr lang="en-US" dirty="0"/>
              <a:t>Increase in production of operating systems and application packages</a:t>
            </a:r>
            <a:endParaRPr lang="en-ZA" dirty="0"/>
          </a:p>
          <a:p>
            <a:pPr lvl="0"/>
            <a:r>
              <a:rPr lang="en-US" dirty="0"/>
              <a:t>More decrease in size of computers</a:t>
            </a:r>
            <a:endParaRPr lang="en-ZA" dirty="0"/>
          </a:p>
          <a:p>
            <a:pPr lvl="0"/>
            <a:r>
              <a:rPr lang="en-US" dirty="0"/>
              <a:t>Allows flexibility in modifying or expanding computer systems without altering the basic system</a:t>
            </a:r>
            <a:endParaRPr lang="en-ZA" dirty="0"/>
          </a:p>
          <a:p>
            <a:pPr lvl="0"/>
            <a:r>
              <a:rPr lang="en-US" dirty="0"/>
              <a:t>General purpose computers that handle both business &amp; scientific applications </a:t>
            </a:r>
            <a:endParaRPr lang="en-US" dirty="0" smtClean="0"/>
          </a:p>
          <a:p>
            <a:pPr lvl="0"/>
            <a:r>
              <a:rPr lang="en-US" dirty="0" smtClean="0"/>
              <a:t>Computational time reduced from microseconds to nanosecond </a:t>
            </a:r>
            <a:endParaRPr lang="en-ZA" dirty="0"/>
          </a:p>
          <a:p>
            <a:endParaRPr lang="en-ZA" dirty="0"/>
          </a:p>
        </p:txBody>
      </p:sp>
      <p:pic>
        <p:nvPicPr>
          <p:cNvPr id="4" name="Picture 3" descr="logo"/>
          <p:cNvPicPr>
            <a:picLocks noChangeAspect="1" noChangeArrowheads="1"/>
          </p:cNvPicPr>
          <p:nvPr/>
        </p:nvPicPr>
        <p:blipFill>
          <a:blip r:embed="rId2" cstate="print"/>
          <a:srcRect l="25273" t="29860" r="41530" b="24966"/>
          <a:stretch>
            <a:fillRect/>
          </a:stretch>
        </p:blipFill>
        <p:spPr bwMode="auto">
          <a:xfrm>
            <a:off x="214314" y="142876"/>
            <a:ext cx="994846" cy="785794"/>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fld id="{0D783054-B380-48EE-A685-F84AE7A6C581}" type="slidenum">
              <a:rPr lang="en-ZA" smtClean="0"/>
              <a:pPr/>
              <a:t>42</a:t>
            </a:fld>
            <a:endParaRPr lang="en-ZA"/>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Box 1"/>
          <p:cNvSpPr txBox="1">
            <a:spLocks noChangeArrowheads="1"/>
          </p:cNvSpPr>
          <p:nvPr/>
        </p:nvSpPr>
        <p:spPr bwMode="auto">
          <a:xfrm>
            <a:off x="1928794" y="142875"/>
            <a:ext cx="7072362" cy="707886"/>
          </a:xfrm>
          <a:prstGeom prst="rect">
            <a:avLst/>
          </a:prstGeom>
          <a:noFill/>
          <a:ln w="9525">
            <a:noFill/>
            <a:miter lim="800000"/>
            <a:headEnd/>
            <a:tailEnd/>
          </a:ln>
        </p:spPr>
        <p:txBody>
          <a:bodyPr wrap="square">
            <a:spAutoFit/>
          </a:bodyPr>
          <a:lstStyle/>
          <a:p>
            <a:r>
              <a:rPr lang="en-GB" sz="2000" dirty="0" smtClean="0"/>
              <a:t>Fourth Generation 1971- 1989(MICRO </a:t>
            </a:r>
            <a:r>
              <a:rPr lang="en-GB" sz="2000" dirty="0"/>
              <a:t>PROCESSOR  AGE)</a:t>
            </a:r>
          </a:p>
          <a:p>
            <a:pPr algn="ctr"/>
            <a:endParaRPr lang="en-GB" sz="2000" dirty="0"/>
          </a:p>
        </p:txBody>
      </p:sp>
      <p:pic>
        <p:nvPicPr>
          <p:cNvPr id="19459" name="Picture 2" descr="http://htmlimg1.scribdassets.com/1ioutuels011w587/images/18-e5953bc845.png"/>
          <p:cNvPicPr>
            <a:picLocks noChangeAspect="1" noChangeArrowheads="1"/>
          </p:cNvPicPr>
          <p:nvPr/>
        </p:nvPicPr>
        <p:blipFill>
          <a:blip r:embed="rId2"/>
          <a:srcRect t="55981" b="1077"/>
          <a:stretch>
            <a:fillRect/>
          </a:stretch>
        </p:blipFill>
        <p:spPr bwMode="auto">
          <a:xfrm>
            <a:off x="214313" y="928688"/>
            <a:ext cx="3857625" cy="1928812"/>
          </a:xfrm>
          <a:prstGeom prst="rect">
            <a:avLst/>
          </a:prstGeom>
          <a:noFill/>
          <a:ln w="9525">
            <a:noFill/>
            <a:miter lim="800000"/>
            <a:headEnd/>
            <a:tailEnd/>
          </a:ln>
        </p:spPr>
      </p:pic>
      <p:pic>
        <p:nvPicPr>
          <p:cNvPr id="19460" name="Picture 3" descr="C:\Users\user\AppData\Local\Temp\msohtmlclip1\01\clip_image001.png"/>
          <p:cNvPicPr>
            <a:picLocks noChangeAspect="1" noChangeArrowheads="1"/>
          </p:cNvPicPr>
          <p:nvPr/>
        </p:nvPicPr>
        <p:blipFill>
          <a:blip r:embed="rId3"/>
          <a:srcRect/>
          <a:stretch>
            <a:fillRect/>
          </a:stretch>
        </p:blipFill>
        <p:spPr bwMode="auto">
          <a:xfrm>
            <a:off x="214313" y="3000375"/>
            <a:ext cx="5357812" cy="3643313"/>
          </a:xfrm>
          <a:prstGeom prst="rect">
            <a:avLst/>
          </a:prstGeom>
          <a:noFill/>
          <a:ln w="9525">
            <a:noFill/>
            <a:miter lim="800000"/>
            <a:headEnd/>
            <a:tailEnd/>
          </a:ln>
        </p:spPr>
      </p:pic>
      <p:pic>
        <p:nvPicPr>
          <p:cNvPr id="19461" name="Picture 4" descr="http://htmlimg1.scribdassets.com/1ioutuels011w587/images/22-88c4836ea0.jpg"/>
          <p:cNvPicPr>
            <a:picLocks noChangeAspect="1" noChangeArrowheads="1"/>
          </p:cNvPicPr>
          <p:nvPr/>
        </p:nvPicPr>
        <p:blipFill>
          <a:blip r:embed="rId4"/>
          <a:srcRect t="18141"/>
          <a:stretch>
            <a:fillRect/>
          </a:stretch>
        </p:blipFill>
        <p:spPr bwMode="auto">
          <a:xfrm>
            <a:off x="4429125" y="1143000"/>
            <a:ext cx="4008438" cy="2500313"/>
          </a:xfrm>
          <a:prstGeom prst="rect">
            <a:avLst/>
          </a:prstGeom>
          <a:noFill/>
          <a:ln w="9525">
            <a:noFill/>
            <a:miter lim="800000"/>
            <a:headEnd/>
            <a:tailEnd/>
          </a:ln>
        </p:spPr>
      </p:pic>
      <p:sp>
        <p:nvSpPr>
          <p:cNvPr id="19462" name="TextBox 5"/>
          <p:cNvSpPr txBox="1">
            <a:spLocks noChangeArrowheads="1"/>
          </p:cNvSpPr>
          <p:nvPr/>
        </p:nvSpPr>
        <p:spPr bwMode="auto">
          <a:xfrm>
            <a:off x="5715000" y="3714750"/>
            <a:ext cx="2373313" cy="369888"/>
          </a:xfrm>
          <a:prstGeom prst="rect">
            <a:avLst/>
          </a:prstGeom>
          <a:noFill/>
          <a:ln w="9525">
            <a:noFill/>
            <a:miter lim="800000"/>
            <a:headEnd/>
            <a:tailEnd/>
          </a:ln>
        </p:spPr>
        <p:txBody>
          <a:bodyPr wrap="none">
            <a:spAutoFit/>
          </a:bodyPr>
          <a:lstStyle/>
          <a:p>
            <a:r>
              <a:rPr lang="en-GB"/>
              <a:t>APPLE MACINTOSH</a:t>
            </a:r>
          </a:p>
        </p:txBody>
      </p:sp>
      <p:pic>
        <p:nvPicPr>
          <p:cNvPr id="19463" name="Picture 6" descr="logo"/>
          <p:cNvPicPr>
            <a:picLocks noChangeAspect="1" noChangeArrowheads="1"/>
          </p:cNvPicPr>
          <p:nvPr/>
        </p:nvPicPr>
        <p:blipFill>
          <a:blip r:embed="rId5"/>
          <a:srcRect l="25273" t="29860" r="41530" b="24966"/>
          <a:stretch>
            <a:fillRect/>
          </a:stretch>
        </p:blipFill>
        <p:spPr bwMode="auto">
          <a:xfrm>
            <a:off x="0" y="0"/>
            <a:ext cx="1071563" cy="857250"/>
          </a:xfrm>
          <a:prstGeom prst="rect">
            <a:avLst/>
          </a:prstGeom>
          <a:noFill/>
          <a:ln w="9525">
            <a:noFill/>
            <a:miter lim="800000"/>
            <a:headEnd/>
            <a:tailEnd/>
          </a:ln>
        </p:spPr>
      </p:pic>
      <p:pic>
        <p:nvPicPr>
          <p:cNvPr id="19464" name="Picture 7" descr="http://www.crews.org/curriculum/ex/compsci/articles/mmx.gif"/>
          <p:cNvPicPr>
            <a:picLocks noChangeAspect="1" noChangeArrowheads="1"/>
          </p:cNvPicPr>
          <p:nvPr/>
        </p:nvPicPr>
        <p:blipFill>
          <a:blip r:embed="rId6"/>
          <a:srcRect/>
          <a:stretch>
            <a:fillRect/>
          </a:stretch>
        </p:blipFill>
        <p:spPr bwMode="auto">
          <a:xfrm>
            <a:off x="5572125" y="4572000"/>
            <a:ext cx="3071813" cy="1714500"/>
          </a:xfrm>
          <a:prstGeom prst="rect">
            <a:avLst/>
          </a:prstGeom>
          <a:noFill/>
          <a:ln w="9525">
            <a:noFill/>
            <a:miter lim="800000"/>
            <a:headEnd/>
            <a:tailEnd/>
          </a:ln>
        </p:spPr>
      </p:pic>
      <p:sp>
        <p:nvSpPr>
          <p:cNvPr id="9" name="Slide Number Placeholder 8"/>
          <p:cNvSpPr>
            <a:spLocks noGrp="1"/>
          </p:cNvSpPr>
          <p:nvPr>
            <p:ph type="sldNum" sz="quarter" idx="12"/>
          </p:nvPr>
        </p:nvSpPr>
        <p:spPr/>
        <p:txBody>
          <a:bodyPr/>
          <a:lstStyle/>
          <a:p>
            <a:fld id="{0D783054-B380-48EE-A685-F84AE7A6C581}" type="slidenum">
              <a:rPr lang="en-ZA" smtClean="0"/>
              <a:pPr/>
              <a:t>43</a:t>
            </a:fld>
            <a:endParaRPr lang="en-ZA"/>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714356"/>
            <a:ext cx="8472518" cy="6000792"/>
          </a:xfrm>
        </p:spPr>
        <p:txBody>
          <a:bodyPr>
            <a:normAutofit fontScale="77500" lnSpcReduction="20000"/>
          </a:bodyPr>
          <a:lstStyle/>
          <a:p>
            <a:pPr marL="274320" indent="-274320" eaLnBrk="1" fontAlgn="auto" hangingPunct="1">
              <a:spcAft>
                <a:spcPts val="0"/>
              </a:spcAft>
              <a:defRPr/>
            </a:pPr>
            <a:r>
              <a:rPr lang="en-GB" sz="3400" dirty="0" smtClean="0"/>
              <a:t>Microprocessor based systems</a:t>
            </a:r>
          </a:p>
          <a:p>
            <a:pPr marL="274320" indent="-274320">
              <a:defRPr/>
            </a:pPr>
            <a:r>
              <a:rPr lang="en-US" sz="3400" dirty="0" smtClean="0"/>
              <a:t>Electronic computers that used large-scale integration (LSI) circuits</a:t>
            </a:r>
            <a:endParaRPr lang="en-GB" sz="3400" dirty="0" smtClean="0"/>
          </a:p>
          <a:p>
            <a:pPr marL="274320" indent="-274320" eaLnBrk="1" fontAlgn="auto" hangingPunct="1">
              <a:spcAft>
                <a:spcPts val="0"/>
              </a:spcAft>
              <a:defRPr/>
            </a:pPr>
            <a:r>
              <a:rPr lang="en-GB" sz="3400" dirty="0" smtClean="0"/>
              <a:t>Portable and quite reliable</a:t>
            </a:r>
          </a:p>
          <a:p>
            <a:pPr marL="274320" indent="-274320" eaLnBrk="1" fontAlgn="auto" hangingPunct="1">
              <a:spcAft>
                <a:spcPts val="0"/>
              </a:spcAft>
              <a:defRPr/>
            </a:pPr>
            <a:r>
              <a:rPr lang="en-GB" sz="3400" dirty="0" smtClean="0"/>
              <a:t>Generate negligible amount of heat</a:t>
            </a:r>
          </a:p>
          <a:p>
            <a:pPr marL="274320" indent="-274320" eaLnBrk="1" fontAlgn="auto" hangingPunct="1">
              <a:spcAft>
                <a:spcPts val="0"/>
              </a:spcAft>
              <a:defRPr/>
            </a:pPr>
            <a:r>
              <a:rPr lang="en-GB" sz="3400" dirty="0" smtClean="0"/>
              <a:t>GUI and pointing devices enables users to learn computer usage quickly</a:t>
            </a:r>
          </a:p>
          <a:p>
            <a:pPr marL="274320" indent="-274320" eaLnBrk="1" fontAlgn="auto" hangingPunct="1">
              <a:spcAft>
                <a:spcPts val="0"/>
              </a:spcAft>
              <a:defRPr/>
            </a:pPr>
            <a:r>
              <a:rPr lang="en-GB" sz="3400" dirty="0" smtClean="0"/>
              <a:t>Interconnections of computer leads to better communication and resource sharing</a:t>
            </a:r>
          </a:p>
          <a:p>
            <a:pPr marL="274320" indent="-274320" eaLnBrk="1" fontAlgn="auto" hangingPunct="1">
              <a:spcAft>
                <a:spcPts val="0"/>
              </a:spcAft>
              <a:defRPr/>
            </a:pPr>
            <a:r>
              <a:rPr lang="en-GB" sz="3400" dirty="0" smtClean="0"/>
              <a:t>Tens of thousands of transistors can be placed in a single chip (VLSI design implemented) </a:t>
            </a:r>
          </a:p>
          <a:p>
            <a:pPr marL="274320" indent="-274320" eaLnBrk="1" fontAlgn="auto" hangingPunct="1">
              <a:spcAft>
                <a:spcPts val="0"/>
              </a:spcAft>
              <a:defRPr/>
            </a:pPr>
            <a:r>
              <a:rPr lang="en-GB" sz="3400" dirty="0" smtClean="0"/>
              <a:t> CRT screen, laser &amp; ink jet printers, scanners were developed. </a:t>
            </a:r>
          </a:p>
          <a:p>
            <a:pPr marL="274320" indent="-274320" eaLnBrk="1" fontAlgn="auto" hangingPunct="1">
              <a:spcAft>
                <a:spcPts val="0"/>
              </a:spcAft>
              <a:defRPr/>
            </a:pPr>
            <a:r>
              <a:rPr lang="en-GB" sz="3400" dirty="0" smtClean="0"/>
              <a:t> Semiconductor memory chips were used as the main memory. </a:t>
            </a:r>
          </a:p>
          <a:p>
            <a:pPr marL="274320" indent="-274320" eaLnBrk="1" fontAlgn="auto" hangingPunct="1">
              <a:spcAft>
                <a:spcPts val="0"/>
              </a:spcAft>
              <a:buFont typeface="Wingdings"/>
              <a:buChar char=""/>
              <a:defRPr/>
            </a:pPr>
            <a:endParaRPr lang="en-GB" sz="3400" dirty="0" smtClean="0"/>
          </a:p>
          <a:p>
            <a:pPr marL="274320" indent="-274320" eaLnBrk="1" fontAlgn="auto" hangingPunct="1">
              <a:spcAft>
                <a:spcPts val="0"/>
              </a:spcAft>
              <a:buFont typeface="Wingdings"/>
              <a:buChar char=""/>
              <a:defRPr/>
            </a:pPr>
            <a:endParaRPr lang="en-GB" dirty="0" smtClean="0"/>
          </a:p>
          <a:p>
            <a:pPr marL="274320" indent="-274320" eaLnBrk="1" fontAlgn="auto" hangingPunct="1">
              <a:spcAft>
                <a:spcPts val="0"/>
              </a:spcAft>
              <a:buFont typeface="Wingdings"/>
              <a:buChar char=""/>
              <a:defRPr/>
            </a:pPr>
            <a:endParaRPr lang="en-GB" dirty="0" smtClean="0"/>
          </a:p>
          <a:p>
            <a:pPr marL="274320" indent="-274320" eaLnBrk="1" fontAlgn="auto" hangingPunct="1">
              <a:spcAft>
                <a:spcPts val="0"/>
              </a:spcAft>
              <a:buFont typeface="Wingdings"/>
              <a:buChar char=""/>
              <a:defRPr/>
            </a:pPr>
            <a:endParaRPr lang="en-GB" dirty="0"/>
          </a:p>
        </p:txBody>
      </p:sp>
      <p:pic>
        <p:nvPicPr>
          <p:cNvPr id="20484" name="Picture 3" descr="logo"/>
          <p:cNvPicPr>
            <a:picLocks noChangeAspect="1" noChangeArrowheads="1"/>
          </p:cNvPicPr>
          <p:nvPr/>
        </p:nvPicPr>
        <p:blipFill>
          <a:blip r:embed="rId2"/>
          <a:srcRect l="25273" t="29860" r="41530" b="24966"/>
          <a:stretch>
            <a:fillRect/>
          </a:stretch>
        </p:blipFill>
        <p:spPr bwMode="auto">
          <a:xfrm>
            <a:off x="0" y="0"/>
            <a:ext cx="1071563" cy="785813"/>
          </a:xfrm>
          <a:prstGeom prst="rect">
            <a:avLst/>
          </a:prstGeom>
          <a:noFill/>
          <a:ln w="9525">
            <a:noFill/>
            <a:miter lim="800000"/>
            <a:headEnd/>
            <a:tailEnd/>
          </a:ln>
        </p:spPr>
      </p:pic>
      <p:sp>
        <p:nvSpPr>
          <p:cNvPr id="6" name="TextBox 1"/>
          <p:cNvSpPr txBox="1">
            <a:spLocks noChangeArrowheads="1"/>
          </p:cNvSpPr>
          <p:nvPr/>
        </p:nvSpPr>
        <p:spPr bwMode="auto">
          <a:xfrm>
            <a:off x="1000100" y="142875"/>
            <a:ext cx="7858180" cy="830997"/>
          </a:xfrm>
          <a:prstGeom prst="rect">
            <a:avLst/>
          </a:prstGeom>
          <a:noFill/>
          <a:ln w="9525">
            <a:noFill/>
            <a:miter lim="800000"/>
            <a:headEnd/>
            <a:tailEnd/>
          </a:ln>
        </p:spPr>
        <p:txBody>
          <a:bodyPr wrap="square">
            <a:spAutoFit/>
          </a:bodyPr>
          <a:lstStyle/>
          <a:p>
            <a:r>
              <a:rPr lang="en-GB" sz="2400" dirty="0" smtClean="0"/>
              <a:t>Fourth Generation 1971- 1989 (MICRO </a:t>
            </a:r>
            <a:r>
              <a:rPr lang="en-GB" sz="2400" dirty="0"/>
              <a:t>PROCESSOR  AGE)</a:t>
            </a:r>
          </a:p>
          <a:p>
            <a:pPr algn="ctr"/>
            <a:endParaRPr lang="en-GB" sz="2400" dirty="0"/>
          </a:p>
        </p:txBody>
      </p:sp>
      <p:sp>
        <p:nvSpPr>
          <p:cNvPr id="7" name="Slide Number Placeholder 6"/>
          <p:cNvSpPr>
            <a:spLocks noGrp="1"/>
          </p:cNvSpPr>
          <p:nvPr>
            <p:ph type="sldNum" sz="quarter" idx="12"/>
          </p:nvPr>
        </p:nvSpPr>
        <p:spPr/>
        <p:txBody>
          <a:bodyPr/>
          <a:lstStyle/>
          <a:p>
            <a:fld id="{0D783054-B380-48EE-A685-F84AE7A6C581}" type="slidenum">
              <a:rPr lang="en-ZA" smtClean="0"/>
              <a:pPr/>
              <a:t>44</a:t>
            </a:fld>
            <a:endParaRPr lang="en-ZA"/>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1"/>
          <p:cNvSpPr txBox="1">
            <a:spLocks noChangeArrowheads="1"/>
          </p:cNvSpPr>
          <p:nvPr/>
        </p:nvSpPr>
        <p:spPr bwMode="auto">
          <a:xfrm>
            <a:off x="1214438" y="0"/>
            <a:ext cx="6632575" cy="646113"/>
          </a:xfrm>
          <a:prstGeom prst="rect">
            <a:avLst/>
          </a:prstGeom>
          <a:noFill/>
          <a:ln w="9525">
            <a:noFill/>
            <a:miter lim="800000"/>
            <a:headEnd/>
            <a:tailEnd/>
          </a:ln>
        </p:spPr>
        <p:txBody>
          <a:bodyPr>
            <a:spAutoFit/>
          </a:bodyPr>
          <a:lstStyle/>
          <a:p>
            <a:pPr algn="ctr"/>
            <a:r>
              <a:rPr lang="en-GB" dirty="0" smtClean="0"/>
              <a:t>Fifth Generation  1989 - Present </a:t>
            </a:r>
          </a:p>
          <a:p>
            <a:pPr algn="ctr"/>
            <a:r>
              <a:rPr lang="en-GB" dirty="0" smtClean="0"/>
              <a:t>(Artificial Intelligent)</a:t>
            </a:r>
            <a:endParaRPr lang="en-GB" dirty="0"/>
          </a:p>
        </p:txBody>
      </p:sp>
      <p:pic>
        <p:nvPicPr>
          <p:cNvPr id="21507" name="Picture 2" descr="logo"/>
          <p:cNvPicPr>
            <a:picLocks noChangeAspect="1" noChangeArrowheads="1"/>
          </p:cNvPicPr>
          <p:nvPr/>
        </p:nvPicPr>
        <p:blipFill>
          <a:blip r:embed="rId2" cstate="print"/>
          <a:srcRect l="25273" t="29860" r="41530" b="24966"/>
          <a:stretch>
            <a:fillRect/>
          </a:stretch>
        </p:blipFill>
        <p:spPr bwMode="auto">
          <a:xfrm>
            <a:off x="214282" y="142876"/>
            <a:ext cx="994847" cy="785794"/>
          </a:xfrm>
          <a:prstGeom prst="rect">
            <a:avLst/>
          </a:prstGeom>
          <a:noFill/>
          <a:ln w="9525">
            <a:noFill/>
            <a:miter lim="800000"/>
            <a:headEnd/>
            <a:tailEnd/>
          </a:ln>
        </p:spPr>
      </p:pic>
      <p:pic>
        <p:nvPicPr>
          <p:cNvPr id="21508" name="Picture 3" descr="http://htmlimg3.scribdassets.com/1ioutuels011w587/images/23-687ce41fa2.png"/>
          <p:cNvPicPr>
            <a:picLocks noChangeAspect="1" noChangeArrowheads="1"/>
          </p:cNvPicPr>
          <p:nvPr/>
        </p:nvPicPr>
        <p:blipFill>
          <a:blip r:embed="rId3"/>
          <a:srcRect t="57745" r="14912"/>
          <a:stretch>
            <a:fillRect/>
          </a:stretch>
        </p:blipFill>
        <p:spPr bwMode="auto">
          <a:xfrm>
            <a:off x="214313" y="1071563"/>
            <a:ext cx="3429000" cy="2500312"/>
          </a:xfrm>
          <a:prstGeom prst="rect">
            <a:avLst/>
          </a:prstGeom>
          <a:noFill/>
          <a:ln w="9525">
            <a:noFill/>
            <a:miter lim="800000"/>
            <a:headEnd/>
            <a:tailEnd/>
          </a:ln>
        </p:spPr>
      </p:pic>
      <p:pic>
        <p:nvPicPr>
          <p:cNvPr id="21509" name="Picture 4" descr="http://htmlimg4.scribdassets.com/1ioutuels011w587/images/24-1dde6e1603.jpg"/>
          <p:cNvPicPr>
            <a:picLocks noChangeAspect="1" noChangeArrowheads="1"/>
          </p:cNvPicPr>
          <p:nvPr/>
        </p:nvPicPr>
        <p:blipFill>
          <a:blip r:embed="rId4"/>
          <a:srcRect l="2824" t="4868" r="8597" b="7301"/>
          <a:stretch>
            <a:fillRect/>
          </a:stretch>
        </p:blipFill>
        <p:spPr bwMode="auto">
          <a:xfrm>
            <a:off x="3786188" y="1000125"/>
            <a:ext cx="4857750" cy="2928938"/>
          </a:xfrm>
          <a:prstGeom prst="rect">
            <a:avLst/>
          </a:prstGeom>
          <a:noFill/>
          <a:ln w="9525">
            <a:noFill/>
            <a:miter lim="800000"/>
            <a:headEnd/>
            <a:tailEnd/>
          </a:ln>
        </p:spPr>
      </p:pic>
      <p:pic>
        <p:nvPicPr>
          <p:cNvPr id="21510" name="Picture 5" descr="http://htmlimg1.scribdassets.com/1ioutuels011w587/images/26-d528fd67fb.jpg"/>
          <p:cNvPicPr>
            <a:picLocks noChangeAspect="1" noChangeArrowheads="1"/>
          </p:cNvPicPr>
          <p:nvPr/>
        </p:nvPicPr>
        <p:blipFill>
          <a:blip r:embed="rId5"/>
          <a:srcRect l="9473" t="28098" r="11423" b="14381"/>
          <a:stretch>
            <a:fillRect/>
          </a:stretch>
        </p:blipFill>
        <p:spPr bwMode="auto">
          <a:xfrm>
            <a:off x="214313" y="4381500"/>
            <a:ext cx="4533900" cy="2476500"/>
          </a:xfrm>
          <a:prstGeom prst="rect">
            <a:avLst/>
          </a:prstGeom>
          <a:noFill/>
          <a:ln w="9525">
            <a:noFill/>
            <a:miter lim="800000"/>
            <a:headEnd/>
            <a:tailEnd/>
          </a:ln>
        </p:spPr>
      </p:pic>
      <p:pic>
        <p:nvPicPr>
          <p:cNvPr id="21511" name="Picture 6" descr="http://htmlimg2.scribdassets.com/1ioutuels011w587/images/27-1292d9b454.jpg"/>
          <p:cNvPicPr>
            <a:picLocks noChangeAspect="1" noChangeArrowheads="1"/>
          </p:cNvPicPr>
          <p:nvPr/>
        </p:nvPicPr>
        <p:blipFill>
          <a:blip r:embed="rId6"/>
          <a:srcRect l="10304" t="13274" r="10924"/>
          <a:stretch>
            <a:fillRect/>
          </a:stretch>
        </p:blipFill>
        <p:spPr bwMode="auto">
          <a:xfrm>
            <a:off x="5286375" y="4286250"/>
            <a:ext cx="3186113" cy="2224088"/>
          </a:xfrm>
          <a:prstGeom prst="rect">
            <a:avLst/>
          </a:prstGeom>
          <a:noFill/>
          <a:ln w="9525">
            <a:noFill/>
            <a:miter lim="800000"/>
            <a:headEnd/>
            <a:tailEnd/>
          </a:ln>
        </p:spPr>
      </p:pic>
      <p:sp>
        <p:nvSpPr>
          <p:cNvPr id="8" name="Slide Number Placeholder 7"/>
          <p:cNvSpPr>
            <a:spLocks noGrp="1"/>
          </p:cNvSpPr>
          <p:nvPr>
            <p:ph type="sldNum" sz="quarter" idx="12"/>
          </p:nvPr>
        </p:nvSpPr>
        <p:spPr/>
        <p:txBody>
          <a:bodyPr/>
          <a:lstStyle/>
          <a:p>
            <a:fld id="{0D783054-B380-48EE-A685-F84AE7A6C581}" type="slidenum">
              <a:rPr lang="en-ZA" smtClean="0"/>
              <a:pPr/>
              <a:t>45</a:t>
            </a:fld>
            <a:endParaRPr lang="en-ZA"/>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85750" y="1214422"/>
            <a:ext cx="8429625" cy="5429288"/>
          </a:xfrm>
        </p:spPr>
        <p:txBody>
          <a:bodyPr>
            <a:normAutofit/>
          </a:bodyPr>
          <a:lstStyle/>
          <a:p>
            <a:pPr marL="274320" indent="-274320" eaLnBrk="1" fontAlgn="auto" hangingPunct="1">
              <a:spcAft>
                <a:spcPts val="0"/>
              </a:spcAft>
              <a:defRPr/>
            </a:pPr>
            <a:r>
              <a:rPr lang="en-GB" dirty="0" smtClean="0"/>
              <a:t>Computers based on artificial intelligence are available </a:t>
            </a:r>
          </a:p>
          <a:p>
            <a:pPr marL="274320" indent="-274320" eaLnBrk="1" fontAlgn="auto" hangingPunct="1">
              <a:spcAft>
                <a:spcPts val="0"/>
              </a:spcAft>
              <a:defRPr/>
            </a:pPr>
            <a:r>
              <a:rPr lang="en-GB" dirty="0" smtClean="0"/>
              <a:t>Massive parallel machines and extensively distributed system connected by communication networks</a:t>
            </a:r>
          </a:p>
          <a:p>
            <a:pPr marL="274320" indent="-274320" eaLnBrk="1" fontAlgn="auto" hangingPunct="1">
              <a:spcAft>
                <a:spcPts val="0"/>
              </a:spcAft>
              <a:defRPr/>
            </a:pPr>
            <a:r>
              <a:rPr lang="en-GB" dirty="0" smtClean="0"/>
              <a:t>Object Oriented Programming (OOP) language like JAVA suitable for internet programming has been developed </a:t>
            </a:r>
          </a:p>
          <a:p>
            <a:pPr marL="274320" indent="-274320" eaLnBrk="1" fontAlgn="auto" hangingPunct="1">
              <a:spcAft>
                <a:spcPts val="0"/>
              </a:spcAft>
              <a:defRPr/>
            </a:pPr>
            <a:r>
              <a:rPr lang="en-GB" dirty="0" smtClean="0"/>
              <a:t>Portable note book Computers were introduced </a:t>
            </a:r>
          </a:p>
          <a:p>
            <a:pPr marL="274320" indent="-274320" eaLnBrk="1" fontAlgn="auto" hangingPunct="1">
              <a:spcAft>
                <a:spcPts val="0"/>
              </a:spcAft>
              <a:defRPr/>
            </a:pPr>
            <a:r>
              <a:rPr lang="en-GB" dirty="0" smtClean="0"/>
              <a:t>New operating systems developed – Windows 95/98/XP/, LINUX </a:t>
            </a:r>
          </a:p>
          <a:p>
            <a:pPr>
              <a:defRPr/>
            </a:pPr>
            <a:r>
              <a:rPr lang="en-GB" dirty="0" smtClean="0"/>
              <a:t>Computers use extensive parallel processing, multiple pipelines and multiple processors.</a:t>
            </a:r>
          </a:p>
          <a:p>
            <a:pPr>
              <a:defRPr/>
            </a:pPr>
            <a:r>
              <a:rPr lang="en-GB" dirty="0" smtClean="0"/>
              <a:t>Introduced ULSI (Ultra Large Scale Integration) technology </a:t>
            </a:r>
          </a:p>
          <a:p>
            <a:pPr marL="274320" indent="-274320" eaLnBrk="1" fontAlgn="auto" hangingPunct="1">
              <a:spcAft>
                <a:spcPts val="0"/>
              </a:spcAft>
              <a:buFont typeface="Wingdings"/>
              <a:buChar char=""/>
              <a:defRPr/>
            </a:pPr>
            <a:endParaRPr lang="en-GB" dirty="0" smtClean="0"/>
          </a:p>
          <a:p>
            <a:pPr marL="274320" indent="-274320" eaLnBrk="1" fontAlgn="auto" hangingPunct="1">
              <a:spcAft>
                <a:spcPts val="0"/>
              </a:spcAft>
              <a:buFont typeface="Wingdings"/>
              <a:buChar char=""/>
              <a:defRPr/>
            </a:pPr>
            <a:endParaRPr lang="en-GB" dirty="0" smtClean="0"/>
          </a:p>
          <a:p>
            <a:pPr marL="274320" indent="-274320" eaLnBrk="1" fontAlgn="auto" hangingPunct="1">
              <a:spcAft>
                <a:spcPts val="0"/>
              </a:spcAft>
              <a:buFont typeface="Wingdings"/>
              <a:buChar char=""/>
              <a:defRPr/>
            </a:pPr>
            <a:endParaRPr lang="en-GB" dirty="0" smtClean="0"/>
          </a:p>
          <a:p>
            <a:pPr marL="274320" indent="-274320" eaLnBrk="1" fontAlgn="auto" hangingPunct="1">
              <a:spcAft>
                <a:spcPts val="0"/>
              </a:spcAft>
              <a:buFont typeface="Wingdings"/>
              <a:buChar char=""/>
              <a:defRPr/>
            </a:pPr>
            <a:endParaRPr lang="en-GB" dirty="0" smtClean="0"/>
          </a:p>
          <a:p>
            <a:pPr marL="274320" indent="-274320" eaLnBrk="1" fontAlgn="auto" hangingPunct="1">
              <a:spcAft>
                <a:spcPts val="0"/>
              </a:spcAft>
              <a:buFont typeface="Wingdings"/>
              <a:buChar char=""/>
              <a:defRPr/>
            </a:pPr>
            <a:endParaRPr lang="en-GB" dirty="0" smtClean="0"/>
          </a:p>
          <a:p>
            <a:pPr marL="274320" indent="-274320" eaLnBrk="1" fontAlgn="auto" hangingPunct="1">
              <a:spcAft>
                <a:spcPts val="0"/>
              </a:spcAft>
              <a:buFont typeface="Wingdings"/>
              <a:buChar char=""/>
              <a:defRPr/>
            </a:pPr>
            <a:endParaRPr lang="en-GB" dirty="0"/>
          </a:p>
        </p:txBody>
      </p:sp>
      <p:pic>
        <p:nvPicPr>
          <p:cNvPr id="22532" name="Picture 3" descr="logo"/>
          <p:cNvPicPr>
            <a:picLocks noChangeAspect="1" noChangeArrowheads="1"/>
          </p:cNvPicPr>
          <p:nvPr/>
        </p:nvPicPr>
        <p:blipFill>
          <a:blip r:embed="rId2" cstate="print"/>
          <a:srcRect l="25273" t="29860" r="41530" b="24966"/>
          <a:stretch>
            <a:fillRect/>
          </a:stretch>
        </p:blipFill>
        <p:spPr bwMode="auto">
          <a:xfrm>
            <a:off x="214282" y="157140"/>
            <a:ext cx="857281" cy="628673"/>
          </a:xfrm>
          <a:prstGeom prst="rect">
            <a:avLst/>
          </a:prstGeom>
          <a:noFill/>
          <a:ln w="9525">
            <a:noFill/>
            <a:miter lim="800000"/>
            <a:headEnd/>
            <a:tailEnd/>
          </a:ln>
        </p:spPr>
      </p:pic>
      <p:sp>
        <p:nvSpPr>
          <p:cNvPr id="7" name="TextBox 1"/>
          <p:cNvSpPr txBox="1">
            <a:spLocks noChangeArrowheads="1"/>
          </p:cNvSpPr>
          <p:nvPr/>
        </p:nvSpPr>
        <p:spPr bwMode="auto">
          <a:xfrm>
            <a:off x="1214438" y="0"/>
            <a:ext cx="6632575" cy="830997"/>
          </a:xfrm>
          <a:prstGeom prst="rect">
            <a:avLst/>
          </a:prstGeom>
          <a:noFill/>
          <a:ln w="9525">
            <a:noFill/>
            <a:miter lim="800000"/>
            <a:headEnd/>
            <a:tailEnd/>
          </a:ln>
        </p:spPr>
        <p:txBody>
          <a:bodyPr>
            <a:spAutoFit/>
          </a:bodyPr>
          <a:lstStyle/>
          <a:p>
            <a:pPr algn="ctr"/>
            <a:r>
              <a:rPr lang="en-GB" sz="2400" dirty="0" smtClean="0"/>
              <a:t>Fifth Generation 1989 - Present </a:t>
            </a:r>
          </a:p>
          <a:p>
            <a:pPr algn="ctr"/>
            <a:r>
              <a:rPr lang="en-GB" sz="2400" dirty="0" smtClean="0"/>
              <a:t>(Artificial Intelligent)</a:t>
            </a:r>
            <a:endParaRPr lang="en-GB" sz="2400" dirty="0"/>
          </a:p>
        </p:txBody>
      </p:sp>
      <p:sp>
        <p:nvSpPr>
          <p:cNvPr id="8" name="Slide Number Placeholder 7"/>
          <p:cNvSpPr>
            <a:spLocks noGrp="1"/>
          </p:cNvSpPr>
          <p:nvPr>
            <p:ph type="sldNum" sz="quarter" idx="12"/>
          </p:nvPr>
        </p:nvSpPr>
        <p:spPr/>
        <p:txBody>
          <a:bodyPr/>
          <a:lstStyle/>
          <a:p>
            <a:fld id="{0D783054-B380-48EE-A685-F84AE7A6C581}" type="slidenum">
              <a:rPr lang="en-ZA" smtClean="0"/>
              <a:pPr/>
              <a:t>46</a:t>
            </a:fld>
            <a:endParaRPr lang="en-ZA"/>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 descr="C:\Users\user\AppData\Local\Temp\msohtmlclip1\01\clip_image001.png"/>
          <p:cNvPicPr>
            <a:picLocks noChangeAspect="1" noChangeArrowheads="1"/>
          </p:cNvPicPr>
          <p:nvPr/>
        </p:nvPicPr>
        <p:blipFill>
          <a:blip r:embed="rId2"/>
          <a:srcRect/>
          <a:stretch>
            <a:fillRect/>
          </a:stretch>
        </p:blipFill>
        <p:spPr bwMode="auto">
          <a:xfrm>
            <a:off x="214313" y="714375"/>
            <a:ext cx="4895850" cy="2847975"/>
          </a:xfrm>
          <a:prstGeom prst="rect">
            <a:avLst/>
          </a:prstGeom>
          <a:noFill/>
          <a:ln w="9525">
            <a:noFill/>
            <a:miter lim="800000"/>
            <a:headEnd/>
            <a:tailEnd/>
          </a:ln>
        </p:spPr>
      </p:pic>
      <p:sp>
        <p:nvSpPr>
          <p:cNvPr id="23555" name="TextBox 2"/>
          <p:cNvSpPr txBox="1">
            <a:spLocks noChangeArrowheads="1"/>
          </p:cNvSpPr>
          <p:nvPr/>
        </p:nvSpPr>
        <p:spPr bwMode="auto">
          <a:xfrm>
            <a:off x="1143000" y="142875"/>
            <a:ext cx="6948488" cy="369888"/>
          </a:xfrm>
          <a:prstGeom prst="rect">
            <a:avLst/>
          </a:prstGeom>
          <a:noFill/>
          <a:ln w="9525">
            <a:noFill/>
            <a:miter lim="800000"/>
            <a:headEnd/>
            <a:tailEnd/>
          </a:ln>
        </p:spPr>
        <p:txBody>
          <a:bodyPr wrap="none">
            <a:spAutoFit/>
          </a:bodyPr>
          <a:lstStyle/>
          <a:p>
            <a:r>
              <a:rPr lang="en-GB"/>
              <a:t>THE LATEST TECHNOLOGY THAT ARE YET TO BE RELEASED</a:t>
            </a:r>
          </a:p>
        </p:txBody>
      </p:sp>
      <p:pic>
        <p:nvPicPr>
          <p:cNvPr id="23556" name="Picture 3" descr="C:\Users\user\AppData\Local\Temp\msohtmlclip1\01\clip_image001.png"/>
          <p:cNvPicPr>
            <a:picLocks noChangeAspect="1" noChangeArrowheads="1"/>
          </p:cNvPicPr>
          <p:nvPr/>
        </p:nvPicPr>
        <p:blipFill>
          <a:blip r:embed="rId3"/>
          <a:srcRect/>
          <a:stretch>
            <a:fillRect/>
          </a:stretch>
        </p:blipFill>
        <p:spPr bwMode="auto">
          <a:xfrm>
            <a:off x="1857375" y="3643313"/>
            <a:ext cx="4629150" cy="2967037"/>
          </a:xfrm>
          <a:prstGeom prst="rect">
            <a:avLst/>
          </a:prstGeom>
          <a:noFill/>
          <a:ln w="9525">
            <a:noFill/>
            <a:miter lim="800000"/>
            <a:headEnd/>
            <a:tailEnd/>
          </a:ln>
        </p:spPr>
      </p:pic>
      <p:pic>
        <p:nvPicPr>
          <p:cNvPr id="23557" name="Picture 4" descr="C:\Users\user\AppData\Local\Temp\msohtmlclip1\01\clip_image001.png"/>
          <p:cNvPicPr>
            <a:picLocks noChangeAspect="1" noChangeArrowheads="1"/>
          </p:cNvPicPr>
          <p:nvPr/>
        </p:nvPicPr>
        <p:blipFill>
          <a:blip r:embed="rId4"/>
          <a:srcRect/>
          <a:stretch>
            <a:fillRect/>
          </a:stretch>
        </p:blipFill>
        <p:spPr bwMode="auto">
          <a:xfrm>
            <a:off x="5500688" y="714375"/>
            <a:ext cx="2730500" cy="2486025"/>
          </a:xfrm>
          <a:prstGeom prst="rect">
            <a:avLst/>
          </a:prstGeom>
          <a:noFill/>
          <a:ln w="9525">
            <a:noFill/>
            <a:miter lim="800000"/>
            <a:headEnd/>
            <a:tailEnd/>
          </a:ln>
        </p:spPr>
      </p:pic>
      <p:pic>
        <p:nvPicPr>
          <p:cNvPr id="23558" name="Picture 5" descr="logo"/>
          <p:cNvPicPr>
            <a:picLocks noChangeAspect="1" noChangeArrowheads="1"/>
          </p:cNvPicPr>
          <p:nvPr/>
        </p:nvPicPr>
        <p:blipFill>
          <a:blip r:embed="rId5"/>
          <a:srcRect l="25273" t="29860" r="41530" b="24966"/>
          <a:stretch>
            <a:fillRect/>
          </a:stretch>
        </p:blipFill>
        <p:spPr bwMode="auto">
          <a:xfrm>
            <a:off x="0" y="0"/>
            <a:ext cx="857250" cy="571500"/>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fld id="{0D783054-B380-48EE-A685-F84AE7A6C581}" type="slidenum">
              <a:rPr lang="en-ZA" smtClean="0"/>
              <a:pPr/>
              <a:t>47</a:t>
            </a:fld>
            <a:endParaRPr lang="en-ZA"/>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8952"/>
            <a:ext cx="8229600" cy="868346"/>
          </a:xfrm>
        </p:spPr>
        <p:txBody>
          <a:bodyPr>
            <a:normAutofit/>
          </a:bodyPr>
          <a:lstStyle/>
          <a:p>
            <a:r>
              <a:rPr lang="en-ZA" dirty="0" smtClean="0"/>
              <a:t>Computer Generations (cont.)</a:t>
            </a:r>
            <a:endParaRPr lang="en-ZA" dirty="0"/>
          </a:p>
        </p:txBody>
      </p:sp>
      <p:sp>
        <p:nvSpPr>
          <p:cNvPr id="3" name="Content Placeholder 2"/>
          <p:cNvSpPr>
            <a:spLocks noGrp="1"/>
          </p:cNvSpPr>
          <p:nvPr>
            <p:ph sz="quarter" idx="1"/>
          </p:nvPr>
        </p:nvSpPr>
        <p:spPr>
          <a:xfrm>
            <a:off x="457200" y="1357298"/>
            <a:ext cx="8229600" cy="4768865"/>
          </a:xfrm>
        </p:spPr>
        <p:txBody>
          <a:bodyPr>
            <a:normAutofit/>
          </a:bodyPr>
          <a:lstStyle/>
          <a:p>
            <a:endParaRPr lang="en-US" dirty="0"/>
          </a:p>
          <a:p>
            <a:r>
              <a:rPr lang="en-US" u="sng" dirty="0"/>
              <a:t>SUMMARY</a:t>
            </a:r>
            <a:endParaRPr lang="en-ZA" dirty="0"/>
          </a:p>
          <a:p>
            <a:r>
              <a:rPr lang="en-US" u="sng" dirty="0"/>
              <a:t>Generation</a:t>
            </a:r>
            <a:r>
              <a:rPr lang="en-US" dirty="0"/>
              <a:t>     </a:t>
            </a:r>
            <a:r>
              <a:rPr lang="en-US" dirty="0" smtClean="0"/>
              <a:t>		</a:t>
            </a:r>
            <a:r>
              <a:rPr lang="en-US" u="sng" dirty="0" smtClean="0"/>
              <a:t>Technology</a:t>
            </a:r>
            <a:endParaRPr lang="en-ZA" dirty="0"/>
          </a:p>
          <a:p>
            <a:r>
              <a:rPr lang="en-US" dirty="0" smtClean="0"/>
              <a:t>First				Vacuum </a:t>
            </a:r>
            <a:r>
              <a:rPr lang="en-US" dirty="0"/>
              <a:t>tubes</a:t>
            </a:r>
            <a:endParaRPr lang="en-ZA" dirty="0"/>
          </a:p>
          <a:p>
            <a:r>
              <a:rPr lang="en-US" dirty="0" smtClean="0"/>
              <a:t>Second			Transistors</a:t>
            </a:r>
            <a:endParaRPr lang="en-ZA" dirty="0"/>
          </a:p>
          <a:p>
            <a:r>
              <a:rPr lang="en-US" dirty="0" smtClean="0"/>
              <a:t>Third			Integrated </a:t>
            </a:r>
            <a:r>
              <a:rPr lang="en-US" dirty="0"/>
              <a:t>Circuits (chips)</a:t>
            </a:r>
            <a:endParaRPr lang="en-ZA" dirty="0"/>
          </a:p>
          <a:p>
            <a:r>
              <a:rPr lang="en-US" dirty="0" smtClean="0"/>
              <a:t>Fourth			Microprocessor</a:t>
            </a:r>
          </a:p>
          <a:p>
            <a:r>
              <a:rPr lang="en-US" dirty="0" smtClean="0"/>
              <a:t>Fifth				Artificial intelligent </a:t>
            </a:r>
            <a:endParaRPr lang="en-ZA" dirty="0"/>
          </a:p>
          <a:p>
            <a:endParaRPr lang="en-ZA" dirty="0"/>
          </a:p>
        </p:txBody>
      </p:sp>
      <p:sp>
        <p:nvSpPr>
          <p:cNvPr id="4" name="Slide Number Placeholder 3"/>
          <p:cNvSpPr>
            <a:spLocks noGrp="1"/>
          </p:cNvSpPr>
          <p:nvPr>
            <p:ph type="sldNum" sz="quarter" idx="12"/>
          </p:nvPr>
        </p:nvSpPr>
        <p:spPr/>
        <p:txBody>
          <a:bodyPr/>
          <a:lstStyle/>
          <a:p>
            <a:fld id="{0D783054-B380-48EE-A685-F84AE7A6C581}" type="slidenum">
              <a:rPr lang="en-ZA" smtClean="0"/>
              <a:pPr/>
              <a:t>48</a:t>
            </a:fld>
            <a:endParaRPr lang="en-ZA"/>
          </a:p>
        </p:txBody>
      </p:sp>
      <p:pic>
        <p:nvPicPr>
          <p:cNvPr id="6" name="Picture 2" descr="logo"/>
          <p:cNvPicPr>
            <a:picLocks noChangeAspect="1" noChangeArrowheads="1"/>
          </p:cNvPicPr>
          <p:nvPr/>
        </p:nvPicPr>
        <p:blipFill>
          <a:blip r:embed="rId2" cstate="print"/>
          <a:srcRect l="25273" t="29860" r="41530" b="24966"/>
          <a:stretch>
            <a:fillRect/>
          </a:stretch>
        </p:blipFill>
        <p:spPr bwMode="auto">
          <a:xfrm>
            <a:off x="0" y="0"/>
            <a:ext cx="1000100" cy="78994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1" descr="C:\Users\user\AppData\Local\Temp\msohtmlclip1\01\clip_image001.png"/>
          <p:cNvPicPr>
            <a:picLocks noChangeAspect="1" noChangeArrowheads="1"/>
          </p:cNvPicPr>
          <p:nvPr/>
        </p:nvPicPr>
        <p:blipFill>
          <a:blip r:embed="rId2"/>
          <a:srcRect/>
          <a:stretch>
            <a:fillRect/>
          </a:stretch>
        </p:blipFill>
        <p:spPr bwMode="auto">
          <a:xfrm>
            <a:off x="428625" y="571500"/>
            <a:ext cx="7715250" cy="5214938"/>
          </a:xfrm>
          <a:prstGeom prst="rect">
            <a:avLst/>
          </a:prstGeom>
          <a:noFill/>
          <a:ln w="9525">
            <a:noFill/>
            <a:miter lim="800000"/>
            <a:headEnd/>
            <a:tailEnd/>
          </a:ln>
        </p:spPr>
      </p:pic>
      <p:pic>
        <p:nvPicPr>
          <p:cNvPr id="24579" name="Picture 2" descr="logo"/>
          <p:cNvPicPr>
            <a:picLocks noChangeAspect="1" noChangeArrowheads="1"/>
          </p:cNvPicPr>
          <p:nvPr/>
        </p:nvPicPr>
        <p:blipFill>
          <a:blip r:embed="rId3"/>
          <a:srcRect l="25273" t="29860" r="41530" b="24966"/>
          <a:stretch>
            <a:fillRect/>
          </a:stretch>
        </p:blipFill>
        <p:spPr bwMode="auto">
          <a:xfrm>
            <a:off x="142875" y="0"/>
            <a:ext cx="1071563" cy="785813"/>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0D783054-B380-48EE-A685-F84AE7A6C581}" type="slidenum">
              <a:rPr lang="en-ZA" smtClean="0"/>
              <a:pPr/>
              <a:t>49</a:t>
            </a:fld>
            <a:endParaRPr lang="en-ZA"/>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10935</TotalTime>
  <Words>2690</Words>
  <Application>Microsoft Office PowerPoint</Application>
  <PresentationFormat>On-screen Show (4:3)</PresentationFormat>
  <Paragraphs>350</Paragraphs>
  <Slides>49</Slides>
  <Notes>3</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Equity</vt:lpstr>
      <vt:lpstr>CSC 111 – Introduction to Computing lecture One</vt:lpstr>
      <vt:lpstr>Reference books</vt:lpstr>
      <vt:lpstr>Lecturers taking the course</vt:lpstr>
      <vt:lpstr>Course Outline (cont.)</vt:lpstr>
      <vt:lpstr>Assessment</vt:lpstr>
      <vt:lpstr>Introductory Concepts in Computer Science </vt:lpstr>
      <vt:lpstr>Introductory Concepts in Computer Science </vt:lpstr>
      <vt:lpstr>Characteristic of computer System</vt:lpstr>
      <vt:lpstr>Slide 9</vt:lpstr>
      <vt:lpstr>Characteristic of computer System </vt:lpstr>
      <vt:lpstr>Slide 11</vt:lpstr>
      <vt:lpstr>Slide 12</vt:lpstr>
      <vt:lpstr>Data </vt:lpstr>
      <vt:lpstr>Data Examples</vt:lpstr>
      <vt:lpstr>Data Into Information</vt:lpstr>
      <vt:lpstr>Information</vt:lpstr>
      <vt:lpstr>Examples</vt:lpstr>
      <vt:lpstr>Example 1</vt:lpstr>
      <vt:lpstr>Example 2</vt:lpstr>
      <vt:lpstr>Example 3</vt:lpstr>
      <vt:lpstr>Suggested answers to examples</vt:lpstr>
      <vt:lpstr>Summary</vt:lpstr>
      <vt:lpstr>Applications of computer systems</vt:lpstr>
      <vt:lpstr>Applications of computer systems</vt:lpstr>
      <vt:lpstr>Classification of Computers</vt:lpstr>
      <vt:lpstr>Classification of Computers</vt:lpstr>
      <vt:lpstr>Classification of Computers</vt:lpstr>
      <vt:lpstr>Classification of Computers</vt:lpstr>
      <vt:lpstr>Classification of Computers</vt:lpstr>
      <vt:lpstr>Types of Computers</vt:lpstr>
      <vt:lpstr>Classification of Computers</vt:lpstr>
      <vt:lpstr>Classification of Computers</vt:lpstr>
      <vt:lpstr>Classification based on Generation</vt:lpstr>
      <vt:lpstr>Slide 34</vt:lpstr>
      <vt:lpstr>Slide 35</vt:lpstr>
      <vt:lpstr>Vacuum tube technology</vt:lpstr>
      <vt:lpstr>Development of Electronic Computers ( Computer Generations ) </vt:lpstr>
      <vt:lpstr>Slide 38</vt:lpstr>
      <vt:lpstr>Slide 39</vt:lpstr>
      <vt:lpstr>Computer Generations (cont.)</vt:lpstr>
      <vt:lpstr>Slide 41</vt:lpstr>
      <vt:lpstr>Computer Generations (cont.)</vt:lpstr>
      <vt:lpstr>Slide 43</vt:lpstr>
      <vt:lpstr>Slide 44</vt:lpstr>
      <vt:lpstr>Slide 45</vt:lpstr>
      <vt:lpstr>Slide 46</vt:lpstr>
      <vt:lpstr>Slide 47</vt:lpstr>
      <vt:lpstr>Computer Generations (cont.)</vt:lpstr>
      <vt:lpstr>Slide 49</vt:lpstr>
    </vt:vector>
  </TitlesOfParts>
  <Company>HP</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CISM 111 – Introduction to Computing</dc:title>
  <dc:creator>Nnenna</dc:creator>
  <cp:lastModifiedBy>USER</cp:lastModifiedBy>
  <cp:revision>153</cp:revision>
  <dcterms:created xsi:type="dcterms:W3CDTF">2013-02-04T14:38:33Z</dcterms:created>
  <dcterms:modified xsi:type="dcterms:W3CDTF">2019-10-05T00:07:06Z</dcterms:modified>
</cp:coreProperties>
</file>