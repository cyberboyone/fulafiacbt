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60" r:id="rId7"/>
    <p:sldId id="268" r:id="rId8"/>
    <p:sldId id="262" r:id="rId9"/>
    <p:sldId id="261" r:id="rId10"/>
    <p:sldId id="263" r:id="rId11"/>
    <p:sldId id="269" r:id="rId12"/>
    <p:sldId id="264" r:id="rId13"/>
    <p:sldId id="265" r:id="rId14"/>
    <p:sldId id="266"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4660"/>
  </p:normalViewPr>
  <p:slideViewPr>
    <p:cSldViewPr snapToGrid="0">
      <p:cViewPr varScale="1">
        <p:scale>
          <a:sx n="69" d="100"/>
          <a:sy n="69" d="100"/>
        </p:scale>
        <p:origin x="10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C7332-1FD6-40D2-A56D-0A1F8AC7C5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47BE52-7C52-4D6B-9F3D-AE54A415C5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458968-C8D8-49E0-B62E-F03D4C2233AA}"/>
              </a:ext>
            </a:extLst>
          </p:cNvPr>
          <p:cNvSpPr>
            <a:spLocks noGrp="1"/>
          </p:cNvSpPr>
          <p:nvPr>
            <p:ph type="dt" sz="half" idx="10"/>
          </p:nvPr>
        </p:nvSpPr>
        <p:spPr/>
        <p:txBody>
          <a:bodyPr/>
          <a:lstStyle/>
          <a:p>
            <a:fld id="{92342A0E-7F4B-4EEF-9EC2-B4BCF65F7566}" type="datetimeFigureOut">
              <a:rPr lang="en-US" smtClean="0"/>
              <a:t>7/2/2023</a:t>
            </a:fld>
            <a:endParaRPr lang="en-US"/>
          </a:p>
        </p:txBody>
      </p:sp>
      <p:sp>
        <p:nvSpPr>
          <p:cNvPr id="5" name="Footer Placeholder 4">
            <a:extLst>
              <a:ext uri="{FF2B5EF4-FFF2-40B4-BE49-F238E27FC236}">
                <a16:creationId xmlns:a16="http://schemas.microsoft.com/office/drawing/2014/main" id="{3893CB49-6EB1-4BCD-A068-359857DB34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AE21D5-8441-4FD6-AFF8-CEB091FE45CB}"/>
              </a:ext>
            </a:extLst>
          </p:cNvPr>
          <p:cNvSpPr>
            <a:spLocks noGrp="1"/>
          </p:cNvSpPr>
          <p:nvPr>
            <p:ph type="sldNum" sz="quarter" idx="12"/>
          </p:nvPr>
        </p:nvSpPr>
        <p:spPr/>
        <p:txBody>
          <a:bodyPr/>
          <a:lstStyle/>
          <a:p>
            <a:fld id="{7191FBCE-6012-40DC-9E2F-271AF89CC1DA}" type="slidenum">
              <a:rPr lang="en-US" smtClean="0"/>
              <a:t>‹#›</a:t>
            </a:fld>
            <a:endParaRPr lang="en-US"/>
          </a:p>
        </p:txBody>
      </p:sp>
    </p:spTree>
    <p:extLst>
      <p:ext uri="{BB962C8B-B14F-4D97-AF65-F5344CB8AC3E}">
        <p14:creationId xmlns:p14="http://schemas.microsoft.com/office/powerpoint/2010/main" val="2289552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E4774-9FF1-4FA1-94F3-A6550BBD1B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8CDEA-76FB-400F-AA72-5AB1EBB258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181CA9-997B-4813-AC93-74285C8398AE}"/>
              </a:ext>
            </a:extLst>
          </p:cNvPr>
          <p:cNvSpPr>
            <a:spLocks noGrp="1"/>
          </p:cNvSpPr>
          <p:nvPr>
            <p:ph type="dt" sz="half" idx="10"/>
          </p:nvPr>
        </p:nvSpPr>
        <p:spPr/>
        <p:txBody>
          <a:bodyPr/>
          <a:lstStyle/>
          <a:p>
            <a:fld id="{92342A0E-7F4B-4EEF-9EC2-B4BCF65F7566}" type="datetimeFigureOut">
              <a:rPr lang="en-US" smtClean="0"/>
              <a:t>7/2/2023</a:t>
            </a:fld>
            <a:endParaRPr lang="en-US"/>
          </a:p>
        </p:txBody>
      </p:sp>
      <p:sp>
        <p:nvSpPr>
          <p:cNvPr id="5" name="Footer Placeholder 4">
            <a:extLst>
              <a:ext uri="{FF2B5EF4-FFF2-40B4-BE49-F238E27FC236}">
                <a16:creationId xmlns:a16="http://schemas.microsoft.com/office/drawing/2014/main" id="{EC0CFE57-F61F-4187-A4D9-63A5A72E34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35BD9-F309-4274-8819-8991679FDF0B}"/>
              </a:ext>
            </a:extLst>
          </p:cNvPr>
          <p:cNvSpPr>
            <a:spLocks noGrp="1"/>
          </p:cNvSpPr>
          <p:nvPr>
            <p:ph type="sldNum" sz="quarter" idx="12"/>
          </p:nvPr>
        </p:nvSpPr>
        <p:spPr/>
        <p:txBody>
          <a:bodyPr/>
          <a:lstStyle/>
          <a:p>
            <a:fld id="{7191FBCE-6012-40DC-9E2F-271AF89CC1DA}" type="slidenum">
              <a:rPr lang="en-US" smtClean="0"/>
              <a:t>‹#›</a:t>
            </a:fld>
            <a:endParaRPr lang="en-US"/>
          </a:p>
        </p:txBody>
      </p:sp>
    </p:spTree>
    <p:extLst>
      <p:ext uri="{BB962C8B-B14F-4D97-AF65-F5344CB8AC3E}">
        <p14:creationId xmlns:p14="http://schemas.microsoft.com/office/powerpoint/2010/main" val="205253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20664-8CCB-4B03-84AF-28F7099496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BFC6A6-4679-468E-8B21-1F6DE60C0F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98E472-84AA-4892-ABAB-9CC5242E8CFA}"/>
              </a:ext>
            </a:extLst>
          </p:cNvPr>
          <p:cNvSpPr>
            <a:spLocks noGrp="1"/>
          </p:cNvSpPr>
          <p:nvPr>
            <p:ph type="dt" sz="half" idx="10"/>
          </p:nvPr>
        </p:nvSpPr>
        <p:spPr/>
        <p:txBody>
          <a:bodyPr/>
          <a:lstStyle/>
          <a:p>
            <a:fld id="{92342A0E-7F4B-4EEF-9EC2-B4BCF65F7566}" type="datetimeFigureOut">
              <a:rPr lang="en-US" smtClean="0"/>
              <a:t>7/2/2023</a:t>
            </a:fld>
            <a:endParaRPr lang="en-US"/>
          </a:p>
        </p:txBody>
      </p:sp>
      <p:sp>
        <p:nvSpPr>
          <p:cNvPr id="5" name="Footer Placeholder 4">
            <a:extLst>
              <a:ext uri="{FF2B5EF4-FFF2-40B4-BE49-F238E27FC236}">
                <a16:creationId xmlns:a16="http://schemas.microsoft.com/office/drawing/2014/main" id="{EEC31C1A-F39D-4BF6-B2F8-FF2902EA8F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48F706-C9E7-466C-A6C5-3D2FB3E8EC2D}"/>
              </a:ext>
            </a:extLst>
          </p:cNvPr>
          <p:cNvSpPr>
            <a:spLocks noGrp="1"/>
          </p:cNvSpPr>
          <p:nvPr>
            <p:ph type="sldNum" sz="quarter" idx="12"/>
          </p:nvPr>
        </p:nvSpPr>
        <p:spPr/>
        <p:txBody>
          <a:bodyPr/>
          <a:lstStyle/>
          <a:p>
            <a:fld id="{7191FBCE-6012-40DC-9E2F-271AF89CC1DA}" type="slidenum">
              <a:rPr lang="en-US" smtClean="0"/>
              <a:t>‹#›</a:t>
            </a:fld>
            <a:endParaRPr lang="en-US"/>
          </a:p>
        </p:txBody>
      </p:sp>
    </p:spTree>
    <p:extLst>
      <p:ext uri="{BB962C8B-B14F-4D97-AF65-F5344CB8AC3E}">
        <p14:creationId xmlns:p14="http://schemas.microsoft.com/office/powerpoint/2010/main" val="36113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E28DD-7835-435D-8909-D2082EF95E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06DFA7-27CA-4295-8896-6AAD2DEFAB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43DC32-BAEB-492A-A5D5-01E196BA9D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8A0A35-5CD4-470D-BC46-463712923270}"/>
              </a:ext>
            </a:extLst>
          </p:cNvPr>
          <p:cNvSpPr>
            <a:spLocks noGrp="1"/>
          </p:cNvSpPr>
          <p:nvPr>
            <p:ph type="dt" sz="half" idx="10"/>
          </p:nvPr>
        </p:nvSpPr>
        <p:spPr/>
        <p:txBody>
          <a:bodyPr/>
          <a:lstStyle/>
          <a:p>
            <a:fld id="{92342A0E-7F4B-4EEF-9EC2-B4BCF65F7566}" type="datetimeFigureOut">
              <a:rPr lang="en-US" smtClean="0"/>
              <a:t>7/2/2023</a:t>
            </a:fld>
            <a:endParaRPr lang="en-US"/>
          </a:p>
        </p:txBody>
      </p:sp>
      <p:sp>
        <p:nvSpPr>
          <p:cNvPr id="6" name="Footer Placeholder 5">
            <a:extLst>
              <a:ext uri="{FF2B5EF4-FFF2-40B4-BE49-F238E27FC236}">
                <a16:creationId xmlns:a16="http://schemas.microsoft.com/office/drawing/2014/main" id="{70FD953C-8D9E-444D-92F7-DDE266EDF4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CE00CA-0233-4EF7-BFE4-E83D229376CD}"/>
              </a:ext>
            </a:extLst>
          </p:cNvPr>
          <p:cNvSpPr>
            <a:spLocks noGrp="1"/>
          </p:cNvSpPr>
          <p:nvPr>
            <p:ph type="sldNum" sz="quarter" idx="12"/>
          </p:nvPr>
        </p:nvSpPr>
        <p:spPr/>
        <p:txBody>
          <a:bodyPr/>
          <a:lstStyle/>
          <a:p>
            <a:fld id="{7191FBCE-6012-40DC-9E2F-271AF89CC1DA}" type="slidenum">
              <a:rPr lang="en-US" smtClean="0"/>
              <a:t>‹#›</a:t>
            </a:fld>
            <a:endParaRPr lang="en-US"/>
          </a:p>
        </p:txBody>
      </p:sp>
    </p:spTree>
    <p:extLst>
      <p:ext uri="{BB962C8B-B14F-4D97-AF65-F5344CB8AC3E}">
        <p14:creationId xmlns:p14="http://schemas.microsoft.com/office/powerpoint/2010/main" val="2606579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D347C-4133-4B78-87B9-5EC0DAA3C3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8D05DE-167D-44FB-9D37-6C29F7F2F8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267D76-9C0E-4F07-88BE-D241D8F938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A89B42-4B81-48FB-B15D-C4C8A46991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817AC2-9B48-4079-8EE6-C2907E0F30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9E68DF-16FC-4358-AEBD-2CEFA6692FCC}"/>
              </a:ext>
            </a:extLst>
          </p:cNvPr>
          <p:cNvSpPr>
            <a:spLocks noGrp="1"/>
          </p:cNvSpPr>
          <p:nvPr>
            <p:ph type="dt" sz="half" idx="10"/>
          </p:nvPr>
        </p:nvSpPr>
        <p:spPr/>
        <p:txBody>
          <a:bodyPr/>
          <a:lstStyle/>
          <a:p>
            <a:fld id="{92342A0E-7F4B-4EEF-9EC2-B4BCF65F7566}" type="datetimeFigureOut">
              <a:rPr lang="en-US" smtClean="0"/>
              <a:t>7/2/2023</a:t>
            </a:fld>
            <a:endParaRPr lang="en-US"/>
          </a:p>
        </p:txBody>
      </p:sp>
      <p:sp>
        <p:nvSpPr>
          <p:cNvPr id="8" name="Footer Placeholder 7">
            <a:extLst>
              <a:ext uri="{FF2B5EF4-FFF2-40B4-BE49-F238E27FC236}">
                <a16:creationId xmlns:a16="http://schemas.microsoft.com/office/drawing/2014/main" id="{C4D8D920-49DF-4AAA-BA1B-87AD6BC3E4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3AB410-923A-42DF-85B6-94212FC06BC8}"/>
              </a:ext>
            </a:extLst>
          </p:cNvPr>
          <p:cNvSpPr>
            <a:spLocks noGrp="1"/>
          </p:cNvSpPr>
          <p:nvPr>
            <p:ph type="sldNum" sz="quarter" idx="12"/>
          </p:nvPr>
        </p:nvSpPr>
        <p:spPr/>
        <p:txBody>
          <a:bodyPr/>
          <a:lstStyle/>
          <a:p>
            <a:fld id="{7191FBCE-6012-40DC-9E2F-271AF89CC1DA}" type="slidenum">
              <a:rPr lang="en-US" smtClean="0"/>
              <a:t>‹#›</a:t>
            </a:fld>
            <a:endParaRPr lang="en-US"/>
          </a:p>
        </p:txBody>
      </p:sp>
    </p:spTree>
    <p:extLst>
      <p:ext uri="{BB962C8B-B14F-4D97-AF65-F5344CB8AC3E}">
        <p14:creationId xmlns:p14="http://schemas.microsoft.com/office/powerpoint/2010/main" val="3933674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A1645-8082-4A73-B7C4-0D87E425DA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FE66D7-42D1-4BFB-B3FB-F594ADA31688}"/>
              </a:ext>
            </a:extLst>
          </p:cNvPr>
          <p:cNvSpPr>
            <a:spLocks noGrp="1"/>
          </p:cNvSpPr>
          <p:nvPr>
            <p:ph type="dt" sz="half" idx="10"/>
          </p:nvPr>
        </p:nvSpPr>
        <p:spPr/>
        <p:txBody>
          <a:bodyPr/>
          <a:lstStyle/>
          <a:p>
            <a:fld id="{92342A0E-7F4B-4EEF-9EC2-B4BCF65F7566}" type="datetimeFigureOut">
              <a:rPr lang="en-US" smtClean="0"/>
              <a:t>7/2/2023</a:t>
            </a:fld>
            <a:endParaRPr lang="en-US"/>
          </a:p>
        </p:txBody>
      </p:sp>
      <p:sp>
        <p:nvSpPr>
          <p:cNvPr id="4" name="Footer Placeholder 3">
            <a:extLst>
              <a:ext uri="{FF2B5EF4-FFF2-40B4-BE49-F238E27FC236}">
                <a16:creationId xmlns:a16="http://schemas.microsoft.com/office/drawing/2014/main" id="{3234990C-2D33-4E1A-BA49-41CA3A7913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3428C7-C981-47C1-872E-01531EC675FD}"/>
              </a:ext>
            </a:extLst>
          </p:cNvPr>
          <p:cNvSpPr>
            <a:spLocks noGrp="1"/>
          </p:cNvSpPr>
          <p:nvPr>
            <p:ph type="sldNum" sz="quarter" idx="12"/>
          </p:nvPr>
        </p:nvSpPr>
        <p:spPr/>
        <p:txBody>
          <a:bodyPr/>
          <a:lstStyle/>
          <a:p>
            <a:fld id="{7191FBCE-6012-40DC-9E2F-271AF89CC1DA}" type="slidenum">
              <a:rPr lang="en-US" smtClean="0"/>
              <a:t>‹#›</a:t>
            </a:fld>
            <a:endParaRPr lang="en-US"/>
          </a:p>
        </p:txBody>
      </p:sp>
    </p:spTree>
    <p:extLst>
      <p:ext uri="{BB962C8B-B14F-4D97-AF65-F5344CB8AC3E}">
        <p14:creationId xmlns:p14="http://schemas.microsoft.com/office/powerpoint/2010/main" val="1617346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1E420F-EF53-46D4-9904-6E47B3E4D437}"/>
              </a:ext>
            </a:extLst>
          </p:cNvPr>
          <p:cNvSpPr>
            <a:spLocks noGrp="1"/>
          </p:cNvSpPr>
          <p:nvPr>
            <p:ph type="dt" sz="half" idx="10"/>
          </p:nvPr>
        </p:nvSpPr>
        <p:spPr/>
        <p:txBody>
          <a:bodyPr/>
          <a:lstStyle/>
          <a:p>
            <a:fld id="{92342A0E-7F4B-4EEF-9EC2-B4BCF65F7566}" type="datetimeFigureOut">
              <a:rPr lang="en-US" smtClean="0"/>
              <a:t>7/2/2023</a:t>
            </a:fld>
            <a:endParaRPr lang="en-US"/>
          </a:p>
        </p:txBody>
      </p:sp>
      <p:sp>
        <p:nvSpPr>
          <p:cNvPr id="3" name="Footer Placeholder 2">
            <a:extLst>
              <a:ext uri="{FF2B5EF4-FFF2-40B4-BE49-F238E27FC236}">
                <a16:creationId xmlns:a16="http://schemas.microsoft.com/office/drawing/2014/main" id="{82FAF1B9-6D26-4A7D-9A18-EB3DE67CC4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7E7A7F-FA12-4A6D-A70A-9ADA7B25E0BF}"/>
              </a:ext>
            </a:extLst>
          </p:cNvPr>
          <p:cNvSpPr>
            <a:spLocks noGrp="1"/>
          </p:cNvSpPr>
          <p:nvPr>
            <p:ph type="sldNum" sz="quarter" idx="12"/>
          </p:nvPr>
        </p:nvSpPr>
        <p:spPr/>
        <p:txBody>
          <a:bodyPr/>
          <a:lstStyle/>
          <a:p>
            <a:fld id="{7191FBCE-6012-40DC-9E2F-271AF89CC1DA}" type="slidenum">
              <a:rPr lang="en-US" smtClean="0"/>
              <a:t>‹#›</a:t>
            </a:fld>
            <a:endParaRPr lang="en-US"/>
          </a:p>
        </p:txBody>
      </p:sp>
    </p:spTree>
    <p:extLst>
      <p:ext uri="{BB962C8B-B14F-4D97-AF65-F5344CB8AC3E}">
        <p14:creationId xmlns:p14="http://schemas.microsoft.com/office/powerpoint/2010/main" val="1548551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37957-3C50-4D7D-B1CC-135158C3FC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98A6FE-BF58-402F-8816-3D57185C20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877E9A-48C9-4CF8-BF78-21813B22AE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756CE5-4BBF-4B69-9D32-645F1AF64ECF}"/>
              </a:ext>
            </a:extLst>
          </p:cNvPr>
          <p:cNvSpPr>
            <a:spLocks noGrp="1"/>
          </p:cNvSpPr>
          <p:nvPr>
            <p:ph type="dt" sz="half" idx="10"/>
          </p:nvPr>
        </p:nvSpPr>
        <p:spPr/>
        <p:txBody>
          <a:bodyPr/>
          <a:lstStyle/>
          <a:p>
            <a:fld id="{92342A0E-7F4B-4EEF-9EC2-B4BCF65F7566}" type="datetimeFigureOut">
              <a:rPr lang="en-US" smtClean="0"/>
              <a:t>7/2/2023</a:t>
            </a:fld>
            <a:endParaRPr lang="en-US"/>
          </a:p>
        </p:txBody>
      </p:sp>
      <p:sp>
        <p:nvSpPr>
          <p:cNvPr id="6" name="Footer Placeholder 5">
            <a:extLst>
              <a:ext uri="{FF2B5EF4-FFF2-40B4-BE49-F238E27FC236}">
                <a16:creationId xmlns:a16="http://schemas.microsoft.com/office/drawing/2014/main" id="{F46F17EB-2473-471A-9B21-D092965704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D825D6-29C0-4D50-825B-FA6CAF343E7A}"/>
              </a:ext>
            </a:extLst>
          </p:cNvPr>
          <p:cNvSpPr>
            <a:spLocks noGrp="1"/>
          </p:cNvSpPr>
          <p:nvPr>
            <p:ph type="sldNum" sz="quarter" idx="12"/>
          </p:nvPr>
        </p:nvSpPr>
        <p:spPr/>
        <p:txBody>
          <a:bodyPr/>
          <a:lstStyle/>
          <a:p>
            <a:fld id="{7191FBCE-6012-40DC-9E2F-271AF89CC1DA}" type="slidenum">
              <a:rPr lang="en-US" smtClean="0"/>
              <a:t>‹#›</a:t>
            </a:fld>
            <a:endParaRPr lang="en-US"/>
          </a:p>
        </p:txBody>
      </p:sp>
    </p:spTree>
    <p:extLst>
      <p:ext uri="{BB962C8B-B14F-4D97-AF65-F5344CB8AC3E}">
        <p14:creationId xmlns:p14="http://schemas.microsoft.com/office/powerpoint/2010/main" val="2365614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33E0C-EB63-49D5-A333-85CDAAC8B5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DBE37C-79F0-43F8-927D-D15D277DB6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55D5E1-9CC5-4602-A60A-E7C1486E2A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34610D-CFBA-4ACE-8A30-3473DD88197E}"/>
              </a:ext>
            </a:extLst>
          </p:cNvPr>
          <p:cNvSpPr>
            <a:spLocks noGrp="1"/>
          </p:cNvSpPr>
          <p:nvPr>
            <p:ph type="dt" sz="half" idx="10"/>
          </p:nvPr>
        </p:nvSpPr>
        <p:spPr/>
        <p:txBody>
          <a:bodyPr/>
          <a:lstStyle/>
          <a:p>
            <a:fld id="{92342A0E-7F4B-4EEF-9EC2-B4BCF65F7566}" type="datetimeFigureOut">
              <a:rPr lang="en-US" smtClean="0"/>
              <a:t>7/2/2023</a:t>
            </a:fld>
            <a:endParaRPr lang="en-US"/>
          </a:p>
        </p:txBody>
      </p:sp>
      <p:sp>
        <p:nvSpPr>
          <p:cNvPr id="6" name="Footer Placeholder 5">
            <a:extLst>
              <a:ext uri="{FF2B5EF4-FFF2-40B4-BE49-F238E27FC236}">
                <a16:creationId xmlns:a16="http://schemas.microsoft.com/office/drawing/2014/main" id="{86BD07D9-D676-462B-B54F-D91F2AA517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7F8ED6-D604-44B9-82CE-D8960850B792}"/>
              </a:ext>
            </a:extLst>
          </p:cNvPr>
          <p:cNvSpPr>
            <a:spLocks noGrp="1"/>
          </p:cNvSpPr>
          <p:nvPr>
            <p:ph type="sldNum" sz="quarter" idx="12"/>
          </p:nvPr>
        </p:nvSpPr>
        <p:spPr/>
        <p:txBody>
          <a:bodyPr/>
          <a:lstStyle/>
          <a:p>
            <a:fld id="{7191FBCE-6012-40DC-9E2F-271AF89CC1DA}" type="slidenum">
              <a:rPr lang="en-US" smtClean="0"/>
              <a:t>‹#›</a:t>
            </a:fld>
            <a:endParaRPr lang="en-US"/>
          </a:p>
        </p:txBody>
      </p:sp>
    </p:spTree>
    <p:extLst>
      <p:ext uri="{BB962C8B-B14F-4D97-AF65-F5344CB8AC3E}">
        <p14:creationId xmlns:p14="http://schemas.microsoft.com/office/powerpoint/2010/main" val="1079168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1A294-9CBF-47DD-8874-0322C331AA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77F59A-314E-4FAE-BE89-A0CEFCBC64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3172F5-A5DD-40E2-9F98-02C5662CB887}"/>
              </a:ext>
            </a:extLst>
          </p:cNvPr>
          <p:cNvSpPr>
            <a:spLocks noGrp="1"/>
          </p:cNvSpPr>
          <p:nvPr>
            <p:ph type="dt" sz="half" idx="10"/>
          </p:nvPr>
        </p:nvSpPr>
        <p:spPr/>
        <p:txBody>
          <a:bodyPr/>
          <a:lstStyle/>
          <a:p>
            <a:fld id="{92342A0E-7F4B-4EEF-9EC2-B4BCF65F7566}" type="datetimeFigureOut">
              <a:rPr lang="en-US" smtClean="0"/>
              <a:t>7/2/2023</a:t>
            </a:fld>
            <a:endParaRPr lang="en-US"/>
          </a:p>
        </p:txBody>
      </p:sp>
      <p:sp>
        <p:nvSpPr>
          <p:cNvPr id="5" name="Footer Placeholder 4">
            <a:extLst>
              <a:ext uri="{FF2B5EF4-FFF2-40B4-BE49-F238E27FC236}">
                <a16:creationId xmlns:a16="http://schemas.microsoft.com/office/drawing/2014/main" id="{2B3F9914-932C-445B-8CB2-051163472E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0880E2-2DDF-4671-9BF9-013FDB5F7B4C}"/>
              </a:ext>
            </a:extLst>
          </p:cNvPr>
          <p:cNvSpPr>
            <a:spLocks noGrp="1"/>
          </p:cNvSpPr>
          <p:nvPr>
            <p:ph type="sldNum" sz="quarter" idx="12"/>
          </p:nvPr>
        </p:nvSpPr>
        <p:spPr/>
        <p:txBody>
          <a:bodyPr/>
          <a:lstStyle/>
          <a:p>
            <a:fld id="{7191FBCE-6012-40DC-9E2F-271AF89CC1DA}" type="slidenum">
              <a:rPr lang="en-US" smtClean="0"/>
              <a:t>‹#›</a:t>
            </a:fld>
            <a:endParaRPr lang="en-US"/>
          </a:p>
        </p:txBody>
      </p:sp>
    </p:spTree>
    <p:extLst>
      <p:ext uri="{BB962C8B-B14F-4D97-AF65-F5344CB8AC3E}">
        <p14:creationId xmlns:p14="http://schemas.microsoft.com/office/powerpoint/2010/main" val="1707496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BE3EED-939F-46EB-A119-C8410B346D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91544E-2A4E-49AE-8FC7-4183D408BA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80CE72-9524-4913-8EB6-6556786AF586}"/>
              </a:ext>
            </a:extLst>
          </p:cNvPr>
          <p:cNvSpPr>
            <a:spLocks noGrp="1"/>
          </p:cNvSpPr>
          <p:nvPr>
            <p:ph type="dt" sz="half" idx="10"/>
          </p:nvPr>
        </p:nvSpPr>
        <p:spPr/>
        <p:txBody>
          <a:bodyPr/>
          <a:lstStyle/>
          <a:p>
            <a:fld id="{92342A0E-7F4B-4EEF-9EC2-B4BCF65F7566}" type="datetimeFigureOut">
              <a:rPr lang="en-US" smtClean="0"/>
              <a:t>7/2/2023</a:t>
            </a:fld>
            <a:endParaRPr lang="en-US"/>
          </a:p>
        </p:txBody>
      </p:sp>
      <p:sp>
        <p:nvSpPr>
          <p:cNvPr id="5" name="Footer Placeholder 4">
            <a:extLst>
              <a:ext uri="{FF2B5EF4-FFF2-40B4-BE49-F238E27FC236}">
                <a16:creationId xmlns:a16="http://schemas.microsoft.com/office/drawing/2014/main" id="{B7EFE2CB-B21C-4EEF-89DA-2405C96646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71F2CF-9331-4AB4-90B4-45FA1493BD14}"/>
              </a:ext>
            </a:extLst>
          </p:cNvPr>
          <p:cNvSpPr>
            <a:spLocks noGrp="1"/>
          </p:cNvSpPr>
          <p:nvPr>
            <p:ph type="sldNum" sz="quarter" idx="12"/>
          </p:nvPr>
        </p:nvSpPr>
        <p:spPr/>
        <p:txBody>
          <a:bodyPr/>
          <a:lstStyle/>
          <a:p>
            <a:fld id="{7191FBCE-6012-40DC-9E2F-271AF89CC1DA}" type="slidenum">
              <a:rPr lang="en-US" smtClean="0"/>
              <a:t>‹#›</a:t>
            </a:fld>
            <a:endParaRPr lang="en-US"/>
          </a:p>
        </p:txBody>
      </p:sp>
    </p:spTree>
    <p:extLst>
      <p:ext uri="{BB962C8B-B14F-4D97-AF65-F5344CB8AC3E}">
        <p14:creationId xmlns:p14="http://schemas.microsoft.com/office/powerpoint/2010/main" val="3915569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F8172E-3530-430F-9AEA-FF9D475D17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3873F-0CCC-4E14-872F-4C4F89ED43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B009A-7B1E-4CC0-A0B7-42E2764A87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342A0E-7F4B-4EEF-9EC2-B4BCF65F7566}" type="datetimeFigureOut">
              <a:rPr lang="en-US" smtClean="0"/>
              <a:t>7/2/2023</a:t>
            </a:fld>
            <a:endParaRPr lang="en-US"/>
          </a:p>
        </p:txBody>
      </p:sp>
      <p:sp>
        <p:nvSpPr>
          <p:cNvPr id="5" name="Footer Placeholder 4">
            <a:extLst>
              <a:ext uri="{FF2B5EF4-FFF2-40B4-BE49-F238E27FC236}">
                <a16:creationId xmlns:a16="http://schemas.microsoft.com/office/drawing/2014/main" id="{7AA4129D-7E3B-4233-A35F-90C771EE4E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1AA798-651F-4ED7-824F-A8FDC119F8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91FBCE-6012-40DC-9E2F-271AF89CC1DA}" type="slidenum">
              <a:rPr lang="en-US" smtClean="0"/>
              <a:t>‹#›</a:t>
            </a:fld>
            <a:endParaRPr lang="en-US"/>
          </a:p>
        </p:txBody>
      </p:sp>
    </p:spTree>
    <p:extLst>
      <p:ext uri="{BB962C8B-B14F-4D97-AF65-F5344CB8AC3E}">
        <p14:creationId xmlns:p14="http://schemas.microsoft.com/office/powerpoint/2010/main" val="37282226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3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0.png"/><Relationship Id="rId7" Type="http://schemas.openxmlformats.org/officeDocument/2006/relationships/image" Target="../media/image190.png"/><Relationship Id="rId2" Type="http://schemas.openxmlformats.org/officeDocument/2006/relationships/image" Target="../media/image171.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70.png"/><Relationship Id="rId10" Type="http://schemas.openxmlformats.org/officeDocument/2006/relationships/image" Target="../media/image22.png"/><Relationship Id="rId4" Type="http://schemas.openxmlformats.org/officeDocument/2006/relationships/image" Target="../media/image19.png"/><Relationship Id="rId9" Type="http://schemas.openxmlformats.org/officeDocument/2006/relationships/image" Target="../media/image210.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3EF19-48CF-4787-9812-CC9D31C35C9A}"/>
              </a:ext>
            </a:extLst>
          </p:cNvPr>
          <p:cNvSpPr>
            <a:spLocks noGrp="1"/>
          </p:cNvSpPr>
          <p:nvPr>
            <p:ph type="ctrTitle"/>
          </p:nvPr>
        </p:nvSpPr>
        <p:spPr>
          <a:xfrm>
            <a:off x="1524000" y="969818"/>
            <a:ext cx="9144000" cy="1177637"/>
          </a:xfrm>
        </p:spPr>
        <p:txBody>
          <a:bodyPr>
            <a:normAutofit fontScale="90000"/>
          </a:bodyPr>
          <a:lstStyle/>
          <a:p>
            <a:pPr algn="l"/>
            <a:r>
              <a:rPr lang="en-US" sz="2800" b="1" dirty="0">
                <a:latin typeface="Times New Roman" panose="02020603050405020304" pitchFamily="18" charset="0"/>
                <a:cs typeface="Times New Roman" panose="02020603050405020304" pitchFamily="18" charset="0"/>
              </a:rPr>
              <a:t>COURSE:         PHY 111</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UNITS:             THREE (3)</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LECTURER:   MR KAMAL MUHAMMAD GONTO</a:t>
            </a:r>
          </a:p>
        </p:txBody>
      </p:sp>
      <p:sp>
        <p:nvSpPr>
          <p:cNvPr id="3" name="Subtitle 2">
            <a:extLst>
              <a:ext uri="{FF2B5EF4-FFF2-40B4-BE49-F238E27FC236}">
                <a16:creationId xmlns:a16="http://schemas.microsoft.com/office/drawing/2014/main" id="{3308909D-AD9F-446C-99EC-60394516D85A}"/>
              </a:ext>
            </a:extLst>
          </p:cNvPr>
          <p:cNvSpPr>
            <a:spLocks noGrp="1"/>
          </p:cNvSpPr>
          <p:nvPr>
            <p:ph type="subTitle" idx="1"/>
          </p:nvPr>
        </p:nvSpPr>
        <p:spPr>
          <a:xfrm>
            <a:off x="1524000" y="2258291"/>
            <a:ext cx="9144000" cy="5001491"/>
          </a:xfrm>
        </p:spPr>
        <p:txBody>
          <a:bodyPr/>
          <a:lstStyle/>
          <a:p>
            <a:endParaRPr lang="en-US" sz="2800" dirty="0">
              <a:latin typeface="Times New Roman" panose="02020603050405020304" pitchFamily="18" charset="0"/>
              <a:cs typeface="Times New Roman" panose="02020603050405020304" pitchFamily="18" charset="0"/>
            </a:endParaRPr>
          </a:p>
          <a:p>
            <a:r>
              <a:rPr lang="en-US" sz="3600" b="1" dirty="0">
                <a:latin typeface="CityBlueprint" panose="00000400000000000000" pitchFamily="2" charset="2"/>
                <a:cs typeface="Times New Roman" panose="02020603050405020304" pitchFamily="18" charset="0"/>
              </a:rPr>
              <a:t>CONTENTS</a:t>
            </a:r>
          </a:p>
        </p:txBody>
      </p:sp>
      <p:sp>
        <p:nvSpPr>
          <p:cNvPr id="5" name="Rectangle 4">
            <a:extLst>
              <a:ext uri="{FF2B5EF4-FFF2-40B4-BE49-F238E27FC236}">
                <a16:creationId xmlns:a16="http://schemas.microsoft.com/office/drawing/2014/main" id="{E796E0EF-58DD-4FB3-95E2-BC4C3CEA6C0F}"/>
              </a:ext>
            </a:extLst>
          </p:cNvPr>
          <p:cNvSpPr/>
          <p:nvPr/>
        </p:nvSpPr>
        <p:spPr>
          <a:xfrm>
            <a:off x="4142509" y="3460172"/>
            <a:ext cx="4100946" cy="671945"/>
          </a:xfrm>
          <a:prstGeom prst="rect">
            <a:avLst/>
          </a:prstGeom>
          <a:solidFill>
            <a:schemeClr val="accent5">
              <a:lumMod val="20000"/>
              <a:lumOff val="80000"/>
            </a:schemeClr>
          </a:solidFill>
          <a:ln w="38100">
            <a:solidFill>
              <a:srgbClr val="FF0000"/>
            </a:solidFill>
          </a:ln>
          <a:effectLst>
            <a:glow rad="228600">
              <a:schemeClr val="accent2">
                <a:satMod val="175000"/>
                <a:alpha val="40000"/>
              </a:schemeClr>
            </a:glow>
          </a:effectLst>
          <a:scene3d>
            <a:camera prst="orthographicFront"/>
            <a:lightRig rig="threePt" dir="t"/>
          </a:scene3d>
          <a:sp3d>
            <a:bevelT prst="angle"/>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CIRCULAR MOTION</a:t>
            </a:r>
          </a:p>
          <a:p>
            <a:pPr algn="ctr"/>
            <a:endParaRPr lang="en-US" dirty="0"/>
          </a:p>
        </p:txBody>
      </p:sp>
      <p:sp>
        <p:nvSpPr>
          <p:cNvPr id="7" name="Rectangle 6">
            <a:extLst>
              <a:ext uri="{FF2B5EF4-FFF2-40B4-BE49-F238E27FC236}">
                <a16:creationId xmlns:a16="http://schemas.microsoft.com/office/drawing/2014/main" id="{D904960F-315A-4B0E-A1A7-2BFC3D3ABAAE}"/>
              </a:ext>
            </a:extLst>
          </p:cNvPr>
          <p:cNvSpPr/>
          <p:nvPr/>
        </p:nvSpPr>
        <p:spPr>
          <a:xfrm>
            <a:off x="4142509" y="4367645"/>
            <a:ext cx="4100946" cy="671945"/>
          </a:xfrm>
          <a:prstGeom prst="rect">
            <a:avLst/>
          </a:prstGeom>
          <a:solidFill>
            <a:schemeClr val="accent4">
              <a:lumMod val="20000"/>
              <a:lumOff val="80000"/>
            </a:schemeClr>
          </a:solidFill>
          <a:ln w="38100"/>
          <a:effectLst>
            <a:glow rad="139700">
              <a:schemeClr val="accent6">
                <a:satMod val="175000"/>
                <a:alpha val="40000"/>
              </a:schemeClr>
            </a:glow>
          </a:effectLst>
          <a:scene3d>
            <a:camera prst="orthographicFront"/>
            <a:lightRig rig="threePt" dir="t"/>
          </a:scene3d>
          <a:sp3d>
            <a:bevelT prst="angle"/>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GRAVITION</a:t>
            </a:r>
            <a:endParaRPr lang="en-US" sz="2400" b="1" dirty="0">
              <a:latin typeface="Times New Roman" panose="02020603050405020304" pitchFamily="18" charset="0"/>
              <a:cs typeface="Times New Roman" panose="02020603050405020304" pitchFamily="18" charset="0"/>
            </a:endParaRPr>
          </a:p>
          <a:p>
            <a:pPr algn="ctr"/>
            <a:endParaRPr lang="en-US" dirty="0"/>
          </a:p>
        </p:txBody>
      </p:sp>
      <p:sp>
        <p:nvSpPr>
          <p:cNvPr id="8" name="Rectangle 7">
            <a:extLst>
              <a:ext uri="{FF2B5EF4-FFF2-40B4-BE49-F238E27FC236}">
                <a16:creationId xmlns:a16="http://schemas.microsoft.com/office/drawing/2014/main" id="{0AB4798F-CDEF-4B3B-BB5F-C51B2725FC80}"/>
              </a:ext>
            </a:extLst>
          </p:cNvPr>
          <p:cNvSpPr/>
          <p:nvPr/>
        </p:nvSpPr>
        <p:spPr>
          <a:xfrm>
            <a:off x="4142509" y="5275118"/>
            <a:ext cx="4100946" cy="671945"/>
          </a:xfrm>
          <a:prstGeom prst="rect">
            <a:avLst/>
          </a:prstGeom>
          <a:solidFill>
            <a:schemeClr val="bg2"/>
          </a:solidFill>
          <a:ln w="38100">
            <a:solidFill>
              <a:schemeClr val="accent5"/>
            </a:solidFill>
          </a:ln>
          <a:effectLst>
            <a:glow rad="228600">
              <a:schemeClr val="accent1">
                <a:satMod val="175000"/>
                <a:alpha val="40000"/>
              </a:schemeClr>
            </a:glow>
          </a:effectLst>
          <a:scene3d>
            <a:camera prst="orthographicFront"/>
            <a:lightRig rig="threePt" dir="t"/>
          </a:scene3d>
          <a:sp3d>
            <a:bevelT prst="angle"/>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ELASTICITY</a:t>
            </a:r>
            <a:endParaRPr lang="en-US" sz="2400" b="1" dirty="0">
              <a:latin typeface="Times New Roman" panose="02020603050405020304" pitchFamily="18" charset="0"/>
              <a:cs typeface="Times New Roman" panose="02020603050405020304" pitchFamily="18" charset="0"/>
            </a:endParaRPr>
          </a:p>
          <a:p>
            <a:pPr algn="ctr"/>
            <a:endParaRPr lang="en-US" dirty="0"/>
          </a:p>
        </p:txBody>
      </p:sp>
    </p:spTree>
    <p:extLst>
      <p:ext uri="{BB962C8B-B14F-4D97-AF65-F5344CB8AC3E}">
        <p14:creationId xmlns:p14="http://schemas.microsoft.com/office/powerpoint/2010/main" val="255447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95753-C00D-4C03-B41D-8CA14165DBF9}"/>
              </a:ext>
            </a:extLst>
          </p:cNvPr>
          <p:cNvSpPr>
            <a:spLocks noGrp="1"/>
          </p:cNvSpPr>
          <p:nvPr>
            <p:ph type="title"/>
          </p:nvPr>
        </p:nvSpPr>
        <p:spPr>
          <a:xfrm>
            <a:off x="838200" y="365125"/>
            <a:ext cx="10515600" cy="493857"/>
          </a:xfrm>
        </p:spPr>
        <p:txBody>
          <a:bodyPr>
            <a:noAutofit/>
          </a:bodyPr>
          <a:lstStyle/>
          <a:p>
            <a:pPr algn="ctr"/>
            <a:r>
              <a:rPr lang="en-US" sz="3200" b="1" dirty="0">
                <a:latin typeface="Times New Roman" panose="02020603050405020304" pitchFamily="18" charset="0"/>
                <a:cs typeface="Times New Roman" panose="02020603050405020304" pitchFamily="18" charset="0"/>
              </a:rPr>
              <a:t>CIRCULAR MOTION</a:t>
            </a:r>
          </a:p>
        </p:txBody>
      </p:sp>
      <p:sp>
        <p:nvSpPr>
          <p:cNvPr id="3" name="Content Placeholder 2">
            <a:extLst>
              <a:ext uri="{FF2B5EF4-FFF2-40B4-BE49-F238E27FC236}">
                <a16:creationId xmlns:a16="http://schemas.microsoft.com/office/drawing/2014/main" id="{91341326-7A8A-4AED-BDEA-9CA4ED8C63FE}"/>
              </a:ext>
            </a:extLst>
          </p:cNvPr>
          <p:cNvSpPr>
            <a:spLocks noGrp="1"/>
          </p:cNvSpPr>
          <p:nvPr>
            <p:ph idx="1"/>
          </p:nvPr>
        </p:nvSpPr>
        <p:spPr>
          <a:xfrm>
            <a:off x="838200" y="858982"/>
            <a:ext cx="10515600" cy="5888182"/>
          </a:xfrm>
        </p:spPr>
        <p:txBody>
          <a:bodyPr/>
          <a:lstStyle/>
          <a:p>
            <a:r>
              <a:rPr lang="en-US" dirty="0">
                <a:latin typeface="Times New Roman" panose="02020603050405020304" pitchFamily="18" charset="0"/>
                <a:cs typeface="Times New Roman" panose="02020603050405020304" pitchFamily="18" charset="0"/>
              </a:rPr>
              <a:t>Circular motion is  described as a movement of an object while rotating along a circular path.</a:t>
            </a:r>
          </a:p>
          <a:p>
            <a:r>
              <a:rPr lang="en-US" dirty="0">
                <a:latin typeface="Times New Roman" panose="02020603050405020304" pitchFamily="18" charset="0"/>
                <a:cs typeface="Times New Roman" panose="02020603050405020304" pitchFamily="18" charset="0"/>
              </a:rPr>
              <a:t>Circular motion can either be </a:t>
            </a:r>
            <a:r>
              <a:rPr lang="en-US" b="1" i="1" dirty="0">
                <a:latin typeface="Times New Roman" panose="02020603050405020304" pitchFamily="18" charset="0"/>
                <a:cs typeface="Times New Roman" panose="02020603050405020304" pitchFamily="18" charset="0"/>
              </a:rPr>
              <a:t>UNIFORM</a:t>
            </a:r>
            <a:r>
              <a:rPr lang="en-US" dirty="0">
                <a:latin typeface="Times New Roman" panose="02020603050405020304" pitchFamily="18" charset="0"/>
                <a:cs typeface="Times New Roman" panose="02020603050405020304" pitchFamily="18" charset="0"/>
              </a:rPr>
              <a:t> or </a:t>
            </a:r>
            <a:r>
              <a:rPr lang="en-US" b="1" i="1" dirty="0">
                <a:latin typeface="Times New Roman" panose="02020603050405020304" pitchFamily="18" charset="0"/>
                <a:cs typeface="Times New Roman" panose="02020603050405020304" pitchFamily="18" charset="0"/>
              </a:rPr>
              <a:t>NON – UNIFORM</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Examples of circular motion</a:t>
            </a:r>
          </a:p>
          <a:p>
            <a:pPr>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 A rotating ceiling fan</a:t>
            </a:r>
          </a:p>
          <a:p>
            <a:pPr>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 Man-made satellite that revolve around the earth</a:t>
            </a:r>
          </a:p>
          <a:p>
            <a:pPr>
              <a:buFont typeface="Wingdings" panose="05000000000000000000" pitchFamily="2" charset="2"/>
              <a:buChar char="§"/>
            </a:pPr>
            <a:r>
              <a:rPr lang="en-US" i="1" dirty="0">
                <a:latin typeface="Times New Roman" panose="02020603050405020304" pitchFamily="18" charset="0"/>
                <a:cs typeface="Times New Roman" panose="02020603050405020304" pitchFamily="18" charset="0"/>
              </a:rPr>
              <a:t> a moving car wheels</a:t>
            </a:r>
          </a:p>
          <a:p>
            <a:pPr marL="0" indent="0">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2441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ED7DA-CCAC-4E35-AABD-75A613BC5B07}"/>
              </a:ext>
            </a:extLst>
          </p:cNvPr>
          <p:cNvSpPr>
            <a:spLocks noGrp="1"/>
          </p:cNvSpPr>
          <p:nvPr>
            <p:ph type="title"/>
          </p:nvPr>
        </p:nvSpPr>
        <p:spPr>
          <a:xfrm>
            <a:off x="990600" y="198871"/>
            <a:ext cx="10515600" cy="604694"/>
          </a:xfrm>
        </p:spPr>
        <p:txBody>
          <a:bodyPr>
            <a:noAutofit/>
          </a:bodyPr>
          <a:lstStyle/>
          <a:p>
            <a:pPr algn="ctr"/>
            <a:r>
              <a:rPr lang="en-US" sz="3200" b="1" dirty="0">
                <a:solidFill>
                  <a:schemeClr val="accent1"/>
                </a:solidFill>
                <a:latin typeface="Times New Roman" panose="02020603050405020304" pitchFamily="18" charset="0"/>
                <a:cs typeface="Times New Roman" panose="02020603050405020304" pitchFamily="18" charset="0"/>
              </a:rPr>
              <a:t>Angular Variables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A33348-3EC7-483E-A45E-6A0B295D82ED}"/>
                  </a:ext>
                </a:extLst>
              </p:cNvPr>
              <p:cNvSpPr>
                <a:spLocks noGrp="1"/>
              </p:cNvSpPr>
              <p:nvPr>
                <p:ph idx="1"/>
              </p:nvPr>
            </p:nvSpPr>
            <p:spPr>
              <a:xfrm>
                <a:off x="263236" y="803564"/>
                <a:ext cx="11776364" cy="6248399"/>
              </a:xfrm>
            </p:spPr>
            <p:txBody>
              <a:bodyPr/>
              <a:lstStyle/>
              <a:p>
                <a:r>
                  <a:rPr lang="en-US" sz="2400" b="1" i="1" u="sng" dirty="0">
                    <a:latin typeface="Times New Roman" panose="02020603050405020304" pitchFamily="18" charset="0"/>
                    <a:cs typeface="Times New Roman" panose="02020603050405020304" pitchFamily="18" charset="0"/>
                  </a:rPr>
                  <a:t>Angular Displacement (d</a:t>
                </a:r>
                <a:r>
                  <a:rPr lang="el-GR" sz="2400" b="1" i="1" u="sng" dirty="0">
                    <a:latin typeface="Times New Roman" panose="02020603050405020304" pitchFamily="18" charset="0"/>
                    <a:cs typeface="Times New Roman" panose="02020603050405020304" pitchFamily="18" charset="0"/>
                  </a:rPr>
                  <a:t>θ</a:t>
                </a:r>
                <a:r>
                  <a:rPr lang="en-US" sz="2400" b="1" i="1" u="sng"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defined as the angle turned by a rotating particle. It is measured in radian (rad).</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b="1" i="1" u="sng" dirty="0">
                    <a:latin typeface="Times New Roman" panose="02020603050405020304" pitchFamily="18" charset="0"/>
                    <a:cs typeface="Times New Roman" panose="02020603050405020304" pitchFamily="18" charset="0"/>
                  </a:rPr>
                  <a:t>Angular Velocity (ω)</a:t>
                </a:r>
                <a:r>
                  <a:rPr lang="en-US" sz="2400" i="1" u="sng"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the change in angular displacement of a particle. It is measured in rad/s. </a:t>
                </a:r>
              </a:p>
              <a:p>
                <a:pPr marL="0" indent="0">
                  <a:buNone/>
                </a:pPr>
                <a:r>
                  <a:rPr lang="en-US" sz="2400" b="1" dirty="0">
                    <a:latin typeface="Times New Roman" panose="02020603050405020304" pitchFamily="18" charset="0"/>
                    <a:cs typeface="Times New Roman" panose="02020603050405020304" pitchFamily="18" charset="0"/>
                  </a:rPr>
                  <a:t>                                                    </a:t>
                </a:r>
                <a:r>
                  <a:rPr lang="el-GR" sz="2400" b="1" dirty="0">
                    <a:latin typeface="Times New Roman" panose="02020603050405020304" pitchFamily="18" charset="0"/>
                    <a:cs typeface="Times New Roman" panose="02020603050405020304" pitchFamily="18" charset="0"/>
                  </a:rPr>
                  <a:t>ω</a:t>
                </a:r>
                <a14:m>
                  <m:oMath xmlns:m="http://schemas.openxmlformats.org/officeDocument/2006/math">
                    <m:r>
                      <a:rPr lang="en-US" sz="2400" b="1" i="0" smtClean="0">
                        <a:latin typeface="Cambria Math" panose="02040503050406030204" pitchFamily="18" charset="0"/>
                      </a:rPr>
                      <m:t>=</m:t>
                    </m:r>
                    <m:f>
                      <m:fPr>
                        <m:ctrlPr>
                          <a:rPr lang="en-US" sz="2400" b="1" i="1" smtClean="0">
                            <a:latin typeface="Cambria Math" panose="02040503050406030204" pitchFamily="18" charset="0"/>
                          </a:rPr>
                        </m:ctrlPr>
                      </m:fPr>
                      <m:num>
                        <m:r>
                          <a:rPr lang="en-US" sz="2400" b="1" i="1" smtClean="0">
                            <a:latin typeface="Cambria Math" panose="02040503050406030204" pitchFamily="18" charset="0"/>
                          </a:rPr>
                          <m:t>𝒅</m:t>
                        </m:r>
                        <m:r>
                          <a:rPr lang="el-GR" sz="2400" b="1" i="1" smtClean="0">
                            <a:latin typeface="Cambria Math" panose="02040503050406030204" pitchFamily="18" charset="0"/>
                          </a:rPr>
                          <m:t>𝜽</m:t>
                        </m:r>
                      </m:num>
                      <m:den>
                        <m:r>
                          <a:rPr lang="en-US" sz="2400" b="1" i="1" smtClean="0">
                            <a:latin typeface="Cambria Math" panose="02040503050406030204" pitchFamily="18" charset="0"/>
                          </a:rPr>
                          <m:t>𝒅𝒕</m:t>
                        </m:r>
                      </m:den>
                    </m:f>
                  </m:oMath>
                </a14:m>
                <a:endParaRPr lang="en-US" sz="2400" b="1" dirty="0">
                  <a:latin typeface="Times New Roman" panose="02020603050405020304" pitchFamily="18" charset="0"/>
                  <a:cs typeface="Times New Roman" panose="02020603050405020304" pitchFamily="18" charset="0"/>
                </a:endParaRPr>
              </a:p>
              <a:p>
                <a:r>
                  <a:rPr lang="en-US" sz="2400" b="1" i="1" dirty="0">
                    <a:latin typeface="Times New Roman" panose="02020603050405020304" pitchFamily="18" charset="0"/>
                    <a:cs typeface="Times New Roman" panose="02020603050405020304" pitchFamily="18" charset="0"/>
                  </a:rPr>
                  <a:t>The relationship between linear and angular velocity</a:t>
                </a:r>
              </a:p>
              <a:p>
                <a:pPr marL="0" indent="0">
                  <a:lnSpc>
                    <a:spcPct val="150000"/>
                  </a:lnSpc>
                  <a:buNone/>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cs typeface="Times New Roman" panose="02020603050405020304" pitchFamily="18" charset="0"/>
                        </a:rPr>
                        <m:t>d</m:t>
                      </m:r>
                      <m:r>
                        <m:rPr>
                          <m:sty m:val="p"/>
                        </m:rPr>
                        <a:rPr lang="en-US" sz="2000" b="0" i="0" smtClean="0">
                          <a:latin typeface="Cambria Math" panose="02040503050406030204" pitchFamily="18" charset="0"/>
                          <a:ea typeface="Cambria Math" panose="02040503050406030204" pitchFamily="18" charset="0"/>
                          <a:cs typeface="Times New Roman" panose="02020603050405020304" pitchFamily="18" charset="0"/>
                        </a:rPr>
                        <m:t>θ</m:t>
                      </m:r>
                      <m:r>
                        <a:rPr lang="en-US" sz="2000" b="0" i="0"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sz="2000" i="1" smtClean="0">
                              <a:latin typeface="Cambria Math" panose="02040503050406030204" pitchFamily="18" charset="0"/>
                              <a:cs typeface="Times New Roman" panose="02020603050405020304" pitchFamily="18" charset="0"/>
                            </a:rPr>
                          </m:ctrlPr>
                        </m:fPr>
                        <m:num>
                          <m:r>
                            <m:rPr>
                              <m:sty m:val="p"/>
                            </m:rPr>
                            <a:rPr lang="en-US" sz="2000" b="0" i="0" smtClean="0">
                              <a:latin typeface="Cambria Math" panose="02040503050406030204" pitchFamily="18" charset="0"/>
                              <a:cs typeface="Times New Roman" panose="02020603050405020304" pitchFamily="18" charset="0"/>
                            </a:rPr>
                            <m:t>ds</m:t>
                          </m:r>
                        </m:num>
                        <m:den>
                          <m:r>
                            <m:rPr>
                              <m:sty m:val="p"/>
                            </m:rPr>
                            <a:rPr lang="en-US" sz="2000" b="0" i="0" smtClean="0">
                              <a:latin typeface="Cambria Math" panose="02040503050406030204" pitchFamily="18" charset="0"/>
                              <a:cs typeface="Times New Roman" panose="02020603050405020304" pitchFamily="18" charset="0"/>
                            </a:rPr>
                            <m:t>r</m:t>
                          </m:r>
                        </m:den>
                      </m:f>
                      <m:r>
                        <a:rPr lang="en-US" sz="2000" b="0" i="0" smtClean="0">
                          <a:latin typeface="Cambria Math" panose="02040503050406030204" pitchFamily="18" charset="0"/>
                          <a:cs typeface="Times New Roman" panose="02020603050405020304" pitchFamily="18" charset="0"/>
                        </a:rPr>
                        <m:t>=</m:t>
                      </m:r>
                      <m:f>
                        <m:fPr>
                          <m:ctrlPr>
                            <a:rPr lang="en-US" sz="2000" i="1" smtClean="0">
                              <a:latin typeface="Cambria Math" panose="02040503050406030204" pitchFamily="18" charset="0"/>
                              <a:cs typeface="Times New Roman" panose="02020603050405020304" pitchFamily="18" charset="0"/>
                            </a:rPr>
                          </m:ctrlPr>
                        </m:fPr>
                        <m:num>
                          <m:r>
                            <m:rPr>
                              <m:sty m:val="p"/>
                            </m:rPr>
                            <a:rPr lang="en-US" sz="2000" b="0" i="0" smtClean="0">
                              <a:latin typeface="Cambria Math" panose="02040503050406030204" pitchFamily="18" charset="0"/>
                              <a:cs typeface="Times New Roman" panose="02020603050405020304" pitchFamily="18" charset="0"/>
                            </a:rPr>
                            <m:t>vdt</m:t>
                          </m:r>
                        </m:num>
                        <m:den>
                          <m:r>
                            <m:rPr>
                              <m:sty m:val="p"/>
                            </m:rPr>
                            <a:rPr lang="en-US" sz="2000" b="0" i="0" smtClean="0">
                              <a:latin typeface="Cambria Math" panose="02040503050406030204" pitchFamily="18" charset="0"/>
                              <a:cs typeface="Times New Roman" panose="02020603050405020304" pitchFamily="18" charset="0"/>
                            </a:rPr>
                            <m:t>r</m:t>
                          </m:r>
                        </m:den>
                      </m:f>
                      <m:r>
                        <a:rPr lang="en-US" sz="2000" b="0" i="0" smtClean="0">
                          <a:latin typeface="Cambria Math" panose="02040503050406030204" pitchFamily="18" charset="0"/>
                          <a:cs typeface="Times New Roman" panose="02020603050405020304" pitchFamily="18" charset="0"/>
                        </a:rPr>
                        <m:t> </m:t>
                      </m:r>
                    </m:oMath>
                  </m:oMathPara>
                </a14:m>
                <a:endParaRPr lang="en-US" sz="2000" dirty="0">
                  <a:latin typeface="Cambria Math" panose="02040503050406030204" pitchFamily="18" charset="0"/>
                  <a:cs typeface="Times New Roman" panose="02020603050405020304" pitchFamily="18" charset="0"/>
                </a:endParaRPr>
              </a:p>
              <a:p>
                <a:pPr marL="0" indent="0">
                  <a:lnSpc>
                    <a:spcPct val="150000"/>
                  </a:lnSpc>
                  <a:buNone/>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cs typeface="Times New Roman" panose="02020603050405020304" pitchFamily="18" charset="0"/>
                            </a:rPr>
                          </m:ctrlPr>
                        </m:fPr>
                        <m:num>
                          <m:r>
                            <m:rPr>
                              <m:sty m:val="p"/>
                            </m:rPr>
                            <a:rPr lang="en-US" sz="2000" b="0" i="0" smtClean="0">
                              <a:latin typeface="Cambria Math" panose="02040503050406030204" pitchFamily="18" charset="0"/>
                              <a:cs typeface="Times New Roman" panose="02020603050405020304" pitchFamily="18" charset="0"/>
                            </a:rPr>
                            <m:t>d</m:t>
                          </m:r>
                          <m:r>
                            <m:rPr>
                              <m:sty m:val="p"/>
                            </m:rPr>
                            <a:rPr lang="en-US" sz="2000" b="0" i="0" smtClean="0">
                              <a:latin typeface="Cambria Math" panose="02040503050406030204" pitchFamily="18" charset="0"/>
                              <a:ea typeface="Cambria Math" panose="02040503050406030204" pitchFamily="18" charset="0"/>
                              <a:cs typeface="Times New Roman" panose="02020603050405020304" pitchFamily="18" charset="0"/>
                            </a:rPr>
                            <m:t>θ</m:t>
                          </m:r>
                        </m:num>
                        <m:den>
                          <m:r>
                            <m:rPr>
                              <m:sty m:val="p"/>
                            </m:rPr>
                            <a:rPr lang="en-US" sz="2000" b="0" i="0" smtClean="0">
                              <a:latin typeface="Cambria Math" panose="02040503050406030204" pitchFamily="18" charset="0"/>
                              <a:cs typeface="Times New Roman" panose="02020603050405020304" pitchFamily="18" charset="0"/>
                            </a:rPr>
                            <m:t>dt</m:t>
                          </m:r>
                        </m:den>
                      </m:f>
                      <m:r>
                        <a:rPr lang="en-US" sz="2000" b="0" i="0" smtClean="0">
                          <a:latin typeface="Cambria Math" panose="02040503050406030204" pitchFamily="18" charset="0"/>
                          <a:cs typeface="Times New Roman" panose="02020603050405020304" pitchFamily="18" charset="0"/>
                        </a:rPr>
                        <m:t>=</m:t>
                      </m:r>
                      <m:f>
                        <m:fPr>
                          <m:ctrlPr>
                            <a:rPr lang="en-US" sz="2000" i="1" smtClean="0">
                              <a:latin typeface="Cambria Math" panose="02040503050406030204" pitchFamily="18" charset="0"/>
                              <a:cs typeface="Times New Roman" panose="02020603050405020304" pitchFamily="18" charset="0"/>
                            </a:rPr>
                          </m:ctrlPr>
                        </m:fPr>
                        <m:num>
                          <m:r>
                            <m:rPr>
                              <m:sty m:val="p"/>
                            </m:rPr>
                            <a:rPr lang="en-US" sz="2000" b="0" i="0" smtClean="0">
                              <a:latin typeface="Cambria Math" panose="02040503050406030204" pitchFamily="18" charset="0"/>
                              <a:cs typeface="Times New Roman" panose="02020603050405020304" pitchFamily="18" charset="0"/>
                            </a:rPr>
                            <m:t>v</m:t>
                          </m:r>
                        </m:num>
                        <m:den>
                          <m:r>
                            <m:rPr>
                              <m:sty m:val="p"/>
                            </m:rPr>
                            <a:rPr lang="en-US" sz="2000" b="0" i="0" smtClean="0">
                              <a:latin typeface="Cambria Math" panose="02040503050406030204" pitchFamily="18" charset="0"/>
                              <a:cs typeface="Times New Roman" panose="02020603050405020304" pitchFamily="18" charset="0"/>
                            </a:rPr>
                            <m:t>r</m:t>
                          </m:r>
                        </m:den>
                      </m:f>
                    </m:oMath>
                  </m:oMathPara>
                </a14:m>
                <a:endParaRPr lang="en-US" sz="2000" dirty="0">
                  <a:latin typeface="Times New Roman" panose="02020603050405020304" pitchFamily="18" charset="0"/>
                  <a:cs typeface="Times New Roman" panose="02020603050405020304" pitchFamily="18" charset="0"/>
                </a:endParaRPr>
              </a:p>
              <a:p>
                <a:pPr marL="0" indent="0">
                  <a:lnSpc>
                    <a:spcPct val="150000"/>
                  </a:lnSpc>
                  <a:buNone/>
                </a:pPr>
                <a:endParaRPr lang="en-US" sz="2000" b="1" i="1"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67A33348-3EC7-483E-A45E-6A0B295D82ED}"/>
                  </a:ext>
                </a:extLst>
              </p:cNvPr>
              <p:cNvSpPr>
                <a:spLocks noGrp="1" noRot="1" noChangeAspect="1" noMove="1" noResize="1" noEditPoints="1" noAdjustHandles="1" noChangeArrowheads="1" noChangeShapeType="1" noTextEdit="1"/>
              </p:cNvSpPr>
              <p:nvPr>
                <p:ph idx="1"/>
              </p:nvPr>
            </p:nvSpPr>
            <p:spPr>
              <a:xfrm>
                <a:off x="263236" y="803564"/>
                <a:ext cx="11776364" cy="6248399"/>
              </a:xfrm>
              <a:blipFill>
                <a:blip r:embed="rId2"/>
                <a:stretch>
                  <a:fillRect l="-673" t="-13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CD28F8B2-DCF6-42F6-BA55-628BFF15AFA7}"/>
                  </a:ext>
                </a:extLst>
              </p:cNvPr>
              <p:cNvSpPr/>
              <p:nvPr/>
            </p:nvSpPr>
            <p:spPr>
              <a:xfrm>
                <a:off x="5527964" y="5569527"/>
                <a:ext cx="1136072" cy="484909"/>
              </a:xfrm>
              <a:prstGeom prst="rect">
                <a:avLst/>
              </a:prstGeom>
              <a:solidFill>
                <a:schemeClr val="bg1"/>
              </a:solid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lvl="0">
                  <a:lnSpc>
                    <a:spcPct val="150000"/>
                  </a:lnSpc>
                  <a:spcBef>
                    <a:spcPts val="1000"/>
                  </a:spcBef>
                </a:pPr>
                <a14:m>
                  <m:oMathPara xmlns:m="http://schemas.openxmlformats.org/officeDocument/2006/math">
                    <m:oMathParaPr>
                      <m:jc m:val="centerGroup"/>
                    </m:oMathParaPr>
                    <m:oMath xmlns:m="http://schemas.openxmlformats.org/officeDocument/2006/math">
                      <m:r>
                        <a:rPr lang="en-US" sz="2000" b="1"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rPr>
                        <m:t>𝝎</m:t>
                      </m:r>
                      <m:r>
                        <a:rPr lang="en-US" sz="2000" b="1"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rPr>
                        <m:t>=</m:t>
                      </m:r>
                      <m:r>
                        <a:rPr lang="en-US" sz="2000" b="1" i="1" smtClean="0">
                          <a:solidFill>
                            <a:schemeClr val="accent1"/>
                          </a:solidFill>
                          <a:latin typeface="Cambria Math" panose="02040503050406030204" pitchFamily="18" charset="0"/>
                          <a:ea typeface="Cambria Math" panose="02040503050406030204" pitchFamily="18" charset="0"/>
                          <a:cs typeface="Times New Roman" panose="02020603050405020304" pitchFamily="18" charset="0"/>
                        </a:rPr>
                        <m:t>𝒗𝒓</m:t>
                      </m:r>
                    </m:oMath>
                  </m:oMathPara>
                </a14:m>
                <a:endParaRPr lang="en-US" sz="2000" b="1" i="1" dirty="0">
                  <a:solidFill>
                    <a:schemeClr val="accent1"/>
                  </a:solidFill>
                  <a:latin typeface="Times New Roman" panose="02020603050405020304" pitchFamily="18" charset="0"/>
                  <a:cs typeface="Times New Roman" panose="02020603050405020304" pitchFamily="18" charset="0"/>
                </a:endParaRPr>
              </a:p>
            </p:txBody>
          </p:sp>
        </mc:Choice>
        <mc:Fallback xmlns="">
          <p:sp>
            <p:nvSpPr>
              <p:cNvPr id="8" name="Rectangle 7">
                <a:extLst>
                  <a:ext uri="{FF2B5EF4-FFF2-40B4-BE49-F238E27FC236}">
                    <a16:creationId xmlns:a16="http://schemas.microsoft.com/office/drawing/2014/main" id="{CD28F8B2-DCF6-42F6-BA55-628BFF15AFA7}"/>
                  </a:ext>
                </a:extLst>
              </p:cNvPr>
              <p:cNvSpPr>
                <a:spLocks noRot="1" noChangeAspect="1" noMove="1" noResize="1" noEditPoints="1" noAdjustHandles="1" noChangeArrowheads="1" noChangeShapeType="1" noTextEdit="1"/>
              </p:cNvSpPr>
              <p:nvPr/>
            </p:nvSpPr>
            <p:spPr>
              <a:xfrm>
                <a:off x="5527964" y="5569527"/>
                <a:ext cx="1136072" cy="484909"/>
              </a:xfrm>
              <a:prstGeom prst="rect">
                <a:avLst/>
              </a:prstGeom>
              <a:blipFill>
                <a:blip r:embed="rId3"/>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2367460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5B3DE2-F4AA-4360-B8BA-153263927F06}"/>
                  </a:ext>
                </a:extLst>
              </p:cNvPr>
              <p:cNvSpPr>
                <a:spLocks noGrp="1"/>
              </p:cNvSpPr>
              <p:nvPr>
                <p:ph idx="4294967295"/>
              </p:nvPr>
            </p:nvSpPr>
            <p:spPr>
              <a:xfrm>
                <a:off x="0" y="461962"/>
                <a:ext cx="12192000" cy="6299055"/>
              </a:xfrm>
            </p:spPr>
            <p:txBody>
              <a:bodyPr/>
              <a:lstStyle/>
              <a:p>
                <a:r>
                  <a:rPr lang="en-US" b="1" i="1" u="sng" dirty="0">
                    <a:latin typeface="Times New Roman" panose="02020603050405020304" pitchFamily="18" charset="0"/>
                    <a:cs typeface="Times New Roman" panose="02020603050405020304" pitchFamily="18" charset="0"/>
                  </a:rPr>
                  <a:t>Angular Acceleration </a:t>
                </a:r>
                <a:r>
                  <a:rPr lang="en-US" dirty="0">
                    <a:latin typeface="Times New Roman" panose="02020603050405020304" pitchFamily="18" charset="0"/>
                    <a:cs typeface="Times New Roman" panose="02020603050405020304" pitchFamily="18" charset="0"/>
                  </a:rPr>
                  <a:t>Is the rate of change in angular velocity of the rotating particle. It is measured in </a:t>
                </a:r>
                <a14:m>
                  <m:oMath xmlns:m="http://schemas.openxmlformats.org/officeDocument/2006/math">
                    <m:f>
                      <m:fPr>
                        <m:type m:val="lin"/>
                        <m:ctrlPr>
                          <a:rPr lang="en-US" i="1">
                            <a:latin typeface="Cambria Math" panose="02040503050406030204" pitchFamily="18" charset="0"/>
                            <a:cs typeface="Times New Roman" panose="02020603050405020304" pitchFamily="18" charset="0"/>
                          </a:rPr>
                        </m:ctrlPr>
                      </m:fPr>
                      <m:num>
                        <m:r>
                          <m:rPr>
                            <m:sty m:val="p"/>
                          </m:rPr>
                          <a:rPr lang="en-US">
                            <a:latin typeface="Cambria Math" panose="02040503050406030204" pitchFamily="18" charset="0"/>
                            <a:cs typeface="Times New Roman" panose="02020603050405020304" pitchFamily="18" charset="0"/>
                          </a:rPr>
                          <m:t>rad</m:t>
                        </m:r>
                      </m:num>
                      <m:den>
                        <m:sSup>
                          <m:sSupPr>
                            <m:ctrlPr>
                              <a:rPr lang="en-US" i="1">
                                <a:latin typeface="Cambria Math" panose="02040503050406030204" pitchFamily="18" charset="0"/>
                                <a:cs typeface="Times New Roman" panose="02020603050405020304" pitchFamily="18" charset="0"/>
                              </a:rPr>
                            </m:ctrlPr>
                          </m:sSupPr>
                          <m:e>
                            <m:r>
                              <m:rPr>
                                <m:sty m:val="p"/>
                              </m:rPr>
                              <a:rPr lang="en-US">
                                <a:latin typeface="Cambria Math" panose="02040503050406030204" pitchFamily="18" charset="0"/>
                                <a:cs typeface="Times New Roman" panose="02020603050405020304" pitchFamily="18" charset="0"/>
                              </a:rPr>
                              <m:t>s</m:t>
                            </m:r>
                          </m:e>
                          <m:sup>
                            <m:r>
                              <a:rPr lang="en-US">
                                <a:latin typeface="Cambria Math" panose="02040503050406030204" pitchFamily="18" charset="0"/>
                                <a:cs typeface="Times New Roman" panose="02020603050405020304" pitchFamily="18" charset="0"/>
                              </a:rPr>
                              <m:t>2</m:t>
                            </m:r>
                          </m:sup>
                        </m:sSup>
                      </m:den>
                    </m:f>
                  </m:oMath>
                </a14:m>
                <a:r>
                  <a:rPr lang="en-US" b="1" dirty="0">
                    <a:latin typeface="Times New Roman" panose="02020603050405020304" pitchFamily="18" charset="0"/>
                    <a:cs typeface="Times New Roman" panose="02020603050405020304" pitchFamily="18" charset="0"/>
                  </a:rPr>
                  <a:t>.</a:t>
                </a:r>
              </a:p>
              <a:p>
                <a:pPr marL="0" indent="0">
                  <a:buNone/>
                </a:pPr>
                <a:r>
                  <a:rPr lang="en-US" i="1" dirty="0">
                    <a:cs typeface="Times New Roman" panose="02020603050405020304" pitchFamily="18" charset="0"/>
                  </a:rPr>
                  <a:t>                                               a = </a:t>
                </a:r>
                <a14:m>
                  <m:oMath xmlns:m="http://schemas.openxmlformats.org/officeDocument/2006/math">
                    <m:f>
                      <m:fPr>
                        <m:ctrlPr>
                          <a:rPr lang="en-US" i="1">
                            <a:latin typeface="Cambria Math" panose="02040503050406030204" pitchFamily="18" charset="0"/>
                            <a:cs typeface="Times New Roman" panose="02020603050405020304" pitchFamily="18" charset="0"/>
                          </a:rPr>
                        </m:ctrlPr>
                      </m:fPr>
                      <m:num>
                        <m:r>
                          <a:rPr lang="en-US" i="1">
                            <a:latin typeface="Cambria Math" panose="02040503050406030204" pitchFamily="18" charset="0"/>
                            <a:cs typeface="Times New Roman" panose="02020603050405020304" pitchFamily="18" charset="0"/>
                          </a:rPr>
                          <m:t>𝑑</m:t>
                        </m:r>
                        <m:r>
                          <a:rPr lang="en-US" i="1">
                            <a:latin typeface="Cambria Math" panose="02040503050406030204" pitchFamily="18" charset="0"/>
                            <a:ea typeface="Cambria Math" panose="02040503050406030204" pitchFamily="18" charset="0"/>
                            <a:cs typeface="Times New Roman" panose="02020603050405020304" pitchFamily="18" charset="0"/>
                          </a:rPr>
                          <m:t>𝜃</m:t>
                        </m:r>
                      </m:num>
                      <m:den>
                        <m:r>
                          <a:rPr lang="en-US" i="1">
                            <a:latin typeface="Cambria Math" panose="02040503050406030204" pitchFamily="18" charset="0"/>
                            <a:cs typeface="Times New Roman" panose="02020603050405020304" pitchFamily="18" charset="0"/>
                          </a:rPr>
                          <m:t>𝑑𝑡</m:t>
                        </m:r>
                      </m:den>
                    </m:f>
                    <m:r>
                      <a:rPr lang="en-US" i="1">
                        <a:latin typeface="Cambria Math" panose="02040503050406030204" pitchFamily="18" charset="0"/>
                        <a:cs typeface="Times New Roman" panose="02020603050405020304" pitchFamily="18" charset="0"/>
                      </a:rPr>
                      <m:t>=</m:t>
                    </m:r>
                    <m:f>
                      <m:fPr>
                        <m:ctrlPr>
                          <a:rPr lang="en-US" i="1">
                            <a:latin typeface="Cambria Math" panose="02040503050406030204" pitchFamily="18" charset="0"/>
                            <a:cs typeface="Times New Roman" panose="02020603050405020304" pitchFamily="18" charset="0"/>
                          </a:rPr>
                        </m:ctrlPr>
                      </m:fPr>
                      <m:num>
                        <m:r>
                          <a:rPr lang="en-US" i="1">
                            <a:latin typeface="Cambria Math" panose="02040503050406030204" pitchFamily="18" charset="0"/>
                            <a:cs typeface="Times New Roman" panose="02020603050405020304" pitchFamily="18" charset="0"/>
                          </a:rPr>
                          <m:t>𝑑</m:t>
                        </m:r>
                      </m:num>
                      <m:den>
                        <m:r>
                          <a:rPr lang="en-US" i="1">
                            <a:latin typeface="Cambria Math" panose="02040503050406030204" pitchFamily="18" charset="0"/>
                            <a:cs typeface="Times New Roman" panose="02020603050405020304" pitchFamily="18" charset="0"/>
                          </a:rPr>
                          <m:t>𝑑𝑡</m:t>
                        </m:r>
                      </m:den>
                    </m:f>
                    <m:d>
                      <m:dPr>
                        <m:ctrlPr>
                          <a:rPr lang="en-US" i="1">
                            <a:latin typeface="Cambria Math" panose="02040503050406030204" pitchFamily="18" charset="0"/>
                            <a:cs typeface="Times New Roman" panose="02020603050405020304" pitchFamily="18" charset="0"/>
                          </a:rPr>
                        </m:ctrlPr>
                      </m:dPr>
                      <m:e>
                        <m:f>
                          <m:fPr>
                            <m:ctrlPr>
                              <a:rPr lang="en-US" i="1">
                                <a:latin typeface="Cambria Math" panose="02040503050406030204" pitchFamily="18" charset="0"/>
                                <a:cs typeface="Times New Roman" panose="02020603050405020304" pitchFamily="18" charset="0"/>
                              </a:rPr>
                            </m:ctrlPr>
                          </m:fPr>
                          <m:num>
                            <m:r>
                              <a:rPr lang="en-US" i="1">
                                <a:latin typeface="Cambria Math" panose="02040503050406030204" pitchFamily="18" charset="0"/>
                                <a:cs typeface="Times New Roman" panose="02020603050405020304" pitchFamily="18" charset="0"/>
                              </a:rPr>
                              <m:t>𝑑</m:t>
                            </m:r>
                            <m:r>
                              <a:rPr lang="en-US" i="1">
                                <a:latin typeface="Cambria Math" panose="02040503050406030204" pitchFamily="18" charset="0"/>
                                <a:ea typeface="Cambria Math" panose="02040503050406030204" pitchFamily="18" charset="0"/>
                                <a:cs typeface="Times New Roman" panose="02020603050405020304" pitchFamily="18" charset="0"/>
                              </a:rPr>
                              <m:t>𝜃</m:t>
                            </m:r>
                          </m:num>
                          <m:den>
                            <m:r>
                              <a:rPr lang="en-US" i="1">
                                <a:latin typeface="Cambria Math" panose="02040503050406030204" pitchFamily="18" charset="0"/>
                                <a:cs typeface="Times New Roman" panose="02020603050405020304" pitchFamily="18" charset="0"/>
                              </a:rPr>
                              <m:t>𝑑𝑡</m:t>
                            </m:r>
                          </m:den>
                        </m:f>
                      </m:e>
                    </m:d>
                    <m:r>
                      <a:rPr lang="en-US" i="1">
                        <a:latin typeface="Cambria Math" panose="02040503050406030204" pitchFamily="18" charset="0"/>
                        <a:cs typeface="Times New Roman" panose="02020603050405020304" pitchFamily="18" charset="0"/>
                      </a:rPr>
                      <m:t>=</m:t>
                    </m:r>
                    <m:f>
                      <m:fPr>
                        <m:ctrlPr>
                          <a:rPr lang="en-US" i="1">
                            <a:latin typeface="Cambria Math" panose="02040503050406030204" pitchFamily="18" charset="0"/>
                            <a:cs typeface="Times New Roman" panose="02020603050405020304" pitchFamily="18" charset="0"/>
                          </a:rPr>
                        </m:ctrlPr>
                      </m:fPr>
                      <m:num>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𝑑</m:t>
                            </m:r>
                          </m:e>
                          <m:sup>
                            <m:r>
                              <a:rPr lang="en-US" i="1">
                                <a:latin typeface="Cambria Math" panose="02040503050406030204" pitchFamily="18" charset="0"/>
                                <a:cs typeface="Times New Roman" panose="02020603050405020304" pitchFamily="18" charset="0"/>
                              </a:rPr>
                              <m:t>2</m:t>
                            </m:r>
                          </m:sup>
                        </m:sSup>
                        <m:r>
                          <a:rPr lang="en-US" i="1">
                            <a:latin typeface="Cambria Math" panose="02040503050406030204" pitchFamily="18" charset="0"/>
                            <a:ea typeface="Cambria Math" panose="02040503050406030204" pitchFamily="18" charset="0"/>
                            <a:cs typeface="Times New Roman" panose="02020603050405020304" pitchFamily="18" charset="0"/>
                          </a:rPr>
                          <m:t>𝜃</m:t>
                        </m:r>
                      </m:num>
                      <m:den>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𝑑𝑡</m:t>
                            </m:r>
                          </m:e>
                          <m:sup>
                            <m:r>
                              <a:rPr lang="en-US" i="1">
                                <a:latin typeface="Cambria Math" panose="02040503050406030204" pitchFamily="18" charset="0"/>
                                <a:cs typeface="Times New Roman" panose="02020603050405020304" pitchFamily="18" charset="0"/>
                              </a:rPr>
                              <m:t>2</m:t>
                            </m:r>
                          </m:sup>
                        </m:sSup>
                      </m:den>
                    </m:f>
                  </m:oMath>
                </a14:m>
                <a:endParaRPr lang="en-US" i="1" dirty="0">
                  <a:latin typeface="Times New Roman" panose="02020603050405020304" pitchFamily="18" charset="0"/>
                  <a:cs typeface="Times New Roman" panose="02020603050405020304" pitchFamily="18" charset="0"/>
                </a:endParaRPr>
              </a:p>
              <a:p>
                <a:pPr marL="0" indent="0">
                  <a:buNone/>
                </a:pPr>
                <a:endParaRPr lang="en-US" i="1" dirty="0">
                  <a:latin typeface="Times New Roman" panose="02020603050405020304" pitchFamily="18" charset="0"/>
                  <a:cs typeface="Times New Roman" panose="02020603050405020304" pitchFamily="18" charset="0"/>
                </a:endParaRPr>
              </a:p>
              <a:p>
                <a:pPr algn="just"/>
                <a:r>
                  <a:rPr lang="en-US" b="1" i="1" dirty="0">
                    <a:latin typeface="Times New Roman" panose="02020603050405020304" pitchFamily="18" charset="0"/>
                    <a:cs typeface="Times New Roman" panose="02020603050405020304" pitchFamily="18" charset="0"/>
                  </a:rPr>
                  <a:t>Components of angular acceleration</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sz="2400" i="1" dirty="0">
                    <a:solidFill>
                      <a:schemeClr val="tx1"/>
                    </a:solidFill>
                    <a:latin typeface="Times New Roman" panose="02020603050405020304" pitchFamily="18" charset="0"/>
                    <a:cs typeface="Times New Roman" panose="02020603050405020304" pitchFamily="18" charset="0"/>
                  </a:rPr>
                  <a:t>      Tangential component:     </a:t>
                </a:r>
                <a14:m>
                  <m:oMath xmlns:m="http://schemas.openxmlformats.org/officeDocument/2006/math">
                    <m:sSub>
                      <m:sSubPr>
                        <m:ctrlPr>
                          <a:rPr lang="en-US" sz="2400" i="1">
                            <a:solidFill>
                              <a:schemeClr val="tx1"/>
                            </a:solidFill>
                            <a:latin typeface="Cambria Math" panose="02040503050406030204" pitchFamily="18" charset="0"/>
                            <a:cs typeface="Times New Roman" panose="02020603050405020304" pitchFamily="18" charset="0"/>
                          </a:rPr>
                        </m:ctrlPr>
                      </m:sSubPr>
                      <m:e>
                        <m:r>
                          <a:rPr lang="en-US" sz="2400" i="1">
                            <a:solidFill>
                              <a:schemeClr val="tx1"/>
                            </a:solidFill>
                            <a:latin typeface="Cambria Math" panose="02040503050406030204" pitchFamily="18" charset="0"/>
                            <a:cs typeface="Times New Roman" panose="02020603050405020304" pitchFamily="18" charset="0"/>
                          </a:rPr>
                          <m:t>𝑎</m:t>
                        </m:r>
                      </m:e>
                      <m:sub>
                        <m:r>
                          <a:rPr lang="en-US" sz="2400" i="1">
                            <a:solidFill>
                              <a:schemeClr val="tx1"/>
                            </a:solidFill>
                            <a:latin typeface="Cambria Math" panose="02040503050406030204" pitchFamily="18" charset="0"/>
                            <a:cs typeface="Times New Roman" panose="02020603050405020304" pitchFamily="18" charset="0"/>
                          </a:rPr>
                          <m:t>𝑡</m:t>
                        </m:r>
                      </m:sub>
                    </m:sSub>
                    <m:r>
                      <a:rPr lang="en-US" sz="2400" i="1">
                        <a:solidFill>
                          <a:schemeClr val="tx1"/>
                        </a:solidFill>
                        <a:latin typeface="Cambria Math" panose="02040503050406030204" pitchFamily="18" charset="0"/>
                        <a:cs typeface="Times New Roman" panose="02020603050405020304" pitchFamily="18" charset="0"/>
                      </a:rPr>
                      <m:t>=</m:t>
                    </m:r>
                    <m:f>
                      <m:fPr>
                        <m:ctrlPr>
                          <a:rPr lang="en-US" sz="2400" i="1">
                            <a:solidFill>
                              <a:schemeClr val="tx1"/>
                            </a:solidFill>
                            <a:latin typeface="Cambria Math" panose="02040503050406030204" pitchFamily="18" charset="0"/>
                            <a:cs typeface="Times New Roman" panose="02020603050405020304" pitchFamily="18" charset="0"/>
                          </a:rPr>
                        </m:ctrlPr>
                      </m:fPr>
                      <m:num>
                        <m:r>
                          <a:rPr lang="en-US" sz="2400" i="1">
                            <a:solidFill>
                              <a:schemeClr val="tx1"/>
                            </a:solidFill>
                            <a:latin typeface="Cambria Math" panose="02040503050406030204" pitchFamily="18" charset="0"/>
                            <a:cs typeface="Times New Roman" panose="02020603050405020304" pitchFamily="18" charset="0"/>
                          </a:rPr>
                          <m:t>𝑑𝑣</m:t>
                        </m:r>
                      </m:num>
                      <m:den>
                        <m:r>
                          <a:rPr lang="en-US" sz="2400" i="1">
                            <a:solidFill>
                              <a:schemeClr val="tx1"/>
                            </a:solidFill>
                            <a:latin typeface="Cambria Math" panose="02040503050406030204" pitchFamily="18" charset="0"/>
                            <a:cs typeface="Times New Roman" panose="02020603050405020304" pitchFamily="18" charset="0"/>
                          </a:rPr>
                          <m:t>𝑑𝑡</m:t>
                        </m:r>
                      </m:den>
                    </m:f>
                  </m:oMath>
                </a14:m>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i="1" dirty="0">
                    <a:solidFill>
                      <a:schemeClr val="tx1"/>
                    </a:solidFill>
                    <a:latin typeface="Times New Roman" panose="02020603050405020304" pitchFamily="18" charset="0"/>
                    <a:cs typeface="Times New Roman" panose="02020603050405020304" pitchFamily="18" charset="0"/>
                  </a:rPr>
                  <a:t>      Radial component:            </a:t>
                </a:r>
                <a14:m>
                  <m:oMath xmlns:m="http://schemas.openxmlformats.org/officeDocument/2006/math">
                    <m:sSub>
                      <m:sSubPr>
                        <m:ctrlPr>
                          <a:rPr lang="en-US" sz="2400" i="1">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𝑎</m:t>
                        </m:r>
                      </m:e>
                      <m:sub>
                        <m:r>
                          <a:rPr lang="en-US" sz="2400" b="0" i="1" smtClean="0">
                            <a:solidFill>
                              <a:schemeClr val="tx1"/>
                            </a:solidFill>
                            <a:latin typeface="Cambria Math" panose="02040503050406030204" pitchFamily="18" charset="0"/>
                            <a:cs typeface="Times New Roman" panose="02020603050405020304" pitchFamily="18" charset="0"/>
                          </a:rPr>
                          <m:t>𝑟</m:t>
                        </m:r>
                      </m:sub>
                    </m:sSub>
                    <m:r>
                      <a:rPr lang="en-US" sz="2400" i="1">
                        <a:solidFill>
                          <a:schemeClr val="tx1"/>
                        </a:solidFill>
                        <a:latin typeface="Cambria Math" panose="02040503050406030204" pitchFamily="18" charset="0"/>
                        <a:cs typeface="Times New Roman" panose="02020603050405020304" pitchFamily="18" charset="0"/>
                      </a:rPr>
                      <m:t>=</m:t>
                    </m:r>
                    <m:f>
                      <m:fPr>
                        <m:ctrlPr>
                          <a:rPr lang="en-US" sz="2400" i="1">
                            <a:solidFill>
                              <a:schemeClr val="tx1"/>
                            </a:solidFill>
                            <a:latin typeface="Cambria Math" panose="02040503050406030204" pitchFamily="18" charset="0"/>
                            <a:cs typeface="Times New Roman" panose="02020603050405020304" pitchFamily="18" charset="0"/>
                          </a:rPr>
                        </m:ctrlPr>
                      </m:fPr>
                      <m:num>
                        <m:r>
                          <a:rPr lang="en-US" sz="2400" b="0" i="1" smtClean="0">
                            <a:solidFill>
                              <a:schemeClr val="tx1"/>
                            </a:solidFill>
                            <a:latin typeface="Cambria Math" panose="02040503050406030204" pitchFamily="18" charset="0"/>
                            <a:cs typeface="Times New Roman" panose="02020603050405020304" pitchFamily="18" charset="0"/>
                          </a:rPr>
                          <m:t>𝑑𝑣</m:t>
                        </m:r>
                      </m:num>
                      <m:den>
                        <m:r>
                          <a:rPr lang="en-US" sz="2400" b="0" i="1" smtClean="0">
                            <a:solidFill>
                              <a:schemeClr val="tx1"/>
                            </a:solidFill>
                            <a:latin typeface="Cambria Math" panose="02040503050406030204" pitchFamily="18" charset="0"/>
                            <a:cs typeface="Times New Roman" panose="02020603050405020304" pitchFamily="18" charset="0"/>
                          </a:rPr>
                          <m:t>𝑑𝑡</m:t>
                        </m:r>
                      </m:den>
                    </m:f>
                    <m:r>
                      <a:rPr lang="en-US" sz="2400" i="1">
                        <a:solidFill>
                          <a:schemeClr val="tx1"/>
                        </a:solidFill>
                        <a:latin typeface="Cambria Math" panose="02040503050406030204" pitchFamily="18" charset="0"/>
                        <a:cs typeface="Times New Roman" panose="02020603050405020304" pitchFamily="18" charset="0"/>
                      </a:rPr>
                      <m:t>=</m:t>
                    </m:r>
                    <m:f>
                      <m:fPr>
                        <m:ctrlPr>
                          <a:rPr lang="en-US" sz="2400" i="1">
                            <a:solidFill>
                              <a:schemeClr val="tx1"/>
                            </a:solidFill>
                            <a:latin typeface="Cambria Math" panose="02040503050406030204" pitchFamily="18" charset="0"/>
                            <a:cs typeface="Times New Roman" panose="02020603050405020304" pitchFamily="18" charset="0"/>
                          </a:rPr>
                        </m:ctrlPr>
                      </m:fPr>
                      <m:num>
                        <m:r>
                          <a:rPr lang="en-US" sz="2400" b="0" i="1" smtClean="0">
                            <a:solidFill>
                              <a:schemeClr val="tx1"/>
                            </a:solidFill>
                            <a:latin typeface="Cambria Math" panose="02040503050406030204" pitchFamily="18" charset="0"/>
                            <a:cs typeface="Times New Roman" panose="02020603050405020304" pitchFamily="18" charset="0"/>
                          </a:rPr>
                          <m:t>𝑣𝑑</m:t>
                        </m:r>
                        <m:r>
                          <a:rPr lang="en-US" sz="2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𝜃</m:t>
                        </m:r>
                      </m:num>
                      <m:den>
                        <m:r>
                          <a:rPr lang="en-US" sz="2400" b="0" i="1" smtClean="0">
                            <a:solidFill>
                              <a:schemeClr val="tx1"/>
                            </a:solidFill>
                            <a:latin typeface="Cambria Math" panose="02040503050406030204" pitchFamily="18" charset="0"/>
                            <a:cs typeface="Times New Roman" panose="02020603050405020304" pitchFamily="18" charset="0"/>
                          </a:rPr>
                          <m:t>𝑑𝑡</m:t>
                        </m:r>
                      </m:den>
                    </m:f>
                    <m:r>
                      <a:rPr lang="en-US" sz="2400" i="1">
                        <a:solidFill>
                          <a:schemeClr val="tx1"/>
                        </a:solidFill>
                        <a:latin typeface="Cambria Math" panose="02040503050406030204" pitchFamily="18" charset="0"/>
                        <a:cs typeface="Times New Roman" panose="02020603050405020304" pitchFamily="18" charset="0"/>
                      </a:rPr>
                      <m:t>=</m:t>
                    </m:r>
                    <m:r>
                      <a:rPr lang="en-US" sz="2400" i="1">
                        <a:solidFill>
                          <a:schemeClr val="tx1"/>
                        </a:solidFill>
                        <a:latin typeface="Cambria Math" panose="02040503050406030204" pitchFamily="18" charset="0"/>
                        <a:cs typeface="Times New Roman" panose="02020603050405020304" pitchFamily="18" charset="0"/>
                      </a:rPr>
                      <m:t>𝑣</m:t>
                    </m:r>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𝜔</m:t>
                    </m:r>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𝑣</m:t>
                            </m:r>
                          </m:e>
                          <m:sup>
                            <m:r>
                              <a:rPr lang="en-US" sz="2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sz="2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𝑟</m:t>
                        </m:r>
                      </m:den>
                    </m:f>
                  </m:oMath>
                </a14:m>
                <a:endParaRPr lang="en-US" sz="2400" dirty="0">
                  <a:latin typeface="Times New Roman" panose="02020603050405020304" pitchFamily="18" charset="0"/>
                  <a:cs typeface="Times New Roman" panose="02020603050405020304" pitchFamily="18" charset="0"/>
                </a:endParaRPr>
              </a:p>
              <a:p>
                <a:pPr marL="0" indent="0">
                  <a:buNone/>
                </a:pPr>
                <a:endParaRPr lang="en-US" i="1" dirty="0">
                  <a:latin typeface="Cambria Math" panose="02040503050406030204" pitchFamily="18"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A65B3DE2-F4AA-4360-B8BA-153263927F06}"/>
                  </a:ext>
                </a:extLst>
              </p:cNvPr>
              <p:cNvSpPr>
                <a:spLocks noGrp="1" noRot="1" noChangeAspect="1" noMove="1" noResize="1" noEditPoints="1" noAdjustHandles="1" noChangeArrowheads="1" noChangeShapeType="1" noTextEdit="1"/>
              </p:cNvSpPr>
              <p:nvPr>
                <p:ph idx="4294967295"/>
              </p:nvPr>
            </p:nvSpPr>
            <p:spPr>
              <a:xfrm>
                <a:off x="0" y="461962"/>
                <a:ext cx="12192000" cy="6299055"/>
              </a:xfrm>
              <a:blipFill>
                <a:blip r:embed="rId2"/>
                <a:stretch>
                  <a:fillRect l="-900" t="-17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1C852855-94E2-410C-8A22-3216504AEADC}"/>
                  </a:ext>
                </a:extLst>
              </p:cNvPr>
              <p:cNvSpPr/>
              <p:nvPr/>
            </p:nvSpPr>
            <p:spPr>
              <a:xfrm>
                <a:off x="4572000" y="5250872"/>
                <a:ext cx="1607127" cy="623455"/>
              </a:xfrm>
              <a:prstGeom prst="rect">
                <a:avLst/>
              </a:prstGeom>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bPr>
                        <m:e>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𝑎</m:t>
                          </m:r>
                        </m:e>
                        <m:sub>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𝑟</m:t>
                          </m:r>
                        </m:sub>
                      </m:sSub>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𝑟</m:t>
                      </m:r>
                      <m:sSup>
                        <m:sSup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pPr>
                        <m:e>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𝜔</m:t>
                          </m:r>
                        </m:e>
                        <m:sup>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2</m:t>
                          </m:r>
                        </m:sup>
                      </m:sSup>
                    </m:oMath>
                  </m:oMathPara>
                </a14:m>
                <a:endParaRPr lang="en-US" dirty="0"/>
              </a:p>
            </p:txBody>
          </p:sp>
        </mc:Choice>
        <mc:Fallback xmlns="">
          <p:sp>
            <p:nvSpPr>
              <p:cNvPr id="4" name="Rectangle 3">
                <a:extLst>
                  <a:ext uri="{FF2B5EF4-FFF2-40B4-BE49-F238E27FC236}">
                    <a16:creationId xmlns:a16="http://schemas.microsoft.com/office/drawing/2014/main" id="{1C852855-94E2-410C-8A22-3216504AEADC}"/>
                  </a:ext>
                </a:extLst>
              </p:cNvPr>
              <p:cNvSpPr>
                <a:spLocks noRot="1" noChangeAspect="1" noMove="1" noResize="1" noEditPoints="1" noAdjustHandles="1" noChangeArrowheads="1" noChangeShapeType="1" noTextEdit="1"/>
              </p:cNvSpPr>
              <p:nvPr/>
            </p:nvSpPr>
            <p:spPr>
              <a:xfrm>
                <a:off x="4572000" y="5250872"/>
                <a:ext cx="1607127" cy="623455"/>
              </a:xfrm>
              <a:prstGeom prst="rect">
                <a:avLst/>
              </a:prstGeom>
              <a:blipFill>
                <a:blip r:embed="rId3"/>
                <a:stretch>
                  <a:fillRect/>
                </a:stretch>
              </a:blipFill>
              <a:ln w="28575">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558643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289CD-8EA9-4A79-B333-C1361D9D6755}"/>
              </a:ext>
            </a:extLst>
          </p:cNvPr>
          <p:cNvSpPr>
            <a:spLocks noGrp="1"/>
          </p:cNvSpPr>
          <p:nvPr>
            <p:ph type="title"/>
          </p:nvPr>
        </p:nvSpPr>
        <p:spPr>
          <a:xfrm>
            <a:off x="1" y="365125"/>
            <a:ext cx="11353800" cy="452293"/>
          </a:xfrm>
        </p:spPr>
        <p:txBody>
          <a:bodyPr>
            <a:normAutofit fontScale="90000"/>
          </a:bodyPr>
          <a:lstStyle/>
          <a:p>
            <a:r>
              <a:rPr lang="en-US" sz="3600" b="1" dirty="0">
                <a:latin typeface="Times New Roman" panose="02020603050405020304" pitchFamily="18" charset="0"/>
                <a:cs typeface="Times New Roman" panose="02020603050405020304" pitchFamily="18" charset="0"/>
              </a:rPr>
              <a:t>Example 1</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B11777F-C00D-4A75-A267-324F5F8CF48A}"/>
                  </a:ext>
                </a:extLst>
              </p:cNvPr>
              <p:cNvSpPr>
                <a:spLocks noGrp="1"/>
              </p:cNvSpPr>
              <p:nvPr>
                <p:ph idx="1"/>
              </p:nvPr>
            </p:nvSpPr>
            <p:spPr>
              <a:xfrm>
                <a:off x="0" y="817418"/>
                <a:ext cx="12302836" cy="6040582"/>
              </a:xfrm>
            </p:spPr>
            <p:txBody>
              <a:bodyPr/>
              <a:lstStyle/>
              <a:p>
                <a:pPr marL="0" indent="0">
                  <a:lnSpc>
                    <a:spcPct val="100000"/>
                  </a:lnSpc>
                  <a:buNone/>
                </a:pPr>
                <a:r>
                  <a:rPr lang="en-US" dirty="0">
                    <a:latin typeface="Times New Roman" panose="02020603050405020304" pitchFamily="18" charset="0"/>
                    <a:cs typeface="Times New Roman" panose="02020603050405020304" pitchFamily="18" charset="0"/>
                  </a:rPr>
                  <a:t>A particle moves in a circle of radius 20cm. Its linear speed at any time is given by </a:t>
                </a:r>
                <a14:m>
                  <m:oMath xmlns:m="http://schemas.openxmlformats.org/officeDocument/2006/math">
                    <m:r>
                      <a:rPr lang="en-US" b="0" i="1" smtClean="0">
                        <a:latin typeface="Cambria Math" panose="02040503050406030204" pitchFamily="18" charset="0"/>
                      </a:rPr>
                      <m:t>𝑣</m:t>
                    </m:r>
                    <m:r>
                      <a:rPr lang="en-US" b="0" i="1" smtClean="0">
                        <a:latin typeface="Cambria Math" panose="02040503050406030204" pitchFamily="18" charset="0"/>
                      </a:rPr>
                      <m:t>=2</m:t>
                    </m:r>
                    <m:r>
                      <a:rPr lang="en-US" b="0" i="1" smtClean="0">
                        <a:latin typeface="Cambria Math" panose="02040503050406030204" pitchFamily="18" charset="0"/>
                      </a:rPr>
                      <m:t>𝑡</m:t>
                    </m:r>
                    <m:r>
                      <a:rPr lang="en-US" b="0" i="0" smtClean="0">
                        <a:latin typeface="Cambria Math" panose="02040503050406030204" pitchFamily="18" charset="0"/>
                      </a:rPr>
                      <m:t> </m:t>
                    </m:r>
                    <m:r>
                      <m:rPr>
                        <m:sty m:val="p"/>
                      </m:rPr>
                      <a:rPr lang="en-US" b="0" i="0" smtClean="0">
                        <a:latin typeface="Cambria Math" panose="02040503050406030204" pitchFamily="18" charset="0"/>
                      </a:rPr>
                      <m:t>where</m:t>
                    </m:r>
                    <m:r>
                      <a:rPr lang="en-US" b="0" i="0" smtClean="0">
                        <a:latin typeface="Cambria Math" panose="02040503050406030204" pitchFamily="18" charset="0"/>
                      </a:rPr>
                      <m:t> </m:t>
                    </m:r>
                    <m:r>
                      <m:rPr>
                        <m:sty m:val="p"/>
                      </m:rPr>
                      <a:rPr lang="en-US" b="0" i="0" smtClean="0">
                        <a:latin typeface="Cambria Math" panose="02040503050406030204" pitchFamily="18" charset="0"/>
                      </a:rPr>
                      <m:t>v</m:t>
                    </m:r>
                    <m:r>
                      <a:rPr lang="en-US" b="0" i="0" smtClean="0">
                        <a:latin typeface="Cambria Math" panose="02040503050406030204" pitchFamily="18" charset="0"/>
                      </a:rPr>
                      <m:t> </m:t>
                    </m:r>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in</m:t>
                    </m:r>
                    <m:r>
                      <a:rPr lang="en-US" b="0" i="0" smtClean="0">
                        <a:latin typeface="Cambria Math" panose="02040503050406030204" pitchFamily="18" charset="0"/>
                      </a:rPr>
                      <m:t> </m:t>
                    </m:r>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𝑚</m:t>
                        </m:r>
                      </m:num>
                      <m:den>
                        <m:r>
                          <a:rPr lang="en-US" b="0" i="1" smtClean="0">
                            <a:latin typeface="Cambria Math" panose="02040503050406030204" pitchFamily="18" charset="0"/>
                          </a:rPr>
                          <m:t>𝑠</m:t>
                        </m:r>
                      </m:den>
                    </m:f>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r>
                      <a:rPr lang="en-US" b="0" i="1" smtClean="0">
                        <a:latin typeface="Cambria Math" panose="02040503050406030204" pitchFamily="18" charset="0"/>
                      </a:rPr>
                      <m:t>𝑠𝑒𝑐</m:t>
                    </m:r>
                    <m:r>
                      <a:rPr lang="en-US" b="0" i="1" smtClean="0">
                        <a:latin typeface="Cambria Math" panose="02040503050406030204" pitchFamily="18" charset="0"/>
                      </a:rPr>
                      <m:t>. </m:t>
                    </m:r>
                  </m:oMath>
                </a14:m>
                <a:r>
                  <a:rPr lang="en-US" dirty="0">
                    <a:latin typeface="Times New Roman" panose="02020603050405020304" pitchFamily="18" charset="0"/>
                    <a:cs typeface="Times New Roman" panose="02020603050405020304" pitchFamily="18" charset="0"/>
                  </a:rPr>
                  <a:t>Find the radial and tangential acceleration at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=3</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dirty="0">
                  <a:latin typeface="Times New Roman" panose="02020603050405020304" pitchFamily="18" charset="0"/>
                  <a:cs typeface="Times New Roman" panose="02020603050405020304" pitchFamily="18" charset="0"/>
                </a:endParaRPr>
              </a:p>
              <a:p>
                <a:pPr marL="0" indent="0">
                  <a:lnSpc>
                    <a:spcPct val="100000"/>
                  </a:lnSpc>
                  <a:buNone/>
                </a:pPr>
                <a:r>
                  <a:rPr lang="en-US" b="1" i="1" dirty="0" err="1">
                    <a:latin typeface="Times New Roman" panose="02020603050405020304" pitchFamily="18" charset="0"/>
                    <a:cs typeface="Times New Roman" panose="02020603050405020304" pitchFamily="18" charset="0"/>
                  </a:rPr>
                  <a:t>Soln</a:t>
                </a:r>
                <a:r>
                  <a:rPr lang="en-US" b="1" i="1" dirty="0">
                    <a:latin typeface="Times New Roman" panose="02020603050405020304" pitchFamily="18" charset="0"/>
                    <a:cs typeface="Times New Roman" panose="02020603050405020304" pitchFamily="18" charset="0"/>
                  </a:rPr>
                  <a:t>:   </a:t>
                </a:r>
                <a14:m>
                  <m:oMath xmlns:m="http://schemas.openxmlformats.org/officeDocument/2006/math">
                    <m:r>
                      <a:rPr lang="en-US" b="0" i="1" smtClean="0">
                        <a:latin typeface="Cambria Math" panose="02040503050406030204" pitchFamily="18" charset="0"/>
                        <a:cs typeface="Times New Roman" panose="02020603050405020304" pitchFamily="18" charset="0"/>
                      </a:rPr>
                      <m:t>𝑟</m:t>
                    </m:r>
                    <m:r>
                      <a:rPr lang="en-US" b="0" i="1" smtClean="0">
                        <a:latin typeface="Cambria Math" panose="02040503050406030204" pitchFamily="18" charset="0"/>
                        <a:cs typeface="Times New Roman" panose="02020603050405020304" pitchFamily="18" charset="0"/>
                      </a:rPr>
                      <m:t>=20</m:t>
                    </m:r>
                    <m:r>
                      <a:rPr lang="en-US" b="0" i="1" smtClean="0">
                        <a:latin typeface="Cambria Math" panose="02040503050406030204" pitchFamily="18" charset="0"/>
                        <a:cs typeface="Times New Roman" panose="02020603050405020304" pitchFamily="18" charset="0"/>
                      </a:rPr>
                      <m:t>𝑐𝑚</m:t>
                    </m:r>
                    <m:r>
                      <a:rPr lang="en-US" b="0" i="1" smtClean="0">
                        <a:latin typeface="Cambria Math" panose="02040503050406030204" pitchFamily="18" charset="0"/>
                        <a:cs typeface="Times New Roman" panose="02020603050405020304" pitchFamily="18" charset="0"/>
                      </a:rPr>
                      <m:t>=0.2</m:t>
                    </m:r>
                    <m:r>
                      <a:rPr lang="en-US" b="0" i="1" smtClean="0">
                        <a:latin typeface="Cambria Math" panose="02040503050406030204" pitchFamily="18" charset="0"/>
                        <a:cs typeface="Times New Roman" panose="02020603050405020304" pitchFamily="18" charset="0"/>
                      </a:rPr>
                      <m:t>𝑚</m:t>
                    </m:r>
                  </m:oMath>
                </a14:m>
                <a:endParaRPr lang="en-US" i="1"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9B11777F-C00D-4A75-A267-324F5F8CF48A}"/>
                  </a:ext>
                </a:extLst>
              </p:cNvPr>
              <p:cNvSpPr>
                <a:spLocks noGrp="1" noRot="1" noChangeAspect="1" noMove="1" noResize="1" noEditPoints="1" noAdjustHandles="1" noChangeArrowheads="1" noChangeShapeType="1" noTextEdit="1"/>
              </p:cNvSpPr>
              <p:nvPr>
                <p:ph idx="1"/>
              </p:nvPr>
            </p:nvSpPr>
            <p:spPr>
              <a:xfrm>
                <a:off x="0" y="817418"/>
                <a:ext cx="12302836" cy="6040582"/>
              </a:xfrm>
              <a:blipFill>
                <a:blip r:embed="rId2"/>
                <a:stretch>
                  <a:fillRect l="-991" t="-10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Rectangle: Rounded Corners 3">
                <a:extLst>
                  <a:ext uri="{FF2B5EF4-FFF2-40B4-BE49-F238E27FC236}">
                    <a16:creationId xmlns:a16="http://schemas.microsoft.com/office/drawing/2014/main" id="{C9A7A7A4-3C62-42F6-8A58-3224E6D53FD7}"/>
                  </a:ext>
                </a:extLst>
              </p:cNvPr>
              <p:cNvSpPr/>
              <p:nvPr/>
            </p:nvSpPr>
            <p:spPr>
              <a:xfrm>
                <a:off x="1122218" y="2946111"/>
                <a:ext cx="4211782" cy="3546764"/>
              </a:xfrm>
              <a:prstGeom prst="roundRect">
                <a:avLst/>
              </a:prstGeom>
              <a:ln w="28575">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lang="en-US" sz="2000" b="0" i="1" smtClean="0">
                        <a:latin typeface="Cambria Math" panose="02040503050406030204" pitchFamily="18" charset="0"/>
                      </a:rPr>
                      <m:t>𝑇h𝑒</m:t>
                    </m:r>
                    <m:r>
                      <a:rPr lang="en-US" sz="2000" b="0" i="1" smtClean="0">
                        <a:latin typeface="Cambria Math" panose="02040503050406030204" pitchFamily="18" charset="0"/>
                      </a:rPr>
                      <m:t> </m:t>
                    </m:r>
                    <m:r>
                      <a:rPr lang="en-US" sz="2000" b="0" i="1" smtClean="0">
                        <a:latin typeface="Cambria Math" panose="02040503050406030204" pitchFamily="18" charset="0"/>
                      </a:rPr>
                      <m:t>𝑙𝑖𝑛𝑒𝑎𝑟</m:t>
                    </m:r>
                    <m:r>
                      <a:rPr lang="en-US" sz="2000" b="0" i="1" smtClean="0">
                        <a:latin typeface="Cambria Math" panose="02040503050406030204" pitchFamily="18" charset="0"/>
                      </a:rPr>
                      <m:t> </m:t>
                    </m:r>
                    <m:r>
                      <a:rPr lang="en-US" sz="2000" b="0" i="1" smtClean="0">
                        <a:latin typeface="Cambria Math" panose="02040503050406030204" pitchFamily="18" charset="0"/>
                      </a:rPr>
                      <m:t>𝑠𝑝𝑒𝑒𝑑</m:t>
                    </m:r>
                    <m:r>
                      <a:rPr lang="en-US" sz="2000" b="0" i="1" smtClean="0">
                        <a:latin typeface="Cambria Math" panose="02040503050406030204" pitchFamily="18" charset="0"/>
                      </a:rPr>
                      <m:t> </m:t>
                    </m:r>
                    <m:r>
                      <a:rPr lang="en-US" sz="2000" b="0" i="1" smtClean="0">
                        <a:latin typeface="Cambria Math" panose="02040503050406030204" pitchFamily="18" charset="0"/>
                      </a:rPr>
                      <m:t>𝑎𝑡</m:t>
                    </m:r>
                    <m:r>
                      <a:rPr lang="en-US" sz="2000" b="0" i="1" smtClean="0">
                        <a:latin typeface="Cambria Math" panose="02040503050406030204" pitchFamily="18" charset="0"/>
                      </a:rPr>
                      <m:t> 3</m:t>
                    </m:r>
                    <m:r>
                      <a:rPr lang="en-US" sz="2000" b="0" i="1" smtClean="0">
                        <a:latin typeface="Cambria Math" panose="02040503050406030204" pitchFamily="18" charset="0"/>
                      </a:rPr>
                      <m:t>𝑠</m:t>
                    </m:r>
                    <m:r>
                      <a:rPr lang="en-US" sz="2000" b="0" i="1" smtClean="0">
                        <a:latin typeface="Cambria Math" panose="02040503050406030204" pitchFamily="18" charset="0"/>
                      </a:rPr>
                      <m:t> </m:t>
                    </m:r>
                    <m:r>
                      <a:rPr lang="en-US" sz="2000" b="0" i="1" smtClean="0">
                        <a:latin typeface="Cambria Math" panose="02040503050406030204" pitchFamily="18" charset="0"/>
                      </a:rPr>
                      <m:t>𝑖𝑠</m:t>
                    </m:r>
                  </m:oMath>
                </a14:m>
                <a:r>
                  <a:rPr lang="en-US" sz="2000" b="0" i="1" dirty="0">
                    <a:latin typeface="Times New Roman" panose="02020603050405020304" pitchFamily="18" charset="0"/>
                    <a:cs typeface="Times New Roman" panose="02020603050405020304" pitchFamily="18" charset="0"/>
                  </a:rPr>
                  <a:t>:</a:t>
                </a:r>
              </a:p>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 </m:t>
                      </m:r>
                      <m:r>
                        <a:rPr lang="en-US" sz="2000" b="0" i="1" smtClean="0">
                          <a:latin typeface="Cambria Math" panose="02040503050406030204" pitchFamily="18" charset="0"/>
                        </a:rPr>
                        <m:t>𝑉</m:t>
                      </m:r>
                      <m:r>
                        <a:rPr lang="en-US" sz="2000" b="0" i="1" smtClean="0">
                          <a:latin typeface="Cambria Math" panose="02040503050406030204" pitchFamily="18" charset="0"/>
                        </a:rPr>
                        <m:t>=2×3=6</m:t>
                      </m:r>
                      <m:f>
                        <m:fPr>
                          <m:type m:val="skw"/>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𝑚</m:t>
                          </m:r>
                        </m:num>
                        <m:den>
                          <m:r>
                            <a:rPr lang="en-US" sz="2000" b="0" i="1" smtClean="0">
                              <a:latin typeface="Cambria Math" panose="02040503050406030204" pitchFamily="18" charset="0"/>
                              <a:ea typeface="Cambria Math" panose="02040503050406030204" pitchFamily="18" charset="0"/>
                            </a:rPr>
                            <m:t>𝑠</m:t>
                          </m:r>
                        </m:den>
                      </m:f>
                    </m:oMath>
                  </m:oMathPara>
                </a14:m>
                <a:endParaRPr lang="en-US" sz="2000"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𝑇h𝑒</m:t>
                      </m:r>
                      <m:r>
                        <a:rPr lang="en-US" sz="2000" b="0" i="1" smtClean="0">
                          <a:latin typeface="Cambria Math" panose="02040503050406030204" pitchFamily="18" charset="0"/>
                        </a:rPr>
                        <m:t> </m:t>
                      </m:r>
                      <m:r>
                        <a:rPr lang="en-US" sz="2000" b="0" i="1" smtClean="0">
                          <a:latin typeface="Cambria Math" panose="02040503050406030204" pitchFamily="18" charset="0"/>
                        </a:rPr>
                        <m:t>𝑟𝑎𝑑𝑖𝑎𝑙</m:t>
                      </m:r>
                      <m:r>
                        <a:rPr lang="en-US" sz="2000" b="0" i="1" smtClean="0">
                          <a:latin typeface="Cambria Math" panose="02040503050406030204" pitchFamily="18" charset="0"/>
                        </a:rPr>
                        <m:t> </m:t>
                      </m:r>
                      <m:r>
                        <a:rPr lang="en-US" sz="2000" b="0" i="1" smtClean="0">
                          <a:latin typeface="Cambria Math" panose="02040503050406030204" pitchFamily="18" charset="0"/>
                        </a:rPr>
                        <m:t>𝑎𝑐𝑐𝑒𝑙𝑒𝑟𝑎𝑡𝑖𝑜𝑛</m:t>
                      </m:r>
                      <m:r>
                        <a:rPr lang="en-US" sz="2000" b="0" i="1" smtClean="0">
                          <a:latin typeface="Cambria Math" panose="02040503050406030204" pitchFamily="18" charset="0"/>
                        </a:rPr>
                        <m:t> </m:t>
                      </m:r>
                      <m:r>
                        <a:rPr lang="en-US" sz="2000" b="0" i="1" smtClean="0">
                          <a:latin typeface="Cambria Math" panose="02040503050406030204" pitchFamily="18" charset="0"/>
                        </a:rPr>
                        <m:t>𝑎𝑡</m:t>
                      </m:r>
                      <m:r>
                        <a:rPr lang="en-US" sz="2000" b="0" i="1" smtClean="0">
                          <a:latin typeface="Cambria Math" panose="02040503050406030204" pitchFamily="18" charset="0"/>
                        </a:rPr>
                        <m:t>3</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sec</m:t>
                          </m:r>
                        </m:fName>
                        <m:e>
                          <m:r>
                            <a:rPr lang="en-US" sz="2000" b="0" i="1" smtClean="0">
                              <a:latin typeface="Cambria Math" panose="02040503050406030204" pitchFamily="18" charset="0"/>
                            </a:rPr>
                            <m:t>𝑖𝑠</m:t>
                          </m:r>
                          <m:r>
                            <a:rPr lang="en-US" sz="2000" b="0" i="1" smtClean="0">
                              <a:latin typeface="Cambria Math" panose="02040503050406030204" pitchFamily="18" charset="0"/>
                            </a:rPr>
                            <m:t>:</m:t>
                          </m:r>
                        </m:e>
                      </m:func>
                      <m:r>
                        <a:rPr lang="en-US" sz="2000" b="0" i="1" smtClean="0">
                          <a:latin typeface="Cambria Math" panose="02040503050406030204" pitchFamily="18" charset="0"/>
                        </a:rPr>
                        <m:t> </m:t>
                      </m:r>
                    </m:oMath>
                  </m:oMathPara>
                </a14:m>
                <a:endParaRPr lang="en-US" sz="2000" b="0" i="1"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𝑟</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𝑣</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𝑟</m:t>
                          </m:r>
                        </m:den>
                      </m:f>
                    </m:oMath>
                  </m:oMathPara>
                </a14:m>
                <a:endParaRPr lang="en-US" sz="2000" b="0"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𝑟</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6</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0.2</m:t>
                          </m:r>
                        </m:den>
                      </m:f>
                    </m:oMath>
                  </m:oMathPara>
                </a14:m>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sSub>
                        <m:sSubPr>
                          <m:ctrlP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bPr>
                        <m:e>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𝑎</m:t>
                          </m:r>
                        </m:e>
                        <m:sub>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𝑟</m:t>
                          </m:r>
                        </m:sub>
                      </m:sSub>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=180</m:t>
                      </m:r>
                      <m:f>
                        <m:fPr>
                          <m:type m:val="skw"/>
                          <m:ctrlP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fPr>
                        <m:num>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𝑚</m:t>
                          </m:r>
                        </m:num>
                        <m:den>
                          <m:sSup>
                            <m:sSupPr>
                              <m:ctrlP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pPr>
                            <m:e>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𝑠</m:t>
                              </m:r>
                            </m:e>
                            <m:sup>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2</m:t>
                              </m:r>
                            </m:sup>
                          </m:sSup>
                        </m:den>
                      </m:f>
                    </m:oMath>
                  </m:oMathPara>
                </a14:m>
                <a:endParaRPr lang="en-US" sz="2000" dirty="0">
                  <a:latin typeface="Times New Roman" panose="02020603050405020304" pitchFamily="18" charset="0"/>
                  <a:cs typeface="Times New Roman" panose="02020603050405020304" pitchFamily="18" charset="0"/>
                </a:endParaRPr>
              </a:p>
            </p:txBody>
          </p:sp>
        </mc:Choice>
        <mc:Fallback>
          <p:sp>
            <p:nvSpPr>
              <p:cNvPr id="4" name="Rectangle: Rounded Corners 3">
                <a:extLst>
                  <a:ext uri="{FF2B5EF4-FFF2-40B4-BE49-F238E27FC236}">
                    <a16:creationId xmlns:a16="http://schemas.microsoft.com/office/drawing/2014/main" id="{C9A7A7A4-3C62-42F6-8A58-3224E6D53FD7}"/>
                  </a:ext>
                </a:extLst>
              </p:cNvPr>
              <p:cNvSpPr>
                <a:spLocks noRot="1" noChangeAspect="1" noMove="1" noResize="1" noEditPoints="1" noAdjustHandles="1" noChangeArrowheads="1" noChangeShapeType="1" noTextEdit="1"/>
              </p:cNvSpPr>
              <p:nvPr/>
            </p:nvSpPr>
            <p:spPr>
              <a:xfrm>
                <a:off x="1122218" y="2946111"/>
                <a:ext cx="4211782" cy="3546764"/>
              </a:xfrm>
              <a:prstGeom prst="roundRect">
                <a:avLst/>
              </a:prstGeom>
              <a:blipFill>
                <a:blip r:embed="rId3"/>
                <a:stretch>
                  <a:fillRect b="-18228"/>
                </a:stretch>
              </a:blipFill>
              <a:ln w="28575">
                <a:solidFill>
                  <a:schemeClr val="accent4"/>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Rectangle: Rounded Corners 4">
                <a:extLst>
                  <a:ext uri="{FF2B5EF4-FFF2-40B4-BE49-F238E27FC236}">
                    <a16:creationId xmlns:a16="http://schemas.microsoft.com/office/drawing/2014/main" id="{48B8F091-7A0E-4A20-9099-08211B90B536}"/>
                  </a:ext>
                </a:extLst>
              </p:cNvPr>
              <p:cNvSpPr/>
              <p:nvPr/>
            </p:nvSpPr>
            <p:spPr>
              <a:xfrm>
                <a:off x="6269184" y="2946111"/>
                <a:ext cx="4010890" cy="3440834"/>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𝑇h𝑒</m:t>
                      </m:r>
                      <m:r>
                        <a:rPr lang="en-US" b="0" i="1" smtClean="0">
                          <a:latin typeface="Cambria Math" panose="02040503050406030204" pitchFamily="18" charset="0"/>
                        </a:rPr>
                        <m:t> </m:t>
                      </m:r>
                      <m:r>
                        <a:rPr lang="en-US" b="0" i="1" smtClean="0">
                          <a:latin typeface="Cambria Math" panose="02040503050406030204" pitchFamily="18" charset="0"/>
                        </a:rPr>
                        <m:t>𝑡𝑎𝑛𝑔𝑒𝑛𝑡𝑎𝑖𝑙</m:t>
                      </m:r>
                      <m:r>
                        <a:rPr lang="en-US" b="0" i="1" smtClean="0">
                          <a:latin typeface="Cambria Math" panose="02040503050406030204" pitchFamily="18" charset="0"/>
                        </a:rPr>
                        <m:t> </m:t>
                      </m:r>
                      <m:r>
                        <a:rPr lang="en-US" b="0" i="1" smtClean="0">
                          <a:latin typeface="Cambria Math" panose="02040503050406030204" pitchFamily="18" charset="0"/>
                        </a:rPr>
                        <m:t>𝑎𝑐𝑐𝑒𝑙𝑒𝑟𝑎𝑡𝑖𝑜𝑛</m:t>
                      </m:r>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oMath>
                  </m:oMathPara>
                </a14:m>
                <a:endParaRPr lang="en-US" b="0" i="1" dirty="0">
                  <a:latin typeface="Times New Roman" panose="02020603050405020304" pitchFamily="18" charset="0"/>
                  <a:cs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𝑣</m:t>
                          </m:r>
                        </m:num>
                        <m:den>
                          <m:r>
                            <a:rPr lang="en-US" b="0" i="1" smtClean="0">
                              <a:latin typeface="Cambria Math" panose="02040503050406030204" pitchFamily="18" charset="0"/>
                            </a:rPr>
                            <m:t>𝑡</m:t>
                          </m:r>
                        </m:den>
                      </m:f>
                    </m:oMath>
                  </m:oMathPara>
                </a14:m>
                <a:endParaRPr lang="en-US" b="0" i="1" dirty="0">
                  <a:latin typeface="Times New Roman" panose="02020603050405020304" pitchFamily="18" charset="0"/>
                  <a:cs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𝑡</m:t>
                          </m:r>
                        </m:num>
                        <m:den>
                          <m:r>
                            <a:rPr lang="en-US" b="0" i="1" smtClean="0">
                              <a:latin typeface="Cambria Math" panose="02040503050406030204" pitchFamily="18" charset="0"/>
                            </a:rPr>
                            <m:t>𝑡</m:t>
                          </m:r>
                        </m:den>
                      </m:f>
                    </m:oMath>
                  </m:oMathPara>
                </a14:m>
                <a:endParaRPr lang="en-US" b="0" i="1" dirty="0">
                  <a:latin typeface="Times New Roman" panose="02020603050405020304" pitchFamily="18" charset="0"/>
                  <a:cs typeface="Times New Roman" panose="02020603050405020304" pitchFamily="18" charset="0"/>
                </a:endParaRPr>
              </a:p>
              <a:p>
                <a:pPr algn="ctr">
                  <a:lnSpc>
                    <a:spcPct val="150000"/>
                  </a:lnSpc>
                </a:pPr>
                <a14:m>
                  <m:oMath xmlns:m="http://schemas.openxmlformats.org/officeDocument/2006/math">
                    <m:sSub>
                      <m:sSub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bPr>
                      <m:e>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𝑎</m:t>
                        </m:r>
                      </m:e>
                      <m:sub>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𝑡</m:t>
                        </m:r>
                      </m:sub>
                    </m:sSub>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=2</m:t>
                    </m:r>
                    <m:f>
                      <m:fPr>
                        <m:type m:val="skw"/>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fPr>
                      <m:num>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𝑚</m:t>
                        </m:r>
                      </m:num>
                      <m:den>
                        <m:sSup>
                          <m:sSup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pPr>
                          <m:e>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𝑠</m:t>
                            </m:r>
                          </m:e>
                          <m:sup>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2</m:t>
                            </m:r>
                          </m:sup>
                        </m:sSup>
                      </m:den>
                    </m:f>
                  </m:oMath>
                </a14:m>
                <a:r>
                  <a:rPr lang="en-US"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 </a:t>
                </a:r>
              </a:p>
              <a:p>
                <a:pPr algn="ctr">
                  <a:lnSpc>
                    <a:spcPct val="150000"/>
                  </a:lnSpc>
                </a:pPr>
                <a:r>
                  <a:rPr lang="en-US" dirty="0">
                    <a:latin typeface="Times New Roman" panose="02020603050405020304" pitchFamily="18" charset="0"/>
                    <a:cs typeface="Times New Roman" panose="02020603050405020304" pitchFamily="18" charset="0"/>
                  </a:rPr>
                  <a:t> </a:t>
                </a:r>
              </a:p>
            </p:txBody>
          </p:sp>
        </mc:Choice>
        <mc:Fallback>
          <p:sp>
            <p:nvSpPr>
              <p:cNvPr id="5" name="Rectangle: Rounded Corners 4">
                <a:extLst>
                  <a:ext uri="{FF2B5EF4-FFF2-40B4-BE49-F238E27FC236}">
                    <a16:creationId xmlns:a16="http://schemas.microsoft.com/office/drawing/2014/main" id="{48B8F091-7A0E-4A20-9099-08211B90B536}"/>
                  </a:ext>
                </a:extLst>
              </p:cNvPr>
              <p:cNvSpPr>
                <a:spLocks noRot="1" noChangeAspect="1" noMove="1" noResize="1" noEditPoints="1" noAdjustHandles="1" noChangeArrowheads="1" noChangeShapeType="1" noTextEdit="1"/>
              </p:cNvSpPr>
              <p:nvPr/>
            </p:nvSpPr>
            <p:spPr>
              <a:xfrm>
                <a:off x="6269184" y="2946111"/>
                <a:ext cx="4010890" cy="3440834"/>
              </a:xfrm>
              <a:prstGeom prst="roundRect">
                <a:avLst/>
              </a:prstGeom>
              <a:blipFill>
                <a:blip r:embed="rId4"/>
                <a:stretch>
                  <a:fillRect/>
                </a:stretch>
              </a:blipFill>
              <a:ln w="28575"/>
            </p:spPr>
            <p:txBody>
              <a:bodyPr/>
              <a:lstStyle/>
              <a:p>
                <a:r>
                  <a:rPr lang="en-US">
                    <a:noFill/>
                  </a:rPr>
                  <a:t> </a:t>
                </a:r>
              </a:p>
            </p:txBody>
          </p:sp>
        </mc:Fallback>
      </mc:AlternateContent>
    </p:spTree>
    <p:extLst>
      <p:ext uri="{BB962C8B-B14F-4D97-AF65-F5344CB8AC3E}">
        <p14:creationId xmlns:p14="http://schemas.microsoft.com/office/powerpoint/2010/main" val="1971758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ED092-5CF3-4E2B-ABEB-C016AA5EA983}"/>
              </a:ext>
            </a:extLst>
          </p:cNvPr>
          <p:cNvSpPr>
            <a:spLocks noGrp="1"/>
          </p:cNvSpPr>
          <p:nvPr>
            <p:ph type="title"/>
          </p:nvPr>
        </p:nvSpPr>
        <p:spPr>
          <a:xfrm>
            <a:off x="838200" y="0"/>
            <a:ext cx="10515600" cy="681037"/>
          </a:xfrm>
        </p:spPr>
        <p:txBody>
          <a:bodyPr>
            <a:no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Centripetal and Centrifugal Forces</a:t>
            </a:r>
          </a:p>
        </p:txBody>
      </p:sp>
      <p:sp>
        <p:nvSpPr>
          <p:cNvPr id="4" name="Content Placeholder 3">
            <a:extLst>
              <a:ext uri="{FF2B5EF4-FFF2-40B4-BE49-F238E27FC236}">
                <a16:creationId xmlns:a16="http://schemas.microsoft.com/office/drawing/2014/main" id="{9CE90A51-0541-40B4-B8C5-F405A1112C6E}"/>
              </a:ext>
            </a:extLst>
          </p:cNvPr>
          <p:cNvSpPr>
            <a:spLocks noGrp="1"/>
          </p:cNvSpPr>
          <p:nvPr>
            <p:ph idx="1"/>
          </p:nvPr>
        </p:nvSpPr>
        <p:spPr>
          <a:xfrm>
            <a:off x="893618" y="681037"/>
            <a:ext cx="9691255" cy="6176963"/>
          </a:xfrm>
          <a:ln w="28575">
            <a:solidFill>
              <a:schemeClr val="bg1"/>
            </a:solidFill>
          </a:ln>
        </p:spPr>
        <p:style>
          <a:lnRef idx="2">
            <a:schemeClr val="dk1"/>
          </a:lnRef>
          <a:fillRef idx="1">
            <a:schemeClr val="lt1"/>
          </a:fillRef>
          <a:effectRef idx="0">
            <a:schemeClr val="dk1"/>
          </a:effectRef>
          <a:fontRef idx="minor">
            <a:schemeClr val="dk1"/>
          </a:fontRef>
        </p:style>
        <p:txBody>
          <a:bodyPr/>
          <a:lstStyle/>
          <a:p>
            <a:r>
              <a:rPr lang="en-US" b="1" i="1" u="sng" dirty="0">
                <a:latin typeface="Times New Roman" panose="02020603050405020304" pitchFamily="18" charset="0"/>
                <a:cs typeface="Times New Roman" panose="02020603050405020304" pitchFamily="18" charset="0"/>
              </a:rPr>
              <a:t>Centripetal</a:t>
            </a:r>
            <a:r>
              <a:rPr lang="en-US" i="1" u="sng"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a:t>
            </a:r>
            <a:r>
              <a:rPr lang="en-US" b="1" i="1" u="sng" dirty="0">
                <a:latin typeface="Times New Roman" panose="02020603050405020304" pitchFamily="18" charset="0"/>
                <a:cs typeface="Times New Roman" panose="02020603050405020304" pitchFamily="18" charset="0"/>
              </a:rPr>
              <a:t>Centrifugal</a:t>
            </a:r>
            <a:r>
              <a:rPr lang="en-US" dirty="0">
                <a:latin typeface="Times New Roman" panose="02020603050405020304" pitchFamily="18" charset="0"/>
                <a:cs typeface="Times New Roman" panose="02020603050405020304" pitchFamily="18" charset="0"/>
              </a:rPr>
              <a:t> forces are the forces experienced by rotating objects.</a:t>
            </a:r>
          </a:p>
          <a:p>
            <a:endParaRPr lang="en-US" dirty="0"/>
          </a:p>
        </p:txBody>
      </p:sp>
      <p:sp>
        <p:nvSpPr>
          <p:cNvPr id="5" name="Rectangle 4">
            <a:extLst>
              <a:ext uri="{FF2B5EF4-FFF2-40B4-BE49-F238E27FC236}">
                <a16:creationId xmlns:a16="http://schemas.microsoft.com/office/drawing/2014/main" id="{EEAA126A-4652-4EB2-8C9B-3DC72630026C}"/>
              </a:ext>
            </a:extLst>
          </p:cNvPr>
          <p:cNvSpPr/>
          <p:nvPr/>
        </p:nvSpPr>
        <p:spPr>
          <a:xfrm>
            <a:off x="1274617" y="1717964"/>
            <a:ext cx="4502727" cy="1454727"/>
          </a:xfrm>
          <a:prstGeom prst="rect">
            <a:avLst/>
          </a:prstGeom>
          <a:ln w="28575">
            <a:solidFill>
              <a:srgbClr val="7030A0"/>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b="1" i="1" dirty="0">
                <a:latin typeface="Times New Roman" panose="02020603050405020304" pitchFamily="18" charset="0"/>
                <a:cs typeface="Times New Roman" panose="02020603050405020304" pitchFamily="18" charset="0"/>
              </a:rPr>
              <a:t>Centripetal force </a:t>
            </a:r>
            <a:r>
              <a:rPr lang="en-US" sz="2400" i="1" dirty="0">
                <a:latin typeface="Times New Roman" panose="02020603050405020304" pitchFamily="18" charset="0"/>
                <a:cs typeface="Times New Roman" panose="02020603050405020304" pitchFamily="18" charset="0"/>
              </a:rPr>
              <a:t>keeps an object moving in a circle and it is always pointed toward the center of the circle.</a:t>
            </a:r>
          </a:p>
        </p:txBody>
      </p:sp>
      <p:sp>
        <p:nvSpPr>
          <p:cNvPr id="6" name="Rectangle 5">
            <a:extLst>
              <a:ext uri="{FF2B5EF4-FFF2-40B4-BE49-F238E27FC236}">
                <a16:creationId xmlns:a16="http://schemas.microsoft.com/office/drawing/2014/main" id="{BC0260B9-0102-4C45-9FB2-E7F7BCA280DF}"/>
              </a:ext>
            </a:extLst>
          </p:cNvPr>
          <p:cNvSpPr/>
          <p:nvPr/>
        </p:nvSpPr>
        <p:spPr>
          <a:xfrm>
            <a:off x="6096000" y="1717964"/>
            <a:ext cx="3906982" cy="1486764"/>
          </a:xfrm>
          <a:prstGeom prst="rect">
            <a:avLst/>
          </a:prstGeom>
          <a:ln w="28575">
            <a:solidFill>
              <a:schemeClr val="accent6"/>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b="1" i="1" dirty="0">
                <a:latin typeface="Times New Roman" panose="02020603050405020304" pitchFamily="18" charset="0"/>
                <a:cs typeface="Times New Roman" panose="02020603050405020304" pitchFamily="18" charset="0"/>
              </a:rPr>
              <a:t>Centrifugal force </a:t>
            </a:r>
            <a:r>
              <a:rPr lang="en-US" sz="2400" i="1" dirty="0">
                <a:latin typeface="Times New Roman" panose="02020603050405020304" pitchFamily="18" charset="0"/>
                <a:cs typeface="Times New Roman" panose="02020603050405020304" pitchFamily="18" charset="0"/>
              </a:rPr>
              <a:t>is an apparent outward force on an object that is moving in a circle.</a:t>
            </a:r>
          </a:p>
        </p:txBody>
      </p:sp>
      <p:pic>
        <p:nvPicPr>
          <p:cNvPr id="8" name="Picture 7">
            <a:extLst>
              <a:ext uri="{FF2B5EF4-FFF2-40B4-BE49-F238E27FC236}">
                <a16:creationId xmlns:a16="http://schemas.microsoft.com/office/drawing/2014/main" id="{6447D767-B7EC-4467-AEA9-7F041F843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4116" y="3429000"/>
            <a:ext cx="3164683" cy="3068781"/>
          </a:xfrm>
          <a:prstGeom prst="rect">
            <a:avLst/>
          </a:prstGeom>
        </p:spPr>
      </p:pic>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724439B8-1D0E-4063-BCB3-A41215D46572}"/>
                  </a:ext>
                </a:extLst>
              </p:cNvPr>
              <p:cNvSpPr/>
              <p:nvPr/>
            </p:nvSpPr>
            <p:spPr>
              <a:xfrm>
                <a:off x="1240521" y="3671454"/>
                <a:ext cx="4502727" cy="3068781"/>
              </a:xfrm>
              <a:prstGeom prst="rect">
                <a:avLst/>
              </a:prstGeom>
              <a:ln w="28575">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just"/>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𝐹</m:t>
                      </m:r>
                      <m:r>
                        <a:rPr lang="en-US" sz="2400" b="0" i="1" smtClean="0">
                          <a:latin typeface="Cambria Math" panose="02040503050406030204" pitchFamily="18" charset="0"/>
                        </a:rPr>
                        <m:t>=</m:t>
                      </m:r>
                      <m:r>
                        <a:rPr lang="en-US" sz="2400" b="0" i="1" smtClean="0">
                          <a:latin typeface="Cambria Math" panose="02040503050406030204" pitchFamily="18" charset="0"/>
                        </a:rPr>
                        <m:t>𝑚𝑎</m:t>
                      </m:r>
                      <m:r>
                        <a:rPr lang="en-US" sz="2400" b="0" i="1" smtClean="0">
                          <a:latin typeface="Cambria Math" panose="02040503050406030204" pitchFamily="18" charset="0"/>
                        </a:rPr>
                        <m:t>         :</m:t>
                      </m:r>
                      <m:r>
                        <a:rPr lang="en-US" sz="2400" b="0" i="1" smtClean="0">
                          <a:latin typeface="Cambria Math" panose="02040503050406030204" pitchFamily="18" charset="0"/>
                        </a:rPr>
                        <m:t>𝑎</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𝑣</m:t>
                              </m:r>
                            </m:e>
                            <m:sup>
                              <m:r>
                                <a:rPr lang="en-US" sz="2400" b="0" i="1" smtClean="0">
                                  <a:latin typeface="Cambria Math" panose="02040503050406030204" pitchFamily="18" charset="0"/>
                                </a:rPr>
                                <m:t>2</m:t>
                              </m:r>
                            </m:sup>
                          </m:sSup>
                        </m:num>
                        <m:den>
                          <m:r>
                            <a:rPr lang="en-US" sz="2400" b="0" i="1" smtClean="0">
                              <a:latin typeface="Cambria Math" panose="02040503050406030204" pitchFamily="18" charset="0"/>
                            </a:rPr>
                            <m:t>𝑟</m:t>
                          </m:r>
                        </m:den>
                      </m:f>
                    </m:oMath>
                  </m:oMathPara>
                </a14:m>
                <a:endParaRPr lang="en-US" sz="2400" b="0" dirty="0"/>
              </a:p>
              <a:p>
                <a:pPr algn="just"/>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𝐹</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𝑚𝑣</m:t>
                              </m:r>
                            </m:e>
                            <m:sup>
                              <m:r>
                                <a:rPr lang="en-US" sz="2400" b="0" i="1" smtClean="0">
                                  <a:latin typeface="Cambria Math" panose="02040503050406030204" pitchFamily="18" charset="0"/>
                                </a:rPr>
                                <m:t>2</m:t>
                              </m:r>
                            </m:sup>
                          </m:sSup>
                        </m:num>
                        <m:den>
                          <m:r>
                            <a:rPr lang="en-US" sz="2400" b="0" i="1" smtClean="0">
                              <a:latin typeface="Cambria Math" panose="02040503050406030204" pitchFamily="18" charset="0"/>
                            </a:rPr>
                            <m:t>𝑟</m:t>
                          </m:r>
                        </m:den>
                      </m:f>
                      <m:r>
                        <a:rPr lang="en-US" sz="2400" b="0" i="1" smtClean="0">
                          <a:latin typeface="Cambria Math" panose="02040503050406030204" pitchFamily="18" charset="0"/>
                        </a:rPr>
                        <m:t>       : </m:t>
                      </m:r>
                      <m:r>
                        <a:rPr lang="en-US" sz="2400" b="0" i="1" smtClean="0">
                          <a:latin typeface="Cambria Math" panose="02040503050406030204" pitchFamily="18" charset="0"/>
                          <a:ea typeface="Cambria Math" panose="02040503050406030204" pitchFamily="18" charset="0"/>
                        </a:rPr>
                        <m:t>𝜔</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𝑣</m:t>
                          </m:r>
                        </m:num>
                        <m:den>
                          <m:r>
                            <a:rPr lang="en-US" sz="2400" b="0" i="1" smtClean="0">
                              <a:latin typeface="Cambria Math" panose="02040503050406030204" pitchFamily="18" charset="0"/>
                              <a:ea typeface="Cambria Math" panose="02040503050406030204" pitchFamily="18" charset="0"/>
                            </a:rPr>
                            <m:t>𝑟</m:t>
                          </m:r>
                        </m:den>
                      </m:f>
                    </m:oMath>
                  </m:oMathPara>
                </a14:m>
                <a:endParaRPr lang="en-US" sz="2400" b="0" dirty="0">
                  <a:ea typeface="Cambria Math" panose="02040503050406030204" pitchFamily="18" charset="0"/>
                </a:endParaRPr>
              </a:p>
              <a:p>
                <a:pPr algn="just"/>
                <a:endParaRPr lang="en-US" sz="2400" dirty="0"/>
              </a:p>
            </p:txBody>
          </p:sp>
        </mc:Choice>
        <mc:Fallback>
          <p:sp>
            <p:nvSpPr>
              <p:cNvPr id="9" name="Rectangle 8">
                <a:extLst>
                  <a:ext uri="{FF2B5EF4-FFF2-40B4-BE49-F238E27FC236}">
                    <a16:creationId xmlns:a16="http://schemas.microsoft.com/office/drawing/2014/main" id="{724439B8-1D0E-4063-BCB3-A41215D46572}"/>
                  </a:ext>
                </a:extLst>
              </p:cNvPr>
              <p:cNvSpPr>
                <a:spLocks noRot="1" noChangeAspect="1" noMove="1" noResize="1" noEditPoints="1" noAdjustHandles="1" noChangeArrowheads="1" noChangeShapeType="1" noTextEdit="1"/>
              </p:cNvSpPr>
              <p:nvPr/>
            </p:nvSpPr>
            <p:spPr>
              <a:xfrm>
                <a:off x="1240521" y="3671454"/>
                <a:ext cx="4502727" cy="3068781"/>
              </a:xfrm>
              <a:prstGeom prst="rect">
                <a:avLst/>
              </a:prstGeom>
              <a:blipFill>
                <a:blip r:embed="rId3"/>
                <a:stretch>
                  <a:fillRect/>
                </a:stretch>
              </a:blipFill>
              <a:ln w="28575">
                <a:solidFill>
                  <a:srgbClr val="00B0F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tangle 9">
                <a:extLst>
                  <a:ext uri="{FF2B5EF4-FFF2-40B4-BE49-F238E27FC236}">
                    <a16:creationId xmlns:a16="http://schemas.microsoft.com/office/drawing/2014/main" id="{EA253E46-D6DA-45D0-AEF0-B44C9A2052A7}"/>
                  </a:ext>
                </a:extLst>
              </p:cNvPr>
              <p:cNvSpPr/>
              <p:nvPr/>
            </p:nvSpPr>
            <p:spPr>
              <a:xfrm>
                <a:off x="2702176" y="5775181"/>
                <a:ext cx="1773383" cy="722600"/>
              </a:xfrm>
              <a:prstGeom prst="rect">
                <a:avLst/>
              </a:prstGeom>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𝐹</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𝑚</m:t>
                      </m:r>
                      <m:sSup>
                        <m:sSup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pPr>
                        <m:e>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𝜔</m:t>
                          </m:r>
                        </m:e>
                        <m:sup>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2</m:t>
                          </m:r>
                        </m:sup>
                      </m:sSup>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𝑣</m:t>
                      </m:r>
                    </m:oMath>
                  </m:oMathPara>
                </a14:m>
                <a:endParaRPr lang="en-US" sz="2400" dirty="0">
                  <a:ln w="0"/>
                  <a:solidFill>
                    <a:schemeClr val="accent1"/>
                  </a:solidFill>
                  <a:effectLst>
                    <a:outerShdw blurRad="38100" dist="25400" dir="5400000" algn="ctr" rotWithShape="0">
                      <a:srgbClr val="6E747A">
                        <a:alpha val="43000"/>
                      </a:srgbClr>
                    </a:outerShdw>
                  </a:effectLst>
                </a:endParaRPr>
              </a:p>
            </p:txBody>
          </p:sp>
        </mc:Choice>
        <mc:Fallback>
          <p:sp>
            <p:nvSpPr>
              <p:cNvPr id="10" name="Rectangle 9">
                <a:extLst>
                  <a:ext uri="{FF2B5EF4-FFF2-40B4-BE49-F238E27FC236}">
                    <a16:creationId xmlns:a16="http://schemas.microsoft.com/office/drawing/2014/main" id="{EA253E46-D6DA-45D0-AEF0-B44C9A2052A7}"/>
                  </a:ext>
                </a:extLst>
              </p:cNvPr>
              <p:cNvSpPr>
                <a:spLocks noRot="1" noChangeAspect="1" noMove="1" noResize="1" noEditPoints="1" noAdjustHandles="1" noChangeArrowheads="1" noChangeShapeType="1" noTextEdit="1"/>
              </p:cNvSpPr>
              <p:nvPr/>
            </p:nvSpPr>
            <p:spPr>
              <a:xfrm>
                <a:off x="2702176" y="5775181"/>
                <a:ext cx="1773383" cy="722600"/>
              </a:xfrm>
              <a:prstGeom prst="rect">
                <a:avLst/>
              </a:prstGeom>
              <a:blipFill>
                <a:blip r:embed="rId4"/>
                <a:stretch>
                  <a:fillRect/>
                </a:stretch>
              </a:blipFill>
              <a:ln w="28575">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4274306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BA484-751A-40DC-BB85-A57B50F5CBD6}"/>
              </a:ext>
            </a:extLst>
          </p:cNvPr>
          <p:cNvSpPr>
            <a:spLocks noGrp="1"/>
          </p:cNvSpPr>
          <p:nvPr>
            <p:ph type="title"/>
          </p:nvPr>
        </p:nvSpPr>
        <p:spPr>
          <a:xfrm>
            <a:off x="0" y="0"/>
            <a:ext cx="12192000" cy="540327"/>
          </a:xfrm>
        </p:spPr>
        <p:txBody>
          <a:bodyPr>
            <a:normAutofit fontScale="90000"/>
          </a:bodyPr>
          <a:lstStyle/>
          <a:p>
            <a:r>
              <a:rPr lang="en-US" sz="3600" b="1" dirty="0">
                <a:latin typeface="Times New Roman" panose="02020603050405020304" pitchFamily="18" charset="0"/>
                <a:cs typeface="Times New Roman" panose="02020603050405020304" pitchFamily="18" charset="0"/>
              </a:rPr>
              <a:t>Example2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6011F61-E53D-4C17-A28B-45A9D69CEC16}"/>
                  </a:ext>
                </a:extLst>
              </p:cNvPr>
              <p:cNvSpPr>
                <a:spLocks noGrp="1"/>
              </p:cNvSpPr>
              <p:nvPr>
                <p:ph idx="1"/>
              </p:nvPr>
            </p:nvSpPr>
            <p:spPr>
              <a:xfrm>
                <a:off x="0" y="429491"/>
                <a:ext cx="12192000" cy="5747472"/>
              </a:xfrm>
            </p:spPr>
            <p:txBody>
              <a:bodyPr/>
              <a:lstStyle/>
              <a:p>
                <a:pPr marL="0" indent="0" algn="just">
                  <a:lnSpc>
                    <a:spcPct val="100000"/>
                  </a:lnSpc>
                  <a:buNone/>
                </a:pPr>
                <a14:m>
                  <m:oMath xmlns:m="http://schemas.openxmlformats.org/officeDocument/2006/math">
                    <m:r>
                      <m:rPr>
                        <m:nor/>
                      </m:rPr>
                      <a:rPr lang="en-US" dirty="0">
                        <a:latin typeface="Times New Roman" panose="02020603050405020304" pitchFamily="18" charset="0"/>
                        <a:cs typeface="Times New Roman" panose="02020603050405020304" pitchFamily="18" charset="0"/>
                      </a:rPr>
                      <m:t>Calculate</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the</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centripetal</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acceleration</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and</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force</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acting</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on</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an</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aeroplane</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of</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mass</m:t>
                    </m:r>
                    <m:r>
                      <m:rPr>
                        <m:nor/>
                      </m:rPr>
                      <a:rPr lang="en-US" dirty="0">
                        <a:latin typeface="Times New Roman" panose="02020603050405020304" pitchFamily="18" charset="0"/>
                        <a:cs typeface="Times New Roman" panose="02020603050405020304" pitchFamily="18" charset="0"/>
                      </a:rPr>
                      <m:t> 1500 </m:t>
                    </m:r>
                    <m:r>
                      <m:rPr>
                        <m:nor/>
                      </m:rPr>
                      <a:rPr lang="en-US" dirty="0">
                        <a:latin typeface="Times New Roman" panose="02020603050405020304" pitchFamily="18" charset="0"/>
                        <a:cs typeface="Times New Roman" panose="02020603050405020304" pitchFamily="18" charset="0"/>
                      </a:rPr>
                      <m:t>kg</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turning</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on</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a</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circle</m:t>
                    </m:r>
                    <m:r>
                      <m:rPr>
                        <m:nor/>
                      </m:rPr>
                      <a:rPr lang="en-US" dirty="0">
                        <a:latin typeface="Times New Roman" panose="02020603050405020304" pitchFamily="18" charset="0"/>
                        <a:cs typeface="Times New Roman" panose="02020603050405020304" pitchFamily="18" charset="0"/>
                      </a:rPr>
                      <m:t> 400 </m:t>
                    </m:r>
                    <m:r>
                      <m:rPr>
                        <m:nor/>
                      </m:rPr>
                      <a:rPr lang="en-US" dirty="0">
                        <a:latin typeface="Times New Roman" panose="02020603050405020304" pitchFamily="18" charset="0"/>
                        <a:cs typeface="Times New Roman" panose="02020603050405020304" pitchFamily="18" charset="0"/>
                      </a:rPr>
                      <m:t>m</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radius</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at</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a</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velocity</m:t>
                    </m:r>
                    <m:r>
                      <m:rPr>
                        <m:nor/>
                      </m:rPr>
                      <a:rPr lang="en-US" dirty="0">
                        <a:latin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cs typeface="Times New Roman" panose="02020603050405020304" pitchFamily="18" charset="0"/>
                      </a:rPr>
                      <m:t>of</m:t>
                    </m:r>
                    <m:r>
                      <m:rPr>
                        <m:nor/>
                      </m:rPr>
                      <a:rPr lang="en-US" dirty="0">
                        <a:latin typeface="Times New Roman" panose="02020603050405020304" pitchFamily="18" charset="0"/>
                        <a:cs typeface="Times New Roman" panose="02020603050405020304" pitchFamily="18" charset="0"/>
                      </a:rPr>
                      <m:t> 300 </m:t>
                    </m:r>
                    <m:r>
                      <m:rPr>
                        <m:nor/>
                      </m:rPr>
                      <a:rPr lang="en-US" dirty="0">
                        <a:latin typeface="Times New Roman" panose="02020603050405020304" pitchFamily="18" charset="0"/>
                        <a:cs typeface="Times New Roman" panose="02020603050405020304" pitchFamily="18" charset="0"/>
                      </a:rPr>
                      <m:t>m</m:t>
                    </m:r>
                    <m:r>
                      <m:rPr>
                        <m:nor/>
                      </m:rPr>
                      <a:rPr lang="en-US" dirty="0">
                        <a:latin typeface="Times New Roman" panose="02020603050405020304" pitchFamily="18" charset="0"/>
                        <a:cs typeface="Times New Roman" panose="02020603050405020304" pitchFamily="18" charset="0"/>
                      </a:rPr>
                      <m:t>/</m:t>
                    </m:r>
                    <m:r>
                      <m:rPr>
                        <m:nor/>
                      </m:rPr>
                      <a:rPr lang="en-US" dirty="0">
                        <a:latin typeface="Times New Roman" panose="02020603050405020304" pitchFamily="18" charset="0"/>
                        <a:cs typeface="Times New Roman" panose="02020603050405020304" pitchFamily="18" charset="0"/>
                      </a:rPr>
                      <m:t>s</m:t>
                    </m:r>
                  </m:oMath>
                </a14:m>
                <a:r>
                  <a:rPr lang="en-US"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Solution:</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Self Assessment Exercise</a:t>
                </a:r>
              </a:p>
              <a:p>
                <a:pPr marL="0" indent="0">
                  <a:buNone/>
                </a:pPr>
                <a:r>
                  <a:rPr lang="en-US" dirty="0">
                    <a:latin typeface="Times New Roman" panose="02020603050405020304" pitchFamily="18" charset="0"/>
                    <a:cs typeface="Times New Roman" panose="02020603050405020304" pitchFamily="18" charset="0"/>
                  </a:rPr>
                  <a:t>Calculate the centripetal force acting on small mass of 0.5kg rotating at 157rad/s on a radius of 300mm.</a:t>
                </a:r>
              </a:p>
              <a:p>
                <a:pPr marL="0" indent="0">
                  <a:buNone/>
                </a:pPr>
                <a:endParaRPr lang="en-US"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66011F61-E53D-4C17-A28B-45A9D69CEC16}"/>
                  </a:ext>
                </a:extLst>
              </p:cNvPr>
              <p:cNvSpPr>
                <a:spLocks noGrp="1" noRot="1" noChangeAspect="1" noMove="1" noResize="1" noEditPoints="1" noAdjustHandles="1" noChangeArrowheads="1" noChangeShapeType="1" noTextEdit="1"/>
              </p:cNvSpPr>
              <p:nvPr>
                <p:ph idx="1"/>
              </p:nvPr>
            </p:nvSpPr>
            <p:spPr>
              <a:xfrm>
                <a:off x="0" y="429491"/>
                <a:ext cx="12192000" cy="5747472"/>
              </a:xfrm>
              <a:blipFill>
                <a:blip r:embed="rId2"/>
                <a:stretch>
                  <a:fillRect l="-1000" r="-75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Rectangle: Rounded Corners 4">
                <a:extLst>
                  <a:ext uri="{FF2B5EF4-FFF2-40B4-BE49-F238E27FC236}">
                    <a16:creationId xmlns:a16="http://schemas.microsoft.com/office/drawing/2014/main" id="{1A990323-C727-4515-82D7-0E357A4CEF84}"/>
                  </a:ext>
                </a:extLst>
              </p:cNvPr>
              <p:cNvSpPr/>
              <p:nvPr/>
            </p:nvSpPr>
            <p:spPr>
              <a:xfrm>
                <a:off x="2563091" y="1731818"/>
                <a:ext cx="8589818" cy="1697182"/>
              </a:xfrm>
              <a:prstGeom prst="roundRect">
                <a:avLst/>
              </a:prstGeom>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50000"/>
                  </a:lnSpc>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𝐶𝑒𝑛𝑡𝑟𝑖𝑝𝑒𝑡𝑎𝑙</m:t>
                      </m:r>
                      <m:r>
                        <a:rPr lang="en-US" sz="2000" b="0" i="1" smtClean="0">
                          <a:latin typeface="Cambria Math" panose="02040503050406030204" pitchFamily="18" charset="0"/>
                        </a:rPr>
                        <m:t> </m:t>
                      </m:r>
                      <m:r>
                        <a:rPr lang="en-US" sz="2000" b="0" i="1" smtClean="0">
                          <a:latin typeface="Cambria Math" panose="02040503050406030204" pitchFamily="18" charset="0"/>
                        </a:rPr>
                        <m:t>𝑓𝑜𝑟𝑐𝑒</m:t>
                      </m:r>
                      <m:r>
                        <a:rPr lang="en-US" sz="2000" b="0" i="1" smtClean="0">
                          <a:latin typeface="Cambria Math" panose="02040503050406030204" pitchFamily="18" charset="0"/>
                        </a:rPr>
                        <m:t> </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𝐹</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𝑚𝑣</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𝑅</m:t>
                          </m:r>
                        </m:den>
                      </m:f>
                      <m:r>
                        <a:rPr lang="en-US" sz="2000" b="0" i="1" smtClean="0">
                          <a:latin typeface="Cambria Math" panose="02040503050406030204" pitchFamily="18" charset="0"/>
                        </a:rPr>
                        <m:t>=1500</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300</m:t>
                              </m:r>
                            </m:e>
                            <m:sup>
                              <m:r>
                                <a:rPr lang="en-US" sz="2000" b="0" i="1" smtClean="0">
                                  <a:latin typeface="Cambria Math" panose="02040503050406030204" pitchFamily="18" charset="0"/>
                                  <a:ea typeface="Cambria Math" panose="02040503050406030204" pitchFamily="18" charset="0"/>
                                </a:rPr>
                                <m:t>2</m:t>
                              </m:r>
                            </m:sup>
                          </m:sSup>
                        </m:num>
                        <m:den>
                          <m:r>
                            <a:rPr lang="en-US" sz="2000" b="0" i="1" smtClean="0">
                              <a:latin typeface="Cambria Math" panose="02040503050406030204" pitchFamily="18" charset="0"/>
                              <a:ea typeface="Cambria Math" panose="02040503050406030204" pitchFamily="18" charset="0"/>
                            </a:rPr>
                            <m:t>400</m:t>
                          </m:r>
                        </m:den>
                      </m:f>
                      <m:r>
                        <a:rPr lang="en-US" sz="2000" b="0" i="1" smtClean="0">
                          <a:latin typeface="Cambria Math" panose="02040503050406030204" pitchFamily="18" charset="0"/>
                        </a:rPr>
                        <m:t>=1500</m:t>
                      </m:r>
                      <m:r>
                        <a:rPr lang="en-US" sz="2000" b="0" i="1" smtClean="0">
                          <a:latin typeface="Cambria Math" panose="02040503050406030204" pitchFamily="18" charset="0"/>
                          <a:ea typeface="Cambria Math" panose="02040503050406030204" pitchFamily="18" charset="0"/>
                        </a:rPr>
                        <m:t>×225</m:t>
                      </m:r>
                    </m:oMath>
                  </m:oMathPara>
                </a14:m>
                <a:endParaRPr lang="en-US" sz="2000" b="0" dirty="0">
                  <a:latin typeface="Times New Roman" panose="02020603050405020304" pitchFamily="18" charset="0"/>
                  <a:ea typeface="Cambria Math" panose="02040503050406030204" pitchFamily="18" charset="0"/>
                  <a:cs typeface="Times New Roman" panose="020206030504050203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𝐹</m:t>
                      </m:r>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=337.5</m:t>
                      </m:r>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𝑘𝑁</m:t>
                      </m:r>
                    </m:oMath>
                  </m:oMathPara>
                </a14:m>
                <a:endParaRPr lang="en-US" sz="2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algn="ctr">
                  <a:lnSpc>
                    <a:spcPct val="150000"/>
                  </a:lnSpc>
                </a:pPr>
                <a:endParaRPr lang="en-US" sz="2000" dirty="0">
                  <a:latin typeface="Times New Roman" panose="02020603050405020304" pitchFamily="18" charset="0"/>
                  <a:cs typeface="Times New Roman" panose="02020603050405020304" pitchFamily="18" charset="0"/>
                </a:endParaRPr>
              </a:p>
            </p:txBody>
          </p:sp>
        </mc:Choice>
        <mc:Fallback>
          <p:sp>
            <p:nvSpPr>
              <p:cNvPr id="5" name="Rectangle: Rounded Corners 4">
                <a:extLst>
                  <a:ext uri="{FF2B5EF4-FFF2-40B4-BE49-F238E27FC236}">
                    <a16:creationId xmlns:a16="http://schemas.microsoft.com/office/drawing/2014/main" id="{1A990323-C727-4515-82D7-0E357A4CEF84}"/>
                  </a:ext>
                </a:extLst>
              </p:cNvPr>
              <p:cNvSpPr>
                <a:spLocks noRot="1" noChangeAspect="1" noMove="1" noResize="1" noEditPoints="1" noAdjustHandles="1" noChangeArrowheads="1" noChangeShapeType="1" noTextEdit="1"/>
              </p:cNvSpPr>
              <p:nvPr/>
            </p:nvSpPr>
            <p:spPr>
              <a:xfrm>
                <a:off x="2563091" y="1731818"/>
                <a:ext cx="8589818" cy="1697182"/>
              </a:xfrm>
              <a:prstGeom prst="roundRect">
                <a:avLst/>
              </a:prstGeom>
              <a:blipFill>
                <a:blip r:embed="rId3"/>
                <a:stretch>
                  <a:fillRect/>
                </a:stretch>
              </a:blipFill>
              <a:ln w="28575">
                <a:solidFill>
                  <a:srgbClr val="FF000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Rectangle: Rounded Corners 5">
                <a:extLst>
                  <a:ext uri="{FF2B5EF4-FFF2-40B4-BE49-F238E27FC236}">
                    <a16:creationId xmlns:a16="http://schemas.microsoft.com/office/drawing/2014/main" id="{8B45D264-AF48-41B4-9BBF-B3B5F523155C}"/>
                  </a:ext>
                </a:extLst>
              </p:cNvPr>
              <p:cNvSpPr/>
              <p:nvPr/>
            </p:nvSpPr>
            <p:spPr>
              <a:xfrm>
                <a:off x="3269673" y="4973781"/>
                <a:ext cx="1967345" cy="692727"/>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𝐴𝑛𝑠</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=3697</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𝑁</m:t>
                      </m:r>
                    </m:oMath>
                  </m:oMathPara>
                </a14:m>
                <a:endParaRPr lang="en-US" dirty="0">
                  <a:ln w="0"/>
                  <a:solidFill>
                    <a:schemeClr val="accent1"/>
                  </a:solidFill>
                  <a:effectLst>
                    <a:outerShdw blurRad="38100" dist="25400" dir="5400000" algn="ctr" rotWithShape="0">
                      <a:srgbClr val="6E747A">
                        <a:alpha val="43000"/>
                      </a:srgbClr>
                    </a:outerShdw>
                  </a:effectLst>
                </a:endParaRPr>
              </a:p>
            </p:txBody>
          </p:sp>
        </mc:Choice>
        <mc:Fallback>
          <p:sp>
            <p:nvSpPr>
              <p:cNvPr id="6" name="Rectangle: Rounded Corners 5">
                <a:extLst>
                  <a:ext uri="{FF2B5EF4-FFF2-40B4-BE49-F238E27FC236}">
                    <a16:creationId xmlns:a16="http://schemas.microsoft.com/office/drawing/2014/main" id="{8B45D264-AF48-41B4-9BBF-B3B5F523155C}"/>
                  </a:ext>
                </a:extLst>
              </p:cNvPr>
              <p:cNvSpPr>
                <a:spLocks noRot="1" noChangeAspect="1" noMove="1" noResize="1" noEditPoints="1" noAdjustHandles="1" noChangeArrowheads="1" noChangeShapeType="1" noTextEdit="1"/>
              </p:cNvSpPr>
              <p:nvPr/>
            </p:nvSpPr>
            <p:spPr>
              <a:xfrm>
                <a:off x="3269673" y="4973781"/>
                <a:ext cx="1967345" cy="692727"/>
              </a:xfrm>
              <a:prstGeom prst="roundRect">
                <a:avLst/>
              </a:prstGeom>
              <a:blipFill>
                <a:blip r:embed="rId4"/>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3447359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FC5E2-7846-4713-B95B-BD1FAF49818D}"/>
              </a:ext>
            </a:extLst>
          </p:cNvPr>
          <p:cNvSpPr>
            <a:spLocks noGrp="1"/>
          </p:cNvSpPr>
          <p:nvPr>
            <p:ph type="title"/>
          </p:nvPr>
        </p:nvSpPr>
        <p:spPr>
          <a:xfrm>
            <a:off x="838200" y="0"/>
            <a:ext cx="10515600" cy="665018"/>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Conical Pendulum</a:t>
            </a:r>
          </a:p>
        </p:txBody>
      </p:sp>
      <p:pic>
        <p:nvPicPr>
          <p:cNvPr id="5" name="Content Placeholder 4">
            <a:extLst>
              <a:ext uri="{FF2B5EF4-FFF2-40B4-BE49-F238E27FC236}">
                <a16:creationId xmlns:a16="http://schemas.microsoft.com/office/drawing/2014/main" id="{F7012A34-3A98-4DE0-B3B4-F9F52481C5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801831"/>
            <a:ext cx="3378128" cy="3148445"/>
          </a:xfrm>
        </p:spPr>
      </p:pic>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E6B0D5EA-1D3A-43EE-92D6-E5E96F964613}"/>
                  </a:ext>
                </a:extLst>
              </p:cNvPr>
              <p:cNvSpPr/>
              <p:nvPr/>
            </p:nvSpPr>
            <p:spPr>
              <a:xfrm>
                <a:off x="838200" y="4294908"/>
                <a:ext cx="2805545" cy="1801091"/>
              </a:xfrm>
              <a:prstGeom prst="rect">
                <a:avLst/>
              </a:prstGeom>
              <a:ln w="28575">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𝐹𝑐𝑜𝑠</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𝑚𝑔</m:t>
                      </m:r>
                    </m:oMath>
                  </m:oMathPara>
                </a14:m>
                <a:endParaRPr lang="en-US" b="0" dirty="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𝑚𝑔</m:t>
                          </m:r>
                        </m:num>
                        <m:den>
                          <m:r>
                            <a:rPr lang="en-US" b="0" i="1" smtClean="0">
                              <a:latin typeface="Cambria Math" panose="02040503050406030204" pitchFamily="18" charset="0"/>
                            </a:rPr>
                            <m:t>𝑐𝑜𝑠</m:t>
                          </m:r>
                          <m:r>
                            <a:rPr lang="en-US" b="0" i="1" smtClean="0">
                              <a:latin typeface="Cambria Math" panose="02040503050406030204" pitchFamily="18" charset="0"/>
                              <a:ea typeface="Cambria Math" panose="02040503050406030204" pitchFamily="18" charset="0"/>
                            </a:rPr>
                            <m:t>𝜃</m:t>
                          </m:r>
                        </m:den>
                      </m:f>
                    </m:oMath>
                  </m:oMathPara>
                </a14:m>
                <a:endParaRPr lang="en-US" dirty="0"/>
              </a:p>
            </p:txBody>
          </p:sp>
        </mc:Choice>
        <mc:Fallback>
          <p:sp>
            <p:nvSpPr>
              <p:cNvPr id="6" name="Rectangle 5">
                <a:extLst>
                  <a:ext uri="{FF2B5EF4-FFF2-40B4-BE49-F238E27FC236}">
                    <a16:creationId xmlns:a16="http://schemas.microsoft.com/office/drawing/2014/main" id="{E6B0D5EA-1D3A-43EE-92D6-E5E96F964613}"/>
                  </a:ext>
                </a:extLst>
              </p:cNvPr>
              <p:cNvSpPr>
                <a:spLocks noRot="1" noChangeAspect="1" noMove="1" noResize="1" noEditPoints="1" noAdjustHandles="1" noChangeArrowheads="1" noChangeShapeType="1" noTextEdit="1"/>
              </p:cNvSpPr>
              <p:nvPr/>
            </p:nvSpPr>
            <p:spPr>
              <a:xfrm>
                <a:off x="838200" y="4294908"/>
                <a:ext cx="2805545" cy="1801091"/>
              </a:xfrm>
              <a:prstGeom prst="rect">
                <a:avLst/>
              </a:prstGeom>
              <a:blipFill>
                <a:blip r:embed="rId3"/>
                <a:stretch>
                  <a:fillRect/>
                </a:stretch>
              </a:blipFill>
              <a:ln w="28575">
                <a:solidFill>
                  <a:schemeClr val="accent2"/>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63EF4CD9-C8EA-425C-96B0-2AEA2C7A7358}"/>
                  </a:ext>
                </a:extLst>
              </p:cNvPr>
              <p:cNvSpPr/>
              <p:nvPr/>
            </p:nvSpPr>
            <p:spPr>
              <a:xfrm>
                <a:off x="4220875" y="1011382"/>
                <a:ext cx="3248890" cy="5084618"/>
              </a:xfrm>
              <a:prstGeom prst="rect">
                <a:avLst/>
              </a:prstGeom>
              <a:ln w="28575">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For the object to move in circle</a:t>
                </a:r>
              </a:p>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𝐹𝑠𝑖𝑛</m:t>
                      </m:r>
                      <m:r>
                        <a:rPr lang="en-US" sz="2000" b="0" i="1" smtClean="0">
                          <a:latin typeface="Cambria Math" panose="02040503050406030204" pitchFamily="18" charset="0"/>
                          <a:ea typeface="Cambria Math" panose="02040503050406030204" pitchFamily="18" charset="0"/>
                        </a:rPr>
                        <m:t>𝜃</m:t>
                      </m:r>
                      <m:r>
                        <a:rPr lang="en-US" sz="2000" b="0" i="1" smtClean="0">
                          <a:latin typeface="Cambria Math" panose="02040503050406030204" pitchFamily="18" charset="0"/>
                        </a:rPr>
                        <m:t>=</m:t>
                      </m:r>
                      <m:r>
                        <a:rPr lang="en-US" sz="2000" b="0" i="1" smtClean="0">
                          <a:latin typeface="Cambria Math" panose="02040503050406030204" pitchFamily="18" charset="0"/>
                        </a:rPr>
                        <m:t>𝑚</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𝑟</m:t>
                          </m:r>
                        </m:sub>
                      </m:sSub>
                    </m:oMath>
                  </m:oMathPara>
                </a14:m>
                <a:endParaRPr lang="en-US" sz="2000" dirty="0"/>
              </a:p>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𝐹𝑠𝑖𝑛</m:t>
                      </m:r>
                      <m:r>
                        <a:rPr lang="en-US" sz="2000" b="0" i="1" smtClean="0">
                          <a:latin typeface="Cambria Math" panose="02040503050406030204" pitchFamily="18" charset="0"/>
                          <a:ea typeface="Cambria Math" panose="02040503050406030204" pitchFamily="18" charset="0"/>
                        </a:rPr>
                        <m:t>𝜃</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𝑚</m:t>
                      </m:r>
                      <m:f>
                        <m:fPr>
                          <m:ctrlPr>
                            <a:rPr lang="en-US" sz="2000" b="0" i="1" smtClean="0">
                              <a:latin typeface="Cambria Math" panose="02040503050406030204" pitchFamily="18" charset="0"/>
                              <a:ea typeface="Cambria Math" panose="02040503050406030204" pitchFamily="18" charset="0"/>
                            </a:rPr>
                          </m:ctrlPr>
                        </m:fPr>
                        <m:num>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𝑣</m:t>
                              </m:r>
                            </m:e>
                            <m:sup>
                              <m:r>
                                <a:rPr lang="en-US" sz="2000" b="0" i="1" smtClean="0">
                                  <a:latin typeface="Cambria Math" panose="02040503050406030204" pitchFamily="18" charset="0"/>
                                  <a:ea typeface="Cambria Math" panose="02040503050406030204" pitchFamily="18" charset="0"/>
                                </a:rPr>
                                <m:t>2</m:t>
                              </m:r>
                            </m:sup>
                          </m:sSup>
                        </m:num>
                        <m:den>
                          <m:r>
                            <a:rPr lang="en-US" sz="2000" b="0" i="1" smtClean="0">
                              <a:latin typeface="Cambria Math" panose="02040503050406030204" pitchFamily="18" charset="0"/>
                              <a:ea typeface="Cambria Math" panose="02040503050406030204" pitchFamily="18" charset="0"/>
                            </a:rPr>
                            <m:t>𝑟</m:t>
                          </m:r>
                        </m:den>
                      </m:f>
                    </m:oMath>
                  </m:oMathPara>
                </a14:m>
                <a:endParaRPr lang="en-US" sz="2000" dirty="0"/>
              </a:p>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𝑚𝑔</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𝑠𝑖𝑛</m:t>
                          </m:r>
                          <m:r>
                            <a:rPr lang="en-US" sz="2000" b="0" i="1" smtClean="0">
                              <a:latin typeface="Cambria Math" panose="02040503050406030204" pitchFamily="18" charset="0"/>
                              <a:ea typeface="Cambria Math" panose="02040503050406030204" pitchFamily="18" charset="0"/>
                            </a:rPr>
                            <m:t>𝜃</m:t>
                          </m:r>
                        </m:num>
                        <m:den>
                          <m:r>
                            <a:rPr lang="en-US" sz="2000" b="0" i="1" smtClean="0">
                              <a:latin typeface="Cambria Math" panose="02040503050406030204" pitchFamily="18" charset="0"/>
                            </a:rPr>
                            <m:t>𝑐𝑜𝑠</m:t>
                          </m:r>
                          <m:r>
                            <a:rPr lang="en-US" sz="2000" b="0" i="1" smtClean="0">
                              <a:latin typeface="Cambria Math" panose="02040503050406030204" pitchFamily="18" charset="0"/>
                              <a:ea typeface="Cambria Math" panose="02040503050406030204" pitchFamily="18" charset="0"/>
                            </a:rPr>
                            <m:t>𝜃</m:t>
                          </m:r>
                        </m:den>
                      </m:f>
                      <m:r>
                        <a:rPr lang="en-US" sz="2000" b="0" i="1" smtClean="0">
                          <a:latin typeface="Cambria Math" panose="02040503050406030204" pitchFamily="18" charset="0"/>
                        </a:rPr>
                        <m:t>=</m:t>
                      </m:r>
                      <m:r>
                        <a:rPr lang="en-US" sz="2000" b="0" i="1" smtClean="0">
                          <a:latin typeface="Cambria Math" panose="02040503050406030204" pitchFamily="18" charset="0"/>
                        </a:rPr>
                        <m:t>𝑚</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𝑣</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𝑟</m:t>
                          </m:r>
                        </m:den>
                      </m:f>
                    </m:oMath>
                  </m:oMathPara>
                </a14:m>
                <a:endParaRPr lang="en-US" sz="2000" b="0" dirty="0"/>
              </a:p>
              <a:p>
                <a:pPr algn="ctr"/>
                <a:endParaRPr lang="en-US" sz="2000" dirty="0"/>
              </a:p>
              <a:p>
                <a:pPr algn="ctr"/>
                <a:endParaRPr lang="en-US" sz="2000" dirty="0"/>
              </a:p>
              <a:p>
                <a:pPr algn="ctr"/>
                <a:endParaRPr lang="en-US" sz="2000" dirty="0"/>
              </a:p>
              <a:p>
                <a:pPr algn="ctr"/>
                <a:endParaRPr lang="en-US" sz="2000" dirty="0"/>
              </a:p>
              <a:p>
                <a:pPr algn="ctr"/>
                <a:r>
                  <a:rPr lang="en-US" sz="1600" dirty="0">
                    <a:latin typeface="Times New Roman" panose="02020603050405020304" pitchFamily="18" charset="0"/>
                    <a:cs typeface="Times New Roman" panose="02020603050405020304" pitchFamily="18" charset="0"/>
                  </a:rPr>
                  <a:t>Where V is the speed of the object</a:t>
                </a:r>
              </a:p>
            </p:txBody>
          </p:sp>
        </mc:Choice>
        <mc:Fallback>
          <p:sp>
            <p:nvSpPr>
              <p:cNvPr id="7" name="Rectangle 6">
                <a:extLst>
                  <a:ext uri="{FF2B5EF4-FFF2-40B4-BE49-F238E27FC236}">
                    <a16:creationId xmlns:a16="http://schemas.microsoft.com/office/drawing/2014/main" id="{63EF4CD9-C8EA-425C-96B0-2AEA2C7A7358}"/>
                  </a:ext>
                </a:extLst>
              </p:cNvPr>
              <p:cNvSpPr>
                <a:spLocks noRot="1" noChangeAspect="1" noMove="1" noResize="1" noEditPoints="1" noAdjustHandles="1" noChangeArrowheads="1" noChangeShapeType="1" noTextEdit="1"/>
              </p:cNvSpPr>
              <p:nvPr/>
            </p:nvSpPr>
            <p:spPr>
              <a:xfrm>
                <a:off x="4220875" y="1011382"/>
                <a:ext cx="3248890" cy="5084618"/>
              </a:xfrm>
              <a:prstGeom prst="rect">
                <a:avLst/>
              </a:prstGeom>
              <a:blipFill>
                <a:blip r:embed="rId4"/>
                <a:stretch>
                  <a:fillRect/>
                </a:stretch>
              </a:blipFill>
              <a:ln w="28575">
                <a:solidFill>
                  <a:srgbClr val="00B0F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DEDB97F2-5B53-4223-8A6C-981D5FDB258B}"/>
                  </a:ext>
                </a:extLst>
              </p:cNvPr>
              <p:cNvSpPr/>
              <p:nvPr/>
            </p:nvSpPr>
            <p:spPr>
              <a:xfrm>
                <a:off x="5195454" y="3986644"/>
                <a:ext cx="1801091" cy="616528"/>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𝒗</m:t>
                      </m:r>
                      <m:r>
                        <a:rPr lang="en-US"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m:t>
                      </m:r>
                      <m:rad>
                        <m:radPr>
                          <m:degHide m:val="on"/>
                          <m:ctrlPr>
                            <a:rPr lang="en-US"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radPr>
                        <m:deg/>
                        <m:e>
                          <m:r>
                            <a:rPr lang="en-US"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𝑔</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𝑟</m:t>
                          </m:r>
                          <m:r>
                            <a:rPr lang="en-US"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𝑡𝑎𝑛</m:t>
                          </m:r>
                          <m:r>
                            <a:rPr lang="en-US"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𝜃</m:t>
                          </m:r>
                        </m:e>
                      </m:rad>
                    </m:oMath>
                  </m:oMathPara>
                </a14:m>
                <a:endParaRPr lang="en-US" b="1" dirty="0"/>
              </a:p>
            </p:txBody>
          </p:sp>
        </mc:Choice>
        <mc:Fallback>
          <p:sp>
            <p:nvSpPr>
              <p:cNvPr id="3" name="Rectangle 2">
                <a:extLst>
                  <a:ext uri="{FF2B5EF4-FFF2-40B4-BE49-F238E27FC236}">
                    <a16:creationId xmlns:a16="http://schemas.microsoft.com/office/drawing/2014/main" id="{DEDB97F2-5B53-4223-8A6C-981D5FDB258B}"/>
                  </a:ext>
                </a:extLst>
              </p:cNvPr>
              <p:cNvSpPr>
                <a:spLocks noRot="1" noChangeAspect="1" noMove="1" noResize="1" noEditPoints="1" noAdjustHandles="1" noChangeArrowheads="1" noChangeShapeType="1" noTextEdit="1"/>
              </p:cNvSpPr>
              <p:nvPr/>
            </p:nvSpPr>
            <p:spPr>
              <a:xfrm>
                <a:off x="5195454" y="3986644"/>
                <a:ext cx="1801091" cy="616528"/>
              </a:xfrm>
              <a:prstGeom prst="rect">
                <a:avLst/>
              </a:prstGeom>
              <a:blipFill>
                <a:blip r:embed="rId5"/>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89EE8C7-5A32-4C7F-BEDB-D438AAD3B4B2}"/>
                  </a:ext>
                </a:extLst>
              </p:cNvPr>
              <p:cNvSpPr/>
              <p:nvPr/>
            </p:nvSpPr>
            <p:spPr>
              <a:xfrm>
                <a:off x="8003384" y="1011382"/>
                <a:ext cx="3112726" cy="50846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0" dirty="0">
                    <a:latin typeface="Times New Roman" panose="02020603050405020304" pitchFamily="18" charset="0"/>
                    <a:cs typeface="Times New Roman" panose="02020603050405020304" pitchFamily="18" charset="0"/>
                  </a:rPr>
                  <a:t>B</a:t>
                </a:r>
                <a14:m>
                  <m:oMath xmlns:m="http://schemas.openxmlformats.org/officeDocument/2006/math">
                    <m:r>
                      <a:rPr lang="en-US" b="0" i="1" smtClean="0">
                        <a:latin typeface="Cambria Math" panose="02040503050406030204" pitchFamily="18" charset="0"/>
                      </a:rPr>
                      <m:t>𝑢𝑡</m:t>
                    </m:r>
                    <m:r>
                      <a:rPr lang="en-US" b="0" i="1" smtClean="0">
                        <a:latin typeface="Cambria Math" panose="02040503050406030204" pitchFamily="18" charset="0"/>
                      </a:rPr>
                      <m:t>  </m:t>
                    </m:r>
                    <m:r>
                      <a:rPr lang="en-US" b="0" i="1" smtClean="0">
                        <a:latin typeface="Cambria Math" panose="02040503050406030204" pitchFamily="18" charset="0"/>
                      </a:rPr>
                      <m:t>𝑡𝑎𝑛</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𝑟</m:t>
                        </m:r>
                      </m:num>
                      <m:den>
                        <m:r>
                          <a:rPr lang="en-US" b="0" i="1" smtClean="0">
                            <a:latin typeface="Cambria Math" panose="02040503050406030204" pitchFamily="18" charset="0"/>
                            <a:ea typeface="Cambria Math" panose="02040503050406030204" pitchFamily="18" charset="0"/>
                          </a:rPr>
                          <m:t>h</m:t>
                        </m:r>
                      </m:den>
                    </m:f>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𝜔</m:t>
                    </m:r>
                  </m:oMath>
                </a14:m>
                <a:endParaRPr lang="en-US" b="0" dirty="0">
                  <a:latin typeface="Times New Roman" panose="02020603050405020304" pitchFamily="18" charset="0"/>
                  <a:ea typeface="Cambria Math" panose="020405030504060302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𝑔𝑟</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𝑟</m:t>
                              </m:r>
                            </m:num>
                            <m:den>
                              <m:r>
                                <a:rPr lang="en-US" b="0" i="1" smtClean="0">
                                  <a:latin typeface="Cambria Math" panose="02040503050406030204" pitchFamily="18" charset="0"/>
                                  <a:ea typeface="Cambria Math" panose="02040503050406030204" pitchFamily="18" charset="0"/>
                                </a:rPr>
                                <m:t>h</m:t>
                              </m:r>
                            </m:den>
                          </m:f>
                        </m:e>
                      </m:rad>
                    </m:oMath>
                  </m:oMathPara>
                </a14:m>
                <a:endParaRPr lang="en-US"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𝑔</m:t>
                              </m:r>
                            </m:num>
                            <m:den>
                              <m:r>
                                <a:rPr lang="en-US" b="0" i="1" smtClean="0">
                                  <a:latin typeface="Cambria Math" panose="02040503050406030204" pitchFamily="18" charset="0"/>
                                  <a:ea typeface="Cambria Math" panose="02040503050406030204" pitchFamily="18" charset="0"/>
                                </a:rPr>
                                <m:t>h</m:t>
                              </m:r>
                            </m:den>
                          </m:f>
                        </m:e>
                      </m:rad>
                    </m:oMath>
                  </m:oMathPara>
                </a14:m>
                <a:endParaRPr lang="en-US" b="0" dirty="0">
                  <a:latin typeface="Times New Roman" panose="02020603050405020304" pitchFamily="18" charset="0"/>
                  <a:ea typeface="Cambria Math" panose="020405030504060302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ea typeface="Cambria Math" panose="02040503050406030204" pitchFamily="18" charset="0"/>
                            </a:rPr>
                            <m:t>𝑇</m:t>
                          </m:r>
                        </m:den>
                      </m:f>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𝑔</m:t>
                              </m:r>
                            </m:num>
                            <m:den>
                              <m:r>
                                <a:rPr lang="en-US" b="0" i="1" smtClean="0">
                                  <a:latin typeface="Cambria Math" panose="02040503050406030204" pitchFamily="18" charset="0"/>
                                  <a:ea typeface="Cambria Math" panose="02040503050406030204" pitchFamily="18" charset="0"/>
                                </a:rPr>
                                <m:t>h</m:t>
                              </m:r>
                            </m:den>
                          </m:f>
                        </m:e>
                      </m:ra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𝑇</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den>
                      </m:f>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h</m:t>
                              </m:r>
                            </m:num>
                            <m:den>
                              <m:r>
                                <a:rPr lang="en-US" b="0" i="1" smtClean="0">
                                  <a:latin typeface="Cambria Math" panose="02040503050406030204" pitchFamily="18" charset="0"/>
                                  <a:ea typeface="Cambria Math" panose="02040503050406030204" pitchFamily="18" charset="0"/>
                                </a:rPr>
                                <m:t>𝑔</m:t>
                              </m:r>
                            </m:den>
                          </m:f>
                        </m:e>
                      </m:rad>
                    </m:oMath>
                  </m:oMathPara>
                </a14:m>
                <a:endParaRPr lang="en-US" b="0" dirty="0">
                  <a:latin typeface="Times New Roman" panose="02020603050405020304" pitchFamily="18" charset="0"/>
                  <a:ea typeface="Cambria Math" panose="020405030504060302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cs typeface="Times New Roman" panose="02020603050405020304" pitchFamily="18" charset="0"/>
                        </a:rPr>
                        <m:t>𝑇</m:t>
                      </m:r>
                      <m:r>
                        <a:rPr lang="en-US" b="0" i="1" smtClean="0">
                          <a:latin typeface="Cambria Math" panose="02040503050406030204" pitchFamily="18" charset="0"/>
                          <a:ea typeface="Cambria Math" panose="02040503050406030204" pitchFamily="18" charset="0"/>
                          <a:cs typeface="Times New Roman" panose="02020603050405020304" pitchFamily="18" charset="0"/>
                        </a:rPr>
                        <m:t>=2</m:t>
                      </m:r>
                      <m:r>
                        <a:rPr lang="en-US" b="0" i="1" smtClean="0">
                          <a:latin typeface="Cambria Math" panose="02040503050406030204" pitchFamily="18" charset="0"/>
                          <a:ea typeface="Cambria Math" panose="02040503050406030204" pitchFamily="18" charset="0"/>
                          <a:cs typeface="Times New Roman" panose="02020603050405020304" pitchFamily="18" charset="0"/>
                        </a:rPr>
                        <m:t>𝜋</m:t>
                      </m:r>
                      <m:rad>
                        <m:radPr>
                          <m:degHide m:val="on"/>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en-US"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b="0" i="1" smtClean="0">
                                  <a:latin typeface="Cambria Math" panose="02040503050406030204" pitchFamily="18" charset="0"/>
                                  <a:ea typeface="Cambria Math" panose="02040503050406030204" pitchFamily="18" charset="0"/>
                                  <a:cs typeface="Times New Roman" panose="02020603050405020304" pitchFamily="18" charset="0"/>
                                </a:rPr>
                                <m:t>h</m:t>
                              </m:r>
                            </m:num>
                            <m:den>
                              <m:r>
                                <a:rPr lang="en-US" b="0" i="1" smtClean="0">
                                  <a:latin typeface="Cambria Math" panose="02040503050406030204" pitchFamily="18" charset="0"/>
                                  <a:ea typeface="Cambria Math" panose="02040503050406030204" pitchFamily="18" charset="0"/>
                                  <a:cs typeface="Times New Roman" panose="02020603050405020304" pitchFamily="18" charset="0"/>
                                </a:rPr>
                                <m:t>𝑔</m:t>
                              </m:r>
                            </m:den>
                          </m:f>
                        </m:e>
                      </m:rad>
                    </m:oMath>
                  </m:oMathPara>
                </a14:m>
                <a:endParaRPr lang="en-US" b="0" dirty="0">
                  <a:latin typeface="Times New Roman" panose="02020603050405020304" pitchFamily="18" charset="0"/>
                  <a:ea typeface="Cambria Math" panose="02040503050406030204" pitchFamily="18" charset="0"/>
                  <a:cs typeface="Times New Roman" panose="02020603050405020304" pitchFamily="18" charset="0"/>
                </a:endParaRPr>
              </a:p>
              <a:p>
                <a:pPr algn="ctr"/>
                <a:endParaRPr lang="en-US" b="0" dirty="0">
                  <a:latin typeface="Times New Roman" panose="02020603050405020304" pitchFamily="18" charset="0"/>
                  <a:ea typeface="Cambria Math" panose="02040503050406030204" pitchFamily="18" charset="0"/>
                  <a:cs typeface="Times New Roman" panose="02020603050405020304" pitchFamily="18" charset="0"/>
                </a:endParaRPr>
              </a:p>
              <a:p>
                <a:pPr algn="ctr"/>
                <a:endParaRPr lang="en-US" dirty="0"/>
              </a:p>
            </p:txBody>
          </p:sp>
        </mc:Choice>
        <mc:Fallback xmlns="">
          <p:sp>
            <p:nvSpPr>
              <p:cNvPr id="4" name="Rectangle 3">
                <a:extLst>
                  <a:ext uri="{FF2B5EF4-FFF2-40B4-BE49-F238E27FC236}">
                    <a16:creationId xmlns:a16="http://schemas.microsoft.com/office/drawing/2014/main" id="{B89EE8C7-5A32-4C7F-BEDB-D438AAD3B4B2}"/>
                  </a:ext>
                </a:extLst>
              </p:cNvPr>
              <p:cNvSpPr>
                <a:spLocks noRot="1" noChangeAspect="1" noMove="1" noResize="1" noEditPoints="1" noAdjustHandles="1" noChangeArrowheads="1" noChangeShapeType="1" noTextEdit="1"/>
              </p:cNvSpPr>
              <p:nvPr/>
            </p:nvSpPr>
            <p:spPr>
              <a:xfrm>
                <a:off x="8003384" y="1011382"/>
                <a:ext cx="3112726" cy="508461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45C7B6B-B028-4AA9-9C0E-2C66C07BBEC7}"/>
                  </a:ext>
                </a:extLst>
              </p:cNvPr>
              <p:cNvSpPr/>
              <p:nvPr/>
            </p:nvSpPr>
            <p:spPr>
              <a:xfrm>
                <a:off x="9005455" y="4890654"/>
                <a:ext cx="1731818" cy="831273"/>
              </a:xfrm>
              <a:prstGeom prst="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𝑇</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=2</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𝜋</m:t>
                      </m:r>
                      <m:rad>
                        <m:radPr>
                          <m:degHide m:val="on"/>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ctrlPr>
                        </m:radPr>
                        <m:deg/>
                        <m:e>
                          <m:f>
                            <m:f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ctrlPr>
                            </m:fPr>
                            <m:num>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𝑙𝑐𝑜𝑠</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𝜃</m:t>
                              </m:r>
                            </m:num>
                            <m:den>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𝑔</m:t>
                              </m:r>
                            </m:den>
                          </m:f>
                        </m:e>
                      </m:rad>
                    </m:oMath>
                  </m:oMathPara>
                </a14:m>
                <a:endParaRPr lang="en-US" dirty="0">
                  <a:ln w="0"/>
                  <a:solidFill>
                    <a:schemeClr val="accent1"/>
                  </a:solidFill>
                  <a:effectLst>
                    <a:outerShdw blurRad="38100" dist="25400" dir="5400000" algn="ctr" rotWithShape="0">
                      <a:srgbClr val="6E747A">
                        <a:alpha val="43000"/>
                      </a:srgbClr>
                    </a:outerShdw>
                  </a:effectLst>
                </a:endParaRPr>
              </a:p>
            </p:txBody>
          </p:sp>
        </mc:Choice>
        <mc:Fallback xmlns="">
          <p:sp>
            <p:nvSpPr>
              <p:cNvPr id="9" name="Rectangle 8">
                <a:extLst>
                  <a:ext uri="{FF2B5EF4-FFF2-40B4-BE49-F238E27FC236}">
                    <a16:creationId xmlns:a16="http://schemas.microsoft.com/office/drawing/2014/main" id="{A45C7B6B-B028-4AA9-9C0E-2C66C07BBEC7}"/>
                  </a:ext>
                </a:extLst>
              </p:cNvPr>
              <p:cNvSpPr>
                <a:spLocks noRot="1" noChangeAspect="1" noMove="1" noResize="1" noEditPoints="1" noAdjustHandles="1" noChangeArrowheads="1" noChangeShapeType="1" noTextEdit="1"/>
              </p:cNvSpPr>
              <p:nvPr/>
            </p:nvSpPr>
            <p:spPr>
              <a:xfrm>
                <a:off x="9005455" y="4890654"/>
                <a:ext cx="1731818" cy="831273"/>
              </a:xfrm>
              <a:prstGeom prst="rect">
                <a:avLst/>
              </a:prstGeom>
              <a:blipFill>
                <a:blip r:embed="rId7"/>
                <a:stretch>
                  <a:fillRect b="-6475"/>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557692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8B0E9-A4B3-4878-8FE1-BD34907B09D0}"/>
              </a:ext>
            </a:extLst>
          </p:cNvPr>
          <p:cNvSpPr>
            <a:spLocks noGrp="1"/>
          </p:cNvSpPr>
          <p:nvPr>
            <p:ph type="title"/>
          </p:nvPr>
        </p:nvSpPr>
        <p:spPr>
          <a:xfrm>
            <a:off x="838200" y="0"/>
            <a:ext cx="10515600" cy="512618"/>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Gravitational Field</a:t>
            </a:r>
          </a:p>
        </p:txBody>
      </p:sp>
      <p:sp>
        <p:nvSpPr>
          <p:cNvPr id="3" name="Content Placeholder 2">
            <a:extLst>
              <a:ext uri="{FF2B5EF4-FFF2-40B4-BE49-F238E27FC236}">
                <a16:creationId xmlns:a16="http://schemas.microsoft.com/office/drawing/2014/main" id="{A24A1F9E-4D6B-44E1-BEDB-67B4FCB257FC}"/>
              </a:ext>
            </a:extLst>
          </p:cNvPr>
          <p:cNvSpPr>
            <a:spLocks noGrp="1"/>
          </p:cNvSpPr>
          <p:nvPr>
            <p:ph idx="1"/>
          </p:nvPr>
        </p:nvSpPr>
        <p:spPr>
          <a:xfrm>
            <a:off x="166256" y="512618"/>
            <a:ext cx="12025744" cy="6345382"/>
          </a:xfrm>
        </p:spPr>
        <p:txBody>
          <a:bodyPr>
            <a:normAutofit/>
          </a:bodyPr>
          <a:lstStyle/>
          <a:p>
            <a:r>
              <a:rPr lang="en-US" b="1" i="1" u="sng" dirty="0">
                <a:latin typeface="Times New Roman" panose="02020603050405020304" pitchFamily="18" charset="0"/>
                <a:cs typeface="Times New Roman" panose="02020603050405020304" pitchFamily="18" charset="0"/>
              </a:rPr>
              <a:t>Gravitational field </a:t>
            </a:r>
            <a:r>
              <a:rPr lang="en-US" dirty="0">
                <a:latin typeface="Times New Roman" panose="02020603050405020304" pitchFamily="18" charset="0"/>
                <a:cs typeface="Times New Roman" panose="02020603050405020304" pitchFamily="18" charset="0"/>
              </a:rPr>
              <a:t>is an area where objects with mas experience a non-contact force. </a:t>
            </a:r>
          </a:p>
          <a:p>
            <a:pPr marL="0" indent="0" algn="ctr">
              <a:buNone/>
            </a:pPr>
            <a:r>
              <a:rPr lang="en-US" i="1" dirty="0">
                <a:latin typeface="Times New Roman" panose="02020603050405020304" pitchFamily="18" charset="0"/>
                <a:cs typeface="Times New Roman" panose="02020603050405020304" pitchFamily="18" charset="0"/>
              </a:rPr>
              <a:t>Types of gravitational field</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i="1" u="sng" dirty="0">
                <a:latin typeface="Times New Roman" panose="02020603050405020304" pitchFamily="18" charset="0"/>
                <a:cs typeface="Times New Roman" panose="02020603050405020304" pitchFamily="18" charset="0"/>
              </a:rPr>
              <a:t>Gravitational field strength </a:t>
            </a:r>
            <a:r>
              <a:rPr lang="en-US" b="1" i="1" dirty="0">
                <a:latin typeface="Times New Roman" panose="02020603050405020304" pitchFamily="18" charset="0"/>
                <a:cs typeface="Times New Roman" panose="02020603050405020304" pitchFamily="18" charset="0"/>
              </a:rPr>
              <a:t>(g) </a:t>
            </a:r>
            <a:r>
              <a:rPr lang="en-US" dirty="0">
                <a:latin typeface="Times New Roman" panose="02020603050405020304" pitchFamily="18" charset="0"/>
                <a:cs typeface="Times New Roman" panose="02020603050405020304" pitchFamily="18" charset="0"/>
              </a:rPr>
              <a:t>is the force per unit mass exerted by a gravitational field on an object.</a:t>
            </a:r>
          </a:p>
          <a:p>
            <a:endParaRPr lang="en-US"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CB1E4A1-9829-42CF-B4DA-3C9C1260B7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7977" y="1564339"/>
            <a:ext cx="2007558" cy="1886412"/>
          </a:xfrm>
          <a:prstGeom prst="rect">
            <a:avLst/>
          </a:prstGeom>
        </p:spPr>
      </p:pic>
      <p:pic>
        <p:nvPicPr>
          <p:cNvPr id="12" name="Picture 11">
            <a:extLst>
              <a:ext uri="{FF2B5EF4-FFF2-40B4-BE49-F238E27FC236}">
                <a16:creationId xmlns:a16="http://schemas.microsoft.com/office/drawing/2014/main" id="{ECC0E7EB-85B2-4EE2-888E-34BBE47260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7952" y="2074055"/>
            <a:ext cx="2730630" cy="1422386"/>
          </a:xfrm>
          <a:prstGeom prst="rect">
            <a:avLst/>
          </a:prstGeom>
        </p:spPr>
      </p:pic>
      <p:sp>
        <p:nvSpPr>
          <p:cNvPr id="13" name="Rectangle 12">
            <a:extLst>
              <a:ext uri="{FF2B5EF4-FFF2-40B4-BE49-F238E27FC236}">
                <a16:creationId xmlns:a16="http://schemas.microsoft.com/office/drawing/2014/main" id="{CA132990-22C0-450A-BF4A-98E520ECADE1}"/>
              </a:ext>
            </a:extLst>
          </p:cNvPr>
          <p:cNvSpPr/>
          <p:nvPr/>
        </p:nvSpPr>
        <p:spPr>
          <a:xfrm>
            <a:off x="1114874" y="2553235"/>
            <a:ext cx="1233892" cy="63870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Uniform field</a:t>
            </a:r>
          </a:p>
        </p:txBody>
      </p:sp>
      <p:sp>
        <p:nvSpPr>
          <p:cNvPr id="14" name="Rectangle 13">
            <a:extLst>
              <a:ext uri="{FF2B5EF4-FFF2-40B4-BE49-F238E27FC236}">
                <a16:creationId xmlns:a16="http://schemas.microsoft.com/office/drawing/2014/main" id="{7289237C-0E17-4B14-ADA2-3B58A4257DE2}"/>
              </a:ext>
            </a:extLst>
          </p:cNvPr>
          <p:cNvSpPr/>
          <p:nvPr/>
        </p:nvSpPr>
        <p:spPr>
          <a:xfrm>
            <a:off x="7355032" y="2356458"/>
            <a:ext cx="1052945" cy="59974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Times New Roman" panose="02020603050405020304" pitchFamily="18" charset="0"/>
                <a:cs typeface="Times New Roman" panose="02020603050405020304" pitchFamily="18" charset="0"/>
              </a:rPr>
              <a:t>Radial field</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79E79F12-8355-46D0-BF15-0DCB5AD85EBA}"/>
                  </a:ext>
                </a:extLst>
              </p:cNvPr>
              <p:cNvSpPr/>
              <p:nvPr/>
            </p:nvSpPr>
            <p:spPr>
              <a:xfrm>
                <a:off x="581891" y="4364182"/>
                <a:ext cx="9989127" cy="1981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i="1" dirty="0">
                    <a:latin typeface="Times New Roman" panose="02020603050405020304" pitchFamily="18" charset="0"/>
                    <a:cs typeface="Times New Roman" panose="02020603050405020304" pitchFamily="18" charset="0"/>
                  </a:rPr>
                  <a:t>Gravitational field strength for Uniform field:    F</a:t>
                </a:r>
                <a14:m>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𝒎𝒈</m:t>
                    </m:r>
                    <m:r>
                      <a:rPr lang="en-US" b="1" i="1" smtClean="0">
                        <a:latin typeface="Cambria Math" panose="02040503050406030204" pitchFamily="18" charset="0"/>
                      </a:rPr>
                      <m:t>    →  </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𝑔</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m:t>
                    </m:r>
                    <m:f>
                      <m:f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ctrlPr>
                      </m:fPr>
                      <m:num>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𝐹</m:t>
                        </m:r>
                      </m:num>
                      <m:den>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𝑚</m:t>
                        </m:r>
                      </m:den>
                    </m:f>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    </m:t>
                    </m:r>
                  </m:oMath>
                </a14:m>
                <a:endParaRPr lang="en-US" i="1" dirty="0">
                  <a:latin typeface="Times New Roman" panose="02020603050405020304" pitchFamily="18" charset="0"/>
                  <a:cs typeface="Times New Roman" panose="02020603050405020304" pitchFamily="18" charset="0"/>
                </a:endParaRPr>
              </a:p>
              <a:p>
                <a:pPr algn="ctr"/>
                <a:endParaRPr lang="en-US" b="1" i="1"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cs typeface="Times New Roman" panose="02020603050405020304" pitchFamily="18" charset="0"/>
                        </a:rPr>
                        <m:t>𝑮𝒓𝒂𝒗𝒊𝒕𝒂𝒕𝒊𝒐𝒏𝒂𝒍</m:t>
                      </m:r>
                      <m:r>
                        <a:rPr lang="en-US" b="1" i="1" smtClean="0">
                          <a:latin typeface="Cambria Math" panose="02040503050406030204" pitchFamily="18" charset="0"/>
                          <a:cs typeface="Times New Roman" panose="02020603050405020304" pitchFamily="18" charset="0"/>
                        </a:rPr>
                        <m:t> </m:t>
                      </m:r>
                      <m:r>
                        <a:rPr lang="en-US" b="1" i="1" smtClean="0">
                          <a:latin typeface="Cambria Math" panose="02040503050406030204" pitchFamily="18" charset="0"/>
                          <a:cs typeface="Times New Roman" panose="02020603050405020304" pitchFamily="18" charset="0"/>
                        </a:rPr>
                        <m:t>𝒇𝒊𝒆𝒍𝒅</m:t>
                      </m:r>
                      <m:r>
                        <a:rPr lang="en-US" b="1" i="1" smtClean="0">
                          <a:latin typeface="Cambria Math" panose="02040503050406030204" pitchFamily="18" charset="0"/>
                          <a:cs typeface="Times New Roman" panose="02020603050405020304" pitchFamily="18" charset="0"/>
                        </a:rPr>
                        <m:t> </m:t>
                      </m:r>
                      <m:r>
                        <a:rPr lang="en-US" b="1" i="1" smtClean="0">
                          <a:latin typeface="Cambria Math" panose="02040503050406030204" pitchFamily="18" charset="0"/>
                          <a:cs typeface="Times New Roman" panose="02020603050405020304" pitchFamily="18" charset="0"/>
                        </a:rPr>
                        <m:t>𝑺𝒕𝒓𝒆𝒏𝒈𝒕𝒉</m:t>
                      </m:r>
                      <m:r>
                        <a:rPr lang="en-US" b="1" i="1" smtClean="0">
                          <a:latin typeface="Cambria Math" panose="02040503050406030204" pitchFamily="18" charset="0"/>
                          <a:cs typeface="Times New Roman" panose="02020603050405020304" pitchFamily="18" charset="0"/>
                        </a:rPr>
                        <m:t> </m:t>
                      </m:r>
                      <m:r>
                        <a:rPr lang="en-US" b="1" i="1" smtClean="0">
                          <a:latin typeface="Cambria Math" panose="02040503050406030204" pitchFamily="18" charset="0"/>
                          <a:cs typeface="Times New Roman" panose="02020603050405020304" pitchFamily="18" charset="0"/>
                        </a:rPr>
                        <m:t>𝒇𝒐𝒓</m:t>
                      </m:r>
                      <m:r>
                        <a:rPr lang="en-US" b="1" i="1" smtClean="0">
                          <a:latin typeface="Cambria Math" panose="02040503050406030204" pitchFamily="18" charset="0"/>
                          <a:cs typeface="Times New Roman" panose="02020603050405020304" pitchFamily="18" charset="0"/>
                        </a:rPr>
                        <m:t> </m:t>
                      </m:r>
                      <m:r>
                        <a:rPr lang="en-US" b="1" i="1" smtClean="0">
                          <a:latin typeface="Cambria Math" panose="02040503050406030204" pitchFamily="18" charset="0"/>
                          <a:cs typeface="Times New Roman" panose="02020603050405020304" pitchFamily="18" charset="0"/>
                        </a:rPr>
                        <m:t>𝑹𝒂𝒅𝒊𝒂𝒍</m:t>
                      </m:r>
                      <m:r>
                        <a:rPr lang="en-US" b="1" i="1" smtClean="0">
                          <a:latin typeface="Cambria Math" panose="02040503050406030204" pitchFamily="18" charset="0"/>
                          <a:cs typeface="Times New Roman" panose="02020603050405020304" pitchFamily="18" charset="0"/>
                        </a:rPr>
                        <m:t> </m:t>
                      </m:r>
                      <m:r>
                        <a:rPr lang="en-US" b="1" i="1" smtClean="0">
                          <a:latin typeface="Cambria Math" panose="02040503050406030204" pitchFamily="18" charset="0"/>
                          <a:cs typeface="Times New Roman" panose="02020603050405020304" pitchFamily="18" charset="0"/>
                        </a:rPr>
                        <m:t>𝒇𝒊𝒆𝒍𝒅</m:t>
                      </m:r>
                      <m:r>
                        <a:rPr lang="en-US" b="1" i="1" smtClean="0">
                          <a:latin typeface="Cambria Math" panose="02040503050406030204" pitchFamily="18" charset="0"/>
                          <a:cs typeface="Times New Roman" panose="02020603050405020304" pitchFamily="18" charset="0"/>
                        </a:rPr>
                        <m:t>:                </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𝑔</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m:t>
                      </m:r>
                      <m:f>
                        <m:f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ctrlPr>
                        </m:fPr>
                        <m:num>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𝐺𝑀</m:t>
                          </m:r>
                        </m:num>
                        <m:den>
                          <m:sSup>
                            <m:sSup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ctrlPr>
                            </m:sSupPr>
                            <m:e>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𝑟</m:t>
                              </m:r>
                            </m:e>
                            <m:sup>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2</m:t>
                              </m:r>
                            </m:sup>
                          </m:sSup>
                        </m:den>
                      </m:f>
                    </m:oMath>
                  </m:oMathPara>
                </a14:m>
                <a:endParaRPr lang="en-US" i="1" dirty="0">
                  <a:latin typeface="Times New Roman" panose="02020603050405020304" pitchFamily="18" charset="0"/>
                  <a:cs typeface="Times New Roman" panose="02020603050405020304" pitchFamily="18" charset="0"/>
                </a:endParaRPr>
              </a:p>
            </p:txBody>
          </p:sp>
        </mc:Choice>
        <mc:Fallback xmlns="">
          <p:sp>
            <p:nvSpPr>
              <p:cNvPr id="15" name="Rectangle 14">
                <a:extLst>
                  <a:ext uri="{FF2B5EF4-FFF2-40B4-BE49-F238E27FC236}">
                    <a16:creationId xmlns:a16="http://schemas.microsoft.com/office/drawing/2014/main" id="{79E79F12-8355-46D0-BF15-0DCB5AD85EBA}"/>
                  </a:ext>
                </a:extLst>
              </p:cNvPr>
              <p:cNvSpPr>
                <a:spLocks noRot="1" noChangeAspect="1" noMove="1" noResize="1" noEditPoints="1" noAdjustHandles="1" noChangeArrowheads="1" noChangeShapeType="1" noTextEdit="1"/>
              </p:cNvSpPr>
              <p:nvPr/>
            </p:nvSpPr>
            <p:spPr>
              <a:xfrm>
                <a:off x="581891" y="4364182"/>
                <a:ext cx="9989127" cy="1981200"/>
              </a:xfrm>
              <a:prstGeom prst="rect">
                <a:avLst/>
              </a:prstGeom>
              <a:blipFill>
                <a:blip r:embed="rId4"/>
                <a:stretch>
                  <a:fillRect/>
                </a:stretch>
              </a:blipFill>
              <a:ln/>
            </p:spPr>
            <p:txBody>
              <a:bodyPr/>
              <a:lstStyle/>
              <a:p>
                <a:r>
                  <a:rPr lang="en-US">
                    <a:noFill/>
                  </a:rPr>
                  <a:t> </a:t>
                </a:r>
              </a:p>
            </p:txBody>
          </p:sp>
        </mc:Fallback>
      </mc:AlternateContent>
    </p:spTree>
    <p:extLst>
      <p:ext uri="{BB962C8B-B14F-4D97-AF65-F5344CB8AC3E}">
        <p14:creationId xmlns:p14="http://schemas.microsoft.com/office/powerpoint/2010/main" val="101560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B23EA-EBD2-460A-B068-23C1EC3340C3}"/>
              </a:ext>
            </a:extLst>
          </p:cNvPr>
          <p:cNvSpPr>
            <a:spLocks noGrp="1"/>
          </p:cNvSpPr>
          <p:nvPr>
            <p:ph type="title"/>
          </p:nvPr>
        </p:nvSpPr>
        <p:spPr>
          <a:xfrm>
            <a:off x="838200" y="0"/>
            <a:ext cx="10515600" cy="471055"/>
          </a:xfrm>
        </p:spPr>
        <p:txBody>
          <a:bodyPr>
            <a:normAutofit fontScale="90000"/>
          </a:bodyPr>
          <a:lstStyle/>
          <a:p>
            <a:pPr algn="ctr"/>
            <a:r>
              <a:rPr lang="en-US" sz="3600" b="1" dirty="0">
                <a:solidFill>
                  <a:schemeClr val="accent1"/>
                </a:solidFill>
                <a:latin typeface="Times New Roman" panose="02020603050405020304" pitchFamily="18" charset="0"/>
                <a:cs typeface="Times New Roman" panose="02020603050405020304" pitchFamily="18" charset="0"/>
              </a:rPr>
              <a:t>Newton’s Law of Universal Gravitation</a:t>
            </a:r>
          </a:p>
        </p:txBody>
      </p:sp>
      <p:sp>
        <p:nvSpPr>
          <p:cNvPr id="3" name="Content Placeholder 2">
            <a:extLst>
              <a:ext uri="{FF2B5EF4-FFF2-40B4-BE49-F238E27FC236}">
                <a16:creationId xmlns:a16="http://schemas.microsoft.com/office/drawing/2014/main" id="{65C324CD-1EA7-45DB-8F41-9E7CA2ADECAF}"/>
              </a:ext>
            </a:extLst>
          </p:cNvPr>
          <p:cNvSpPr>
            <a:spLocks noGrp="1"/>
          </p:cNvSpPr>
          <p:nvPr>
            <p:ph idx="1"/>
          </p:nvPr>
        </p:nvSpPr>
        <p:spPr>
          <a:xfrm>
            <a:off x="0" y="471055"/>
            <a:ext cx="12192000" cy="6580909"/>
          </a:xfrm>
        </p:spPr>
        <p:txBody>
          <a:bodyPr/>
          <a:lstStyle/>
          <a:p>
            <a:pPr algn="just">
              <a:lnSpc>
                <a:spcPct val="100000"/>
              </a:lnSpc>
            </a:pPr>
            <a:r>
              <a:rPr lang="en-US" dirty="0">
                <a:latin typeface="Baskerville Old Face" panose="02020602080505020303" pitchFamily="18" charset="0"/>
                <a:cs typeface="Times New Roman" panose="02020603050405020304" pitchFamily="18" charset="0"/>
              </a:rPr>
              <a:t>The law states that the gravitational force between two masses is directly proportional to the product of the masses, and is inversely proportional to the square of the distance between them</a:t>
            </a:r>
          </a:p>
          <a:p>
            <a:pPr algn="just">
              <a:lnSpc>
                <a:spcPct val="100000"/>
              </a:lnSpc>
            </a:pPr>
            <a:endParaRPr lang="en-US" dirty="0">
              <a:latin typeface="Baskerville Old Face" panose="02020602080505020303" pitchFamily="18" charset="0"/>
              <a:cs typeface="Times New Roman" panose="02020603050405020304" pitchFamily="18" charset="0"/>
            </a:endParaRPr>
          </a:p>
          <a:p>
            <a:pPr algn="just">
              <a:lnSpc>
                <a:spcPct val="100000"/>
              </a:lnSpc>
            </a:pPr>
            <a:endParaRPr lang="en-US" dirty="0">
              <a:latin typeface="Baskerville Old Face" panose="02020602080505020303" pitchFamily="18" charset="0"/>
              <a:cs typeface="Times New Roman" panose="02020603050405020304" pitchFamily="18" charset="0"/>
            </a:endParaRPr>
          </a:p>
          <a:p>
            <a:pPr algn="just">
              <a:lnSpc>
                <a:spcPct val="100000"/>
              </a:lnSpc>
            </a:pPr>
            <a:r>
              <a:rPr lang="en-US" b="1" i="1" u="sng" dirty="0">
                <a:latin typeface="Baskerville Old Face" panose="02020602080505020303" pitchFamily="18" charset="0"/>
                <a:cs typeface="Times New Roman" panose="02020603050405020304" pitchFamily="18" charset="0"/>
              </a:rPr>
              <a:t>Gravitational Potential (ɸ) </a:t>
            </a:r>
            <a:r>
              <a:rPr lang="en-US" dirty="0">
                <a:latin typeface="Baskerville Old Face" panose="02020602080505020303" pitchFamily="18" charset="0"/>
                <a:cs typeface="Times New Roman" panose="02020603050405020304" pitchFamily="18" charset="0"/>
              </a:rPr>
              <a:t>is the </a:t>
            </a:r>
            <a:r>
              <a:rPr lang="en-US" dirty="0" err="1">
                <a:latin typeface="Baskerville Old Face" panose="02020602080505020303" pitchFamily="18" charset="0"/>
                <a:cs typeface="Times New Roman" panose="02020603050405020304" pitchFamily="18" charset="0"/>
              </a:rPr>
              <a:t>workdone</a:t>
            </a:r>
            <a:r>
              <a:rPr lang="en-US" dirty="0">
                <a:latin typeface="Baskerville Old Face" panose="02020602080505020303" pitchFamily="18" charset="0"/>
                <a:cs typeface="Times New Roman" panose="02020603050405020304" pitchFamily="18" charset="0"/>
              </a:rPr>
              <a:t> per unit mass when moving a small point mass from infinity to that point.</a:t>
            </a:r>
          </a:p>
          <a:p>
            <a:pPr marL="0" indent="0" algn="just">
              <a:lnSpc>
                <a:spcPct val="100000"/>
              </a:lnSpc>
              <a:buNone/>
            </a:pPr>
            <a:endParaRPr lang="en-US" b="1" i="1" u="sng" dirty="0">
              <a:latin typeface="Baskerville Old Face" panose="02020602080505020303" pitchFamily="18" charset="0"/>
              <a:cs typeface="Times New Roman" panose="02020603050405020304" pitchFamily="18" charset="0"/>
            </a:endParaRPr>
          </a:p>
          <a:p>
            <a:pPr marL="0" indent="0" algn="just">
              <a:lnSpc>
                <a:spcPct val="100000"/>
              </a:lnSpc>
              <a:buNone/>
            </a:pPr>
            <a:endParaRPr lang="en-US" dirty="0">
              <a:latin typeface="Baskerville Old Face" panose="02020602080505020303" pitchFamily="18" charset="0"/>
              <a:cs typeface="Times New Roman" panose="02020603050405020304" pitchFamily="18" charset="0"/>
            </a:endParaRPr>
          </a:p>
          <a:p>
            <a:pPr algn="just">
              <a:lnSpc>
                <a:spcPct val="100000"/>
              </a:lnSpc>
            </a:pPr>
            <a:r>
              <a:rPr lang="en-US" b="1" i="1" u="sng" dirty="0">
                <a:latin typeface="Baskerville Old Face" panose="02020602080505020303" pitchFamily="18" charset="0"/>
                <a:cs typeface="Times New Roman" panose="02020603050405020304" pitchFamily="18" charset="0"/>
              </a:rPr>
              <a:t>Escape Velocity </a:t>
            </a:r>
            <a:r>
              <a:rPr lang="en-US" dirty="0">
                <a:latin typeface="Baskerville Old Face" panose="02020602080505020303" pitchFamily="18" charset="0"/>
                <a:cs typeface="Times New Roman" panose="02020603050405020304" pitchFamily="18" charset="0"/>
              </a:rPr>
              <a:t> is the minimum velocity required by a body to be projected to overcome the gravitational pull of the earth.</a:t>
            </a:r>
          </a:p>
          <a:p>
            <a:pPr marL="0" indent="0" algn="just">
              <a:lnSpc>
                <a:spcPct val="100000"/>
              </a:lnSpc>
              <a:buNone/>
            </a:pPr>
            <a:endParaRPr lang="en-US" b="1" i="1" u="sng" dirty="0">
              <a:latin typeface="Baskerville Old Face" panose="02020602080505020303"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D4805611-D6AB-4BC8-B913-33E2B884AFEE}"/>
                  </a:ext>
                </a:extLst>
              </p:cNvPr>
              <p:cNvSpPr/>
              <p:nvPr/>
            </p:nvSpPr>
            <p:spPr>
              <a:xfrm>
                <a:off x="3073088" y="1795019"/>
                <a:ext cx="1787236" cy="789709"/>
              </a:xfrm>
              <a:prstGeom prst="rect">
                <a:avLst/>
              </a:prstGeom>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𝐹</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m:t>
                      </m:r>
                      <m:f>
                        <m:f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fPr>
                        <m:num>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𝐺</m:t>
                          </m:r>
                          <m:sSub>
                            <m:sSub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bPr>
                            <m:e>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𝑚</m:t>
                              </m:r>
                            </m:e>
                            <m:sub>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1</m:t>
                              </m:r>
                            </m:sub>
                          </m:sSub>
                          <m:sSub>
                            <m:sSub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bPr>
                            <m:e>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𝑚</m:t>
                              </m:r>
                            </m:e>
                            <m:sub>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2</m:t>
                              </m:r>
                            </m:sub>
                          </m:sSub>
                        </m:num>
                        <m:den>
                          <m:sSup>
                            <m:sSup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pPr>
                            <m:e>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𝑟</m:t>
                              </m:r>
                            </m:e>
                            <m:sup>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2</m:t>
                              </m:r>
                            </m:sup>
                          </m:sSup>
                        </m:den>
                      </m:f>
                    </m:oMath>
                  </m:oMathPara>
                </a14:m>
                <a:endParaRPr lang="en-US" dirty="0"/>
              </a:p>
            </p:txBody>
          </p:sp>
        </mc:Choice>
        <mc:Fallback xmlns="">
          <p:sp>
            <p:nvSpPr>
              <p:cNvPr id="4" name="Rectangle 3">
                <a:extLst>
                  <a:ext uri="{FF2B5EF4-FFF2-40B4-BE49-F238E27FC236}">
                    <a16:creationId xmlns:a16="http://schemas.microsoft.com/office/drawing/2014/main" id="{D4805611-D6AB-4BC8-B913-33E2B884AFEE}"/>
                  </a:ext>
                </a:extLst>
              </p:cNvPr>
              <p:cNvSpPr>
                <a:spLocks noRot="1" noChangeAspect="1" noMove="1" noResize="1" noEditPoints="1" noAdjustHandles="1" noChangeArrowheads="1" noChangeShapeType="1" noTextEdit="1"/>
              </p:cNvSpPr>
              <p:nvPr/>
            </p:nvSpPr>
            <p:spPr>
              <a:xfrm>
                <a:off x="3073088" y="1795019"/>
                <a:ext cx="1787236" cy="789709"/>
              </a:xfrm>
              <a:prstGeom prst="rect">
                <a:avLst/>
              </a:prstGeom>
              <a:blipFill>
                <a:blip r:embed="rId2"/>
                <a:stretch>
                  <a:fillRect/>
                </a:stretch>
              </a:blipFill>
              <a:ln w="28575">
                <a:solidFill>
                  <a:srgbClr val="FF0000"/>
                </a:solidFill>
              </a:ln>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1F64C86F-D36A-48BC-B492-06BA72D36FD0}"/>
              </a:ext>
            </a:extLst>
          </p:cNvPr>
          <p:cNvGrpSpPr/>
          <p:nvPr/>
        </p:nvGrpSpPr>
        <p:grpSpPr>
          <a:xfrm>
            <a:off x="6095999" y="1430078"/>
            <a:ext cx="4433455" cy="1404655"/>
            <a:chOff x="3477491" y="3134589"/>
            <a:chExt cx="4100940" cy="1478968"/>
          </a:xfrm>
        </p:grpSpPr>
        <p:cxnSp>
          <p:nvCxnSpPr>
            <p:cNvPr id="18" name="Straight Arrow Connector 17">
              <a:extLst>
                <a:ext uri="{FF2B5EF4-FFF2-40B4-BE49-F238E27FC236}">
                  <a16:creationId xmlns:a16="http://schemas.microsoft.com/office/drawing/2014/main" id="{BF8A91CD-7535-404C-A337-AF08EE5C1D90}"/>
                </a:ext>
              </a:extLst>
            </p:cNvPr>
            <p:cNvCxnSpPr/>
            <p:nvPr/>
          </p:nvCxnSpPr>
          <p:spPr>
            <a:xfrm>
              <a:off x="3893127" y="4350327"/>
              <a:ext cx="3325090" cy="0"/>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grpSp>
          <p:nvGrpSpPr>
            <p:cNvPr id="22" name="Group 21">
              <a:extLst>
                <a:ext uri="{FF2B5EF4-FFF2-40B4-BE49-F238E27FC236}">
                  <a16:creationId xmlns:a16="http://schemas.microsoft.com/office/drawing/2014/main" id="{8DDE5AF8-E290-4949-8B82-793BD43A91A8}"/>
                </a:ext>
              </a:extLst>
            </p:cNvPr>
            <p:cNvGrpSpPr/>
            <p:nvPr/>
          </p:nvGrpSpPr>
          <p:grpSpPr>
            <a:xfrm>
              <a:off x="3477491" y="3134589"/>
              <a:ext cx="4100940" cy="1478968"/>
              <a:chOff x="3477491" y="3134589"/>
              <a:chExt cx="4100940" cy="1478968"/>
            </a:xfrm>
          </p:grpSpPr>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2E82005C-1CB9-45DE-A3B0-D65CE81B8D9F}"/>
                      </a:ext>
                    </a:extLst>
                  </p:cNvPr>
                  <p:cNvSpPr/>
                  <p:nvPr/>
                </p:nvSpPr>
                <p:spPr>
                  <a:xfrm>
                    <a:off x="3477491" y="3325091"/>
                    <a:ext cx="789709" cy="789709"/>
                  </a:xfrm>
                  <a:prstGeom prst="ellipse">
                    <a:avLst/>
                  </a:prstGeom>
                  <a:solidFill>
                    <a:srgbClr val="FF0000"/>
                  </a:solidFill>
                  <a:effectLst>
                    <a:glow rad="139700">
                      <a:schemeClr val="accent2">
                        <a:satMod val="175000"/>
                        <a:alpha val="40000"/>
                      </a:schemeClr>
                    </a:glow>
                  </a:effectLst>
                  <a:scene3d>
                    <a:camera prst="obliqueTopLeft"/>
                    <a:lightRig rig="threePt" dir="t"/>
                  </a:scene3d>
                  <a:sp3d>
                    <a:bevelT prst="angle"/>
                  </a:sp3d>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ctrlPr>
                            </m:sSubPr>
                            <m:e>
                              <m:r>
                                <a:rPr lang="en-US"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𝑚</m:t>
                              </m:r>
                            </m:e>
                            <m:sub>
                              <m:r>
                                <a:rPr lang="en-US" i="1"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1</m:t>
                              </m:r>
                            </m:sub>
                          </m:sSub>
                        </m:oMath>
                      </m:oMathPara>
                    </a14:m>
                    <a:endParaRPr lang="en-US" dirty="0">
                      <a:ln w="0"/>
                      <a:solidFill>
                        <a:schemeClr val="tx1"/>
                      </a:solidFill>
                      <a:effectLst>
                        <a:outerShdw blurRad="38100" dist="19050" dir="2700000" algn="tl" rotWithShape="0">
                          <a:schemeClr val="dk1">
                            <a:alpha val="40000"/>
                          </a:schemeClr>
                        </a:outerShdw>
                      </a:effectLst>
                    </a:endParaRPr>
                  </a:p>
                </p:txBody>
              </p:sp>
            </mc:Choice>
            <mc:Fallback xmlns="">
              <p:sp>
                <p:nvSpPr>
                  <p:cNvPr id="5" name="Oval 4">
                    <a:extLst>
                      <a:ext uri="{FF2B5EF4-FFF2-40B4-BE49-F238E27FC236}">
                        <a16:creationId xmlns:a16="http://schemas.microsoft.com/office/drawing/2014/main" id="{2E82005C-1CB9-45DE-A3B0-D65CE81B8D9F}"/>
                      </a:ext>
                    </a:extLst>
                  </p:cNvPr>
                  <p:cNvSpPr>
                    <a:spLocks noRot="1" noChangeAspect="1" noMove="1" noResize="1" noEditPoints="1" noAdjustHandles="1" noChangeArrowheads="1" noChangeShapeType="1" noTextEdit="1"/>
                  </p:cNvSpPr>
                  <p:nvPr/>
                </p:nvSpPr>
                <p:spPr>
                  <a:xfrm>
                    <a:off x="3477491" y="3325091"/>
                    <a:ext cx="789709" cy="789709"/>
                  </a:xfrm>
                  <a:prstGeom prst="ellipse">
                    <a:avLst/>
                  </a:prstGeom>
                  <a:blipFill>
                    <a:blip r:embed="rId3"/>
                    <a:stretch>
                      <a:fillRect/>
                    </a:stretch>
                  </a:blipFill>
                  <a:effectLst>
                    <a:glow rad="139700">
                      <a:schemeClr val="accent2">
                        <a:satMod val="175000"/>
                        <a:alpha val="40000"/>
                      </a:schemeClr>
                    </a:glow>
                  </a:effectLst>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09A95C23-CA4E-459F-9A2E-CA08CC08AC59}"/>
                  </a:ext>
                </a:extLst>
              </p:cNvPr>
              <p:cNvCxnSpPr>
                <a:cxnSpLocks/>
                <a:stCxn id="5" idx="6"/>
              </p:cNvCxnSpPr>
              <p:nvPr/>
            </p:nvCxnSpPr>
            <p:spPr>
              <a:xfrm>
                <a:off x="4267200" y="3719946"/>
                <a:ext cx="8589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80F15520-1DDD-4B04-AC7F-BBFDA01B8873}"/>
                      </a:ext>
                    </a:extLst>
                  </p:cNvPr>
                  <p:cNvSpPr/>
                  <p:nvPr/>
                </p:nvSpPr>
                <p:spPr>
                  <a:xfrm>
                    <a:off x="6788728" y="3325070"/>
                    <a:ext cx="789703" cy="789709"/>
                  </a:xfrm>
                  <a:prstGeom prst="ellipse">
                    <a:avLst/>
                  </a:prstGeom>
                  <a:effectLst>
                    <a:glow rad="228600">
                      <a:schemeClr val="accent4">
                        <a:satMod val="175000"/>
                        <a:alpha val="40000"/>
                      </a:schemeClr>
                    </a:glow>
                    <a:innerShdw blurRad="114300">
                      <a:prstClr val="black"/>
                    </a:innerShdw>
                  </a:effectLst>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oMath>
                      </m:oMathPara>
                    </a14:m>
                    <a:endParaRPr lang="en-US" dirty="0"/>
                  </a:p>
                </p:txBody>
              </p:sp>
            </mc:Choice>
            <mc:Fallback xmlns="">
              <p:sp>
                <p:nvSpPr>
                  <p:cNvPr id="9" name="Oval 8">
                    <a:extLst>
                      <a:ext uri="{FF2B5EF4-FFF2-40B4-BE49-F238E27FC236}">
                        <a16:creationId xmlns:a16="http://schemas.microsoft.com/office/drawing/2014/main" id="{80F15520-1DDD-4B04-AC7F-BBFDA01B8873}"/>
                      </a:ext>
                    </a:extLst>
                  </p:cNvPr>
                  <p:cNvSpPr>
                    <a:spLocks noRot="1" noChangeAspect="1" noMove="1" noResize="1" noEditPoints="1" noAdjustHandles="1" noChangeArrowheads="1" noChangeShapeType="1" noTextEdit="1"/>
                  </p:cNvSpPr>
                  <p:nvPr/>
                </p:nvSpPr>
                <p:spPr>
                  <a:xfrm>
                    <a:off x="6788728" y="3325070"/>
                    <a:ext cx="789703" cy="789709"/>
                  </a:xfrm>
                  <a:prstGeom prst="ellipse">
                    <a:avLst/>
                  </a:prstGeom>
                  <a:blipFill>
                    <a:blip r:embed="rId4"/>
                    <a:stretch>
                      <a:fillRect/>
                    </a:stretch>
                  </a:blipFill>
                  <a:effectLst>
                    <a:glow rad="228600">
                      <a:schemeClr val="accent4">
                        <a:satMod val="175000"/>
                        <a:alpha val="40000"/>
                      </a:schemeClr>
                    </a:glow>
                    <a:innerShdw blurRad="114300">
                      <a:prstClr val="black"/>
                    </a:innerShdw>
                  </a:effectLst>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E2F2584A-2830-4E82-A33B-A8CE9920FE1B}"/>
                  </a:ext>
                </a:extLst>
              </p:cNvPr>
              <p:cNvCxnSpPr/>
              <p:nvPr/>
            </p:nvCxnSpPr>
            <p:spPr>
              <a:xfrm flipH="1">
                <a:off x="5957455" y="3733779"/>
                <a:ext cx="8312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34A3D4D-6D71-494A-ABFC-EA4DAD349262}"/>
                  </a:ext>
                </a:extLst>
              </p:cNvPr>
              <p:cNvCxnSpPr>
                <a:cxnSpLocks/>
                <a:stCxn id="5" idx="4"/>
              </p:cNvCxnSpPr>
              <p:nvPr/>
            </p:nvCxnSpPr>
            <p:spPr>
              <a:xfrm>
                <a:off x="3872346" y="4114800"/>
                <a:ext cx="0" cy="37407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B6769B8-2AB6-4602-8D79-51A7822B1B78}"/>
                  </a:ext>
                </a:extLst>
              </p:cNvPr>
              <p:cNvCxnSpPr>
                <a:cxnSpLocks/>
              </p:cNvCxnSpPr>
              <p:nvPr/>
            </p:nvCxnSpPr>
            <p:spPr>
              <a:xfrm>
                <a:off x="7218218" y="4114779"/>
                <a:ext cx="0" cy="374073"/>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A5C6F410-8FBA-4298-A3B1-B84B9599137D}"/>
                      </a:ext>
                    </a:extLst>
                  </p:cNvPr>
                  <p:cNvSpPr/>
                  <p:nvPr/>
                </p:nvSpPr>
                <p:spPr>
                  <a:xfrm>
                    <a:off x="5223164" y="4114778"/>
                    <a:ext cx="609598" cy="49877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n-US" dirty="0"/>
                  </a:p>
                </p:txBody>
              </p:sp>
            </mc:Choice>
            <mc:Fallback xmlns="">
              <p:sp>
                <p:nvSpPr>
                  <p:cNvPr id="19" name="Rectangle 18">
                    <a:extLst>
                      <a:ext uri="{FF2B5EF4-FFF2-40B4-BE49-F238E27FC236}">
                        <a16:creationId xmlns:a16="http://schemas.microsoft.com/office/drawing/2014/main" id="{A5C6F410-8FBA-4298-A3B1-B84B9599137D}"/>
                      </a:ext>
                    </a:extLst>
                  </p:cNvPr>
                  <p:cNvSpPr>
                    <a:spLocks noRot="1" noChangeAspect="1" noMove="1" noResize="1" noEditPoints="1" noAdjustHandles="1" noChangeArrowheads="1" noChangeShapeType="1" noTextEdit="1"/>
                  </p:cNvSpPr>
                  <p:nvPr/>
                </p:nvSpPr>
                <p:spPr>
                  <a:xfrm>
                    <a:off x="5223164" y="4114778"/>
                    <a:ext cx="609598" cy="498779"/>
                  </a:xfrm>
                  <a:prstGeom prst="rect">
                    <a:avLst/>
                  </a:prstGeom>
                  <a:blipFill>
                    <a:blip r:embed="rId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D0C9A602-195D-4CB5-9F37-61C90E939B4A}"/>
                      </a:ext>
                    </a:extLst>
                  </p:cNvPr>
                  <p:cNvSpPr/>
                  <p:nvPr/>
                </p:nvSpPr>
                <p:spPr>
                  <a:xfrm>
                    <a:off x="4530437" y="3134589"/>
                    <a:ext cx="387927" cy="47798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oMath>
                      </m:oMathPara>
                    </a14:m>
                    <a:endParaRPr lang="en-US" dirty="0"/>
                  </a:p>
                </p:txBody>
              </p:sp>
            </mc:Choice>
            <mc:Fallback xmlns="">
              <p:sp>
                <p:nvSpPr>
                  <p:cNvPr id="20" name="Rectangle 19">
                    <a:extLst>
                      <a:ext uri="{FF2B5EF4-FFF2-40B4-BE49-F238E27FC236}">
                        <a16:creationId xmlns:a16="http://schemas.microsoft.com/office/drawing/2014/main" id="{D0C9A602-195D-4CB5-9F37-61C90E939B4A}"/>
                      </a:ext>
                    </a:extLst>
                  </p:cNvPr>
                  <p:cNvSpPr>
                    <a:spLocks noRot="1" noChangeAspect="1" noMove="1" noResize="1" noEditPoints="1" noAdjustHandles="1" noChangeArrowheads="1" noChangeShapeType="1" noTextEdit="1"/>
                  </p:cNvSpPr>
                  <p:nvPr/>
                </p:nvSpPr>
                <p:spPr>
                  <a:xfrm>
                    <a:off x="4530437" y="3134589"/>
                    <a:ext cx="387927" cy="477982"/>
                  </a:xfrm>
                  <a:prstGeom prst="rect">
                    <a:avLst/>
                  </a:prstGeom>
                  <a:blipFill>
                    <a:blip r:embed="rId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DFE57B50-C0D8-4A40-BC0C-5486826642AA}"/>
                      </a:ext>
                    </a:extLst>
                  </p:cNvPr>
                  <p:cNvSpPr/>
                  <p:nvPr/>
                </p:nvSpPr>
                <p:spPr>
                  <a:xfrm>
                    <a:off x="6213765" y="3241942"/>
                    <a:ext cx="457200" cy="47798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2</m:t>
                              </m:r>
                            </m:sub>
                          </m:sSub>
                        </m:oMath>
                      </m:oMathPara>
                    </a14:m>
                    <a:endParaRPr lang="en-US" dirty="0"/>
                  </a:p>
                </p:txBody>
              </p:sp>
            </mc:Choice>
            <mc:Fallback xmlns="">
              <p:sp>
                <p:nvSpPr>
                  <p:cNvPr id="21" name="Rectangle 20">
                    <a:extLst>
                      <a:ext uri="{FF2B5EF4-FFF2-40B4-BE49-F238E27FC236}">
                        <a16:creationId xmlns:a16="http://schemas.microsoft.com/office/drawing/2014/main" id="{DFE57B50-C0D8-4A40-BC0C-5486826642AA}"/>
                      </a:ext>
                    </a:extLst>
                  </p:cNvPr>
                  <p:cNvSpPr>
                    <a:spLocks noRot="1" noChangeAspect="1" noMove="1" noResize="1" noEditPoints="1" noAdjustHandles="1" noChangeArrowheads="1" noChangeShapeType="1" noTextEdit="1"/>
                  </p:cNvSpPr>
                  <p:nvPr/>
                </p:nvSpPr>
                <p:spPr>
                  <a:xfrm>
                    <a:off x="6213765" y="3241942"/>
                    <a:ext cx="457200" cy="477982"/>
                  </a:xfrm>
                  <a:prstGeom prst="rect">
                    <a:avLst/>
                  </a:prstGeom>
                  <a:blipFill>
                    <a:blip r:embed="rId7"/>
                    <a:stretch>
                      <a:fillRect/>
                    </a:stretch>
                  </a:blipFill>
                  <a:ln>
                    <a:solidFill>
                      <a:schemeClr val="bg1"/>
                    </a:solidFill>
                  </a:ln>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E24E0BE0-0132-4F90-A0B0-BB8244612197}"/>
                  </a:ext>
                </a:extLst>
              </p:cNvPr>
              <p:cNvSpPr/>
              <p:nvPr/>
            </p:nvSpPr>
            <p:spPr>
              <a:xfrm>
                <a:off x="3073088" y="3878418"/>
                <a:ext cx="1787236" cy="789710"/>
              </a:xfrm>
              <a:prstGeom prst="rect">
                <a:avLst/>
              </a:prstGeom>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l-GR"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Φ</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m:t>
                      </m:r>
                      <m:f>
                        <m:f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ctrlPr>
                        </m:fPr>
                        <m:num>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𝐺𝑚</m:t>
                          </m:r>
                        </m:num>
                        <m:den>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𝑟</m:t>
                          </m:r>
                        </m:den>
                      </m:f>
                    </m:oMath>
                  </m:oMathPara>
                </a14:m>
                <a:endParaRPr lang="en-US" dirty="0">
                  <a:ln w="0"/>
                  <a:solidFill>
                    <a:schemeClr val="accent1"/>
                  </a:solidFill>
                  <a:effectLst>
                    <a:outerShdw blurRad="38100" dist="25400" dir="5400000" algn="ctr" rotWithShape="0">
                      <a:srgbClr val="6E747A">
                        <a:alpha val="43000"/>
                      </a:srgbClr>
                    </a:outerShdw>
                  </a:effectLst>
                </a:endParaRPr>
              </a:p>
            </p:txBody>
          </p:sp>
        </mc:Choice>
        <mc:Fallback xmlns="">
          <p:sp>
            <p:nvSpPr>
              <p:cNvPr id="24" name="Rectangle 23">
                <a:extLst>
                  <a:ext uri="{FF2B5EF4-FFF2-40B4-BE49-F238E27FC236}">
                    <a16:creationId xmlns:a16="http://schemas.microsoft.com/office/drawing/2014/main" id="{E24E0BE0-0132-4F90-A0B0-BB8244612197}"/>
                  </a:ext>
                </a:extLst>
              </p:cNvPr>
              <p:cNvSpPr>
                <a:spLocks noRot="1" noChangeAspect="1" noMove="1" noResize="1" noEditPoints="1" noAdjustHandles="1" noChangeArrowheads="1" noChangeShapeType="1" noTextEdit="1"/>
              </p:cNvSpPr>
              <p:nvPr/>
            </p:nvSpPr>
            <p:spPr>
              <a:xfrm>
                <a:off x="3073088" y="3878418"/>
                <a:ext cx="1787236" cy="789710"/>
              </a:xfrm>
              <a:prstGeom prst="rect">
                <a:avLst/>
              </a:prstGeom>
              <a:blipFill>
                <a:blip r:embed="rId8"/>
                <a:stretch>
                  <a:fillRect/>
                </a:stretch>
              </a:blipFill>
              <a:ln w="28575">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F8E5633D-93DC-4844-9BD9-429A4635BC82}"/>
                  </a:ext>
                </a:extLst>
              </p:cNvPr>
              <p:cNvSpPr/>
              <p:nvPr/>
            </p:nvSpPr>
            <p:spPr>
              <a:xfrm>
                <a:off x="5196955" y="3869404"/>
                <a:ext cx="5207779" cy="121521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𝑊h𝑒𝑟𝑒</m:t>
                      </m:r>
                      <m:r>
                        <a:rPr lang="en-US" b="0" i="1" smtClean="0">
                          <a:latin typeface="Cambria Math" panose="02040503050406030204" pitchFamily="18" charset="0"/>
                        </a:rPr>
                        <m:t>   </m:t>
                      </m:r>
                      <m:r>
                        <m:rPr>
                          <m:sty m:val="p"/>
                        </m:rPr>
                        <a:rPr lang="el-GR" b="0" i="1" smtClean="0">
                          <a:latin typeface="Cambria Math" panose="02040503050406030204" pitchFamily="18" charset="0"/>
                          <a:ea typeface="Cambria Math" panose="02040503050406030204" pitchFamily="18" charset="0"/>
                        </a:rPr>
                        <m:t>Φ</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𝐺𝑟𝑎𝑣𝑖𝑡𝑎𝑡𝑖𝑜𝑛𝑎𝑙</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𝑝𝑜𝑡𝑒𝑛𝑡𝑖𝑎𝑙</m:t>
                      </m:r>
                    </m:oMath>
                  </m:oMathPara>
                </a14:m>
                <a:endParaRPr lang="en-US" b="0" dirty="0">
                  <a:ea typeface="Cambria Math" panose="02040503050406030204" pitchFamily="18" charset="0"/>
                </a:endParaRPr>
              </a:p>
              <a:p>
                <a:pPr algn="just"/>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𝑀𝑎𝑠𝑠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𝑡h𝑒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𝑜𝑏𝑗𝑒𝑐𝑡</m:t>
                    </m:r>
                  </m:oMath>
                </a14:m>
                <a:endParaRPr lang="en-US" b="0" dirty="0">
                  <a:ea typeface="Cambria Math" panose="02040503050406030204" pitchFamily="18" charset="0"/>
                </a:endParaRPr>
              </a:p>
              <a:p>
                <a:pPr algn="just"/>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𝐺𝑟𝑎𝑣𝑖𝑡𝑎𝑡𝑖𝑜𝑛𝑎𝑙</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𝑐𝑜𝑛𝑠𝑡𝑎𝑛𝑡</m:t>
                    </m:r>
                  </m:oMath>
                </a14:m>
                <a:endParaRPr lang="en-US" b="0" dirty="0">
                  <a:ea typeface="Cambria Math" panose="02040503050406030204" pitchFamily="18" charset="0"/>
                </a:endParaRPr>
              </a:p>
              <a:p>
                <a:pPr algn="just"/>
                <a:r>
                  <a:rPr lang="en-US" b="0" dirty="0">
                    <a:ea typeface="Cambria Math" panose="02040503050406030204" pitchFamily="18" charset="0"/>
                  </a:rPr>
                  <a:t>                             </a:t>
                </a:r>
                <a14:m>
                  <m:oMath xmlns:m="http://schemas.openxmlformats.org/officeDocument/2006/math">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𝐷𝑖𝑠𝑡𝑎𝑛𝑐𝑒</m:t>
                    </m:r>
                  </m:oMath>
                </a14:m>
                <a:endParaRPr lang="en-US" b="0" dirty="0">
                  <a:ea typeface="Cambria Math" panose="02040503050406030204" pitchFamily="18" charset="0"/>
                </a:endParaRPr>
              </a:p>
              <a:p>
                <a:pPr algn="just"/>
                <a:endParaRPr lang="en-US" dirty="0"/>
              </a:p>
            </p:txBody>
          </p:sp>
        </mc:Choice>
        <mc:Fallback xmlns="">
          <p:sp>
            <p:nvSpPr>
              <p:cNvPr id="25" name="Rectangle 24">
                <a:extLst>
                  <a:ext uri="{FF2B5EF4-FFF2-40B4-BE49-F238E27FC236}">
                    <a16:creationId xmlns:a16="http://schemas.microsoft.com/office/drawing/2014/main" id="{F8E5633D-93DC-4844-9BD9-429A4635BC82}"/>
                  </a:ext>
                </a:extLst>
              </p:cNvPr>
              <p:cNvSpPr>
                <a:spLocks noRot="1" noChangeAspect="1" noMove="1" noResize="1" noEditPoints="1" noAdjustHandles="1" noChangeArrowheads="1" noChangeShapeType="1" noTextEdit="1"/>
              </p:cNvSpPr>
              <p:nvPr/>
            </p:nvSpPr>
            <p:spPr>
              <a:xfrm>
                <a:off x="5196955" y="3869404"/>
                <a:ext cx="5207779" cy="1215214"/>
              </a:xfrm>
              <a:prstGeom prst="rect">
                <a:avLst/>
              </a:prstGeom>
              <a:blipFill>
                <a:blip r:embed="rId9"/>
                <a:stretch>
                  <a:fillRect t="-6468"/>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63528C4B-4043-4405-91C1-C17652C0496D}"/>
                  </a:ext>
                </a:extLst>
              </p:cNvPr>
              <p:cNvSpPr/>
              <p:nvPr/>
            </p:nvSpPr>
            <p:spPr>
              <a:xfrm>
                <a:off x="6802582" y="5652655"/>
                <a:ext cx="1839660" cy="940331"/>
              </a:xfrm>
              <a:prstGeom prst="rect">
                <a:avLst/>
              </a:prstGeom>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bPr>
                        <m:e>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𝑉</m:t>
                          </m:r>
                        </m:e>
                        <m:sub>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𝑒𝑠𝑐</m:t>
                          </m:r>
                        </m:sub>
                      </m:sSub>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m:t>
                      </m:r>
                      <m:rad>
                        <m:radPr>
                          <m:degHide m:val="on"/>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radPr>
                        <m:deg/>
                        <m:e>
                          <m:f>
                            <m:f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fPr>
                            <m:num>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2</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𝐺𝑚</m:t>
                              </m:r>
                            </m:num>
                            <m:den>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𝑅</m:t>
                              </m:r>
                            </m:den>
                          </m:f>
                        </m:e>
                      </m:rad>
                    </m:oMath>
                  </m:oMathPara>
                </a14:m>
                <a:endParaRPr lang="en-US" dirty="0"/>
              </a:p>
            </p:txBody>
          </p:sp>
        </mc:Choice>
        <mc:Fallback xmlns="">
          <p:sp>
            <p:nvSpPr>
              <p:cNvPr id="26" name="Rectangle 25">
                <a:extLst>
                  <a:ext uri="{FF2B5EF4-FFF2-40B4-BE49-F238E27FC236}">
                    <a16:creationId xmlns:a16="http://schemas.microsoft.com/office/drawing/2014/main" id="{63528C4B-4043-4405-91C1-C17652C0496D}"/>
                  </a:ext>
                </a:extLst>
              </p:cNvPr>
              <p:cNvSpPr>
                <a:spLocks noRot="1" noChangeAspect="1" noMove="1" noResize="1" noEditPoints="1" noAdjustHandles="1" noChangeArrowheads="1" noChangeShapeType="1" noTextEdit="1"/>
              </p:cNvSpPr>
              <p:nvPr/>
            </p:nvSpPr>
            <p:spPr>
              <a:xfrm>
                <a:off x="6802582" y="5652655"/>
                <a:ext cx="1839660" cy="940331"/>
              </a:xfrm>
              <a:prstGeom prst="rect">
                <a:avLst/>
              </a:prstGeom>
              <a:blipFill>
                <a:blip r:embed="rId10"/>
                <a:stretch>
                  <a:fillRect/>
                </a:stretch>
              </a:blipFill>
              <a:ln w="28575">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27018555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38AA3-30E1-43FD-A89E-170C772A0517}"/>
              </a:ext>
            </a:extLst>
          </p:cNvPr>
          <p:cNvSpPr>
            <a:spLocks noGrp="1"/>
          </p:cNvSpPr>
          <p:nvPr>
            <p:ph type="title"/>
          </p:nvPr>
        </p:nvSpPr>
        <p:spPr>
          <a:xfrm>
            <a:off x="0" y="1"/>
            <a:ext cx="11353800" cy="512618"/>
          </a:xfrm>
        </p:spPr>
        <p:txBody>
          <a:bodyPr>
            <a:normAutofit/>
          </a:bodyPr>
          <a:lstStyle/>
          <a:p>
            <a:r>
              <a:rPr lang="en-US" sz="2800" b="1" dirty="0">
                <a:latin typeface="Times New Roman" panose="02020603050405020304" pitchFamily="18" charset="0"/>
                <a:cs typeface="Times New Roman" panose="02020603050405020304" pitchFamily="18" charset="0"/>
              </a:rPr>
              <a:t>Example 3</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CB00941-CB87-4167-ADFE-F09DE21E1D25}"/>
                  </a:ext>
                </a:extLst>
              </p:cNvPr>
              <p:cNvSpPr>
                <a:spLocks noGrp="1"/>
              </p:cNvSpPr>
              <p:nvPr>
                <p:ph idx="1"/>
              </p:nvPr>
            </p:nvSpPr>
            <p:spPr>
              <a:xfrm>
                <a:off x="0" y="512618"/>
                <a:ext cx="12192000" cy="6345381"/>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Find the gravitational field strength 100km above the surface of the surface of the Earth.</a:t>
                </a:r>
              </a:p>
              <a:p>
                <a:pPr marL="0" indent="0">
                  <a:buNone/>
                </a:pPr>
                <a:r>
                  <a:rPr lang="en-US" sz="2000" dirty="0">
                    <a:latin typeface="Times New Roman" panose="02020603050405020304" pitchFamily="18" charset="0"/>
                    <a:cs typeface="Times New Roman" panose="02020603050405020304" pitchFamily="18" charset="0"/>
                  </a:rPr>
                  <a:t>Given that: </a:t>
                </a:r>
                <a:r>
                  <a:rPr lang="en-US" sz="2000" i="1" dirty="0">
                    <a:latin typeface="Times New Roman" panose="02020603050405020304" pitchFamily="18" charset="0"/>
                    <a:cs typeface="Times New Roman" panose="02020603050405020304" pitchFamily="18" charset="0"/>
                  </a:rPr>
                  <a:t>Radius of the Earth is </a:t>
                </a:r>
                <a14:m>
                  <m:oMath xmlns:m="http://schemas.openxmlformats.org/officeDocument/2006/math">
                    <m:r>
                      <a:rPr lang="en-US" sz="2000" b="0" i="1" smtClean="0">
                        <a:latin typeface="Cambria Math" panose="02040503050406030204" pitchFamily="18" charset="0"/>
                      </a:rPr>
                      <m:t>6.37</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6</m:t>
                        </m:r>
                      </m:sup>
                    </m:sSup>
                    <m:r>
                      <a:rPr lang="en-US" sz="2000" b="0" i="1" smtClean="0">
                        <a:latin typeface="Cambria Math" panose="02040503050406030204" pitchFamily="18" charset="0"/>
                        <a:ea typeface="Cambria Math" panose="02040503050406030204" pitchFamily="18" charset="0"/>
                      </a:rPr>
                      <m:t>𝑚</m:t>
                    </m:r>
                  </m:oMath>
                </a14:m>
                <a:endParaRPr lang="en-US" sz="2000" b="0" i="1"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r>
                  <a:rPr lang="en-US" sz="2000" i="1" dirty="0">
                    <a:latin typeface="Times New Roman" panose="02020603050405020304" pitchFamily="18" charset="0"/>
                    <a:cs typeface="Times New Roman" panose="02020603050405020304" pitchFamily="18" charset="0"/>
                  </a:rPr>
                  <a:t>                   Mass of the Earth is </a:t>
                </a:r>
                <a14:m>
                  <m:oMath xmlns:m="http://schemas.openxmlformats.org/officeDocument/2006/math">
                    <m:r>
                      <a:rPr lang="en-US" sz="2000" b="0" i="1" smtClean="0">
                        <a:latin typeface="Cambria Math" panose="02040503050406030204" pitchFamily="18" charset="0"/>
                      </a:rPr>
                      <m:t>5.97</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24</m:t>
                        </m:r>
                      </m:sup>
                    </m:sSup>
                  </m:oMath>
                </a14:m>
                <a:endParaRPr lang="en-US" sz="2000" i="1" dirty="0">
                  <a:latin typeface="Times New Roman" panose="02020603050405020304" pitchFamily="18" charset="0"/>
                  <a:cs typeface="Times New Roman" panose="02020603050405020304" pitchFamily="18" charset="0"/>
                </a:endParaRPr>
              </a:p>
              <a:p>
                <a:pPr marL="0" indent="0">
                  <a:buNone/>
                </a:pPr>
                <a:r>
                  <a:rPr lang="en-US" sz="2000" i="1" dirty="0">
                    <a:latin typeface="Times New Roman" panose="02020603050405020304" pitchFamily="18" charset="0"/>
                    <a:cs typeface="Times New Roman" panose="02020603050405020304" pitchFamily="18" charset="0"/>
                  </a:rPr>
                  <a:t>                   Gravitational constant is </a:t>
                </a:r>
                <a14:m>
                  <m:oMath xmlns:m="http://schemas.openxmlformats.org/officeDocument/2006/math">
                    <m:r>
                      <a:rPr lang="en-US" sz="2000" b="0" i="1" smtClean="0">
                        <a:latin typeface="Cambria Math" panose="02040503050406030204" pitchFamily="18" charset="0"/>
                      </a:rPr>
                      <m:t>6.67</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−11</m:t>
                        </m:r>
                      </m:sup>
                    </m:sSup>
                  </m:oMath>
                </a14:m>
                <a:endParaRPr lang="en-US" sz="2000" i="1" dirty="0">
                  <a:latin typeface="Times New Roman" panose="02020603050405020304" pitchFamily="18" charset="0"/>
                  <a:cs typeface="Times New Roman" panose="02020603050405020304" pitchFamily="18" charset="0"/>
                </a:endParaRPr>
              </a:p>
              <a:p>
                <a:pPr marL="0" indent="0">
                  <a:buNone/>
                </a:pPr>
                <a:r>
                  <a:rPr lang="en-US" sz="2000" b="1" i="1" dirty="0">
                    <a:latin typeface="Times New Roman" panose="02020603050405020304" pitchFamily="18" charset="0"/>
                    <a:cs typeface="Times New Roman" panose="02020603050405020304" pitchFamily="18" charset="0"/>
                  </a:rPr>
                  <a:t>Solution:  </a:t>
                </a:r>
                <a14:m>
                  <m:oMath xmlns:m="http://schemas.openxmlformats.org/officeDocument/2006/math">
                    <m:r>
                      <a:rPr lang="en-US" sz="2000" b="0" i="1" smtClean="0">
                        <a:latin typeface="Cambria Math" panose="02040503050406030204" pitchFamily="18" charset="0"/>
                        <a:cs typeface="Times New Roman" panose="02020603050405020304" pitchFamily="18" charset="0"/>
                      </a:rPr>
                      <m:t>𝑟</m:t>
                    </m:r>
                    <m:r>
                      <a:rPr lang="en-US" sz="2000" b="0" i="1" smtClean="0">
                        <a:latin typeface="Cambria Math" panose="02040503050406030204" pitchFamily="18" charset="0"/>
                        <a:cs typeface="Times New Roman" panose="02020603050405020304" pitchFamily="18" charset="0"/>
                      </a:rPr>
                      <m:t>=1000×</m:t>
                    </m:r>
                    <m:sSup>
                      <m:sSupPr>
                        <m:ctrlPr>
                          <a:rPr lang="en-US" sz="20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0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US" sz="2000" b="0" i="1" smtClean="0">
                            <a:latin typeface="Cambria Math" panose="02040503050406030204" pitchFamily="18" charset="0"/>
                            <a:ea typeface="Cambria Math" panose="02040503050406030204" pitchFamily="18" charset="0"/>
                            <a:cs typeface="Times New Roman" panose="02020603050405020304" pitchFamily="18" charset="0"/>
                          </a:rPr>
                          <m:t>3</m:t>
                        </m:r>
                      </m:sup>
                    </m:sSup>
                    <m:r>
                      <a:rPr lang="en-US" sz="2000" b="0" i="1" smtClean="0">
                        <a:latin typeface="Cambria Math" panose="02040503050406030204" pitchFamily="18" charset="0"/>
                        <a:ea typeface="Cambria Math" panose="02040503050406030204" pitchFamily="18" charset="0"/>
                        <a:cs typeface="Times New Roman" panose="02020603050405020304" pitchFamily="18" charset="0"/>
                      </a:rPr>
                      <m:t>+6.37×</m:t>
                    </m:r>
                    <m:sSup>
                      <m:sSupPr>
                        <m:ctrlPr>
                          <a:rPr lang="en-US" sz="20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0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US" sz="2000" b="0" i="1" smtClean="0">
                            <a:latin typeface="Cambria Math" panose="02040503050406030204" pitchFamily="18" charset="0"/>
                            <a:ea typeface="Cambria Math" panose="02040503050406030204" pitchFamily="18" charset="0"/>
                            <a:cs typeface="Times New Roman" panose="02020603050405020304" pitchFamily="18" charset="0"/>
                          </a:rPr>
                          <m:t>6</m:t>
                        </m:r>
                      </m:sup>
                    </m:sSup>
                    <m:r>
                      <a:rPr lang="en-US" sz="2000" b="0" i="1" smtClean="0">
                        <a:latin typeface="Cambria Math" panose="02040503050406030204" pitchFamily="18" charset="0"/>
                        <a:ea typeface="Cambria Math" panose="02040503050406030204" pitchFamily="18" charset="0"/>
                        <a:cs typeface="Times New Roman" panose="02020603050405020304" pitchFamily="18" charset="0"/>
                      </a:rPr>
                      <m:t>=7.37×</m:t>
                    </m:r>
                    <m:sSup>
                      <m:sSupPr>
                        <m:ctrlPr>
                          <a:rPr lang="en-US" sz="20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0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US" sz="2000" b="0" i="1" smtClean="0">
                            <a:latin typeface="Cambria Math" panose="02040503050406030204" pitchFamily="18" charset="0"/>
                            <a:ea typeface="Cambria Math" panose="02040503050406030204" pitchFamily="18" charset="0"/>
                            <a:cs typeface="Times New Roman" panose="02020603050405020304" pitchFamily="18" charset="0"/>
                          </a:rPr>
                          <m:t>6</m:t>
                        </m:r>
                      </m:sup>
                    </m:sSup>
                    <m:r>
                      <a:rPr lang="en-US" sz="2000" b="0" i="1" smtClean="0">
                        <a:latin typeface="Cambria Math" panose="02040503050406030204" pitchFamily="18" charset="0"/>
                        <a:ea typeface="Cambria Math" panose="02040503050406030204" pitchFamily="18" charset="0"/>
                        <a:cs typeface="Times New Roman" panose="02020603050405020304" pitchFamily="18" charset="0"/>
                      </a:rPr>
                      <m:t>𝑚</m:t>
                    </m:r>
                  </m:oMath>
                </a14:m>
                <a:endParaRPr lang="en-US" sz="2000" i="1" dirty="0">
                  <a:latin typeface="Times New Roman" panose="02020603050405020304" pitchFamily="18" charset="0"/>
                  <a:cs typeface="Times New Roman" panose="02020603050405020304" pitchFamily="18" charset="0"/>
                </a:endParaRPr>
              </a:p>
              <a:p>
                <a:pPr marL="0" indent="0">
                  <a:buNone/>
                </a:pPr>
                <a:endParaRPr lang="en-US" sz="2400" b="1" i="1" dirty="0">
                  <a:latin typeface="Times New Roman" panose="02020603050405020304" pitchFamily="18" charset="0"/>
                  <a:cs typeface="Times New Roman" panose="02020603050405020304" pitchFamily="18" charset="0"/>
                </a:endParaRPr>
              </a:p>
              <a:p>
                <a:pPr marL="0" indent="0">
                  <a:buNone/>
                </a:pPr>
                <a:endParaRPr lang="en-US" sz="2400" b="1" i="1" dirty="0">
                  <a:latin typeface="Times New Roman" panose="02020603050405020304" pitchFamily="18" charset="0"/>
                  <a:cs typeface="Times New Roman" panose="02020603050405020304" pitchFamily="18" charset="0"/>
                </a:endParaRPr>
              </a:p>
              <a:p>
                <a:pPr marL="0" indent="0">
                  <a:buNone/>
                </a:pPr>
                <a:endParaRPr lang="en-US" sz="2400" b="1" i="1"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Self Assessment Exercise</a:t>
                </a:r>
              </a:p>
              <a:p>
                <a:r>
                  <a:rPr lang="en-US" sz="2400" dirty="0">
                    <a:latin typeface="Times New Roman" panose="02020603050405020304" pitchFamily="18" charset="0"/>
                    <a:cs typeface="Times New Roman" panose="02020603050405020304" pitchFamily="18" charset="0"/>
                  </a:rPr>
                  <a:t>Find the gravitational field strength 10km above the surface of the Earth.</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Find the gravitational potential required for a 50kg mass to leave the Earth’s gravitational field from the surface of the  Earth. </a:t>
                </a:r>
              </a:p>
            </p:txBody>
          </p:sp>
        </mc:Choice>
        <mc:Fallback>
          <p:sp>
            <p:nvSpPr>
              <p:cNvPr id="3" name="Content Placeholder 2">
                <a:extLst>
                  <a:ext uri="{FF2B5EF4-FFF2-40B4-BE49-F238E27FC236}">
                    <a16:creationId xmlns:a16="http://schemas.microsoft.com/office/drawing/2014/main" id="{ACB00941-CB87-4167-ADFE-F09DE21E1D25}"/>
                  </a:ext>
                </a:extLst>
              </p:cNvPr>
              <p:cNvSpPr>
                <a:spLocks noGrp="1" noRot="1" noChangeAspect="1" noMove="1" noResize="1" noEditPoints="1" noAdjustHandles="1" noChangeArrowheads="1" noChangeShapeType="1" noTextEdit="1"/>
              </p:cNvSpPr>
              <p:nvPr>
                <p:ph idx="1"/>
              </p:nvPr>
            </p:nvSpPr>
            <p:spPr>
              <a:xfrm>
                <a:off x="0" y="512618"/>
                <a:ext cx="12192000" cy="6345381"/>
              </a:xfrm>
              <a:blipFill>
                <a:blip r:embed="rId2"/>
                <a:stretch>
                  <a:fillRect l="-750" t="-13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Rectangle: Rounded Corners 3">
                <a:extLst>
                  <a:ext uri="{FF2B5EF4-FFF2-40B4-BE49-F238E27FC236}">
                    <a16:creationId xmlns:a16="http://schemas.microsoft.com/office/drawing/2014/main" id="{49472C24-0981-40EF-9247-C840E407F840}"/>
                  </a:ext>
                </a:extLst>
              </p:cNvPr>
              <p:cNvSpPr/>
              <p:nvPr/>
            </p:nvSpPr>
            <p:spPr>
              <a:xfrm>
                <a:off x="6262252" y="2161305"/>
                <a:ext cx="5458693" cy="2230584"/>
              </a:xfrm>
              <a:prstGeom prst="roundRect">
                <a:avLst/>
              </a:prstGeom>
              <a:ln w="28575">
                <a:solidFill>
                  <a:schemeClr val="accent4">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50000"/>
                  </a:lnSpc>
                </a:pPr>
                <a:r>
                  <a:rPr lang="en-US" sz="2400" dirty="0"/>
                  <a:t>Gravitational field strength </a:t>
                </a:r>
                <a14:m>
                  <m:oMath xmlns:m="http://schemas.openxmlformats.org/officeDocument/2006/math">
                    <m:d>
                      <m:dPr>
                        <m:ctrlPr>
                          <a:rPr lang="en-US" sz="2400" b="0" i="0" smtClean="0">
                            <a:latin typeface="Cambria Math" panose="02040503050406030204" pitchFamily="18" charset="0"/>
                          </a:rPr>
                        </m:ctrlPr>
                      </m:dPr>
                      <m:e>
                        <m:r>
                          <m:rPr>
                            <m:sty m:val="p"/>
                          </m:rPr>
                          <a:rPr lang="en-US" sz="2400" b="0" i="0" smtClean="0">
                            <a:latin typeface="Cambria Math" panose="02040503050406030204" pitchFamily="18" charset="0"/>
                          </a:rPr>
                          <m:t>g</m:t>
                        </m:r>
                      </m:e>
                    </m:d>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𝐺𝑚</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𝑟</m:t>
                            </m:r>
                          </m:e>
                          <m:sup>
                            <m:r>
                              <a:rPr lang="en-US" sz="2400" b="0" i="1" smtClean="0">
                                <a:latin typeface="Cambria Math" panose="02040503050406030204" pitchFamily="18" charset="0"/>
                              </a:rPr>
                              <m:t>2</m:t>
                            </m:r>
                          </m:sup>
                        </m:sSup>
                      </m:den>
                    </m:f>
                  </m:oMath>
                </a14:m>
                <a:endParaRPr lang="en-US" sz="2400" b="0" i="1" dirty="0">
                  <a:latin typeface="Cambria Math" panose="02040503050406030204" pitchFamily="18" charset="0"/>
                </a:endParaRPr>
              </a:p>
              <a:p>
                <a:pPr algn="ctr">
                  <a:lnSpc>
                    <a:spcPct val="150000"/>
                  </a:lnSpc>
                </a:pPr>
                <a:r>
                  <a:rPr lang="en-US" sz="2400" b="0" dirty="0"/>
                  <a:t>g</a:t>
                </a:r>
                <a14:m>
                  <m:oMath xmlns:m="http://schemas.openxmlformats.org/officeDocument/2006/math">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6.67</m:t>
                            </m:r>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rPr>
                              <m:t>−11</m:t>
                            </m:r>
                          </m:sup>
                        </m:sSup>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5.97×10</m:t>
                            </m:r>
                          </m:e>
                          <m:sup>
                            <m:r>
                              <a:rPr lang="en-US" sz="2400" b="0" i="1" smtClean="0">
                                <a:latin typeface="Cambria Math" panose="02040503050406030204" pitchFamily="18" charset="0"/>
                                <a:ea typeface="Cambria Math" panose="02040503050406030204" pitchFamily="18" charset="0"/>
                              </a:rPr>
                              <m:t>24</m:t>
                            </m:r>
                          </m:sup>
                        </m:sSup>
                      </m:num>
                      <m:den>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7.39</m:t>
                                    </m:r>
                                    <m:r>
                                      <a:rPr lang="en-US" sz="2400" i="1">
                                        <a:latin typeface="Cambria Math" panose="02040503050406030204" pitchFamily="18" charset="0"/>
                                        <a:ea typeface="Cambria Math" panose="02040503050406030204" pitchFamily="18" charset="0"/>
                                      </a:rPr>
                                      <m:t>×10</m:t>
                                    </m:r>
                                  </m:e>
                                  <m:sup>
                                    <m:r>
                                      <a:rPr lang="en-US" sz="2400" i="1">
                                        <a:latin typeface="Cambria Math" panose="02040503050406030204" pitchFamily="18" charset="0"/>
                                      </a:rPr>
                                      <m:t>6</m:t>
                                    </m:r>
                                  </m:sup>
                                </m:sSup>
                              </m:e>
                            </m:d>
                          </m:e>
                          <m:sup>
                            <m:r>
                              <a:rPr lang="en-US" sz="2400" b="0" i="1" smtClean="0">
                                <a:latin typeface="Cambria Math" panose="02040503050406030204" pitchFamily="18" charset="0"/>
                              </a:rPr>
                              <m:t>2</m:t>
                            </m:r>
                          </m:sup>
                        </m:sSup>
                      </m:den>
                    </m:f>
                  </m:oMath>
                </a14:m>
                <a:endParaRPr lang="en-US" sz="2400" b="0" i="1" dirty="0">
                  <a:latin typeface="Cambria Math" panose="02040503050406030204" pitchFamily="18" charset="0"/>
                </a:endParaRPr>
              </a:p>
              <a:p>
                <a:pPr algn="ctr">
                  <a:lnSpc>
                    <a:spcPct val="150000"/>
                  </a:lnSpc>
                </a:pPr>
                <a:r>
                  <a:rPr lang="en-US" sz="2400" dirty="0">
                    <a:ln w="0"/>
                    <a:solidFill>
                      <a:schemeClr val="accent1"/>
                    </a:solidFill>
                    <a:effectLst>
                      <a:outerShdw blurRad="38100" dist="25400" dir="5400000" algn="ctr" rotWithShape="0">
                        <a:srgbClr val="6E747A">
                          <a:alpha val="43000"/>
                        </a:srgbClr>
                      </a:outerShdw>
                    </a:effectLst>
                  </a:rPr>
                  <a:t>g</a:t>
                </a:r>
                <a14:m>
                  <m:oMath xmlns:m="http://schemas.openxmlformats.org/officeDocument/2006/math">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m:t>
                    </m:r>
                    <m:sSup>
                      <m:sSup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pPr>
                      <m:e>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7.3</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𝑁𝑘𝑔</m:t>
                        </m:r>
                      </m:e>
                      <m:sup>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−1</m:t>
                        </m:r>
                      </m:sup>
                    </m:sSup>
                  </m:oMath>
                </a14:m>
                <a:endParaRPr lang="en-US" sz="2000" b="0" dirty="0"/>
              </a:p>
              <a:p>
                <a:pPr algn="ctr"/>
                <a:endParaRPr lang="en-US" dirty="0"/>
              </a:p>
            </p:txBody>
          </p:sp>
        </mc:Choice>
        <mc:Fallback>
          <p:sp>
            <p:nvSpPr>
              <p:cNvPr id="4" name="Rectangle: Rounded Corners 3">
                <a:extLst>
                  <a:ext uri="{FF2B5EF4-FFF2-40B4-BE49-F238E27FC236}">
                    <a16:creationId xmlns:a16="http://schemas.microsoft.com/office/drawing/2014/main" id="{49472C24-0981-40EF-9247-C840E407F840}"/>
                  </a:ext>
                </a:extLst>
              </p:cNvPr>
              <p:cNvSpPr>
                <a:spLocks noRot="1" noChangeAspect="1" noMove="1" noResize="1" noEditPoints="1" noAdjustHandles="1" noChangeArrowheads="1" noChangeShapeType="1" noTextEdit="1"/>
              </p:cNvSpPr>
              <p:nvPr/>
            </p:nvSpPr>
            <p:spPr>
              <a:xfrm>
                <a:off x="6262252" y="2161305"/>
                <a:ext cx="5458693" cy="2230584"/>
              </a:xfrm>
              <a:prstGeom prst="roundRect">
                <a:avLst/>
              </a:prstGeom>
              <a:blipFill>
                <a:blip r:embed="rId3"/>
                <a:stretch>
                  <a:fillRect b="-541"/>
                </a:stretch>
              </a:blipFill>
              <a:ln w="28575">
                <a:solidFill>
                  <a:schemeClr val="accent4">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Rectangle: Rounded Corners 4">
                <a:extLst>
                  <a:ext uri="{FF2B5EF4-FFF2-40B4-BE49-F238E27FC236}">
                    <a16:creationId xmlns:a16="http://schemas.microsoft.com/office/drawing/2014/main" id="{4CB2B0BA-1AD3-4B6E-87AC-5AB5BADABA82}"/>
                  </a:ext>
                </a:extLst>
              </p:cNvPr>
              <p:cNvSpPr/>
              <p:nvPr/>
            </p:nvSpPr>
            <p:spPr>
              <a:xfrm>
                <a:off x="9254835" y="4454236"/>
                <a:ext cx="2098965" cy="623454"/>
              </a:xfrm>
              <a:prstGeom prst="roundRect">
                <a:avLst/>
              </a:prstGeom>
              <a:ln w="28575">
                <a:solidFill>
                  <a:srgbClr val="7030A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pPr>
                        <m:e>
                          <m:r>
                            <a:rPr lang="en-US" b="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𝐴𝑛𝑠</m:t>
                          </m:r>
                          <m:r>
                            <a:rPr lang="en-US" b="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    </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𝑔</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=9.8</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𝑁𝑔</m:t>
                          </m:r>
                        </m:e>
                        <m:sup>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−1</m:t>
                          </m:r>
                        </m:sup>
                      </m:sSup>
                    </m:oMath>
                  </m:oMathPara>
                </a14:m>
                <a:endParaRPr lang="en-US" dirty="0"/>
              </a:p>
            </p:txBody>
          </p:sp>
        </mc:Choice>
        <mc:Fallback>
          <p:sp>
            <p:nvSpPr>
              <p:cNvPr id="5" name="Rectangle: Rounded Corners 4">
                <a:extLst>
                  <a:ext uri="{FF2B5EF4-FFF2-40B4-BE49-F238E27FC236}">
                    <a16:creationId xmlns:a16="http://schemas.microsoft.com/office/drawing/2014/main" id="{4CB2B0BA-1AD3-4B6E-87AC-5AB5BADABA82}"/>
                  </a:ext>
                </a:extLst>
              </p:cNvPr>
              <p:cNvSpPr>
                <a:spLocks noRot="1" noChangeAspect="1" noMove="1" noResize="1" noEditPoints="1" noAdjustHandles="1" noChangeArrowheads="1" noChangeShapeType="1" noTextEdit="1"/>
              </p:cNvSpPr>
              <p:nvPr/>
            </p:nvSpPr>
            <p:spPr>
              <a:xfrm>
                <a:off x="9254835" y="4454236"/>
                <a:ext cx="2098965" cy="623454"/>
              </a:xfrm>
              <a:prstGeom prst="roundRect">
                <a:avLst/>
              </a:prstGeom>
              <a:blipFill>
                <a:blip r:embed="rId4"/>
                <a:stretch>
                  <a:fillRect/>
                </a:stretch>
              </a:blipFill>
              <a:ln w="28575">
                <a:solidFill>
                  <a:srgbClr val="7030A0"/>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Rectangle: Rounded Corners 5">
                <a:extLst>
                  <a:ext uri="{FF2B5EF4-FFF2-40B4-BE49-F238E27FC236}">
                    <a16:creationId xmlns:a16="http://schemas.microsoft.com/office/drawing/2014/main" id="{9322D0BF-46D0-4EB2-8AB7-D9934FD3EA54}"/>
                  </a:ext>
                </a:extLst>
              </p:cNvPr>
              <p:cNvSpPr/>
              <p:nvPr/>
            </p:nvSpPr>
            <p:spPr>
              <a:xfrm>
                <a:off x="4197927" y="5763491"/>
                <a:ext cx="3200401" cy="512618"/>
              </a:xfrm>
              <a:prstGeom prst="roundRect">
                <a:avLst/>
              </a:prstGeom>
              <a:ln w="28575">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𝐴𝑛𝑠</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    </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𝑔</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m:t>
                      </m:r>
                      <m:sSup>
                        <m:sSup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pPr>
                        <m:e>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−6.25</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×10</m:t>
                          </m:r>
                        </m:e>
                        <m:sup>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7</m:t>
                          </m:r>
                        </m:sup>
                      </m:sSup>
                      <m:sSup>
                        <m:sSup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sSupPr>
                        <m:e>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𝐽𝑘𝑔</m:t>
                          </m:r>
                        </m:e>
                        <m:sup>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−1</m:t>
                          </m:r>
                        </m:sup>
                      </m:sSup>
                    </m:oMath>
                  </m:oMathPara>
                </a14:m>
                <a:endParaRPr lang="en-US" dirty="0">
                  <a:ln w="0"/>
                  <a:solidFill>
                    <a:schemeClr val="accent1"/>
                  </a:solidFill>
                  <a:effectLst>
                    <a:outerShdw blurRad="38100" dist="25400" dir="5400000" algn="ctr" rotWithShape="0">
                      <a:srgbClr val="6E747A">
                        <a:alpha val="43000"/>
                      </a:srgbClr>
                    </a:outerShdw>
                  </a:effectLst>
                </a:endParaRPr>
              </a:p>
            </p:txBody>
          </p:sp>
        </mc:Choice>
        <mc:Fallback>
          <p:sp>
            <p:nvSpPr>
              <p:cNvPr id="6" name="Rectangle: Rounded Corners 5">
                <a:extLst>
                  <a:ext uri="{FF2B5EF4-FFF2-40B4-BE49-F238E27FC236}">
                    <a16:creationId xmlns:a16="http://schemas.microsoft.com/office/drawing/2014/main" id="{9322D0BF-46D0-4EB2-8AB7-D9934FD3EA54}"/>
                  </a:ext>
                </a:extLst>
              </p:cNvPr>
              <p:cNvSpPr>
                <a:spLocks noRot="1" noChangeAspect="1" noMove="1" noResize="1" noEditPoints="1" noAdjustHandles="1" noChangeArrowheads="1" noChangeShapeType="1" noTextEdit="1"/>
              </p:cNvSpPr>
              <p:nvPr/>
            </p:nvSpPr>
            <p:spPr>
              <a:xfrm>
                <a:off x="4197927" y="5763491"/>
                <a:ext cx="3200401" cy="512618"/>
              </a:xfrm>
              <a:prstGeom prst="roundRect">
                <a:avLst/>
              </a:prstGeom>
              <a:blipFill>
                <a:blip r:embed="rId5"/>
                <a:stretch>
                  <a:fillRect/>
                </a:stretch>
              </a:blipFill>
              <a:ln w="28575">
                <a:solidFill>
                  <a:schemeClr val="accent2">
                    <a:lumMod val="7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2125119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E9EC9-66C7-47C3-A7FE-A169506402DB}"/>
              </a:ext>
            </a:extLst>
          </p:cNvPr>
          <p:cNvSpPr>
            <a:spLocks noGrp="1"/>
          </p:cNvSpPr>
          <p:nvPr>
            <p:ph type="title"/>
          </p:nvPr>
        </p:nvSpPr>
        <p:spPr>
          <a:xfrm>
            <a:off x="838200" y="1"/>
            <a:ext cx="10515600" cy="734290"/>
          </a:xfrm>
        </p:spPr>
        <p:txBody>
          <a:bodyPr>
            <a:normAutofit/>
          </a:bodyPr>
          <a:lstStyle/>
          <a:p>
            <a:pPr algn="ctr"/>
            <a:r>
              <a:rPr lang="en-US" b="1" dirty="0">
                <a:latin typeface="Times New Roman" panose="02020603050405020304" pitchFamily="18" charset="0"/>
                <a:cs typeface="Times New Roman" panose="02020603050405020304" pitchFamily="18" charset="0"/>
              </a:rPr>
              <a:t>ELASTICITY</a:t>
            </a:r>
          </a:p>
        </p:txBody>
      </p:sp>
      <p:sp>
        <p:nvSpPr>
          <p:cNvPr id="3" name="Content Placeholder 2">
            <a:extLst>
              <a:ext uri="{FF2B5EF4-FFF2-40B4-BE49-F238E27FC236}">
                <a16:creationId xmlns:a16="http://schemas.microsoft.com/office/drawing/2014/main" id="{38CD0929-6592-43B7-A1E9-2F06F9EA6035}"/>
              </a:ext>
            </a:extLst>
          </p:cNvPr>
          <p:cNvSpPr>
            <a:spLocks noGrp="1"/>
          </p:cNvSpPr>
          <p:nvPr>
            <p:ph idx="1"/>
          </p:nvPr>
        </p:nvSpPr>
        <p:spPr>
          <a:xfrm>
            <a:off x="0" y="595745"/>
            <a:ext cx="12192000" cy="6262254"/>
          </a:xfrm>
        </p:spPr>
        <p:style>
          <a:lnRef idx="2">
            <a:schemeClr val="dk1"/>
          </a:lnRef>
          <a:fillRef idx="1">
            <a:schemeClr val="lt1"/>
          </a:fillRef>
          <a:effectRef idx="0">
            <a:schemeClr val="dk1"/>
          </a:effectRef>
          <a:fontRef idx="minor">
            <a:schemeClr val="dk1"/>
          </a:fontRef>
        </p:style>
        <p:txBody>
          <a:bodyPr/>
          <a:lstStyle/>
          <a:p>
            <a:pPr marL="0" indent="0" algn="just">
              <a:lnSpc>
                <a:spcPct val="100000"/>
              </a:lnSpc>
              <a:buNone/>
            </a:pPr>
            <a:r>
              <a:rPr lang="en-US" sz="2400" dirty="0">
                <a:latin typeface="Times New Roman" panose="02020603050405020304" pitchFamily="18" charset="0"/>
                <a:cs typeface="Times New Roman" panose="02020603050405020304" pitchFamily="18" charset="0"/>
              </a:rPr>
              <a:t>The property of a material to regain its original condition on the removal of deforming forces is called elasticity.</a:t>
            </a:r>
          </a:p>
          <a:p>
            <a:pPr marL="0" indent="0" algn="ctr">
              <a:lnSpc>
                <a:spcPct val="100000"/>
              </a:lnSpc>
              <a:buNone/>
            </a:pPr>
            <a:r>
              <a:rPr lang="en-US" b="1" dirty="0">
                <a:latin typeface="Times New Roman" panose="02020603050405020304" pitchFamily="18" charset="0"/>
                <a:cs typeface="Times New Roman" panose="02020603050405020304" pitchFamily="18" charset="0"/>
              </a:rPr>
              <a:t>Stress and Strain</a:t>
            </a:r>
          </a:p>
          <a:p>
            <a:pPr marL="0" indent="0" algn="just">
              <a:lnSpc>
                <a:spcPct val="100000"/>
              </a:lnSpc>
              <a:buNone/>
            </a:pPr>
            <a:endParaRPr lang="en-US" sz="2400" dirty="0">
              <a:latin typeface="Times New Roman" panose="02020603050405020304" pitchFamily="18" charset="0"/>
              <a:cs typeface="Times New Roman" panose="02020603050405020304" pitchFamily="18" charset="0"/>
            </a:endParaRPr>
          </a:p>
          <a:p>
            <a:pPr marL="0" indent="0" algn="just">
              <a:lnSpc>
                <a:spcPct val="100000"/>
              </a:lnSpc>
              <a:buNone/>
            </a:pPr>
            <a:endParaRPr lang="en-US"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A184C914-571B-463A-B2CD-AE77CBAE6715}"/>
              </a:ext>
            </a:extLst>
          </p:cNvPr>
          <p:cNvSpPr/>
          <p:nvPr/>
        </p:nvSpPr>
        <p:spPr>
          <a:xfrm>
            <a:off x="2757055" y="2514600"/>
            <a:ext cx="3200400" cy="9144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4166AD7-4BEB-4364-B5CE-5D1D8B4C0984}"/>
                  </a:ext>
                </a:extLst>
              </p:cNvPr>
              <p:cNvSpPr/>
              <p:nvPr/>
            </p:nvSpPr>
            <p:spPr>
              <a:xfrm>
                <a:off x="512618" y="2098964"/>
                <a:ext cx="5043054" cy="4163291"/>
              </a:xfrm>
              <a:prstGeom prst="rect">
                <a:avLst/>
              </a:prstGeom>
              <a:scene3d>
                <a:camera prst="orthographicFront"/>
                <a:lightRig rig="threePt" dir="t"/>
              </a:scene3d>
              <a:sp3d>
                <a:bevelT prst="angle"/>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latin typeface="Times New Roman" panose="02020603050405020304" pitchFamily="18" charset="0"/>
                    <a:cs typeface="Times New Roman" panose="02020603050405020304" pitchFamily="18" charset="0"/>
                  </a:rPr>
                  <a:t>Stress</a:t>
                </a:r>
                <a:r>
                  <a:rPr lang="en-US" sz="2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 the restoring force or recovering force per unit area set up inside the material.</a:t>
                </a:r>
              </a:p>
              <a:p>
                <a:pPr algn="ctr"/>
                <a:endParaRPr lang="en-US" sz="2000"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𝑆𝑡𝑟𝑒𝑠𝑠</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 </m:t>
                      </m:r>
                      <m:f>
                        <m:fPr>
                          <m:ctrlP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ctrlPr>
                        </m:fPr>
                        <m:num>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𝐹𝑜𝑟𝑐𝑒</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𝐹</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m:t>
                          </m:r>
                        </m:num>
                        <m:den>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𝐴𝑟𝑒𝑎</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 (</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𝑎</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rPr>
                            <m:t>)</m:t>
                          </m:r>
                        </m:den>
                      </m:f>
                    </m:oMath>
                  </m:oMathPara>
                </a14:m>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pPr algn="ct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There are two types of stress:</a:t>
                </a:r>
              </a:p>
              <a:p>
                <a:pPr marL="285750" indent="-285750">
                  <a:lnSpc>
                    <a:spcPct val="100000"/>
                  </a:lnSpc>
                  <a:buFont typeface="Arial" panose="020B0604020202020204" pitchFamily="34" charset="0"/>
                  <a:buChar char="•"/>
                </a:pPr>
                <a:r>
                  <a:rPr lang="en-US" sz="2000" i="1" dirty="0">
                    <a:solidFill>
                      <a:srgbClr val="C00000"/>
                    </a:solidFill>
                    <a:latin typeface="Times New Roman" panose="02020603050405020304" pitchFamily="18" charset="0"/>
                    <a:cs typeface="Times New Roman" panose="02020603050405020304" pitchFamily="18" charset="0"/>
                  </a:rPr>
                  <a:t>Normal Stress</a:t>
                </a:r>
                <a:endParaRPr lang="en-US" sz="2000" dirty="0">
                  <a:latin typeface="Times New Roman" panose="02020603050405020304" pitchFamily="18" charset="0"/>
                  <a:cs typeface="Times New Roman" panose="02020603050405020304" pitchFamily="18" charset="0"/>
                </a:endParaRPr>
              </a:p>
              <a:p>
                <a:pPr marL="285750" indent="-285750">
                  <a:lnSpc>
                    <a:spcPct val="100000"/>
                  </a:lnSpc>
                  <a:buFont typeface="Arial" panose="020B0604020202020204" pitchFamily="34" charset="0"/>
                  <a:buChar char="•"/>
                </a:pPr>
                <a:r>
                  <a:rPr lang="en-US" sz="2000" i="1" dirty="0">
                    <a:solidFill>
                      <a:srgbClr val="C00000"/>
                    </a:solidFill>
                    <a:latin typeface="Times New Roman" panose="02020603050405020304" pitchFamily="18" charset="0"/>
                    <a:cs typeface="Times New Roman" panose="02020603050405020304" pitchFamily="18" charset="0"/>
                  </a:rPr>
                  <a:t>Tangential Stress</a:t>
                </a:r>
                <a:endParaRPr lang="en-US" sz="2000" dirty="0">
                  <a:latin typeface="Times New Roman" panose="02020603050405020304" pitchFamily="18" charset="0"/>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74166AD7-4BEB-4364-B5CE-5D1D8B4C0984}"/>
                  </a:ext>
                </a:extLst>
              </p:cNvPr>
              <p:cNvSpPr>
                <a:spLocks noRot="1" noChangeAspect="1" noMove="1" noResize="1" noEditPoints="1" noAdjustHandles="1" noChangeArrowheads="1" noChangeShapeType="1" noTextEdit="1"/>
              </p:cNvSpPr>
              <p:nvPr/>
            </p:nvSpPr>
            <p:spPr>
              <a:xfrm>
                <a:off x="512618" y="2098964"/>
                <a:ext cx="5043054" cy="4163291"/>
              </a:xfrm>
              <a:prstGeom prst="rect">
                <a:avLst/>
              </a:prstGeom>
              <a:blipFill>
                <a:blip r:embed="rId2"/>
                <a:stretch>
                  <a:fillRect l="-8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900A60D3-42B2-4CEB-A548-1BD84A38D997}"/>
                  </a:ext>
                </a:extLst>
              </p:cNvPr>
              <p:cNvSpPr/>
              <p:nvPr/>
            </p:nvSpPr>
            <p:spPr>
              <a:xfrm>
                <a:off x="6096000" y="2098964"/>
                <a:ext cx="5043055" cy="4163291"/>
              </a:xfrm>
              <a:prstGeom prst="rect">
                <a:avLst/>
              </a:prstGeom>
              <a:scene3d>
                <a:camera prst="orthographicFront"/>
                <a:lightRig rig="threePt" dir="t"/>
              </a:scene3d>
              <a:sp3d>
                <a:bevelT prst="angle"/>
              </a:sp3d>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latin typeface="Times New Roman" panose="02020603050405020304" pitchFamily="18" charset="0"/>
                    <a:cs typeface="Times New Roman" panose="02020603050405020304" pitchFamily="18" charset="0"/>
                  </a:rPr>
                  <a:t>Strain: </a:t>
                </a:r>
                <a:r>
                  <a:rPr lang="en-US" dirty="0">
                    <a:latin typeface="Times New Roman" panose="02020603050405020304" pitchFamily="18" charset="0"/>
                    <a:cs typeface="Times New Roman" panose="02020603050405020304" pitchFamily="18" charset="0"/>
                  </a:rPr>
                  <a:t>is the increase in length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m:t>
                    </m:r>
                    <m:r>
                      <a:rPr lang="en-US" b="0" i="1" smtClean="0">
                        <a:latin typeface="Cambria Math" panose="02040503050406030204" pitchFamily="18" charset="0"/>
                        <a:ea typeface="Cambria Math" panose="02040503050406030204" pitchFamily="18" charset="0"/>
                        <a:cs typeface="Times New Roman" panose="02020603050405020304" pitchFamily="18" charset="0"/>
                      </a:rPr>
                      <m:t>𝑙</m:t>
                    </m:r>
                  </m:oMath>
                </a14:m>
                <a:r>
                  <a:rPr lang="en-US" dirty="0">
                    <a:latin typeface="Times New Roman" panose="02020603050405020304" pitchFamily="18" charset="0"/>
                    <a:cs typeface="Times New Roman" panose="02020603050405020304" pitchFamily="18" charset="0"/>
                  </a:rPr>
                  <a:t> per original length </a:t>
                </a:r>
                <a:r>
                  <a:rPr lang="en-US" i="1" dirty="0">
                    <a:latin typeface="Times New Roman" panose="02020603050405020304" pitchFamily="18" charset="0"/>
                    <a:cs typeface="Times New Roman" panose="02020603050405020304" pitchFamily="18" charset="0"/>
                  </a:rPr>
                  <a:t>L</a:t>
                </a:r>
                <a:r>
                  <a:rPr lang="en-US" dirty="0">
                    <a:latin typeface="Times New Roman" panose="02020603050405020304" pitchFamily="18" charset="0"/>
                    <a:cs typeface="Times New Roman" panose="02020603050405020304" pitchFamily="18" charset="0"/>
                  </a:rPr>
                  <a:t> of the material.</a:t>
                </a:r>
              </a:p>
              <a:p>
                <a:pPr algn="ctr"/>
                <a14:m>
                  <m:oMathPara xmlns:m="http://schemas.openxmlformats.org/officeDocument/2006/math">
                    <m:oMathParaPr>
                      <m:jc m:val="centerGroup"/>
                    </m:oMathParaPr>
                    <m:oMath xmlns:m="http://schemas.openxmlformats.org/officeDocument/2006/math">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𝑆𝑡𝑟𝑎𝑖𝑛</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m:t>
                      </m:r>
                      <m:f>
                        <m:fPr>
                          <m:ctrlP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ctrlPr>
                        </m:fPr>
                        <m:num>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𝑙</m:t>
                          </m:r>
                        </m:num>
                        <m:den>
                          <m:r>
                            <a:rPr lang="en-US"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𝐿</m:t>
                          </m:r>
                        </m:den>
                      </m:f>
                    </m:oMath>
                  </m:oMathPara>
                </a14:m>
                <a:endParaRPr lang="en-US"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Types of strain</a:t>
                </a:r>
              </a:p>
              <a:p>
                <a:pPr marL="285750" indent="-285750">
                  <a:buFont typeface="Arial" panose="020B0604020202020204" pitchFamily="34" charset="0"/>
                  <a:buChar char="•"/>
                </a:pPr>
                <a:r>
                  <a:rPr lang="en-US" sz="2000" i="1" dirty="0">
                    <a:solidFill>
                      <a:srgbClr val="FF0000"/>
                    </a:solidFill>
                    <a:latin typeface="Times New Roman" panose="02020603050405020304" pitchFamily="18" charset="0"/>
                    <a:cs typeface="Times New Roman" panose="02020603050405020304" pitchFamily="18" charset="0"/>
                  </a:rPr>
                  <a:t>Longitudinal strain</a:t>
                </a:r>
                <a14:m>
                  <m:oMath xmlns:m="http://schemas.openxmlformats.org/officeDocument/2006/math">
                    <m:r>
                      <a:rPr lang="en-US" sz="2400" b="0" i="1" smtClean="0">
                        <a:solidFill>
                          <a:srgbClr val="FF0000"/>
                        </a:solidFill>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𝑐h𝑎𝑛𝑔𝑒</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𝑖𝑛</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𝑙𝑒𝑛𝑔𝑡h</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𝑙</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num>
                      <m:den>
                        <m:r>
                          <a:rPr lang="en-US" sz="2400" b="0" i="1" smtClean="0">
                            <a:latin typeface="Cambria Math" panose="02040503050406030204" pitchFamily="18" charset="0"/>
                            <a:cs typeface="Times New Roman" panose="02020603050405020304" pitchFamily="18" charset="0"/>
                          </a:rPr>
                          <m:t>𝑜𝑟𝑖𝑔𝑖𝑛𝑎𝑙</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𝑙𝑒𝑛𝑔𝑡h</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𝐿</m:t>
                        </m:r>
                        <m:r>
                          <a:rPr lang="en-US" sz="2400" b="0" i="1" smtClean="0">
                            <a:latin typeface="Cambria Math" panose="02040503050406030204" pitchFamily="18" charset="0"/>
                            <a:cs typeface="Times New Roman" panose="02020603050405020304" pitchFamily="18" charset="0"/>
                          </a:rPr>
                          <m:t>)</m:t>
                        </m:r>
                      </m:den>
                    </m:f>
                  </m:oMath>
                </a14:m>
                <a:endParaRPr lang="en-US" sz="2000" b="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000" b="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i="1" dirty="0">
                    <a:solidFill>
                      <a:srgbClr val="FF0000"/>
                    </a:solidFill>
                    <a:latin typeface="Times New Roman" panose="02020603050405020304" pitchFamily="18" charset="0"/>
                    <a:cs typeface="Times New Roman" panose="02020603050405020304" pitchFamily="18" charset="0"/>
                  </a:rPr>
                  <a:t>Volume strain</a:t>
                </a:r>
                <a14:m>
                  <m:oMath xmlns:m="http://schemas.openxmlformats.org/officeDocument/2006/math">
                    <m:r>
                      <a:rPr lang="en-US" sz="2400" b="0" i="1" smtClean="0">
                        <a:solidFill>
                          <a:srgbClr val="FF0000"/>
                        </a:solidFill>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𝑐h𝑎𝑛𝑔𝑒</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𝑖𝑛</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𝑣𝑜𝑙𝑢𝑚𝑒</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𝑣</m:t>
                        </m:r>
                        <m:r>
                          <a:rPr lang="en-US" sz="2400" b="0" i="1" smtClean="0">
                            <a:latin typeface="Cambria Math" panose="02040503050406030204" pitchFamily="18" charset="0"/>
                            <a:cs typeface="Times New Roman" panose="02020603050405020304" pitchFamily="18" charset="0"/>
                          </a:rPr>
                          <m:t>)</m:t>
                        </m:r>
                      </m:num>
                      <m:den>
                        <m:r>
                          <a:rPr lang="en-US" sz="2400" b="0" i="1" smtClean="0">
                            <a:latin typeface="Cambria Math" panose="02040503050406030204" pitchFamily="18" charset="0"/>
                            <a:cs typeface="Times New Roman" panose="02020603050405020304" pitchFamily="18" charset="0"/>
                          </a:rPr>
                          <m:t>𝑜𝑟𝑖𝑔𝑖𝑛𝑎𝑙</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𝑣𝑜𝑙𝑢𝑚𝑒</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𝑉</m:t>
                        </m:r>
                        <m:r>
                          <a:rPr lang="en-US" sz="2400" b="0" i="1" smtClean="0">
                            <a:latin typeface="Cambria Math" panose="02040503050406030204" pitchFamily="18" charset="0"/>
                            <a:cs typeface="Times New Roman" panose="02020603050405020304" pitchFamily="18" charset="0"/>
                          </a:rPr>
                          <m:t>)</m:t>
                        </m:r>
                      </m:den>
                    </m:f>
                  </m:oMath>
                </a14:m>
                <a:endParaRPr lang="en-US" sz="2000" b="0" dirty="0">
                  <a:latin typeface="Times New Roman" panose="02020603050405020304" pitchFamily="18" charset="0"/>
                  <a:cs typeface="Times New Roman" panose="02020603050405020304" pitchFamily="18" charset="0"/>
                </a:endParaRPr>
              </a:p>
              <a:p>
                <a:endParaRPr lang="en-US" sz="2000" b="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i="1" dirty="0">
                    <a:solidFill>
                      <a:srgbClr val="FF0000"/>
                    </a:solidFill>
                    <a:latin typeface="Times New Roman" panose="02020603050405020304" pitchFamily="18" charset="0"/>
                    <a:cs typeface="Times New Roman" panose="02020603050405020304" pitchFamily="18" charset="0"/>
                  </a:rPr>
                  <a:t>Shear strain </a:t>
                </a:r>
                <a:r>
                  <a:rPr lang="en-US" sz="2000" dirty="0">
                    <a:latin typeface="Times New Roman" panose="02020603050405020304" pitchFamily="18" charset="0"/>
                    <a:cs typeface="Times New Roman" panose="02020603050405020304" pitchFamily="18" charset="0"/>
                  </a:rPr>
                  <a:t>is the angular deformation produced by an external force </a:t>
                </a:r>
                <a:r>
                  <a:rPr lang="el-GR" sz="2000" dirty="0">
                    <a:latin typeface="Times New Roman" panose="02020603050405020304" pitchFamily="18" charset="0"/>
                    <a:cs typeface="Times New Roman" panose="02020603050405020304" pitchFamily="18" charset="0"/>
                  </a:rPr>
                  <a:t>θ</a:t>
                </a:r>
                <a:r>
                  <a:rPr lang="en-US" sz="2000" dirty="0">
                    <a:latin typeface="Times New Roman" panose="02020603050405020304" pitchFamily="18" charset="0"/>
                    <a:cs typeface="Times New Roman" panose="02020603050405020304" pitchFamily="18" charset="0"/>
                  </a:rPr>
                  <a:t>.</a:t>
                </a:r>
              </a:p>
            </p:txBody>
          </p:sp>
        </mc:Choice>
        <mc:Fallback xmlns="">
          <p:sp>
            <p:nvSpPr>
              <p:cNvPr id="6" name="Rectangle 5">
                <a:extLst>
                  <a:ext uri="{FF2B5EF4-FFF2-40B4-BE49-F238E27FC236}">
                    <a16:creationId xmlns:a16="http://schemas.microsoft.com/office/drawing/2014/main" id="{900A60D3-42B2-4CEB-A548-1BD84A38D997}"/>
                  </a:ext>
                </a:extLst>
              </p:cNvPr>
              <p:cNvSpPr>
                <a:spLocks noRot="1" noChangeAspect="1" noMove="1" noResize="1" noEditPoints="1" noAdjustHandles="1" noChangeArrowheads="1" noChangeShapeType="1" noTextEdit="1"/>
              </p:cNvSpPr>
              <p:nvPr/>
            </p:nvSpPr>
            <p:spPr>
              <a:xfrm>
                <a:off x="6096000" y="2098964"/>
                <a:ext cx="5043055" cy="4163291"/>
              </a:xfrm>
              <a:prstGeom prst="rect">
                <a:avLst/>
              </a:prstGeom>
              <a:blipFill>
                <a:blip r:embed="rId3"/>
                <a:stretch>
                  <a:fillRect l="-1078" b="-290"/>
                </a:stretch>
              </a:blipFill>
            </p:spPr>
            <p:txBody>
              <a:bodyPr/>
              <a:lstStyle/>
              <a:p>
                <a:r>
                  <a:rPr lang="en-US">
                    <a:noFill/>
                  </a:rPr>
                  <a:t> </a:t>
                </a:r>
              </a:p>
            </p:txBody>
          </p:sp>
        </mc:Fallback>
      </mc:AlternateContent>
    </p:spTree>
    <p:extLst>
      <p:ext uri="{BB962C8B-B14F-4D97-AF65-F5344CB8AC3E}">
        <p14:creationId xmlns:p14="http://schemas.microsoft.com/office/powerpoint/2010/main" val="1798124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04206-DCA0-4655-9DE4-1F1BE28C0566}"/>
              </a:ext>
            </a:extLst>
          </p:cNvPr>
          <p:cNvSpPr>
            <a:spLocks noGrp="1"/>
          </p:cNvSpPr>
          <p:nvPr>
            <p:ph type="title"/>
          </p:nvPr>
        </p:nvSpPr>
        <p:spPr>
          <a:xfrm>
            <a:off x="838200" y="0"/>
            <a:ext cx="10515600" cy="540327"/>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Hooke’s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7ADA73-EE18-4875-BC17-057452980032}"/>
                  </a:ext>
                </a:extLst>
              </p:cNvPr>
              <p:cNvSpPr>
                <a:spLocks noGrp="1"/>
              </p:cNvSpPr>
              <p:nvPr>
                <p:ph idx="1"/>
              </p:nvPr>
            </p:nvSpPr>
            <p:spPr>
              <a:xfrm>
                <a:off x="96982" y="443344"/>
                <a:ext cx="12095018" cy="6414655"/>
              </a:xfrm>
            </p:spPr>
            <p:txBody>
              <a:bodyPr>
                <a:normAutofit lnSpcReduction="10000"/>
              </a:bodyPr>
              <a:lstStyle/>
              <a:p>
                <a:pPr algn="just"/>
                <a:r>
                  <a:rPr lang="en-US" sz="2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This fundamental law of elasticity was proposed by Robert </a:t>
                </a:r>
                <a:r>
                  <a:rPr lang="en-US" sz="2400" dirty="0" err="1">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Hookes</a:t>
                </a:r>
                <a:r>
                  <a:rPr lang="en-US" sz="2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in 1679 and it states that “</a:t>
                </a:r>
                <a:r>
                  <a:rPr lang="en-US" sz="2400" i="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2400" i="1"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provided the strain is small, the stress is directly proportional to strain</a:t>
                </a:r>
                <a:r>
                  <a:rPr lang="en-US" sz="24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p>
              <a:p>
                <a:pPr marL="0" indent="0" algn="just">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𝑠𝑡𝑟𝑒𝑠𝑠</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𝑠𝑡𝑟𝑎𝑖𝑛</m:t>
                      </m:r>
                    </m:oMath>
                  </m:oMathPara>
                </a14:m>
                <a:endParaRPr lang="en-US" sz="2400" b="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𝑠𝑡𝑟𝑒𝑠𝑠</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𝑘𝑠𝑡𝑟𝑎𝑖𝑛</m:t>
                      </m:r>
                    </m:oMath>
                  </m:oMathPara>
                </a14:m>
                <a:endParaRPr lang="en-US" sz="2400" b="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𝑘</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𝑠𝑡𝑟𝑒𝑠𝑠</m:t>
                          </m:r>
                        </m:num>
                        <m:den>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𝑠𝑡𝑟𝑎𝑖𝑛</m:t>
                          </m:r>
                        </m:den>
                      </m:f>
                    </m:oMath>
                  </m:oMathPara>
                </a14:m>
                <a:endParaRPr lang="en-US" sz="2400" b="0" dirty="0">
                  <a:latin typeface="Times New Roman" panose="02020603050405020304" pitchFamily="18" charset="0"/>
                  <a:ea typeface="Cambria Math" panose="02040503050406030204" pitchFamily="18" charset="0"/>
                  <a:cs typeface="Times New Roman" panose="02020603050405020304" pitchFamily="18" charset="0"/>
                </a:endParaRPr>
              </a:p>
              <a:p>
                <a:pPr algn="just"/>
                <a:r>
                  <a:rPr lang="en-US" sz="2400" b="0" dirty="0">
                    <a:latin typeface="Times New Roman" panose="02020603050405020304" pitchFamily="18" charset="0"/>
                    <a:ea typeface="Cambria Math" panose="02040503050406030204" pitchFamily="18" charset="0"/>
                    <a:cs typeface="Times New Roman" panose="02020603050405020304" pitchFamily="18" charset="0"/>
                  </a:rPr>
                  <a:t>Three types of Elasticity:</a:t>
                </a:r>
              </a:p>
              <a:p>
                <a:pPr marL="0" indent="0" algn="just">
                  <a:buNone/>
                </a:pPr>
                <a:r>
                  <a:rPr lang="en-US" sz="2400" dirty="0">
                    <a:latin typeface="Times New Roman" panose="02020603050405020304" pitchFamily="18" charset="0"/>
                    <a:ea typeface="Cambria Math" panose="02040503050406030204" pitchFamily="18" charset="0"/>
                    <a:cs typeface="Times New Roman" panose="02020603050405020304" pitchFamily="18" charset="0"/>
                  </a:rPr>
                  <a:t>        1. Linear elasticity (Young’s modulus).</a:t>
                </a:r>
              </a:p>
              <a:p>
                <a:pPr marL="0" indent="0" algn="just">
                  <a:buNone/>
                </a:pPr>
                <a14:m>
                  <m:oMathPara xmlns:m="http://schemas.openxmlformats.org/officeDocument/2006/math">
                    <m:oMathParaPr>
                      <m:jc m:val="centerGroup"/>
                    </m:oMathParaPr>
                    <m:oMath xmlns:m="http://schemas.openxmlformats.org/officeDocument/2006/math">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𝛾</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𝑙𝑜𝑛𝑔𝑖𝑡𝑢𝑑𝑖𝑛𝑎</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 </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𝑠𝑡𝑟𝑒𝑠𝑠</m:t>
                          </m:r>
                        </m:num>
                        <m:den>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𝑙𝑖𝑛𝑒𝑎𝑟</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 </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𝑠𝑡𝑟𝑎𝑖𝑛</m:t>
                          </m:r>
                        </m:den>
                      </m:f>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f>
                        <m:fPr>
                          <m:type m:val="lin"/>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box>
                            <m:box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boxPr>
                            <m:e>
                              <m:argPr>
                                <m:argSz m:val="-1"/>
                              </m:argPr>
                              <m:f>
                                <m:f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𝐹</m:t>
                                  </m:r>
                                </m:num>
                                <m:den>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𝑎</m:t>
                                  </m:r>
                                </m:den>
                              </m:f>
                            </m:e>
                          </m:box>
                        </m:num>
                        <m:den>
                          <m:box>
                            <m:box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boxPr>
                            <m:e>
                              <m:argPr>
                                <m:argSz m:val="-1"/>
                              </m:argPr>
                              <m:f>
                                <m:f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𝑙</m:t>
                                  </m:r>
                                </m:num>
                                <m:den>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𝐿</m:t>
                                  </m:r>
                                </m:den>
                              </m:f>
                            </m:e>
                          </m:box>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box>
                            <m:box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boxPr>
                            <m:e>
                              <m:argPr>
                                <m:argSz m:val="-1"/>
                              </m:argPr>
                              <m:f>
                                <m:f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𝐹𝐿</m:t>
                                  </m:r>
                                </m:num>
                                <m:den>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𝑎𝑙</m:t>
                                  </m:r>
                                </m:den>
                              </m:f>
                            </m:e>
                          </m:box>
                        </m:den>
                      </m:f>
                    </m:oMath>
                  </m:oMathPara>
                </a14:m>
                <a:endPar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Cambria Math" panose="02040503050406030204" pitchFamily="18" charset="0"/>
                  <a:cs typeface="Times New Roman" panose="02020603050405020304" pitchFamily="18" charset="0"/>
                </a:endParaRPr>
              </a:p>
              <a:p>
                <a:pPr marL="0" indent="0" algn="just">
                  <a:buNone/>
                </a:pPr>
                <a:endPar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Cambria Math" panose="02040503050406030204" pitchFamily="18" charset="0"/>
                  <a:cs typeface="Times New Roman" panose="02020603050405020304" pitchFamily="18" charset="0"/>
                </a:endParaRPr>
              </a:p>
              <a:p>
                <a:pPr marL="0" indent="0" algn="just">
                  <a:buNone/>
                </a:pPr>
                <a:r>
                  <a:rPr lang="en-US" sz="2400" dirty="0">
                    <a:latin typeface="Times New Roman" panose="02020603050405020304" pitchFamily="18" charset="0"/>
                    <a:ea typeface="Cambria Math" panose="02040503050406030204" pitchFamily="18" charset="0"/>
                    <a:cs typeface="Times New Roman" panose="02020603050405020304" pitchFamily="18" charset="0"/>
                  </a:rPr>
                  <a:t>        2. Volume elasticity (Bulk modulus).</a:t>
                </a:r>
              </a:p>
              <a:p>
                <a:pPr marL="0" indent="0" algn="just">
                  <a:buNone/>
                </a:pPr>
                <a14:m>
                  <m:oMathPara xmlns:m="http://schemas.openxmlformats.org/officeDocument/2006/math">
                    <m:oMathParaPr>
                      <m:jc m:val="centerGroup"/>
                    </m:oMathParaPr>
                    <m:oMath xmlns:m="http://schemas.openxmlformats.org/officeDocument/2006/math">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𝛽</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𝑛𝑜𝑟𝑚𝑎𝑙</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 </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𝑠𝑡𝑟𝑒𝑠𝑠</m:t>
                          </m:r>
                        </m:num>
                        <m:den>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𝑣𝑜𝑙𝑢𝑚𝑒</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 </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𝑠𝑡𝑟𝑎𝑖𝑛</m:t>
                          </m:r>
                        </m:den>
                      </m:f>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box>
                        <m:box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boxPr>
                        <m:e>
                          <m:argPr>
                            <m:argSz m:val="-1"/>
                          </m:argPr>
                          <m:f>
                            <m:f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𝐹𝑉</m:t>
                              </m:r>
                            </m:num>
                            <m:den>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𝑎𝑣</m:t>
                              </m:r>
                            </m:den>
                          </m:f>
                        </m:e>
                      </m:box>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𝑃</m:t>
                      </m:r>
                      <m:box>
                        <m:box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boxPr>
                        <m:e>
                          <m:argPr>
                            <m:argSz m:val="-1"/>
                          </m:argPr>
                          <m:f>
                            <m:f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𝑉</m:t>
                              </m:r>
                            </m:num>
                            <m:den>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𝑣</m:t>
                              </m:r>
                            </m:den>
                          </m:f>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     </m:t>
                          </m:r>
                          <m:r>
                            <a:rPr lang="en-US" sz="2400" i="1" smtClean="0">
                              <a:ln w="0"/>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𝑃</m:t>
                          </m:r>
                          <m:r>
                            <a:rPr lang="en-US" sz="2400" i="1" smtClean="0">
                              <a:ln w="0"/>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m:t>
                          </m:r>
                          <m:r>
                            <a:rPr lang="en-US" sz="2400" i="1" smtClean="0">
                              <a:ln w="0"/>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Times New Roman" panose="02020603050405020304" pitchFamily="18" charset="0"/>
                            </a:rPr>
                            <m:t>𝑝𝑟𝑒𝑠𝑠𝑢𝑟𝑒</m:t>
                          </m:r>
                        </m:e>
                      </m:box>
                    </m:oMath>
                  </m:oMathPara>
                </a14:m>
                <a:endParaRPr lang="en-US" sz="240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lgn="just">
                  <a:buNone/>
                </a:pPr>
                <a:r>
                  <a:rPr lang="en-US" sz="2400" dirty="0">
                    <a:latin typeface="Times New Roman" panose="02020603050405020304" pitchFamily="18" charset="0"/>
                    <a:ea typeface="Cambria Math" panose="02040503050406030204" pitchFamily="18" charset="0"/>
                    <a:cs typeface="Times New Roman" panose="02020603050405020304" pitchFamily="18" charset="0"/>
                  </a:rPr>
                  <a:t>        3. Shear modulus (Modulus of rigidity)</a:t>
                </a:r>
              </a:p>
              <a:p>
                <a:pPr marL="0" indent="0" algn="just">
                  <a:buNone/>
                </a:pPr>
                <a14:m>
                  <m:oMathPara xmlns:m="http://schemas.openxmlformats.org/officeDocument/2006/math">
                    <m:oMathParaPr>
                      <m:jc m:val="centerGroup"/>
                    </m:oMathParaPr>
                    <m:oMath xmlns:m="http://schemas.openxmlformats.org/officeDocument/2006/math">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𝜑</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f>
                        <m:f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𝑡𝑎𝑛𝑔𝑒𝑛𝑡𝑖𝑎𝑙</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 </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𝑠𝑟𝑒𝑠𝑠</m:t>
                          </m:r>
                        </m:num>
                        <m:den>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𝑠h𝑒𝑎𝑟</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 </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𝑠𝑡𝑟𝑎𝑖𝑛</m:t>
                          </m:r>
                        </m:den>
                      </m:f>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box>
                        <m:box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boxPr>
                        <m:e>
                          <m:argPr>
                            <m:argSz m:val="-1"/>
                          </m:argPr>
                          <m:f>
                            <m:f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box>
                                <m:box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boxPr>
                                <m:e>
                                  <m:argPr>
                                    <m:argSz m:val="-1"/>
                                  </m:argPr>
                                  <m:f>
                                    <m:f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𝐹</m:t>
                                      </m:r>
                                    </m:num>
                                    <m:den>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𝑎</m:t>
                                      </m:r>
                                    </m:den>
                                  </m:f>
                                </m:e>
                              </m:box>
                            </m:num>
                            <m:den>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𝜃</m:t>
                              </m:r>
                            </m:den>
                          </m:f>
                        </m:e>
                      </m:box>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m:t>
                      </m:r>
                      <m:box>
                        <m:box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boxPr>
                        <m:e>
                          <m:argPr>
                            <m:argSz m:val="-1"/>
                          </m:argPr>
                          <m:f>
                            <m:f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𝐹</m:t>
                              </m:r>
                            </m:num>
                            <m:den>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𝑎</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𝜃</m:t>
                              </m:r>
                            </m:den>
                          </m:f>
                        </m:e>
                      </m:box>
                    </m:oMath>
                  </m:oMathPara>
                </a14:m>
                <a:endPar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Cambria Math" panose="02040503050406030204" pitchFamily="18" charset="0"/>
                  <a:cs typeface="Times New Roman" panose="02020603050405020304" pitchFamily="18" charset="0"/>
                </a:endParaRPr>
              </a:p>
              <a:p>
                <a:pPr marL="0" indent="0" algn="just">
                  <a:buNone/>
                </a:pPr>
                <a:endParaRPr lang="en-US" sz="2400" b="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697ADA73-EE18-4875-BC17-057452980032}"/>
                  </a:ext>
                </a:extLst>
              </p:cNvPr>
              <p:cNvSpPr>
                <a:spLocks noGrp="1" noRot="1" noChangeAspect="1" noMove="1" noResize="1" noEditPoints="1" noAdjustHandles="1" noChangeArrowheads="1" noChangeShapeType="1" noTextEdit="1"/>
              </p:cNvSpPr>
              <p:nvPr>
                <p:ph idx="1"/>
              </p:nvPr>
            </p:nvSpPr>
            <p:spPr>
              <a:xfrm>
                <a:off x="96982" y="443344"/>
                <a:ext cx="12095018" cy="6414655"/>
              </a:xfrm>
              <a:blipFill>
                <a:blip r:embed="rId2"/>
                <a:stretch>
                  <a:fillRect l="-756" t="-2091" r="-1008"/>
                </a:stretch>
              </a:blipFill>
            </p:spPr>
            <p:txBody>
              <a:bodyPr/>
              <a:lstStyle/>
              <a:p>
                <a:r>
                  <a:rPr lang="en-US">
                    <a:noFill/>
                  </a:rPr>
                  <a:t> </a:t>
                </a:r>
              </a:p>
            </p:txBody>
          </p:sp>
        </mc:Fallback>
      </mc:AlternateContent>
    </p:spTree>
    <p:extLst>
      <p:ext uri="{BB962C8B-B14F-4D97-AF65-F5344CB8AC3E}">
        <p14:creationId xmlns:p14="http://schemas.microsoft.com/office/powerpoint/2010/main" val="964393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A3F04-E94F-485D-9C3F-10297E3176FE}"/>
              </a:ext>
            </a:extLst>
          </p:cNvPr>
          <p:cNvSpPr>
            <a:spLocks noGrp="1"/>
          </p:cNvSpPr>
          <p:nvPr>
            <p:ph type="title"/>
          </p:nvPr>
        </p:nvSpPr>
        <p:spPr>
          <a:xfrm>
            <a:off x="0" y="-203199"/>
            <a:ext cx="12192000" cy="812800"/>
          </a:xfrm>
        </p:spPr>
        <p:txBody>
          <a:bodyPr>
            <a:normAutofit/>
          </a:bodyPr>
          <a:lstStyle/>
          <a:p>
            <a:pPr algn="ctr"/>
            <a:r>
              <a:rPr lang="en-US" sz="3600" b="1" dirty="0">
                <a:solidFill>
                  <a:schemeClr val="tx2"/>
                </a:solidFill>
                <a:latin typeface="Times New Roman" panose="02020603050405020304" pitchFamily="18" charset="0"/>
                <a:cs typeface="Times New Roman" panose="02020603050405020304" pitchFamily="18" charset="0"/>
              </a:rPr>
              <a:t>Work done per unit volume in case of tangential strain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72167A-3932-46B8-9321-A08EA9F93421}"/>
                  </a:ext>
                </a:extLst>
              </p:cNvPr>
              <p:cNvSpPr>
                <a:spLocks noGrp="1"/>
              </p:cNvSpPr>
              <p:nvPr>
                <p:ph idx="1"/>
              </p:nvPr>
            </p:nvSpPr>
            <p:spPr>
              <a:xfrm>
                <a:off x="-551543" y="609602"/>
                <a:ext cx="13048343" cy="6248398"/>
              </a:xfrm>
            </p:spPr>
            <p:txBody>
              <a:bodyPr>
                <a:normAutofit/>
              </a:bodyPr>
              <a:lstStyle/>
              <a:p>
                <a:pPr marL="0" indent="0">
                  <a:lnSpc>
                    <a:spcPct val="100000"/>
                  </a:lnSpc>
                  <a:buNone/>
                </a:pPr>
                <a14:m>
                  <m:oMathPara xmlns:m="http://schemas.openxmlformats.org/officeDocument/2006/math">
                    <m:oMathParaPr>
                      <m:jc m:val="center"/>
                    </m:oMathParaPr>
                    <m:oMath xmlns:m="http://schemas.openxmlformats.org/officeDocument/2006/math">
                      <m:r>
                        <a:rPr lang="en-US" sz="2000" b="0" i="1" smtClean="0">
                          <a:latin typeface="Cambria Math" panose="02040503050406030204" pitchFamily="18" charset="0"/>
                        </a:rPr>
                        <m:t>𝑊𝑜𝑟𝑘</m:t>
                      </m:r>
                      <m:r>
                        <a:rPr lang="en-US" sz="2000" b="0" i="1" smtClean="0">
                          <a:latin typeface="Cambria Math" panose="02040503050406030204" pitchFamily="18" charset="0"/>
                        </a:rPr>
                        <m:t> </m:t>
                      </m:r>
                      <m:r>
                        <a:rPr lang="en-US" sz="2000" b="0" i="1" smtClean="0">
                          <a:latin typeface="Cambria Math" panose="02040503050406030204" pitchFamily="18" charset="0"/>
                        </a:rPr>
                        <m:t>𝑑𝑜𝑛𝑒</m:t>
                      </m:r>
                      <m:r>
                        <a:rPr lang="en-US" sz="2000" b="0" i="1" smtClean="0">
                          <a:latin typeface="Cambria Math" panose="02040503050406030204" pitchFamily="18" charset="0"/>
                        </a:rPr>
                        <m:t> </m:t>
                      </m:r>
                      <m:r>
                        <a:rPr lang="en-US" sz="2000" b="0" i="1" smtClean="0">
                          <a:latin typeface="Cambria Math" panose="02040503050406030204" pitchFamily="18" charset="0"/>
                        </a:rPr>
                        <m:t>𝑖𝑠</m:t>
                      </m:r>
                      <m:r>
                        <a:rPr lang="en-US" sz="2000" b="0" i="1" smtClean="0">
                          <a:latin typeface="Cambria Math" panose="02040503050406030204" pitchFamily="18" charset="0"/>
                        </a:rPr>
                        <m:t> </m:t>
                      </m:r>
                      <m:r>
                        <a:rPr lang="en-US" sz="2000" b="0" i="1" smtClean="0">
                          <a:latin typeface="Cambria Math" panose="02040503050406030204" pitchFamily="18" charset="0"/>
                        </a:rPr>
                        <m:t>𝑔𝑖𝑣𝑒𝑛</m:t>
                      </m:r>
                      <m:r>
                        <a:rPr lang="en-US" sz="2000" b="0" i="1" smtClean="0">
                          <a:latin typeface="Cambria Math" panose="02040503050406030204" pitchFamily="18" charset="0"/>
                        </a:rPr>
                        <m:t> </m:t>
                      </m:r>
                      <m:r>
                        <a:rPr lang="en-US" sz="2000" b="0" i="1" smtClean="0">
                          <a:latin typeface="Cambria Math" panose="02040503050406030204" pitchFamily="18" charset="0"/>
                        </a:rPr>
                        <m:t>𝑏𝑦</m:t>
                      </m:r>
                      <m:r>
                        <a:rPr lang="en-US" sz="2000" b="0" i="1" smtClean="0">
                          <a:latin typeface="Cambria Math" panose="02040503050406030204" pitchFamily="18" charset="0"/>
                        </a:rPr>
                        <m:t>                </m:t>
                      </m:r>
                      <m:r>
                        <a:rPr lang="en-US" sz="2000" b="0" i="1" smtClean="0">
                          <a:latin typeface="Cambria Math" panose="02040503050406030204" pitchFamily="18" charset="0"/>
                        </a:rPr>
                        <m:t>𝑑𝑊</m:t>
                      </m:r>
                      <m:r>
                        <a:rPr lang="en-US" sz="2000" b="0" i="1" smtClean="0">
                          <a:latin typeface="Cambria Math" panose="02040503050406030204" pitchFamily="18" charset="0"/>
                        </a:rPr>
                        <m:t>=</m:t>
                      </m:r>
                      <m:r>
                        <a:rPr lang="en-US" sz="2000" b="0" i="1" smtClean="0">
                          <a:latin typeface="Cambria Math" panose="02040503050406030204" pitchFamily="18" charset="0"/>
                        </a:rPr>
                        <m:t>𝐹𝑑𝑙</m:t>
                      </m:r>
                    </m:oMath>
                  </m:oMathPara>
                </a14:m>
                <a:endParaRPr lang="en-US" sz="2000" b="0" dirty="0"/>
              </a:p>
              <a:p>
                <a:pPr marL="0" indent="0">
                  <a:lnSpc>
                    <a:spcPct val="100000"/>
                  </a:lnSpc>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𝑊𝑒</m:t>
                      </m:r>
                      <m:r>
                        <a:rPr lang="en-US" sz="2000" b="0" i="1" smtClean="0">
                          <a:latin typeface="Cambria Math" panose="02040503050406030204" pitchFamily="18" charset="0"/>
                        </a:rPr>
                        <m:t> </m:t>
                      </m:r>
                      <m:r>
                        <a:rPr lang="en-US" sz="2000" b="0" i="1" smtClean="0">
                          <a:latin typeface="Cambria Math" panose="02040503050406030204" pitchFamily="18" charset="0"/>
                        </a:rPr>
                        <m:t>𝑘𝑛𝑜𝑤</m:t>
                      </m:r>
                      <m:r>
                        <a:rPr lang="en-US" sz="2000" b="0" i="1" smtClean="0">
                          <a:latin typeface="Cambria Math" panose="02040503050406030204" pitchFamily="18" charset="0"/>
                        </a:rPr>
                        <m:t> </m:t>
                      </m:r>
                      <m:r>
                        <a:rPr lang="en-US" sz="2000" b="0" i="1" smtClean="0">
                          <a:latin typeface="Cambria Math" panose="02040503050406030204" pitchFamily="18" charset="0"/>
                        </a:rPr>
                        <m:t>𝑡h𝑎𝑡</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𝛾</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𝐹𝐿</m:t>
                          </m:r>
                        </m:num>
                        <m:den>
                          <m:r>
                            <a:rPr lang="en-US" sz="2000" b="0" i="1" smtClean="0">
                              <a:latin typeface="Cambria Math" panose="02040503050406030204" pitchFamily="18" charset="0"/>
                              <a:ea typeface="Cambria Math" panose="02040503050406030204" pitchFamily="18" charset="0"/>
                            </a:rPr>
                            <m:t>𝑎𝑙</m:t>
                          </m:r>
                        </m:den>
                      </m:f>
                      <m:r>
                        <a:rPr lang="en-US" sz="2000" b="0" i="1" smtClean="0">
                          <a:latin typeface="Cambria Math" panose="02040503050406030204" pitchFamily="18" charset="0"/>
                          <a:ea typeface="Cambria Math" panose="02040503050406030204" pitchFamily="18" charset="0"/>
                        </a:rPr>
                        <m:t> ∴  </m:t>
                      </m:r>
                      <m:r>
                        <a:rPr lang="en-US" sz="2000" b="0" i="1" smtClean="0">
                          <a:latin typeface="Cambria Math" panose="02040503050406030204" pitchFamily="18" charset="0"/>
                          <a:ea typeface="Cambria Math" panose="02040503050406030204" pitchFamily="18" charset="0"/>
                        </a:rPr>
                        <m:t>𝐹</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𝛾</m:t>
                          </m:r>
                          <m:r>
                            <a:rPr lang="en-US" sz="2000" b="0" i="1" smtClean="0">
                              <a:latin typeface="Cambria Math" panose="02040503050406030204" pitchFamily="18" charset="0"/>
                              <a:ea typeface="Cambria Math" panose="02040503050406030204" pitchFamily="18" charset="0"/>
                            </a:rPr>
                            <m:t>𝑎𝑙</m:t>
                          </m:r>
                        </m:num>
                        <m:den>
                          <m:r>
                            <a:rPr lang="en-US" sz="2000" b="0" i="1" smtClean="0">
                              <a:latin typeface="Cambria Math" panose="02040503050406030204" pitchFamily="18" charset="0"/>
                              <a:ea typeface="Cambria Math" panose="02040503050406030204" pitchFamily="18" charset="0"/>
                            </a:rPr>
                            <m:t>𝐿</m:t>
                          </m:r>
                        </m:den>
                      </m:f>
                    </m:oMath>
                  </m:oMathPara>
                </a14:m>
                <a:endParaRPr lang="en-US" sz="2000" dirty="0"/>
              </a:p>
              <a:p>
                <a:pPr marL="0" indent="0">
                  <a:lnSpc>
                    <a:spcPct val="100000"/>
                  </a:lnSpc>
                  <a:buNone/>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𝑑𝑊</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𝛾</m:t>
                          </m:r>
                          <m:r>
                            <a:rPr lang="en-US" sz="2000" b="0" i="1" smtClean="0">
                              <a:latin typeface="Cambria Math" panose="02040503050406030204" pitchFamily="18" charset="0"/>
                              <a:ea typeface="Cambria Math" panose="02040503050406030204" pitchFamily="18" charset="0"/>
                            </a:rPr>
                            <m:t>𝑎𝑙</m:t>
                          </m:r>
                        </m:num>
                        <m:den>
                          <m:r>
                            <a:rPr lang="en-US" sz="2000" b="0" i="1" smtClean="0">
                              <a:latin typeface="Cambria Math" panose="02040503050406030204" pitchFamily="18" charset="0"/>
                              <a:ea typeface="Cambria Math" panose="02040503050406030204" pitchFamily="18" charset="0"/>
                            </a:rPr>
                            <m:t>𝐿</m:t>
                          </m:r>
                        </m:den>
                      </m:f>
                      <m:r>
                        <a:rPr lang="en-US" sz="2000" b="0" i="1" smtClean="0">
                          <a:latin typeface="Cambria Math" panose="02040503050406030204" pitchFamily="18" charset="0"/>
                          <a:ea typeface="Cambria Math" panose="02040503050406030204" pitchFamily="18" charset="0"/>
                        </a:rPr>
                        <m:t>𝑑𝑙</m:t>
                      </m:r>
                    </m:oMath>
                  </m:oMathPara>
                </a14:m>
                <a:endParaRPr lang="en-US" sz="2000" b="0" dirty="0">
                  <a:ea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𝑊</m:t>
                      </m:r>
                      <m:r>
                        <a:rPr lang="en-US" sz="2000" b="0" i="1" smtClean="0">
                          <a:latin typeface="Cambria Math" panose="02040503050406030204" pitchFamily="18" charset="0"/>
                        </a:rPr>
                        <m:t>=</m:t>
                      </m:r>
                      <m:nary>
                        <m:naryPr>
                          <m:limLoc m:val="undOvr"/>
                          <m:subHide m:val="on"/>
                          <m:supHide m:val="on"/>
                          <m:ctrlPr>
                            <a:rPr lang="en-US" sz="2000" b="0" i="1" smtClean="0">
                              <a:latin typeface="Cambria Math" panose="02040503050406030204" pitchFamily="18" charset="0"/>
                            </a:rPr>
                          </m:ctrlPr>
                        </m:naryPr>
                        <m:sub/>
                        <m:sup/>
                        <m:e>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𝛾</m:t>
                              </m:r>
                              <m:r>
                                <a:rPr lang="en-US" sz="2000" b="0" i="1" smtClean="0">
                                  <a:latin typeface="Cambria Math" panose="02040503050406030204" pitchFamily="18" charset="0"/>
                                  <a:ea typeface="Cambria Math" panose="02040503050406030204" pitchFamily="18" charset="0"/>
                                </a:rPr>
                                <m:t>𝑎𝑙</m:t>
                              </m:r>
                            </m:num>
                            <m:den>
                              <m:r>
                                <a:rPr lang="en-US" sz="2000" b="0" i="1" smtClean="0">
                                  <a:latin typeface="Cambria Math" panose="02040503050406030204" pitchFamily="18" charset="0"/>
                                </a:rPr>
                                <m:t>𝐿</m:t>
                              </m:r>
                            </m:den>
                          </m:f>
                          <m:r>
                            <a:rPr lang="en-US" sz="2000" b="0" i="1" smtClean="0">
                              <a:latin typeface="Cambria Math" panose="02040503050406030204" pitchFamily="18" charset="0"/>
                            </a:rPr>
                            <m:t>𝑑𝑙</m:t>
                          </m:r>
                        </m:e>
                      </m:nary>
                      <m:r>
                        <a:rPr lang="en-US" sz="2000" b="0" i="0"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𝛾</m:t>
                          </m:r>
                          <m:r>
                            <a:rPr lang="en-US" sz="2000" b="0" i="1" smtClean="0">
                              <a:latin typeface="Cambria Math" panose="02040503050406030204" pitchFamily="18" charset="0"/>
                              <a:ea typeface="Cambria Math" panose="02040503050406030204" pitchFamily="18" charset="0"/>
                            </a:rPr>
                            <m:t>𝑎</m:t>
                          </m:r>
                        </m:num>
                        <m:den>
                          <m:r>
                            <a:rPr lang="en-US" sz="2000" b="0" i="1" smtClean="0">
                              <a:latin typeface="Cambria Math" panose="02040503050406030204" pitchFamily="18" charset="0"/>
                            </a:rPr>
                            <m:t>𝐿</m:t>
                          </m:r>
                        </m:den>
                      </m:f>
                      <m:nary>
                        <m:naryPr>
                          <m:limLoc m:val="undOvr"/>
                          <m:subHide m:val="on"/>
                          <m:supHide m:val="on"/>
                          <m:ctrlPr>
                            <a:rPr lang="en-US" sz="2000" b="0" i="1" smtClean="0">
                              <a:latin typeface="Cambria Math" panose="02040503050406030204" pitchFamily="18" charset="0"/>
                            </a:rPr>
                          </m:ctrlPr>
                        </m:naryPr>
                        <m:sub/>
                        <m:sup/>
                        <m:e>
                          <m:r>
                            <a:rPr lang="en-US" sz="2000" b="0" i="1" smtClean="0">
                              <a:latin typeface="Cambria Math" panose="02040503050406030204" pitchFamily="18" charset="0"/>
                            </a:rPr>
                            <m:t>𝑙</m:t>
                          </m:r>
                          <m:r>
                            <a:rPr lang="en-US" sz="2000" b="0" i="1" smtClean="0">
                              <a:latin typeface="Cambria Math" panose="02040503050406030204" pitchFamily="18" charset="0"/>
                            </a:rPr>
                            <m:t> </m:t>
                          </m:r>
                          <m:r>
                            <a:rPr lang="en-US" sz="2000" b="0" i="1" smtClean="0">
                              <a:latin typeface="Cambria Math" panose="02040503050406030204" pitchFamily="18" charset="0"/>
                            </a:rPr>
                            <m:t>𝑑𝑙</m:t>
                          </m:r>
                        </m:e>
                      </m:nary>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𝛾</m:t>
                          </m:r>
                          <m:r>
                            <a:rPr lang="en-US" sz="2000" b="0" i="1" smtClean="0">
                              <a:latin typeface="Cambria Math" panose="02040503050406030204" pitchFamily="18" charset="0"/>
                              <a:ea typeface="Cambria Math" panose="02040503050406030204" pitchFamily="18" charset="0"/>
                            </a:rPr>
                            <m:t>𝑎</m:t>
                          </m:r>
                        </m:num>
                        <m:den>
                          <m:r>
                            <a:rPr lang="en-US" sz="2000" b="0" i="1" smtClean="0">
                              <a:latin typeface="Cambria Math" panose="02040503050406030204" pitchFamily="18" charset="0"/>
                            </a:rPr>
                            <m:t>𝐿</m:t>
                          </m:r>
                        </m:den>
                      </m:f>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𝑙</m:t>
                                  </m:r>
                                </m:e>
                                <m:sup>
                                  <m:r>
                                    <a:rPr lang="en-US" sz="2000" b="0" i="1" smtClean="0">
                                      <a:latin typeface="Cambria Math" panose="02040503050406030204" pitchFamily="18" charset="0"/>
                                    </a:rPr>
                                    <m:t>2</m:t>
                                  </m:r>
                                </m:sup>
                              </m:sSup>
                            </m:num>
                            <m:den>
                              <m:r>
                                <a:rPr lang="en-US" sz="2000" b="0" i="1" smtClean="0">
                                  <a:latin typeface="Cambria Math" panose="02040503050406030204" pitchFamily="18" charset="0"/>
                                </a:rPr>
                                <m:t>2</m:t>
                              </m:r>
                            </m:den>
                          </m:f>
                        </m:e>
                      </m:d>
                    </m:oMath>
                  </m:oMathPara>
                </a14:m>
                <a:endParaRPr lang="en-US" sz="2000" dirty="0"/>
              </a:p>
              <a:p>
                <a:pPr marL="0" indent="0">
                  <a:lnSpc>
                    <a:spcPct val="100000"/>
                  </a:lnSpc>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𝑊</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f>
                        <m:fPr>
                          <m:ctrlPr>
                            <a:rPr lang="en-US" sz="2000" b="0" i="1" smtClean="0">
                              <a:latin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𝛾</m:t>
                          </m:r>
                          <m:r>
                            <a:rPr lang="en-US" sz="2000" b="0" i="1" smtClean="0">
                              <a:latin typeface="Cambria Math" panose="02040503050406030204" pitchFamily="18" charset="0"/>
                              <a:ea typeface="Cambria Math" panose="02040503050406030204" pitchFamily="18" charset="0"/>
                            </a:rPr>
                            <m:t>𝑎𝑙</m:t>
                          </m:r>
                        </m:num>
                        <m:den>
                          <m:r>
                            <a:rPr lang="en-US" sz="2000" b="0" i="1" smtClean="0">
                              <a:latin typeface="Cambria Math" panose="02040503050406030204" pitchFamily="18" charset="0"/>
                            </a:rPr>
                            <m:t>𝐿</m:t>
                          </m:r>
                        </m:den>
                      </m:f>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𝑙</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2</m:t>
                          </m:r>
                        </m:den>
                      </m:f>
                      <m:r>
                        <a:rPr lang="en-US" sz="2000" b="0" i="1" smtClean="0">
                          <a:latin typeface="Cambria Math" panose="02040503050406030204" pitchFamily="18" charset="0"/>
                          <a:ea typeface="Cambria Math" panose="02040503050406030204" pitchFamily="18" charset="0"/>
                        </a:rPr>
                        <m:t>𝐹</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𝑙</m:t>
                      </m:r>
                    </m:oMath>
                  </m:oMathPara>
                </a14:m>
                <a:endParaRPr lang="en-US" sz="2000" b="0" dirty="0">
                  <a:ea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𝑊𝑜𝑟𝑘</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𝑑𝑜𝑛𝑒</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𝑝𝑒𝑟</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𝑢𝑛𝑖𝑡</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𝑣𝑜𝑙𝑢𝑚𝑒</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2</m:t>
                          </m:r>
                        </m:den>
                      </m:f>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𝐹𝑙</m:t>
                          </m:r>
                        </m:num>
                        <m:den>
                          <m:r>
                            <a:rPr lang="en-US" sz="2000" b="0" i="1" smtClean="0">
                              <a:latin typeface="Cambria Math" panose="02040503050406030204" pitchFamily="18" charset="0"/>
                              <a:ea typeface="Cambria Math" panose="02040503050406030204" pitchFamily="18" charset="0"/>
                            </a:rPr>
                            <m:t>𝑉</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2</m:t>
                          </m:r>
                        </m:den>
                      </m:f>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𝐹𝑙</m:t>
                          </m:r>
                        </m:num>
                        <m:den>
                          <m:r>
                            <a:rPr lang="en-US" sz="2000" b="0" i="1" smtClean="0">
                              <a:latin typeface="Cambria Math" panose="02040503050406030204" pitchFamily="18" charset="0"/>
                              <a:ea typeface="Cambria Math" panose="02040503050406030204" pitchFamily="18" charset="0"/>
                            </a:rPr>
                            <m:t>𝑎𝐿</m:t>
                          </m:r>
                        </m:den>
                      </m:f>
                    </m:oMath>
                  </m:oMathPara>
                </a14:m>
                <a:endParaRPr lang="en-US" sz="2000" dirty="0"/>
              </a:p>
              <a:p>
                <a:pPr marL="0" indent="0">
                  <a:lnSpc>
                    <a:spcPct val="100000"/>
                  </a:lnSpc>
                  <a:buNone/>
                </a:pPr>
                <a14:m>
                  <m:oMathPara xmlns:m="http://schemas.openxmlformats.org/officeDocument/2006/math">
                    <m:oMathParaPr>
                      <m:jc m:val="centerGroup"/>
                    </m:oMathParaPr>
                    <m:oMath xmlns:m="http://schemas.openxmlformats.org/officeDocument/2006/math">
                      <m:r>
                        <a:rPr lang="en-US" sz="2000" i="1" smtClean="0">
                          <a:ln w="0"/>
                          <a:effectLst>
                            <a:outerShdw blurRad="38100" dist="19050" dir="2700000" algn="tl" rotWithShape="0">
                              <a:schemeClr val="dk1">
                                <a:alpha val="40000"/>
                              </a:schemeClr>
                            </a:outerShdw>
                          </a:effectLst>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𝐹</m:t>
                              </m:r>
                            </m:num>
                            <m:den>
                              <m:r>
                                <a:rPr lang="en-US" sz="2000" b="0" i="1" smtClean="0">
                                  <a:latin typeface="Cambria Math" panose="02040503050406030204" pitchFamily="18" charset="0"/>
                                </a:rPr>
                                <m:t>𝑎</m:t>
                              </m:r>
                            </m:den>
                          </m:f>
                        </m:e>
                      </m:d>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𝑙</m:t>
                              </m:r>
                            </m:num>
                            <m:den>
                              <m:r>
                                <a:rPr lang="en-US" sz="2000" b="0" i="1" smtClean="0">
                                  <a:latin typeface="Cambria Math" panose="02040503050406030204" pitchFamily="18" charset="0"/>
                                  <a:ea typeface="Cambria Math" panose="02040503050406030204" pitchFamily="18" charset="0"/>
                                </a:rPr>
                                <m:t>𝐿</m:t>
                              </m:r>
                            </m:den>
                          </m:f>
                        </m:e>
                      </m:d>
                    </m:oMath>
                  </m:oMathPara>
                </a14:m>
                <a:endParaRPr lang="en-US" sz="2000" dirty="0"/>
              </a:p>
            </p:txBody>
          </p:sp>
        </mc:Choice>
        <mc:Fallback xmlns="">
          <p:sp>
            <p:nvSpPr>
              <p:cNvPr id="3" name="Content Placeholder 2">
                <a:extLst>
                  <a:ext uri="{FF2B5EF4-FFF2-40B4-BE49-F238E27FC236}">
                    <a16:creationId xmlns:a16="http://schemas.microsoft.com/office/drawing/2014/main" id="{ED72167A-3932-46B8-9321-A08EA9F93421}"/>
                  </a:ext>
                </a:extLst>
              </p:cNvPr>
              <p:cNvSpPr>
                <a:spLocks noGrp="1" noRot="1" noChangeAspect="1" noMove="1" noResize="1" noEditPoints="1" noAdjustHandles="1" noChangeArrowheads="1" noChangeShapeType="1" noTextEdit="1"/>
              </p:cNvSpPr>
              <p:nvPr>
                <p:ph idx="1"/>
              </p:nvPr>
            </p:nvSpPr>
            <p:spPr>
              <a:xfrm>
                <a:off x="-551543" y="609602"/>
                <a:ext cx="13048343" cy="6248398"/>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60CD553F-478D-419D-9241-0FD14006B390}"/>
                  </a:ext>
                </a:extLst>
              </p:cNvPr>
              <p:cNvSpPr/>
              <p:nvPr/>
            </p:nvSpPr>
            <p:spPr>
              <a:xfrm>
                <a:off x="2960914" y="5011055"/>
                <a:ext cx="6545942" cy="823688"/>
              </a:xfrm>
              <a:prstGeom prst="rect">
                <a:avLst/>
              </a:prstGeom>
              <a:ln>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𝑊𝑜𝑟𝑘</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 </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𝑑𝑜𝑛𝑒</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 </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𝑝𝑒𝑟</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 </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𝑢𝑛𝑖𝑡</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 </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𝑣𝑜𝑙𝑢𝑚𝑒</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m:t>
                      </m:r>
                      <m:f>
                        <m:fPr>
                          <m:ctrlP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ctrlPr>
                        </m:fPr>
                        <m:num>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1</m:t>
                          </m:r>
                        </m:num>
                        <m:den>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2</m:t>
                          </m:r>
                        </m:den>
                      </m:f>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𝑠𝑡𝑟𝑒𝑠𝑠</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m:t>
                      </m:r>
                      <m:r>
                        <a:rPr lang="en-US" sz="2000" i="1">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rPr>
                        <m:t>𝑠𝑡𝑟𝑎𝑖𝑛</m:t>
                      </m:r>
                    </m:oMath>
                  </m:oMathPara>
                </a14:m>
                <a:endParaRPr lang="en-US" sz="2000" dirty="0">
                  <a:ln w="0"/>
                  <a:solidFill>
                    <a:schemeClr val="accent1"/>
                  </a:solidFill>
                  <a:effectLst>
                    <a:outerShdw blurRad="38100" dist="25400" dir="5400000" algn="ctr" rotWithShape="0">
                      <a:srgbClr val="6E747A">
                        <a:alpha val="43000"/>
                      </a:srgbClr>
                    </a:outerShdw>
                  </a:effectLst>
                </a:endParaRPr>
              </a:p>
              <a:p>
                <a:pPr algn="ctr"/>
                <a:endParaRPr lang="en-US" dirty="0"/>
              </a:p>
            </p:txBody>
          </p:sp>
        </mc:Choice>
        <mc:Fallback xmlns="">
          <p:sp>
            <p:nvSpPr>
              <p:cNvPr id="4" name="Rectangle 3">
                <a:extLst>
                  <a:ext uri="{FF2B5EF4-FFF2-40B4-BE49-F238E27FC236}">
                    <a16:creationId xmlns:a16="http://schemas.microsoft.com/office/drawing/2014/main" id="{60CD553F-478D-419D-9241-0FD14006B390}"/>
                  </a:ext>
                </a:extLst>
              </p:cNvPr>
              <p:cNvSpPr>
                <a:spLocks noRot="1" noChangeAspect="1" noMove="1" noResize="1" noEditPoints="1" noAdjustHandles="1" noChangeArrowheads="1" noChangeShapeType="1" noTextEdit="1"/>
              </p:cNvSpPr>
              <p:nvPr/>
            </p:nvSpPr>
            <p:spPr>
              <a:xfrm>
                <a:off x="2960914" y="5011055"/>
                <a:ext cx="6545942" cy="823688"/>
              </a:xfrm>
              <a:prstGeom prst="rect">
                <a:avLst/>
              </a:prstGeom>
              <a:blipFill>
                <a:blip r:embed="rId3"/>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533763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A4A5A-CE03-4045-9B71-25CF6C13D427}"/>
              </a:ext>
            </a:extLst>
          </p:cNvPr>
          <p:cNvSpPr>
            <a:spLocks noGrp="1"/>
          </p:cNvSpPr>
          <p:nvPr>
            <p:ph type="title"/>
          </p:nvPr>
        </p:nvSpPr>
        <p:spPr>
          <a:xfrm>
            <a:off x="0" y="1"/>
            <a:ext cx="12192000" cy="498763"/>
          </a:xfrm>
        </p:spPr>
        <p:txBody>
          <a:bodyPr>
            <a:noAutofit/>
          </a:bodyPr>
          <a:lstStyle/>
          <a:p>
            <a:r>
              <a:rPr lang="en-US" sz="3200" b="1" dirty="0">
                <a:latin typeface="Times New Roman" panose="02020603050405020304" pitchFamily="18" charset="0"/>
                <a:cs typeface="Times New Roman" panose="02020603050405020304" pitchFamily="18" charset="0"/>
              </a:rPr>
              <a:t>Example 4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2B206F1-5011-4999-BCBB-E9F60518131F}"/>
                  </a:ext>
                </a:extLst>
              </p:cNvPr>
              <p:cNvSpPr>
                <a:spLocks noGrp="1"/>
              </p:cNvSpPr>
              <p:nvPr>
                <p:ph idx="1"/>
              </p:nvPr>
            </p:nvSpPr>
            <p:spPr>
              <a:xfrm>
                <a:off x="-1" y="498764"/>
                <a:ext cx="12039601" cy="6359236"/>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The Young’s modulus of a metal is </a:t>
                </a:r>
                <a14:m>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ea typeface="Cambria Math" panose="02040503050406030204" pitchFamily="18" charset="0"/>
                          </a:rPr>
                          <m:t>11</m:t>
                        </m:r>
                      </m:sup>
                    </m:sSup>
                    <m:f>
                      <m:fPr>
                        <m:type m:val="skw"/>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𝑁</m:t>
                        </m:r>
                      </m:num>
                      <m:den>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𝑚</m:t>
                            </m:r>
                          </m:e>
                          <m:sup>
                            <m:r>
                              <a:rPr lang="en-US" sz="2400" b="0" i="1" smtClean="0">
                                <a:latin typeface="Cambria Math" panose="02040503050406030204" pitchFamily="18" charset="0"/>
                                <a:ea typeface="Cambria Math" panose="02040503050406030204" pitchFamily="18" charset="0"/>
                              </a:rPr>
                              <m:t>2</m:t>
                            </m:r>
                          </m:sup>
                        </m:sSup>
                      </m:den>
                    </m:f>
                  </m:oMath>
                </a14:m>
                <a:r>
                  <a:rPr lang="en-US" sz="2400" dirty="0">
                    <a:latin typeface="Times New Roman" panose="02020603050405020304" pitchFamily="18" charset="0"/>
                    <a:cs typeface="Times New Roman" panose="02020603050405020304" pitchFamily="18" charset="0"/>
                  </a:rPr>
                  <a:t>. And its breaking stress is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1.078</m:t>
                        </m:r>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rPr>
                          <m:t>9</m:t>
                        </m:r>
                      </m:sup>
                    </m:sSup>
                    <m:f>
                      <m:fPr>
                        <m:type m:val="skw"/>
                        <m:ctrlPr>
                          <a:rPr lang="en-US" sz="2400" i="1" smtClean="0">
                            <a:latin typeface="Cambria Math" panose="02040503050406030204" pitchFamily="18" charset="0"/>
                          </a:rPr>
                        </m:ctrlPr>
                      </m:fPr>
                      <m:num>
                        <m:r>
                          <a:rPr lang="en-US" sz="2400" b="0" i="1" smtClean="0">
                            <a:latin typeface="Cambria Math" panose="02040503050406030204" pitchFamily="18" charset="0"/>
                          </a:rPr>
                          <m:t>𝑁</m:t>
                        </m:r>
                      </m:num>
                      <m:den>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𝑚</m:t>
                            </m:r>
                          </m:e>
                          <m:sup>
                            <m:r>
                              <a:rPr lang="en-US" sz="2400" b="0" i="1" smtClean="0">
                                <a:latin typeface="Cambria Math" panose="02040503050406030204" pitchFamily="18" charset="0"/>
                              </a:rPr>
                              <m:t>2</m:t>
                            </m:r>
                          </m:sup>
                        </m:sSup>
                      </m:den>
                    </m:f>
                  </m:oMath>
                </a14:m>
                <a:r>
                  <a:rPr lang="en-US" sz="2400" dirty="0">
                    <a:latin typeface="Times New Roman" panose="02020603050405020304" pitchFamily="18" charset="0"/>
                    <a:cs typeface="Times New Roman" panose="02020603050405020304" pitchFamily="18" charset="0"/>
                  </a:rPr>
                  <a:t> Calculate the work done per unit volume in stretching the metal.</a:t>
                </a:r>
              </a:p>
              <a:p>
                <a:pPr marL="0" indent="0">
                  <a:buNone/>
                </a:pPr>
                <a:r>
                  <a:rPr lang="en-US" sz="2400" b="1" dirty="0">
                    <a:latin typeface="Times New Roman" panose="02020603050405020304" pitchFamily="18" charset="0"/>
                    <a:cs typeface="Times New Roman" panose="02020603050405020304" pitchFamily="18" charset="0"/>
                  </a:rPr>
                  <a:t>Solution:</a:t>
                </a:r>
              </a:p>
              <a:p>
                <a:pPr marL="0" indent="0">
                  <a:buNone/>
                </a:pPr>
                <a:r>
                  <a:rPr lang="en-US" sz="2400" b="0"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𝑊𝑜𝑟𝑘</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𝑑𝑜𝑛𝑒</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𝑝𝑒𝑟</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𝑢𝑛𝑖𝑡</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𝑣𝑜𝑙𝑢𝑚𝑒</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2</m:t>
                        </m:r>
                      </m:den>
                    </m:f>
                    <m:r>
                      <a:rPr lang="en-US" sz="2400" b="0" i="1" smtClean="0">
                        <a:latin typeface="Cambria Math" panose="02040503050406030204" pitchFamily="18" charset="0"/>
                        <a:cs typeface="Times New Roman" panose="02020603050405020304" pitchFamily="18" charset="0"/>
                      </a:rPr>
                      <m:t>𝑠𝑡𝑟𝑒𝑠𝑠</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𝑠𝑡𝑟𝑎𝑖𝑛</m:t>
                    </m:r>
                  </m:oMath>
                </a14:m>
                <a:endParaRPr lang="en-US" sz="2400" b="0" i="1" dirty="0">
                  <a:latin typeface="Cambria Math" panose="02040503050406030204" pitchFamily="18" charset="0"/>
                  <a:ea typeface="Cambria Math" panose="02040503050406030204" pitchFamily="18" charset="0"/>
                  <a:cs typeface="Times New Roman" panose="02020603050405020304" pitchFamily="18" charset="0"/>
                </a:endParaRPr>
              </a:p>
              <a:p>
                <a:pPr marL="0" indent="0">
                  <a:buNone/>
                </a:pPr>
                <a:r>
                  <a:rPr lang="en-US" sz="2400" b="0" dirty="0">
                    <a:ea typeface="Cambria Math" panose="02040503050406030204" pitchFamily="18" charset="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𝑠𝑡𝑟𝑒𝑠𝑠</m:t>
                            </m:r>
                          </m:e>
                          <m:sup>
                            <m:r>
                              <a:rPr lang="en-US" sz="2400" b="0" i="1" smtClean="0">
                                <a:latin typeface="Cambria Math" panose="02040503050406030204" pitchFamily="18" charset="0"/>
                                <a:ea typeface="Cambria Math" panose="02040503050406030204" pitchFamily="18" charset="0"/>
                                <a:cs typeface="Times New Roman" panose="02020603050405020304" pitchFamily="18" charset="0"/>
                              </a:rPr>
                              <m:t>2</m:t>
                            </m:r>
                          </m:sup>
                        </m:sSup>
                      </m:num>
                      <m:den>
                        <m:r>
                          <a:rPr lang="en-US" sz="2400" b="0" i="1" smtClean="0">
                            <a:latin typeface="Cambria Math" panose="02040503050406030204" pitchFamily="18" charset="0"/>
                            <a:ea typeface="Cambria Math" panose="02040503050406030204" pitchFamily="18" charset="0"/>
                            <a:cs typeface="Times New Roman" panose="02020603050405020304" pitchFamily="18" charset="0"/>
                          </a:rPr>
                          <m:t>2</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𝛾</m:t>
                        </m:r>
                      </m:den>
                    </m:f>
                    <m:r>
                      <a:rPr lang="en-US" sz="2400" b="0" i="1" smtClean="0">
                        <a:latin typeface="Cambria Math" panose="02040503050406030204" pitchFamily="18" charset="0"/>
                        <a:ea typeface="Cambria Math" panose="02040503050406030204" pitchFamily="18" charset="0"/>
                        <a:cs typeface="Times New Roman" panose="02020603050405020304" pitchFamily="18" charset="0"/>
                      </a:rPr>
                      <m:t>   </m:t>
                    </m:r>
                  </m:oMath>
                </a14:m>
                <a:endParaRPr lang="en-US" sz="2400" b="0" i="1" dirty="0">
                  <a:latin typeface="Cambria Math" panose="02040503050406030204" pitchFamily="18" charset="0"/>
                  <a:ea typeface="Cambria Math" panose="02040503050406030204" pitchFamily="18" charset="0"/>
                  <a:cs typeface="Times New Roman" panose="02020603050405020304" pitchFamily="18" charset="0"/>
                </a:endParaRPr>
              </a:p>
              <a:p>
                <a:pPr marL="0" indent="0">
                  <a:buNone/>
                </a:pPr>
                <a:r>
                  <a:rPr lang="en-US" sz="2400" b="0" dirty="0">
                    <a:ea typeface="Cambria Math" panose="02040503050406030204" pitchFamily="18" charset="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1.078×10</m:t>
                                </m:r>
                              </m:e>
                              <m:sup>
                                <m:r>
                                  <a:rPr lang="en-US" sz="2400" b="0" i="1" smtClean="0">
                                    <a:latin typeface="Cambria Math" panose="02040503050406030204" pitchFamily="18" charset="0"/>
                                    <a:ea typeface="Cambria Math" panose="02040503050406030204" pitchFamily="18" charset="0"/>
                                    <a:cs typeface="Times New Roman" panose="02020603050405020304" pitchFamily="18" charset="0"/>
                                  </a:rPr>
                                  <m:t>9</m:t>
                                </m:r>
                              </m:sup>
                            </m:sSup>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e>
                          <m:sup>
                            <m:r>
                              <a:rPr lang="en-US" sz="2400" b="0" i="1" smtClean="0">
                                <a:latin typeface="Cambria Math" panose="02040503050406030204" pitchFamily="18" charset="0"/>
                                <a:ea typeface="Cambria Math" panose="02040503050406030204" pitchFamily="18" charset="0"/>
                                <a:cs typeface="Times New Roman" panose="02020603050405020304" pitchFamily="18" charset="0"/>
                              </a:rPr>
                              <m:t>2</m:t>
                            </m:r>
                          </m:sup>
                        </m:sSup>
                      </m:num>
                      <m:den>
                        <m:sSup>
                          <m:sSup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2×2×10</m:t>
                            </m:r>
                          </m:e>
                          <m:sup>
                            <m:r>
                              <a:rPr lang="en-US" sz="2400" b="0" i="1" smtClean="0">
                                <a:latin typeface="Cambria Math" panose="02040503050406030204" pitchFamily="18" charset="0"/>
                                <a:ea typeface="Cambria Math" panose="02040503050406030204" pitchFamily="18" charset="0"/>
                                <a:cs typeface="Times New Roman" panose="02020603050405020304" pitchFamily="18" charset="0"/>
                              </a:rPr>
                              <m:t>11</m:t>
                            </m:r>
                          </m:sup>
                        </m:sSup>
                      </m:den>
                    </m:f>
                  </m:oMath>
                </a14:m>
                <a:endParaRPr lang="en-US" sz="2400" b="0" i="1" dirty="0">
                  <a:latin typeface="Cambria Math" panose="02040503050406030204" pitchFamily="18" charset="0"/>
                  <a:ea typeface="Cambria Math" panose="02040503050406030204" pitchFamily="18" charset="0"/>
                  <a:cs typeface="Times New Roman" panose="02020603050405020304" pitchFamily="18" charset="0"/>
                </a:endParaRPr>
              </a:p>
              <a:p>
                <a:pPr marL="0" indent="0">
                  <a:buNone/>
                </a:pPr>
                <a:r>
                  <a:rPr lang="en-US" sz="2400" b="0" dirty="0">
                    <a:ea typeface="Cambria Math" panose="02040503050406030204" pitchFamily="18" charset="0"/>
                    <a:cs typeface="Times New Roman" panose="02020603050405020304" pitchFamily="18" charset="0"/>
                  </a:rPr>
                  <a:t>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2.90×10</m:t>
                        </m:r>
                      </m:e>
                      <m:sup>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6</m:t>
                        </m:r>
                      </m:sup>
                    </m:sSup>
                    <m:f>
                      <m:fPr>
                        <m:type m:val="skw"/>
                        <m:ctrlP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𝐽</m:t>
                        </m:r>
                      </m:num>
                      <m:den>
                        <m:sSup>
                          <m:sSupPr>
                            <m:ctrlP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𝑚</m:t>
                            </m:r>
                          </m:e>
                          <m:sup>
                            <m:r>
                              <a:rPr lang="en-US" sz="20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2</m:t>
                            </m:r>
                          </m:sup>
                        </m:sSup>
                      </m:den>
                    </m:f>
                  </m:oMath>
                </a14:m>
                <a:endParaRPr lang="en-US" sz="240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Self Assessment Exercise</a:t>
                </a:r>
              </a:p>
              <a:p>
                <a:r>
                  <a:rPr lang="en-US" sz="2400" dirty="0">
                    <a:latin typeface="Times New Roman" panose="02020603050405020304" pitchFamily="18" charset="0"/>
                    <a:cs typeface="Times New Roman" panose="02020603050405020304" pitchFamily="18" charset="0"/>
                  </a:rPr>
                  <a:t>Find the work done in stretching a wire of 1 square mm cross section and 2m long through 0.1mm. Given Young’s modulus to be equal to </a:t>
                </a:r>
                <a14:m>
                  <m:oMath xmlns:m="http://schemas.openxmlformats.org/officeDocument/2006/math">
                    <m:r>
                      <a:rPr lang="en-US" sz="2400" i="1">
                        <a:latin typeface="Cambria Math" panose="02040503050406030204" pitchFamily="18" charset="0"/>
                      </a:rPr>
                      <m:t>2</m:t>
                    </m:r>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10</m:t>
                        </m:r>
                      </m:e>
                      <m:sup>
                        <m:r>
                          <a:rPr lang="en-US" sz="2400" i="1">
                            <a:latin typeface="Cambria Math" panose="02040503050406030204" pitchFamily="18" charset="0"/>
                            <a:ea typeface="Cambria Math" panose="02040503050406030204" pitchFamily="18" charset="0"/>
                          </a:rPr>
                          <m:t>11</m:t>
                        </m:r>
                      </m:sup>
                    </m:sSup>
                    <m:f>
                      <m:fPr>
                        <m:type m:val="skw"/>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𝑁</m:t>
                        </m:r>
                      </m:num>
                      <m:den>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𝑚</m:t>
                            </m:r>
                          </m:e>
                          <m:sup>
                            <m:r>
                              <a:rPr lang="en-US" sz="2400" i="1">
                                <a:latin typeface="Cambria Math" panose="02040503050406030204" pitchFamily="18" charset="0"/>
                                <a:ea typeface="Cambria Math" panose="02040503050406030204" pitchFamily="18" charset="0"/>
                              </a:rPr>
                              <m:t>2</m:t>
                            </m:r>
                          </m:sup>
                        </m:sSup>
                      </m:den>
                    </m:f>
                  </m:oMath>
                </a14:m>
                <a:r>
                  <a:rPr lang="en-US" sz="2400" b="1" dirty="0">
                    <a:latin typeface="Times New Roman" panose="02020603050405020304" pitchFamily="18" charset="0"/>
                    <a:cs typeface="Times New Roman" panose="02020603050405020304" pitchFamily="18" charset="0"/>
                  </a:rPr>
                  <a:t>. </a:t>
                </a:r>
              </a:p>
              <a:p>
                <a:pPr marL="0" indent="0">
                  <a:buNone/>
                </a:pPr>
                <a:r>
                  <a:rPr lang="en-US" sz="2400" b="1" dirty="0">
                    <a:latin typeface="Times New Roman" panose="02020603050405020304" pitchFamily="18" charset="0"/>
                    <a:cs typeface="Times New Roman" panose="02020603050405020304" pitchFamily="18" charset="0"/>
                  </a:rPr>
                  <a:t>   Ans  </a:t>
                </a:r>
                <a:r>
                  <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Work done = </a:t>
                </a:r>
                <a14:m>
                  <m:oMath xmlns:m="http://schemas.openxmlformats.org/officeDocument/2006/math">
                    <m:sSup>
                      <m:sSupPr>
                        <m:ctrlP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ctrlPr>
                      </m:sSupPr>
                      <m:e>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5</m:t>
                        </m:r>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ea typeface="Cambria Math" panose="02040503050406030204" pitchFamily="18" charset="0"/>
                            <a:cs typeface="Times New Roman" panose="02020603050405020304" pitchFamily="18" charset="0"/>
                          </a:rPr>
                          <m:t>×10</m:t>
                        </m:r>
                      </m:e>
                      <m:sup>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−4</m:t>
                        </m:r>
                      </m:sup>
                    </m:sSup>
                    <m:r>
                      <a:rPr lang="en-US" sz="2400" i="1" smtClean="0">
                        <a:ln w="0"/>
                        <a:solidFill>
                          <a:schemeClr val="accent1"/>
                        </a:solidFill>
                        <a:effectLst>
                          <a:outerShdw blurRad="38100" dist="25400" dir="5400000" algn="ctr" rotWithShape="0">
                            <a:srgbClr val="6E747A">
                              <a:alpha val="43000"/>
                            </a:srgbClr>
                          </a:outerShdw>
                        </a:effectLst>
                        <a:latin typeface="Cambria Math" panose="02040503050406030204" pitchFamily="18" charset="0"/>
                        <a:cs typeface="Times New Roman" panose="02020603050405020304" pitchFamily="18" charset="0"/>
                      </a:rPr>
                      <m:t>𝐽</m:t>
                    </m:r>
                  </m:oMath>
                </a14:m>
                <a:endParaRPr lang="en-US" sz="24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02B206F1-5011-4999-BCBB-E9F60518131F}"/>
                  </a:ext>
                </a:extLst>
              </p:cNvPr>
              <p:cNvSpPr>
                <a:spLocks noGrp="1" noRot="1" noChangeAspect="1" noMove="1" noResize="1" noEditPoints="1" noAdjustHandles="1" noChangeArrowheads="1" noChangeShapeType="1" noTextEdit="1"/>
              </p:cNvSpPr>
              <p:nvPr>
                <p:ph idx="1"/>
              </p:nvPr>
            </p:nvSpPr>
            <p:spPr>
              <a:xfrm>
                <a:off x="-1" y="498764"/>
                <a:ext cx="12039601" cy="6359236"/>
              </a:xfrm>
              <a:blipFill>
                <a:blip r:embed="rId2"/>
                <a:stretch>
                  <a:fillRect l="-759" t="-9108" r="-4709"/>
                </a:stretch>
              </a:blipFill>
            </p:spPr>
            <p:txBody>
              <a:bodyPr/>
              <a:lstStyle/>
              <a:p>
                <a:r>
                  <a:rPr lang="en-US">
                    <a:noFill/>
                  </a:rPr>
                  <a:t> </a:t>
                </a:r>
              </a:p>
            </p:txBody>
          </p:sp>
        </mc:Fallback>
      </mc:AlternateContent>
    </p:spTree>
    <p:extLst>
      <p:ext uri="{BB962C8B-B14F-4D97-AF65-F5344CB8AC3E}">
        <p14:creationId xmlns:p14="http://schemas.microsoft.com/office/powerpoint/2010/main" val="2202473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5C531-5A2F-4C19-AE1B-5E8997B5E39E}"/>
              </a:ext>
            </a:extLst>
          </p:cNvPr>
          <p:cNvSpPr>
            <a:spLocks noGrp="1"/>
          </p:cNvSpPr>
          <p:nvPr>
            <p:ph type="title"/>
          </p:nvPr>
        </p:nvSpPr>
        <p:spPr/>
        <p:txBody>
          <a:bodyPr>
            <a:normAutofit/>
          </a:bodyPr>
          <a:lstStyle/>
          <a:p>
            <a:pPr algn="ctr"/>
            <a:r>
              <a:rPr lang="en-US" sz="7200" b="1" dirty="0">
                <a:solidFill>
                  <a:srgbClr val="FF0000"/>
                </a:solidFill>
                <a:latin typeface="CityBlueprint" panose="00000400000000000000" pitchFamily="2" charset="2"/>
              </a:rPr>
              <a:t>THE END</a:t>
            </a:r>
          </a:p>
        </p:txBody>
      </p:sp>
      <p:sp>
        <p:nvSpPr>
          <p:cNvPr id="3" name="Content Placeholder 2">
            <a:extLst>
              <a:ext uri="{FF2B5EF4-FFF2-40B4-BE49-F238E27FC236}">
                <a16:creationId xmlns:a16="http://schemas.microsoft.com/office/drawing/2014/main" id="{8E8EA017-8D55-4536-A6F5-985096440F85}"/>
              </a:ext>
            </a:extLst>
          </p:cNvPr>
          <p:cNvSpPr>
            <a:spLocks noGrp="1"/>
          </p:cNvSpPr>
          <p:nvPr>
            <p:ph idx="1"/>
          </p:nvPr>
        </p:nvSpPr>
        <p:spPr/>
        <p:txBody>
          <a:bodyPr>
            <a:normAutofit/>
          </a:bodyPr>
          <a:lstStyle/>
          <a:p>
            <a:pPr marL="0" indent="0" algn="ctr">
              <a:buNone/>
            </a:pPr>
            <a:r>
              <a:rPr lang="en-US" sz="6000" b="1" dirty="0">
                <a:solidFill>
                  <a:schemeClr val="accent1"/>
                </a:solidFill>
                <a:latin typeface="CityBlueprint" panose="00000400000000000000" pitchFamily="2" charset="2"/>
              </a:rPr>
              <a:t>THANK</a:t>
            </a:r>
            <a:r>
              <a:rPr lang="en-US" sz="6000" b="1" dirty="0">
                <a:latin typeface="CityBlueprint" panose="00000400000000000000" pitchFamily="2" charset="2"/>
              </a:rPr>
              <a:t> </a:t>
            </a:r>
          </a:p>
          <a:p>
            <a:pPr marL="0" indent="0" algn="ctr">
              <a:buNone/>
            </a:pPr>
            <a:r>
              <a:rPr lang="en-US" sz="6000" b="1" dirty="0">
                <a:solidFill>
                  <a:schemeClr val="accent4">
                    <a:lumMod val="60000"/>
                    <a:lumOff val="40000"/>
                  </a:schemeClr>
                </a:solidFill>
                <a:latin typeface="CityBlueprint" panose="00000400000000000000" pitchFamily="2" charset="2"/>
              </a:rPr>
              <a:t>YOU</a:t>
            </a:r>
          </a:p>
          <a:p>
            <a:pPr marL="0" indent="0" algn="ctr">
              <a:buNone/>
            </a:pPr>
            <a:r>
              <a:rPr lang="en-US" sz="4800" b="1" dirty="0">
                <a:solidFill>
                  <a:schemeClr val="accent6"/>
                </a:solidFill>
                <a:latin typeface="CityBlueprint" panose="00000400000000000000" pitchFamily="2" charset="2"/>
              </a:rPr>
              <a:t>FOR</a:t>
            </a:r>
          </a:p>
          <a:p>
            <a:pPr marL="0" indent="0" algn="ctr">
              <a:buNone/>
            </a:pPr>
            <a:r>
              <a:rPr lang="en-US" sz="6000" b="1" dirty="0">
                <a:latin typeface="CityBlueprint" panose="00000400000000000000" pitchFamily="2" charset="2"/>
              </a:rPr>
              <a:t>LISTENING</a:t>
            </a:r>
          </a:p>
        </p:txBody>
      </p:sp>
    </p:spTree>
    <p:extLst>
      <p:ext uri="{BB962C8B-B14F-4D97-AF65-F5344CB8AC3E}">
        <p14:creationId xmlns:p14="http://schemas.microsoft.com/office/powerpoint/2010/main" val="990990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898</TotalTime>
  <Words>1162</Words>
  <Application>Microsoft Office PowerPoint</Application>
  <PresentationFormat>Widescreen</PresentationFormat>
  <Paragraphs>192</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Baskerville Old Face</vt:lpstr>
      <vt:lpstr>Calibri</vt:lpstr>
      <vt:lpstr>Calibri Light</vt:lpstr>
      <vt:lpstr>Cambria Math</vt:lpstr>
      <vt:lpstr>CityBlueprint</vt:lpstr>
      <vt:lpstr>Times New Roman</vt:lpstr>
      <vt:lpstr>Wingdings</vt:lpstr>
      <vt:lpstr>Office Theme</vt:lpstr>
      <vt:lpstr>COURSE:         PHY 111 UNITS:             THREE (3) LECTURER:   MR KAMAL MUHAMMAD GONTO</vt:lpstr>
      <vt:lpstr>CIRCULAR MOTION</vt:lpstr>
      <vt:lpstr>Angular Variables</vt:lpstr>
      <vt:lpstr>PowerPoint Presentation</vt:lpstr>
      <vt:lpstr>Example 1</vt:lpstr>
      <vt:lpstr>Centripetal and Centrifugal Forces</vt:lpstr>
      <vt:lpstr>Example2</vt:lpstr>
      <vt:lpstr>Conical Pendulum</vt:lpstr>
      <vt:lpstr>Gravitational Field</vt:lpstr>
      <vt:lpstr>Newton’s Law of Universal Gravitation</vt:lpstr>
      <vt:lpstr>Example 3</vt:lpstr>
      <vt:lpstr>ELASTICITY</vt:lpstr>
      <vt:lpstr>Hooke’s Law</vt:lpstr>
      <vt:lpstr>Work done per unit volume in case of tangential strain</vt:lpstr>
      <vt:lpstr>Example 4 </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PHY 111 UNIT:                THREE (3) LECTURER:    MR KAMAL MUHAMMAD GONTO</dc:title>
  <dc:creator>Ahmad Muhammad Gonto</dc:creator>
  <cp:lastModifiedBy>Ahmad Muhammad Gonto</cp:lastModifiedBy>
  <cp:revision>88</cp:revision>
  <dcterms:created xsi:type="dcterms:W3CDTF">2023-06-29T09:00:42Z</dcterms:created>
  <dcterms:modified xsi:type="dcterms:W3CDTF">2023-07-02T23:13:28Z</dcterms:modified>
</cp:coreProperties>
</file>