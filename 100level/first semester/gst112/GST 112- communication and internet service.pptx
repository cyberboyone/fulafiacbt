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7" r:id="rId2"/>
    <p:sldId id="258" r:id="rId3"/>
    <p:sldId id="259" r:id="rId4"/>
    <p:sldId id="260" r:id="rId5"/>
    <p:sldId id="262" r:id="rId6"/>
    <p:sldId id="265" r:id="rId7"/>
    <p:sldId id="280" r:id="rId8"/>
    <p:sldId id="281" r:id="rId9"/>
    <p:sldId id="282" r:id="rId10"/>
    <p:sldId id="283" r:id="rId11"/>
    <p:sldId id="266" r:id="rId12"/>
    <p:sldId id="289" r:id="rId13"/>
    <p:sldId id="267" r:id="rId14"/>
    <p:sldId id="268" r:id="rId15"/>
    <p:sldId id="269" r:id="rId16"/>
    <p:sldId id="270" r:id="rId17"/>
    <p:sldId id="290" r:id="rId18"/>
    <p:sldId id="288" r:id="rId19"/>
    <p:sldId id="292" r:id="rId20"/>
    <p:sldId id="271" r:id="rId21"/>
    <p:sldId id="272" r:id="rId22"/>
    <p:sldId id="284" r:id="rId23"/>
    <p:sldId id="285" r:id="rId24"/>
    <p:sldId id="286" r:id="rId25"/>
    <p:sldId id="273" r:id="rId26"/>
    <p:sldId id="274" r:id="rId27"/>
    <p:sldId id="275" r:id="rId28"/>
    <p:sldId id="276" r:id="rId29"/>
    <p:sldId id="287" r:id="rId30"/>
    <p:sldId id="291" r:id="rId31"/>
    <p:sldId id="294" r:id="rId32"/>
    <p:sldId id="295" r:id="rId33"/>
    <p:sldId id="296" r:id="rId34"/>
    <p:sldId id="297" r:id="rId35"/>
    <p:sldId id="298" r:id="rId36"/>
    <p:sldId id="299" r:id="rId37"/>
    <p:sldId id="300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7" d="100"/>
          <a:sy n="77" d="100"/>
        </p:scale>
        <p:origin x="-948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F9EA3-B37D-4CD1-9AA9-DB969BE7A7AA}" type="datetimeFigureOut">
              <a:rPr lang="en-US" smtClean="0"/>
              <a:pPr/>
              <a:t>12/18/2014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CA3C-2429-4F54-B670-3653351B70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AB800A-629E-472A-9E82-071BC5D86C10}" type="slidenum">
              <a:rPr lang="en-AU"/>
              <a:pPr/>
              <a:t>21</a:t>
            </a:fld>
            <a:endParaRPr lang="en-AU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LAN local area network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8C80D2D-62FF-4C9A-B4C1-EA5FFDF273CF}" type="slidenum">
              <a:rPr lang="en-US" smtClean="0">
                <a:latin typeface="Arial" pitchFamily="34" charset="0"/>
              </a:rPr>
              <a:pPr/>
              <a:t>22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mtClean="0"/>
              <a:t>What is the primary difference between these two types of architectures?</a:t>
            </a:r>
          </a:p>
          <a:p>
            <a:pPr lvl="1" eaLnBrk="1" hangingPunct="1"/>
            <a:r>
              <a:rPr lang="en-US" smtClean="0"/>
              <a:t>The server</a:t>
            </a:r>
          </a:p>
          <a:p>
            <a:pPr lvl="1" eaLnBrk="1" hangingPunct="1"/>
            <a:r>
              <a:rPr lang="en-US" smtClean="0"/>
              <a:t>A peer-to-peer network does not have a server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3894269-C6E8-42BC-BF23-54FDBC5E0008}" type="slidenum">
              <a:rPr lang="en-US" smtClean="0">
                <a:latin typeface="Arial" pitchFamily="34" charset="0"/>
              </a:rPr>
              <a:pPr/>
              <a:t>23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mtClean="0"/>
              <a:t>BitTorrent is an excellent example of peer-to-peer</a:t>
            </a:r>
          </a:p>
          <a:p>
            <a:pPr eaLnBrk="1" hangingPunct="1"/>
            <a:r>
              <a:rPr lang="en-US" smtClean="0"/>
              <a:t>Discuss the Apply Your Knowledge project on BitTorrent (AYK project 7 – Contemplating Sharing)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65B2BDD-591E-4D99-8EB8-7D3F4595F01F}" type="slidenum">
              <a:rPr lang="en-US" smtClean="0">
                <a:latin typeface="Arial" pitchFamily="34" charset="0"/>
              </a:rPr>
              <a:pPr/>
              <a:t>24</a:t>
            </a:fld>
            <a:endParaRPr lang="en-US" smtClean="0">
              <a:latin typeface="Arial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mtClean="0"/>
              <a:t>Is your PC a client or a server?</a:t>
            </a:r>
          </a:p>
          <a:p>
            <a:pPr lvl="1" eaLnBrk="1" hangingPunct="1"/>
            <a:r>
              <a:rPr lang="en-US" smtClean="0"/>
              <a:t>Chances are most student computers are clients on the universities network</a:t>
            </a:r>
          </a:p>
          <a:p>
            <a:pPr lvl="1" eaLnBrk="1" hangingPunct="1"/>
            <a:endParaRPr lang="en-US" smtClean="0"/>
          </a:p>
          <a:p>
            <a:pPr eaLnBrk="1" hangingPunct="1"/>
            <a:r>
              <a:rPr lang="en-US" smtClean="0"/>
              <a:t>Can your PC be a client or a server?</a:t>
            </a:r>
          </a:p>
          <a:p>
            <a:pPr eaLnBrk="1" hangingPunct="1"/>
            <a:r>
              <a:rPr lang="en-US" smtClean="0"/>
              <a:t>	Both, any PC can be used as a server – you simply install the server operating system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965056-14E9-4261-B653-5D5EEF863D63}" type="slidenum">
              <a:rPr lang="en-AU"/>
              <a:pPr/>
              <a:t>27</a:t>
            </a:fld>
            <a:endParaRPr lang="en-AU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Easy to add extra computers . If computer goes down it doesn’t affect rest of network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C410C5-5620-4319-986B-672B787AD389}" type="slidenum">
              <a:rPr lang="en-AU"/>
              <a:pPr/>
              <a:t>28</a:t>
            </a:fld>
            <a:endParaRPr lang="en-AU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If central host goes doewn affects rest of network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9E3D7-2929-44A0-ABF1-A02E39AFA738}" type="datetime1">
              <a:rPr lang="en-US" smtClean="0"/>
              <a:pPr/>
              <a:t>12/18/2014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753160D-0FAD-4044-95F9-D3AD829E2F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5490C-2D71-41D8-BCC6-A50C9640921D}" type="datetime1">
              <a:rPr lang="en-US" smtClean="0"/>
              <a:pPr/>
              <a:t>12/18/2014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79B9-7948-4070-BCC7-9E38BEB5946B}" type="datetime1">
              <a:rPr lang="en-US" smtClean="0"/>
              <a:pPr/>
              <a:t>12/18/2014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753160D-0FAD-4044-95F9-D3AD829E2F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A0AD3-36E3-4C1B-A2F5-0D61C91FEED0}" type="datetime1">
              <a:rPr lang="en-US" smtClean="0"/>
              <a:pPr/>
              <a:t>12/18/2014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77C9C-9E5E-45AB-A808-7F3A8DF2846C}" type="datetime1">
              <a:rPr lang="en-US" smtClean="0"/>
              <a:pPr/>
              <a:t>12/18/2014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A203C-D451-4D20-89ED-74F666396E1B}" type="datetime1">
              <a:rPr lang="en-US" smtClean="0"/>
              <a:pPr/>
              <a:t>12/18/2014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5B2D-DE07-405A-A55E-EA5C6B954E1E}" type="datetime1">
              <a:rPr lang="en-US" smtClean="0"/>
              <a:pPr/>
              <a:t>12/18/2014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3690-73E5-44A2-9630-B4F02202DE2A}" type="datetime1">
              <a:rPr lang="en-US" smtClean="0"/>
              <a:pPr/>
              <a:t>12/18/2014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18832-74FD-4622-9F06-AC56E367FC24}" type="datetime1">
              <a:rPr lang="en-US" smtClean="0"/>
              <a:pPr/>
              <a:t>12/18/2014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753160D-0FAD-4044-95F9-D3AD829E2F6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8E23-71E1-41BA-8EF9-5198B2555073}" type="datetime1">
              <a:rPr lang="en-US" smtClean="0"/>
              <a:pPr/>
              <a:t>12/18/2014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ADC0-48FE-440D-998B-D9297D5E4CDC}" type="datetime1">
              <a:rPr lang="en-US" smtClean="0"/>
              <a:pPr/>
              <a:t>12/18/2014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ADBEF16-8906-4643-8224-58BF5B424A12}" type="datetime1">
              <a:rPr lang="en-US" smtClean="0"/>
              <a:pPr/>
              <a:t>12/18/2014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753160D-0FAD-4044-95F9-D3AD829E2F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bettscomputers.com/moodle/course/view.php?id=10" TargetMode="Externa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GST 112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Communication and internet Services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dirty="0" smtClean="0"/>
              <a:t>	What is Computer Communication?</a:t>
            </a:r>
          </a:p>
          <a:p>
            <a:pPr algn="just">
              <a:buNone/>
            </a:pPr>
            <a:r>
              <a:rPr lang="en-US" sz="2800" dirty="0" smtClean="0"/>
              <a:t>    Computer communication </a:t>
            </a:r>
            <a:r>
              <a:rPr lang="en-US" sz="2800" dirty="0"/>
              <a:t>describes a process in which two or more computers or devices transfer data, instructions, and </a:t>
            </a:r>
            <a:r>
              <a:rPr lang="en-US" sz="2800" dirty="0" smtClean="0"/>
              <a:t>information from one point to another point. </a:t>
            </a:r>
          </a:p>
          <a:p>
            <a:pPr algn="just">
              <a:buNone/>
            </a:pPr>
            <a:r>
              <a:rPr lang="en-US" sz="2800" dirty="0" smtClean="0"/>
              <a:t>    Some </a:t>
            </a:r>
            <a:r>
              <a:rPr lang="en-US" sz="2800" dirty="0"/>
              <a:t>communications involve cables and wires; others are sent wirelessly through the air. Communication systems contain all types of computers and computing devices.</a:t>
            </a:r>
          </a:p>
          <a:p>
            <a:pPr algn="just"/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Devices required </a:t>
            </a:r>
            <a:r>
              <a:rPr lang="en-US" dirty="0"/>
              <a:t>for successful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Sending device: It initiates an instruction to transmit data, instructions, or </a:t>
            </a:r>
            <a:r>
              <a:rPr lang="en-US" dirty="0" smtClean="0"/>
              <a:t>information</a:t>
            </a:r>
          </a:p>
          <a:p>
            <a:pPr lvl="1"/>
            <a:r>
              <a:rPr lang="en-US" dirty="0" smtClean="0"/>
              <a:t>Receiving device:  it accepts the transmission of data, instructions, or information.</a:t>
            </a:r>
          </a:p>
          <a:p>
            <a:pPr lvl="1"/>
            <a:r>
              <a:rPr lang="en-US" dirty="0" smtClean="0"/>
              <a:t>Communication channel or transmission media : is a channel on which the data, instructions or information travel. Examples are cable television line and telephone lines.</a:t>
            </a:r>
            <a:endParaRPr lang="en-US" dirty="0"/>
          </a:p>
          <a:p>
            <a:pPr lvl="1"/>
            <a:r>
              <a:rPr lang="en-US" dirty="0"/>
              <a:t>Communication devices: it connects the sending device </a:t>
            </a:r>
            <a:r>
              <a:rPr lang="en-US" dirty="0" smtClean="0"/>
              <a:t>or receiving device to </a:t>
            </a:r>
            <a:r>
              <a:rPr lang="en-US" dirty="0"/>
              <a:t>a communications </a:t>
            </a:r>
            <a:r>
              <a:rPr lang="en-US" dirty="0" smtClean="0"/>
              <a:t>channel. One example is </a:t>
            </a:r>
            <a:r>
              <a:rPr lang="en-US" b="1" dirty="0" smtClean="0"/>
              <a:t>MODEM</a:t>
            </a:r>
            <a:r>
              <a:rPr lang="en-US" dirty="0" smtClean="0"/>
              <a:t> </a:t>
            </a:r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Devices required for successful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All types of computers and mobile devices serve as sending and receiving devices in a communications system. This includes mainframe computers, servers, desktop computers, notebook computers, smart phones, portable media players, </a:t>
            </a:r>
            <a:r>
              <a:rPr lang="en-US" dirty="0" smtClean="0"/>
              <a:t> </a:t>
            </a:r>
            <a:r>
              <a:rPr lang="en-US" dirty="0"/>
              <a:t>and GPS receivers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Basic Components</a:t>
            </a:r>
          </a:p>
        </p:txBody>
      </p:sp>
      <p:sp>
        <p:nvSpPr>
          <p:cNvPr id="8196" name="Text Box 6"/>
          <p:cNvSpPr txBox="1">
            <a:spLocks noChangeArrowheads="1"/>
          </p:cNvSpPr>
          <p:nvPr/>
        </p:nvSpPr>
        <p:spPr bwMode="auto">
          <a:xfrm>
            <a:off x="592138" y="1576388"/>
            <a:ext cx="7940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8197" name="Text Box 7"/>
          <p:cNvSpPr txBox="1">
            <a:spLocks noChangeArrowheads="1"/>
          </p:cNvSpPr>
          <p:nvPr/>
        </p:nvSpPr>
        <p:spPr bwMode="auto">
          <a:xfrm>
            <a:off x="609601" y="914400"/>
            <a:ext cx="83820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Every communication system has 5 basic requirements</a:t>
            </a:r>
          </a:p>
          <a:p>
            <a:pPr>
              <a:buFontTx/>
              <a:buChar char="•"/>
            </a:pPr>
            <a:r>
              <a:rPr lang="en-US" sz="2800" b="1" dirty="0"/>
              <a:t>Data Source</a:t>
            </a:r>
            <a:r>
              <a:rPr lang="en-US" sz="2800" dirty="0"/>
              <a:t> (where the data originates)</a:t>
            </a:r>
          </a:p>
          <a:p>
            <a:pPr>
              <a:buFontTx/>
              <a:buChar char="•"/>
            </a:pPr>
            <a:r>
              <a:rPr lang="en-US" sz="2800" b="1" dirty="0"/>
              <a:t>Transmitter </a:t>
            </a:r>
            <a:r>
              <a:rPr lang="en-US" sz="2800" dirty="0"/>
              <a:t>(device used to transmit data)</a:t>
            </a:r>
          </a:p>
          <a:p>
            <a:pPr>
              <a:buFontTx/>
              <a:buChar char="•"/>
            </a:pPr>
            <a:r>
              <a:rPr lang="en-US" sz="2800" b="1" dirty="0"/>
              <a:t>Transmission Medium</a:t>
            </a:r>
            <a:r>
              <a:rPr lang="en-US" sz="2800" dirty="0"/>
              <a:t> (cables or non cable)</a:t>
            </a:r>
          </a:p>
          <a:p>
            <a:pPr>
              <a:buFontTx/>
              <a:buChar char="•"/>
            </a:pPr>
            <a:r>
              <a:rPr lang="en-US" sz="2800" b="1" dirty="0"/>
              <a:t>Receiver </a:t>
            </a:r>
            <a:r>
              <a:rPr lang="en-US" sz="2800" dirty="0"/>
              <a:t>(device used to receive data)</a:t>
            </a:r>
          </a:p>
          <a:p>
            <a:pPr>
              <a:buFontTx/>
              <a:buChar char="•"/>
            </a:pPr>
            <a:r>
              <a:rPr lang="en-US" sz="2800" b="1" dirty="0"/>
              <a:t>Destination</a:t>
            </a:r>
            <a:r>
              <a:rPr lang="en-US" sz="2800" dirty="0"/>
              <a:t> (where the data will be placed)</a:t>
            </a:r>
          </a:p>
        </p:txBody>
      </p:sp>
      <p:pic>
        <p:nvPicPr>
          <p:cNvPr id="8198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888" y="4325938"/>
            <a:ext cx="8912225" cy="147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611188" y="1557338"/>
            <a:ext cx="76962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AU" sz="2800" b="1" dirty="0">
                <a:latin typeface="Tahoma" pitchFamily="34" charset="0"/>
                <a:cs typeface="Times New Roman" pitchFamily="18" charset="0"/>
              </a:rPr>
              <a:t>Bandwidth</a:t>
            </a:r>
            <a:r>
              <a:rPr lang="en-AU" dirty="0">
                <a:latin typeface="Tahoma" pitchFamily="34" charset="0"/>
                <a:cs typeface="Times New Roman" pitchFamily="18" charset="0"/>
              </a:rPr>
              <a:t>:The amount of data which can be transmitted on a medium over a fixed amount of time (second). It is measured on Bits per Second or Baud</a:t>
            </a:r>
          </a:p>
          <a:p>
            <a:pPr>
              <a:buFontTx/>
              <a:buChar char="•"/>
            </a:pPr>
            <a:endParaRPr lang="en-AU" dirty="0">
              <a:latin typeface="Tahoma" pitchFamily="34" charset="0"/>
              <a:cs typeface="Times New Roman" pitchFamily="18" charset="0"/>
            </a:endParaRPr>
          </a:p>
          <a:p>
            <a:pPr>
              <a:buFontTx/>
              <a:buChar char="•"/>
            </a:pPr>
            <a:r>
              <a:rPr lang="en-AU" sz="2800" b="1" dirty="0">
                <a:latin typeface="Tahoma" pitchFamily="34" charset="0"/>
                <a:cs typeface="Times New Roman" pitchFamily="18" charset="0"/>
              </a:rPr>
              <a:t>Bits per Second (bps):</a:t>
            </a:r>
            <a:r>
              <a:rPr lang="en-AU" dirty="0">
                <a:latin typeface="Tahoma" pitchFamily="34" charset="0"/>
                <a:cs typeface="Times New Roman" pitchFamily="18" charset="0"/>
              </a:rPr>
              <a:t> A measure of transmission speed. The number of bits (0 0r 1) which can be transmitted in a second </a:t>
            </a:r>
          </a:p>
          <a:p>
            <a:pPr>
              <a:buFontTx/>
              <a:buChar char="•"/>
            </a:pPr>
            <a:endParaRPr lang="en-AU" dirty="0">
              <a:latin typeface="Tahoma" pitchFamily="34" charset="0"/>
              <a:cs typeface="Times New Roman" pitchFamily="18" charset="0"/>
            </a:endParaRPr>
          </a:p>
          <a:p>
            <a:pPr>
              <a:buFontTx/>
              <a:buChar char="•"/>
            </a:pPr>
            <a:r>
              <a:rPr lang="en-AU" sz="2800" b="1" dirty="0">
                <a:latin typeface="Tahoma" pitchFamily="34" charset="0"/>
                <a:cs typeface="Times New Roman" pitchFamily="18" charset="0"/>
              </a:rPr>
              <a:t>Baud Rate</a:t>
            </a:r>
            <a:r>
              <a:rPr lang="en-AU" dirty="0">
                <a:latin typeface="Tahoma" pitchFamily="34" charset="0"/>
                <a:cs typeface="Times New Roman" pitchFamily="18" charset="0"/>
              </a:rPr>
              <a:t>: Is a measure of how fast a change of state occurs (i.e. a change from 0 to 1) </a:t>
            </a:r>
            <a:endParaRPr lang="en-AU" dirty="0">
              <a:latin typeface="Tahoma" pitchFamily="34" charset="0"/>
            </a:endParaRPr>
          </a:p>
        </p:txBody>
      </p:sp>
      <p:sp>
        <p:nvSpPr>
          <p:cNvPr id="10244" name="Text Box 3"/>
          <p:cNvSpPr txBox="1">
            <a:spLocks noChangeArrowheads="1"/>
          </p:cNvSpPr>
          <p:nvPr/>
        </p:nvSpPr>
        <p:spPr bwMode="auto">
          <a:xfrm>
            <a:off x="669925" y="23193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>
              <a:latin typeface="Tahoma" pitchFamily="34" charset="0"/>
            </a:endParaRPr>
          </a:p>
        </p:txBody>
      </p:sp>
      <p:sp>
        <p:nvSpPr>
          <p:cNvPr id="10245" name="Rectangle 59"/>
          <p:cNvSpPr>
            <a:spLocks noGrp="1" noChangeArrowheads="1"/>
          </p:cNvSpPr>
          <p:nvPr>
            <p:ph type="title" idx="4294967295"/>
          </p:nvPr>
        </p:nvSpPr>
        <p:spPr>
          <a:xfrm>
            <a:off x="430213" y="260350"/>
            <a:ext cx="8713787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Transmission Media Speed</a:t>
            </a:r>
            <a:endParaRPr lang="en-AU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ext Box 1027"/>
          <p:cNvSpPr txBox="1">
            <a:spLocks noChangeArrowheads="1"/>
          </p:cNvSpPr>
          <p:nvPr/>
        </p:nvSpPr>
        <p:spPr bwMode="auto">
          <a:xfrm>
            <a:off x="304800" y="685800"/>
            <a:ext cx="85344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AU" sz="2800" dirty="0" smtClean="0">
                <a:cs typeface="Times New Roman" pitchFamily="18" charset="0"/>
              </a:rPr>
              <a:t>Protocol is a standard that specifies the format of data as well as the rules to be followed during transmission. It  is a </a:t>
            </a:r>
            <a:r>
              <a:rPr lang="en-US" sz="2800" dirty="0" smtClean="0">
                <a:solidFill>
                  <a:srgbClr val="003366"/>
                </a:solidFill>
              </a:rPr>
              <a:t>procedures, rules, or standards that must be followed by computers when sending or receiving data. </a:t>
            </a:r>
            <a:r>
              <a:rPr lang="en-AU" sz="2800" dirty="0" smtClean="0">
                <a:cs typeface="Times New Roman" pitchFamily="18" charset="0"/>
              </a:rPr>
              <a:t>Protocols allow communication between computers and networks. Protocols will determine the speed of transmission, error checking method, size of bytes, and whether synchronous or asynchronous.</a:t>
            </a:r>
            <a:endParaRPr lang="en-US" sz="2800" dirty="0" smtClean="0">
              <a:solidFill>
                <a:srgbClr val="003366"/>
              </a:solidFill>
            </a:endParaRPr>
          </a:p>
          <a:p>
            <a:endParaRPr lang="en-AU" sz="2800" dirty="0" smtClean="0">
              <a:cs typeface="Times New Roman" pitchFamily="18" charset="0"/>
            </a:endParaRPr>
          </a:p>
          <a:p>
            <a:r>
              <a:rPr lang="en-AU" sz="2800" dirty="0" smtClean="0">
                <a:cs typeface="Times New Roman" pitchFamily="18" charset="0"/>
              </a:rPr>
              <a:t>There are three commonly used protocols; they are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800" dirty="0" smtClean="0">
                <a:cs typeface="Times New Roman" pitchFamily="18" charset="0"/>
              </a:rPr>
              <a:t>Ethernet</a:t>
            </a:r>
            <a:r>
              <a:rPr lang="en-US" sz="2800" dirty="0" smtClean="0">
                <a:cs typeface="Times New Roman" pitchFamily="18" charset="0"/>
              </a:rPr>
              <a:t> </a:t>
            </a:r>
            <a:r>
              <a:rPr lang="en-US" sz="2800" dirty="0">
                <a:cs typeface="Times New Roman" pitchFamily="18" charset="0"/>
              </a:rPr>
              <a:t>(Ethernet Network</a:t>
            </a:r>
            <a:r>
              <a:rPr lang="en-US" sz="2800" dirty="0" smtClean="0">
                <a:cs typeface="Times New Roman" pitchFamily="18" charset="0"/>
              </a:rPr>
              <a:t>)</a:t>
            </a:r>
            <a:endParaRPr lang="en-US" sz="2800" dirty="0"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800" dirty="0">
                <a:cs typeface="Times New Roman" pitchFamily="18" charset="0"/>
              </a:rPr>
              <a:t>Carrier Sense Multiple Access/Collision Detection (CSMA/CD</a:t>
            </a:r>
            <a:r>
              <a:rPr lang="en-US" sz="2800" dirty="0" smtClean="0">
                <a:cs typeface="Times New Roman" pitchFamily="18" charset="0"/>
              </a:rPr>
              <a:t>)</a:t>
            </a:r>
            <a:endParaRPr lang="en-US" sz="2800" dirty="0">
              <a:cs typeface="Times New Roman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800" dirty="0">
                <a:cs typeface="Times New Roman" pitchFamily="18" charset="0"/>
              </a:rPr>
              <a:t>TCP/IP</a:t>
            </a:r>
          </a:p>
        </p:txBody>
      </p:sp>
      <p:sp>
        <p:nvSpPr>
          <p:cNvPr id="30724" name="Rectangle 102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7772400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 Protocols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pPr eaLnBrk="1" hangingPunct="1"/>
            <a:r>
              <a:rPr lang="en-AU" smtClean="0"/>
              <a:t>Ethernet</a:t>
            </a:r>
            <a:endParaRPr lang="en-US" smtClean="0"/>
          </a:p>
        </p:txBody>
      </p:sp>
      <p:sp>
        <p:nvSpPr>
          <p:cNvPr id="3174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981200"/>
            <a:ext cx="7772400" cy="33924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Developed at Xerox in 1976.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First  protocol approved as an industry standard protocol 1983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 LAN protocol used on bus and star topology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Most popular LAN protocol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Inexpensive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30175"/>
            <a:ext cx="7772400" cy="2101850"/>
          </a:xfrm>
        </p:spPr>
        <p:txBody>
          <a:bodyPr>
            <a:normAutofit/>
          </a:bodyPr>
          <a:lstStyle/>
          <a:p>
            <a:pPr eaLnBrk="1" hangingPunct="1"/>
            <a:r>
              <a:rPr lang="en-US" smtClean="0"/>
              <a:t>Carrier Sense Multiple Access/Collision Detection (CSMA/CD)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4213" y="2420938"/>
            <a:ext cx="7772400" cy="41148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SzTx/>
              <a:buFontTx/>
              <a:buChar char="-"/>
            </a:pPr>
            <a:r>
              <a:rPr lang="en-US" dirty="0" smtClean="0"/>
              <a:t>Used on bus networks to avoid data collisions.</a:t>
            </a:r>
          </a:p>
          <a:p>
            <a:pPr eaLnBrk="1" hangingPunct="1">
              <a:spcBef>
                <a:spcPct val="0"/>
              </a:spcBef>
              <a:buSzTx/>
              <a:buFontTx/>
              <a:buChar char="-"/>
            </a:pPr>
            <a:r>
              <a:rPr lang="en-US" dirty="0" smtClean="0"/>
              <a:t>It is a set of rules that determine how network devices responds when two devices attempt to use a data channel simultaneously.</a:t>
            </a:r>
          </a:p>
          <a:p>
            <a:pPr eaLnBrk="1" hangingPunct="1"/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539750" y="1557338"/>
            <a:ext cx="8001000" cy="496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sz="3200">
                <a:latin typeface="Tahoma" pitchFamily="34" charset="0"/>
                <a:cs typeface="Times New Roman" pitchFamily="18" charset="0"/>
              </a:rPr>
              <a:t> Developed in 1973 for use on the ARPANET which was a defense force research network.</a:t>
            </a:r>
          </a:p>
          <a:p>
            <a:endParaRPr lang="en-US" sz="3200">
              <a:latin typeface="Tahoma" pitchFamily="34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sz="3200">
                <a:latin typeface="Tahoma" pitchFamily="34" charset="0"/>
                <a:cs typeface="Times New Roman" pitchFamily="18" charset="0"/>
              </a:rPr>
              <a:t>Adopted in 1983 as the Internet standard. all hosts on the Internet are required to use TCP/IP.</a:t>
            </a:r>
          </a:p>
          <a:p>
            <a:endParaRPr lang="en-AU" sz="3200">
              <a:latin typeface="Tahoma" pitchFamily="34" charset="0"/>
            </a:endParaRPr>
          </a:p>
          <a:p>
            <a:r>
              <a:rPr lang="en-US" sz="3200">
                <a:latin typeface="Tahoma" pitchFamily="34" charset="0"/>
              </a:rPr>
              <a:t>- Allows transfer of data using packet switching</a:t>
            </a:r>
            <a:endParaRPr lang="en-AU" sz="3200">
              <a:latin typeface="Tahoma" pitchFamily="34" charset="0"/>
            </a:endParaRP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76250"/>
            <a:ext cx="7772400" cy="762000"/>
          </a:xfrm>
        </p:spPr>
        <p:txBody>
          <a:bodyPr/>
          <a:lstStyle/>
          <a:p>
            <a:pPr eaLnBrk="1" hangingPunct="1"/>
            <a:r>
              <a:rPr lang="en-AU" smtClean="0"/>
              <a:t>TCP/IP</a:t>
            </a:r>
            <a:endParaRPr lang="en-US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1403350" y="1981200"/>
            <a:ext cx="6048375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dirty="0"/>
              <a:t>Any transmission May be:</a:t>
            </a:r>
          </a:p>
          <a:p>
            <a:pPr>
              <a:buFontTx/>
              <a:buChar char="•"/>
            </a:pPr>
            <a:r>
              <a:rPr lang="en-US" sz="3200" dirty="0"/>
              <a:t>A</a:t>
            </a:r>
            <a:r>
              <a:rPr lang="en-US" sz="3200" dirty="0" smtClean="0"/>
              <a:t>nalog /Digital</a:t>
            </a:r>
            <a:endParaRPr lang="en-US" sz="3200" dirty="0"/>
          </a:p>
          <a:p>
            <a:pPr>
              <a:buFontTx/>
              <a:buChar char="•"/>
            </a:pPr>
            <a:r>
              <a:rPr lang="en-US" sz="3200" dirty="0"/>
              <a:t>Serial </a:t>
            </a:r>
            <a:r>
              <a:rPr lang="en-US" sz="3200" dirty="0" smtClean="0"/>
              <a:t>/Parallel </a:t>
            </a:r>
          </a:p>
          <a:p>
            <a:pPr>
              <a:buFontTx/>
              <a:buChar char="•"/>
            </a:pPr>
            <a:r>
              <a:rPr lang="en-US" sz="3200" dirty="0" smtClean="0"/>
              <a:t>Synchronous / Asynchronous</a:t>
            </a:r>
            <a:endParaRPr lang="en-AU" sz="3200" dirty="0"/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457200"/>
            <a:ext cx="7772400" cy="838200"/>
          </a:xfrm>
        </p:spPr>
        <p:txBody>
          <a:bodyPr/>
          <a:lstStyle/>
          <a:p>
            <a:pPr eaLnBrk="1" hangingPunct="1"/>
            <a:r>
              <a:rPr lang="en-US" dirty="0" smtClean="0"/>
              <a:t>Communication Concepts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Analog  and digital transmission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analog transmission, data are sent as a continuous electrical signal in the form of wave.</a:t>
            </a:r>
          </a:p>
          <a:p>
            <a:r>
              <a:rPr lang="en-US" dirty="0" smtClean="0"/>
              <a:t>Digital transmission sends data as distinct pulses either on or off, in much the same way that data travels through the computer.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0" y="3573463"/>
            <a:ext cx="3311525" cy="9556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  Sender transmitted</a:t>
            </a:r>
          </a:p>
        </p:txBody>
      </p:sp>
      <p:sp>
        <p:nvSpPr>
          <p:cNvPr id="235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95313"/>
            <a:ext cx="7772400" cy="762000"/>
          </a:xfrm>
        </p:spPr>
        <p:txBody>
          <a:bodyPr/>
          <a:lstStyle/>
          <a:p>
            <a:pPr eaLnBrk="1" hangingPunct="1"/>
            <a:r>
              <a:rPr lang="en-US" smtClean="0"/>
              <a:t>Serial Transmission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628775"/>
            <a:ext cx="8458200" cy="20891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 smtClean="0"/>
              <a:t>Data is transmitted, on a single channel, one bit at a time one after another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800" dirty="0" smtClean="0"/>
              <a:t>- Much faster than parallel because of way bits processed (e.g. USB and SATA drives)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 smtClean="0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3276600" y="3913188"/>
            <a:ext cx="4721225" cy="1587"/>
          </a:xfrm>
          <a:prstGeom prst="line">
            <a:avLst/>
          </a:prstGeom>
          <a:noFill/>
          <a:ln w="76200">
            <a:solidFill>
              <a:schemeClr val="tx2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96274" name="Text Box 18"/>
          <p:cNvSpPr txBox="1">
            <a:spLocks noChangeArrowheads="1"/>
          </p:cNvSpPr>
          <p:nvPr/>
        </p:nvSpPr>
        <p:spPr bwMode="auto">
          <a:xfrm>
            <a:off x="4357688" y="3573463"/>
            <a:ext cx="3743325" cy="95567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    Receiver received</a:t>
            </a:r>
          </a:p>
        </p:txBody>
      </p:sp>
      <p:sp>
        <p:nvSpPr>
          <p:cNvPr id="96263" name="Rectangle 7"/>
          <p:cNvSpPr>
            <a:spLocks noChangeArrowheads="1"/>
          </p:cNvSpPr>
          <p:nvPr/>
        </p:nvSpPr>
        <p:spPr bwMode="auto">
          <a:xfrm>
            <a:off x="2700338" y="3716338"/>
            <a:ext cx="28892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6264" name="Rectangle 8"/>
          <p:cNvSpPr>
            <a:spLocks noChangeArrowheads="1"/>
          </p:cNvSpPr>
          <p:nvPr/>
        </p:nvSpPr>
        <p:spPr bwMode="auto">
          <a:xfrm>
            <a:off x="2411413" y="3716338"/>
            <a:ext cx="28892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96265" name="Rectangle 9"/>
          <p:cNvSpPr>
            <a:spLocks noChangeArrowheads="1"/>
          </p:cNvSpPr>
          <p:nvPr/>
        </p:nvSpPr>
        <p:spPr bwMode="auto">
          <a:xfrm>
            <a:off x="684213" y="3716338"/>
            <a:ext cx="28892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6266" name="Rectangle 10"/>
          <p:cNvSpPr>
            <a:spLocks noChangeArrowheads="1"/>
          </p:cNvSpPr>
          <p:nvPr/>
        </p:nvSpPr>
        <p:spPr bwMode="auto">
          <a:xfrm>
            <a:off x="971550" y="3716338"/>
            <a:ext cx="28892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96267" name="Rectangle 11"/>
          <p:cNvSpPr>
            <a:spLocks noChangeArrowheads="1"/>
          </p:cNvSpPr>
          <p:nvPr/>
        </p:nvSpPr>
        <p:spPr bwMode="auto">
          <a:xfrm>
            <a:off x="1258888" y="3716338"/>
            <a:ext cx="28892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96268" name="Rectangle 12"/>
          <p:cNvSpPr>
            <a:spLocks noChangeArrowheads="1"/>
          </p:cNvSpPr>
          <p:nvPr/>
        </p:nvSpPr>
        <p:spPr bwMode="auto">
          <a:xfrm>
            <a:off x="1547813" y="3716338"/>
            <a:ext cx="28892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6269" name="Rectangle 13"/>
          <p:cNvSpPr>
            <a:spLocks noChangeArrowheads="1"/>
          </p:cNvSpPr>
          <p:nvPr/>
        </p:nvSpPr>
        <p:spPr bwMode="auto">
          <a:xfrm>
            <a:off x="1835150" y="3716338"/>
            <a:ext cx="28892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96270" name="Rectangle 14"/>
          <p:cNvSpPr>
            <a:spLocks noChangeArrowheads="1"/>
          </p:cNvSpPr>
          <p:nvPr/>
        </p:nvSpPr>
        <p:spPr bwMode="auto">
          <a:xfrm>
            <a:off x="2124075" y="3716338"/>
            <a:ext cx="28892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4.44444E-6 L 0.54323 -0.005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62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63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3.88889E-6 4.44444E-6 L 0.54341 -0.0051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962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63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781 4.44444E-6 L 0.54323 -0.005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962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63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782 4.44444E-6 L 0.54341 -0.0051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962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500"/>
                            </p:stCondLst>
                            <p:childTnLst>
                              <p:par>
                                <p:cTn id="29" presetID="63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3142 4.44444E-6 L 0.54323 -0.005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962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000"/>
                            </p:stCondLst>
                            <p:childTnLst>
                              <p:par>
                                <p:cTn id="32" presetID="63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3941 4.44444E-6 L 0.54341 -0.0051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962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0"/>
                            </p:stCondLst>
                            <p:childTnLst>
                              <p:par>
                                <p:cTn id="35" presetID="63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4739 4.44444E-6 L 0.5434 -0.0051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962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000"/>
                            </p:stCondLst>
                            <p:childTnLst>
                              <p:par>
                                <p:cTn id="38" presetID="63" presetClass="path" presetSubtype="0" accel="50000" decel="5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4723 4.44444E-6 L 0.54323 -0.0051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962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3" grpId="0" animBg="1"/>
      <p:bldP spid="96264" grpId="0" animBg="1"/>
      <p:bldP spid="96265" grpId="0" uiExpand="1" animBg="1"/>
      <p:bldP spid="96266" grpId="0" animBg="1"/>
      <p:bldP spid="96267" grpId="0" animBg="1"/>
      <p:bldP spid="96268" grpId="0" animBg="1"/>
      <p:bldP spid="96269" grpId="0" animBg="1"/>
      <p:bldP spid="96270" grpId="0" uiExpan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63" name="Text Box 1039"/>
          <p:cNvSpPr txBox="1">
            <a:spLocks noChangeArrowheads="1"/>
          </p:cNvSpPr>
          <p:nvPr/>
        </p:nvSpPr>
        <p:spPr bwMode="auto">
          <a:xfrm rot="-5400000">
            <a:off x="4357688" y="3573463"/>
            <a:ext cx="3743325" cy="9556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>
              <a:solidFill>
                <a:schemeClr val="bg1"/>
              </a:solidFill>
            </a:endParaRPr>
          </a:p>
          <a:p>
            <a:r>
              <a:rPr lang="en-US" sz="2800">
                <a:solidFill>
                  <a:schemeClr val="bg1"/>
                </a:solidFill>
              </a:rPr>
              <a:t>    Receiver received</a:t>
            </a:r>
          </a:p>
        </p:txBody>
      </p:sp>
      <p:sp>
        <p:nvSpPr>
          <p:cNvPr id="24580" name="Text Box 1026"/>
          <p:cNvSpPr txBox="1">
            <a:spLocks noChangeArrowheads="1"/>
          </p:cNvSpPr>
          <p:nvPr/>
        </p:nvSpPr>
        <p:spPr bwMode="auto">
          <a:xfrm>
            <a:off x="468313" y="1052513"/>
            <a:ext cx="820737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 smtClean="0">
                <a:latin typeface="Tahoma" pitchFamily="34" charset="0"/>
              </a:rPr>
              <a:t>In parallel transmission, each </a:t>
            </a:r>
            <a:r>
              <a:rPr lang="en-US" dirty="0">
                <a:latin typeface="Tahoma" pitchFamily="34" charset="0"/>
              </a:rPr>
              <a:t>bit has it’s own piece of wire along which it travels</a:t>
            </a:r>
          </a:p>
          <a:p>
            <a:r>
              <a:rPr lang="en-US" dirty="0" smtClean="0">
                <a:latin typeface="Tahoma" pitchFamily="34" charset="0"/>
              </a:rPr>
              <a:t>It is often </a:t>
            </a:r>
            <a:r>
              <a:rPr lang="en-US" dirty="0">
                <a:latin typeface="Tahoma" pitchFamily="34" charset="0"/>
              </a:rPr>
              <a:t>used to send data to a printer</a:t>
            </a:r>
          </a:p>
          <a:p>
            <a:endParaRPr lang="en-AU" dirty="0"/>
          </a:p>
        </p:txBody>
      </p:sp>
      <p:sp>
        <p:nvSpPr>
          <p:cNvPr id="24581" name="Rectangle 1028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4450"/>
            <a:ext cx="7772400" cy="762000"/>
          </a:xfrm>
        </p:spPr>
        <p:txBody>
          <a:bodyPr/>
          <a:lstStyle/>
          <a:p>
            <a:pPr eaLnBrk="1" hangingPunct="1"/>
            <a:r>
              <a:rPr lang="en-US" smtClean="0"/>
              <a:t>Parallel Transmission</a:t>
            </a:r>
            <a:endParaRPr lang="en-AU" smtClean="0"/>
          </a:p>
        </p:txBody>
      </p:sp>
      <p:sp>
        <p:nvSpPr>
          <p:cNvPr id="24582" name="Text Box 1029"/>
          <p:cNvSpPr txBox="1">
            <a:spLocks noChangeArrowheads="1"/>
          </p:cNvSpPr>
          <p:nvPr/>
        </p:nvSpPr>
        <p:spPr bwMode="auto">
          <a:xfrm rot="5400000">
            <a:off x="-154781" y="3599656"/>
            <a:ext cx="3602038" cy="9556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 sz="2800">
              <a:solidFill>
                <a:schemeClr val="bg1"/>
              </a:solidFill>
            </a:endParaRPr>
          </a:p>
          <a:p>
            <a:r>
              <a:rPr lang="en-US" sz="2800">
                <a:solidFill>
                  <a:schemeClr val="bg1"/>
                </a:solidFill>
              </a:rPr>
              <a:t>  Sender transmitted</a:t>
            </a:r>
          </a:p>
        </p:txBody>
      </p:sp>
      <p:sp>
        <p:nvSpPr>
          <p:cNvPr id="24583" name="Text Box 1040"/>
          <p:cNvSpPr txBox="1">
            <a:spLocks noChangeArrowheads="1"/>
          </p:cNvSpPr>
          <p:nvPr/>
        </p:nvSpPr>
        <p:spPr bwMode="auto">
          <a:xfrm>
            <a:off x="1887538" y="5805488"/>
            <a:ext cx="5492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All bits are sent simultaneously</a:t>
            </a:r>
          </a:p>
        </p:txBody>
      </p:sp>
      <p:sp>
        <p:nvSpPr>
          <p:cNvPr id="24584" name="Line 1042"/>
          <p:cNvSpPr>
            <a:spLocks noChangeShapeType="1"/>
          </p:cNvSpPr>
          <p:nvPr/>
        </p:nvSpPr>
        <p:spPr bwMode="auto">
          <a:xfrm>
            <a:off x="2124075" y="2636838"/>
            <a:ext cx="3600450" cy="0"/>
          </a:xfrm>
          <a:prstGeom prst="line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4585" name="Line 1043"/>
          <p:cNvSpPr>
            <a:spLocks noChangeShapeType="1"/>
          </p:cNvSpPr>
          <p:nvPr/>
        </p:nvSpPr>
        <p:spPr bwMode="auto">
          <a:xfrm>
            <a:off x="2124075" y="2997200"/>
            <a:ext cx="3600450" cy="0"/>
          </a:xfrm>
          <a:prstGeom prst="line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4586" name="Line 1044"/>
          <p:cNvSpPr>
            <a:spLocks noChangeShapeType="1"/>
          </p:cNvSpPr>
          <p:nvPr/>
        </p:nvSpPr>
        <p:spPr bwMode="auto">
          <a:xfrm>
            <a:off x="2124075" y="3357563"/>
            <a:ext cx="3600450" cy="0"/>
          </a:xfrm>
          <a:prstGeom prst="line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4587" name="Line 1045"/>
          <p:cNvSpPr>
            <a:spLocks noChangeShapeType="1"/>
          </p:cNvSpPr>
          <p:nvPr/>
        </p:nvSpPr>
        <p:spPr bwMode="auto">
          <a:xfrm>
            <a:off x="2124075" y="3717925"/>
            <a:ext cx="3600450" cy="0"/>
          </a:xfrm>
          <a:prstGeom prst="line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4588" name="Line 1046"/>
          <p:cNvSpPr>
            <a:spLocks noChangeShapeType="1"/>
          </p:cNvSpPr>
          <p:nvPr/>
        </p:nvSpPr>
        <p:spPr bwMode="auto">
          <a:xfrm>
            <a:off x="2124075" y="4078288"/>
            <a:ext cx="3600450" cy="0"/>
          </a:xfrm>
          <a:prstGeom prst="line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4589" name="Line 1047"/>
          <p:cNvSpPr>
            <a:spLocks noChangeShapeType="1"/>
          </p:cNvSpPr>
          <p:nvPr/>
        </p:nvSpPr>
        <p:spPr bwMode="auto">
          <a:xfrm>
            <a:off x="2124075" y="4438650"/>
            <a:ext cx="3600450" cy="0"/>
          </a:xfrm>
          <a:prstGeom prst="line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4590" name="Line 1048"/>
          <p:cNvSpPr>
            <a:spLocks noChangeShapeType="1"/>
          </p:cNvSpPr>
          <p:nvPr/>
        </p:nvSpPr>
        <p:spPr bwMode="auto">
          <a:xfrm>
            <a:off x="2124075" y="4799013"/>
            <a:ext cx="3600450" cy="0"/>
          </a:xfrm>
          <a:prstGeom prst="line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4591" name="Line 1049"/>
          <p:cNvSpPr>
            <a:spLocks noChangeShapeType="1"/>
          </p:cNvSpPr>
          <p:nvPr/>
        </p:nvSpPr>
        <p:spPr bwMode="auto">
          <a:xfrm>
            <a:off x="2124075" y="5159375"/>
            <a:ext cx="3600450" cy="0"/>
          </a:xfrm>
          <a:prstGeom prst="line">
            <a:avLst/>
          </a:prstGeom>
          <a:noFill/>
          <a:ln w="57150">
            <a:solidFill>
              <a:schemeClr val="tx2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3256" name="Rectangle 1032"/>
          <p:cNvSpPr>
            <a:spLocks noChangeArrowheads="1"/>
          </p:cNvSpPr>
          <p:nvPr/>
        </p:nvSpPr>
        <p:spPr bwMode="auto">
          <a:xfrm>
            <a:off x="1692275" y="2492375"/>
            <a:ext cx="288925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53257" name="Rectangle 1033"/>
          <p:cNvSpPr>
            <a:spLocks noChangeArrowheads="1"/>
          </p:cNvSpPr>
          <p:nvPr/>
        </p:nvSpPr>
        <p:spPr bwMode="auto">
          <a:xfrm>
            <a:off x="1692275" y="2852738"/>
            <a:ext cx="28892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53258" name="Rectangle 1034"/>
          <p:cNvSpPr>
            <a:spLocks noChangeArrowheads="1"/>
          </p:cNvSpPr>
          <p:nvPr/>
        </p:nvSpPr>
        <p:spPr bwMode="auto">
          <a:xfrm>
            <a:off x="1692275" y="3213100"/>
            <a:ext cx="288925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53259" name="Rectangle 1035"/>
          <p:cNvSpPr>
            <a:spLocks noChangeArrowheads="1"/>
          </p:cNvSpPr>
          <p:nvPr/>
        </p:nvSpPr>
        <p:spPr bwMode="auto">
          <a:xfrm>
            <a:off x="1692275" y="3573463"/>
            <a:ext cx="28892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53260" name="Rectangle 1036"/>
          <p:cNvSpPr>
            <a:spLocks noChangeArrowheads="1"/>
          </p:cNvSpPr>
          <p:nvPr/>
        </p:nvSpPr>
        <p:spPr bwMode="auto">
          <a:xfrm>
            <a:off x="1692275" y="3932238"/>
            <a:ext cx="28892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53261" name="Rectangle 1037"/>
          <p:cNvSpPr>
            <a:spLocks noChangeArrowheads="1"/>
          </p:cNvSpPr>
          <p:nvPr/>
        </p:nvSpPr>
        <p:spPr bwMode="auto">
          <a:xfrm>
            <a:off x="1692275" y="4292600"/>
            <a:ext cx="288925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53255" name="Rectangle 1031"/>
          <p:cNvSpPr>
            <a:spLocks noChangeArrowheads="1"/>
          </p:cNvSpPr>
          <p:nvPr/>
        </p:nvSpPr>
        <p:spPr bwMode="auto">
          <a:xfrm>
            <a:off x="1692275" y="4652963"/>
            <a:ext cx="288925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53254" name="Rectangle 1030"/>
          <p:cNvSpPr>
            <a:spLocks noChangeArrowheads="1"/>
          </p:cNvSpPr>
          <p:nvPr/>
        </p:nvSpPr>
        <p:spPr bwMode="auto">
          <a:xfrm>
            <a:off x="1692275" y="5013325"/>
            <a:ext cx="288925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0.00533 L 0.45677 -0.0050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8" y="-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7037E-7 L 0.4566 -0.0050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8" y="-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4.07407E-6 L 0.4566 -0.005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8" y="-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22222E-6 L 0.4566 -0.0053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8" y="-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96296E-6 L 0.4566 -0.0051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8" y="-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3.33333E-6 L 0.4566 -0.0050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32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8" y="-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7037E-7 L 0.4566 -0.0050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8" y="-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4.07407E-6 L 0.4566 -0.005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8" y="-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6" grpId="0" animBg="1"/>
      <p:bldP spid="53257" grpId="0" animBg="1"/>
      <p:bldP spid="53258" grpId="0" animBg="1"/>
      <p:bldP spid="53259" grpId="0" animBg="1"/>
      <p:bldP spid="53260" grpId="0" animBg="1"/>
      <p:bldP spid="53261" grpId="0" animBg="1"/>
      <p:bldP spid="53255" grpId="0" animBg="1"/>
      <p:bldP spid="5325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Why Not use Parallel Instead of serial?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Due to inconsistencies on channels data arrives at different times</a:t>
            </a:r>
          </a:p>
          <a:p>
            <a:pPr eaLnBrk="1" hangingPunct="1"/>
            <a:r>
              <a:rPr lang="en-US" sz="2800" smtClean="0"/>
              <a:t>Because of the way it is transmitted packet switching cannot be used</a:t>
            </a:r>
          </a:p>
          <a:p>
            <a:pPr eaLnBrk="1" hangingPunct="1"/>
            <a:r>
              <a:rPr lang="en-US" sz="2800" smtClean="0"/>
              <a:t>The above two points makes parallel slower than serial and requires higher bandwidth.</a:t>
            </a:r>
          </a:p>
          <a:p>
            <a:pPr eaLnBrk="1" hangingPunct="1"/>
            <a:r>
              <a:rPr lang="en-US" sz="2800" smtClean="0"/>
              <a:t>Parallel transmissions are rarely used anymore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1027"/>
          <p:cNvSpPr txBox="1">
            <a:spLocks noChangeArrowheads="1"/>
          </p:cNvSpPr>
          <p:nvPr/>
        </p:nvSpPr>
        <p:spPr bwMode="auto">
          <a:xfrm>
            <a:off x="1812925" y="1108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6628" name="Text Box 1034"/>
          <p:cNvSpPr txBox="1">
            <a:spLocks noChangeArrowheads="1"/>
          </p:cNvSpPr>
          <p:nvPr/>
        </p:nvSpPr>
        <p:spPr bwMode="auto">
          <a:xfrm>
            <a:off x="611188" y="1447800"/>
            <a:ext cx="82804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000" b="1" dirty="0"/>
              <a:t>Synchronous Transmission</a:t>
            </a:r>
          </a:p>
          <a:p>
            <a:r>
              <a:rPr lang="en-US" sz="3200" dirty="0" smtClean="0"/>
              <a:t>In synchronous communication, all </a:t>
            </a:r>
            <a:r>
              <a:rPr lang="en-US" sz="3200" dirty="0"/>
              <a:t>data sent at once and no packet switching</a:t>
            </a:r>
          </a:p>
          <a:p>
            <a:endParaRPr lang="en-US" sz="3200" dirty="0"/>
          </a:p>
          <a:p>
            <a:r>
              <a:rPr lang="en-US" sz="4000" b="1" dirty="0"/>
              <a:t>Asynchronous  Transmission</a:t>
            </a:r>
            <a:r>
              <a:rPr lang="en-US" sz="3200" dirty="0"/>
              <a:t> </a:t>
            </a:r>
          </a:p>
          <a:p>
            <a:pPr>
              <a:buFontTx/>
              <a:buChar char="•"/>
            </a:pPr>
            <a:r>
              <a:rPr lang="en-US" sz="3200" dirty="0"/>
              <a:t>Uses stop/ start bits</a:t>
            </a:r>
          </a:p>
          <a:p>
            <a:pPr>
              <a:buFontTx/>
              <a:buChar char="•"/>
            </a:pPr>
            <a:r>
              <a:rPr lang="en-US" sz="3200" dirty="0"/>
              <a:t>most common type of serial data transfer</a:t>
            </a:r>
          </a:p>
          <a:p>
            <a:pPr>
              <a:buFontTx/>
              <a:buChar char="•"/>
            </a:pPr>
            <a:r>
              <a:rPr lang="en-US" sz="3200" dirty="0"/>
              <a:t>Allows packet switching</a:t>
            </a:r>
          </a:p>
          <a:p>
            <a:pPr>
              <a:buFontTx/>
              <a:buChar char="•"/>
            </a:pPr>
            <a:r>
              <a:rPr lang="en-US" sz="3200" dirty="0"/>
              <a:t>Allows sharing of bandwidth (i.e. talk on phone while another person is using internet)</a:t>
            </a:r>
          </a:p>
        </p:txBody>
      </p:sp>
      <p:sp>
        <p:nvSpPr>
          <p:cNvPr id="26629" name="Rectangle 1084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304800"/>
            <a:ext cx="8991600" cy="884238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500" b="1" dirty="0" smtClean="0">
                <a:solidFill>
                  <a:schemeClr val="tx1"/>
                </a:solidFill>
              </a:rPr>
              <a:t>Synchronous Vs Asynchronous Transmissions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Transmission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There are three ways, modes for transmitting data from one point to another. These are</a:t>
            </a:r>
          </a:p>
          <a:p>
            <a:r>
              <a:rPr lang="en-US" dirty="0" smtClean="0"/>
              <a:t>Simplex mode:- If transmission is simplex, communication can take place in one direction. For example TV, radio</a:t>
            </a:r>
          </a:p>
          <a:p>
            <a:r>
              <a:rPr lang="en-US" dirty="0" smtClean="0"/>
              <a:t>Half-duplex mode:- A half-duplex system can transmit data in both directions but only in one direction at a time. For example wireless.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Full-duplex mode:- A full-duplex system allow information to flow simultaneously in both direction on the transmission path. For example telephone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" y="152400"/>
            <a:ext cx="89916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Simplex mode:- If transmission is simplex, communication can take place in one direction. For example TV, radio</a:t>
            </a:r>
          </a:p>
          <a:p>
            <a:endParaRPr lang="en-US" sz="2800" dirty="0" smtClean="0"/>
          </a:p>
          <a:p>
            <a:r>
              <a:rPr lang="en-US" sz="2800" dirty="0" smtClean="0"/>
              <a:t>Half-duplex mode:- A half-duplex system can transmit data in both directions but only in one direction at a time. For example wireless.</a:t>
            </a:r>
          </a:p>
          <a:p>
            <a:pPr>
              <a:buNone/>
            </a:pPr>
            <a:endParaRPr lang="en-US" sz="2800" dirty="0" smtClean="0"/>
          </a:p>
          <a:p>
            <a:r>
              <a:rPr lang="en-US" sz="2800" dirty="0" smtClean="0"/>
              <a:t>Full-duplex mode:- A full-duplex system allow information to flow simultaneously in both direction on the transmission path. For example telephone</a:t>
            </a:r>
            <a:endParaRPr lang="en-US" sz="2800" dirty="0"/>
          </a:p>
        </p:txBody>
      </p:sp>
      <p:pic>
        <p:nvPicPr>
          <p:cNvPr id="4" name="Picture 3" descr="http://image.slidesharecdn.com/lecture5ppt-130405064451-phpapp01/95/slide-7-638.jpg?1365162342"/>
          <p:cNvPicPr/>
          <p:nvPr/>
        </p:nvPicPr>
        <p:blipFill>
          <a:blip r:embed="rId2" cstate="print"/>
          <a:srcRect l="11538" t="44658" r="5128" b="5769"/>
          <a:stretch>
            <a:fillRect/>
          </a:stretch>
        </p:blipFill>
        <p:spPr bwMode="auto">
          <a:xfrm>
            <a:off x="609600" y="4648200"/>
            <a:ext cx="7848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762000"/>
          </a:xfrm>
        </p:spPr>
        <p:txBody>
          <a:bodyPr/>
          <a:lstStyle/>
          <a:p>
            <a:pPr eaLnBrk="1" hangingPunct="1"/>
            <a:r>
              <a:rPr lang="en-US" smtClean="0"/>
              <a:t>Transmission Media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23850" y="1557338"/>
            <a:ext cx="8351838" cy="4608512"/>
          </a:xfrm>
        </p:spPr>
        <p:txBody>
          <a:bodyPr/>
          <a:lstStyle/>
          <a:p>
            <a:pPr eaLnBrk="1" hangingPunct="1"/>
            <a:r>
              <a:rPr lang="en-AU" dirty="0" smtClean="0"/>
              <a:t>Twisted pair – telephone cable</a:t>
            </a:r>
          </a:p>
          <a:p>
            <a:pPr eaLnBrk="1" hangingPunct="1"/>
            <a:r>
              <a:rPr lang="en-AU" dirty="0" smtClean="0"/>
              <a:t>Coaxial cable –Thick black cable used for higher bandwidth communications than twisted pair (i.e. Optus cable) </a:t>
            </a:r>
          </a:p>
          <a:p>
            <a:pPr eaLnBrk="1" hangingPunct="1"/>
            <a:r>
              <a:rPr lang="en-AU" dirty="0" smtClean="0"/>
              <a:t>Fibre optic – data transferred through pulses of light. Extremely fast.</a:t>
            </a:r>
          </a:p>
          <a:p>
            <a:pPr eaLnBrk="1" hangingPunct="1"/>
            <a:r>
              <a:rPr lang="en-AU" dirty="0" smtClean="0"/>
              <a:t> Non cable methods such as satellite, microwave, wireless and bluetooth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9"/>
          <p:cNvSpPr txBox="1">
            <a:spLocks noChangeArrowheads="1"/>
          </p:cNvSpPr>
          <p:nvPr/>
        </p:nvSpPr>
        <p:spPr bwMode="auto">
          <a:xfrm>
            <a:off x="517525" y="871538"/>
            <a:ext cx="8245475" cy="520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>
              <a:latin typeface="Tahoma" pitchFamily="34" charset="0"/>
            </a:endParaRPr>
          </a:p>
          <a:p>
            <a:endParaRPr lang="en-US">
              <a:latin typeface="Tahoma" pitchFamily="34" charset="0"/>
            </a:endParaRPr>
          </a:p>
          <a:p>
            <a:endParaRPr lang="en-US">
              <a:latin typeface="Tahoma" pitchFamily="34" charset="0"/>
            </a:endParaRPr>
          </a:p>
          <a:p>
            <a:endParaRPr lang="en-US">
              <a:latin typeface="Tahoma" pitchFamily="34" charset="0"/>
            </a:endParaRPr>
          </a:p>
          <a:p>
            <a:endParaRPr lang="en-US">
              <a:latin typeface="Tahoma" pitchFamily="34" charset="0"/>
            </a:endParaRPr>
          </a:p>
          <a:p>
            <a:endParaRPr lang="en-US">
              <a:latin typeface="Tahoma" pitchFamily="34" charset="0"/>
            </a:endParaRPr>
          </a:p>
          <a:p>
            <a:endParaRPr lang="en-US">
              <a:latin typeface="Tahoma" pitchFamily="34" charset="0"/>
            </a:endParaRPr>
          </a:p>
          <a:p>
            <a:endParaRPr lang="en-US">
              <a:latin typeface="Tahoma" pitchFamily="34" charset="0"/>
            </a:endParaRPr>
          </a:p>
          <a:p>
            <a:endParaRPr lang="en-US">
              <a:latin typeface="Tahoma" pitchFamily="34" charset="0"/>
            </a:endParaRPr>
          </a:p>
          <a:p>
            <a:endParaRPr lang="en-US">
              <a:latin typeface="Tahoma" pitchFamily="34" charset="0"/>
            </a:endParaRPr>
          </a:p>
          <a:p>
            <a:endParaRPr lang="en-US">
              <a:latin typeface="Tahoma" pitchFamily="34" charset="0"/>
            </a:endParaRPr>
          </a:p>
          <a:p>
            <a:endParaRPr lang="en-US">
              <a:latin typeface="Tahoma" pitchFamily="34" charset="0"/>
            </a:endParaRPr>
          </a:p>
          <a:p>
            <a:endParaRPr lang="en-US">
              <a:latin typeface="Tahoma" pitchFamily="34" charset="0"/>
            </a:endParaRPr>
          </a:p>
          <a:p>
            <a:endParaRPr lang="en-AU">
              <a:latin typeface="Tahoma" pitchFamily="34" charset="0"/>
            </a:endParaRPr>
          </a:p>
        </p:txBody>
      </p:sp>
      <p:sp>
        <p:nvSpPr>
          <p:cNvPr id="40964" name="Rectangle 14"/>
          <p:cNvSpPr>
            <a:spLocks noChangeArrowheads="1"/>
          </p:cNvSpPr>
          <p:nvPr/>
        </p:nvSpPr>
        <p:spPr bwMode="auto">
          <a:xfrm>
            <a:off x="6659563" y="2663825"/>
            <a:ext cx="1649412" cy="9731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65" name="Text Box 15"/>
          <p:cNvSpPr txBox="1">
            <a:spLocks noChangeArrowheads="1"/>
          </p:cNvSpPr>
          <p:nvPr/>
        </p:nvSpPr>
        <p:spPr bwMode="auto">
          <a:xfrm>
            <a:off x="611188" y="1341438"/>
            <a:ext cx="8137525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3600" dirty="0"/>
              <a:t>A network is a number of computers and peripheral devices connected together so as to be able to communicate (i.e. transfer data)</a:t>
            </a:r>
          </a:p>
          <a:p>
            <a:pPr>
              <a:buFontTx/>
              <a:buBlip>
                <a:blip r:embed="rId2"/>
              </a:buBlip>
            </a:pPr>
            <a:r>
              <a:rPr lang="en-US" sz="3600" dirty="0"/>
              <a:t>Each device in a network is called a node.</a:t>
            </a:r>
          </a:p>
          <a:p>
            <a:pPr>
              <a:buFontTx/>
              <a:buBlip>
                <a:blip r:embed="rId2"/>
              </a:buBlip>
            </a:pPr>
            <a:r>
              <a:rPr lang="en-US" sz="3600" dirty="0"/>
              <a:t>Terminals are data entry points which can also display</a:t>
            </a:r>
            <a:r>
              <a:rPr lang="en-US" dirty="0"/>
              <a:t>.</a:t>
            </a:r>
          </a:p>
        </p:txBody>
      </p:sp>
      <p:sp>
        <p:nvSpPr>
          <p:cNvPr id="40966" name="Rectangle 1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04813"/>
            <a:ext cx="7702550" cy="762000"/>
          </a:xfrm>
        </p:spPr>
        <p:txBody>
          <a:bodyPr/>
          <a:lstStyle/>
          <a:p>
            <a:pPr eaLnBrk="1" hangingPunct="1"/>
            <a:r>
              <a:rPr lang="en-US" smtClean="0"/>
              <a:t>What is a Network?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304800" y="1633538"/>
            <a:ext cx="8825301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/>
              <a:t>LAN – a network that connects computers in a limited </a:t>
            </a:r>
          </a:p>
          <a:p>
            <a:r>
              <a:rPr lang="en-US" sz="2800" dirty="0"/>
              <a:t>geographical area.</a:t>
            </a:r>
          </a:p>
          <a:p>
            <a:endParaRPr lang="en-US" sz="2800" dirty="0"/>
          </a:p>
          <a:p>
            <a:r>
              <a:rPr lang="en-US" sz="2800" dirty="0"/>
              <a:t>MAN – a backbone that connects LANs in a metropolitan </a:t>
            </a:r>
          </a:p>
          <a:p>
            <a:r>
              <a:rPr lang="en-US" sz="2800" dirty="0"/>
              <a:t>area such as a city and handles the bulk of communications</a:t>
            </a:r>
          </a:p>
          <a:p>
            <a:r>
              <a:rPr lang="en-US" sz="2800" dirty="0"/>
              <a:t>activity across that region.  </a:t>
            </a:r>
          </a:p>
          <a:p>
            <a:endParaRPr lang="en-US" sz="2800" dirty="0"/>
          </a:p>
          <a:p>
            <a:r>
              <a:rPr lang="en-US" sz="2800" dirty="0"/>
              <a:t>WAN – covers a large geographical area such as a city or</a:t>
            </a:r>
          </a:p>
          <a:p>
            <a:r>
              <a:rPr lang="en-US" sz="2800" dirty="0"/>
              <a:t>country.  Communication channels include telephone lines,</a:t>
            </a:r>
          </a:p>
          <a:p>
            <a:r>
              <a:rPr lang="en-US" sz="2800" dirty="0"/>
              <a:t>Microwave, satellites, etc.</a:t>
            </a:r>
            <a:endParaRPr lang="en-AU" sz="2800" dirty="0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533400"/>
            <a:ext cx="7772400" cy="777875"/>
          </a:xfrm>
        </p:spPr>
        <p:txBody>
          <a:bodyPr/>
          <a:lstStyle/>
          <a:p>
            <a:pPr eaLnBrk="1" hangingPunct="1"/>
            <a:r>
              <a:rPr lang="en-US" dirty="0" smtClean="0"/>
              <a:t>NETWORKS: categorized by size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solidFill>
                  <a:srgbClr val="C00000"/>
                </a:solidFill>
              </a:rPr>
              <a:t>Network Architecture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There are two primary types of architectures</a:t>
            </a:r>
          </a:p>
          <a:p>
            <a:pPr lvl="1"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Peer-to-peer (P2P) network </a:t>
            </a:r>
          </a:p>
          <a:p>
            <a:pPr lvl="1" eaLnBrk="1" hangingPunct="1"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Client/server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solidFill>
                  <a:srgbClr val="C00000"/>
                </a:solidFill>
              </a:rPr>
              <a:t>Peer-to-peer Networks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379538"/>
            <a:ext cx="38100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b="1" smtClean="0"/>
              <a:t>Peer-to-peer (P2P) network </a:t>
            </a:r>
            <a:r>
              <a:rPr lang="en-US" sz="2800" smtClean="0"/>
              <a:t>- Any network without a central file server and in which all computers in the network have access to the public files located on all other workstations</a:t>
            </a:r>
          </a:p>
        </p:txBody>
      </p:sp>
      <p:pic>
        <p:nvPicPr>
          <p:cNvPr id="40964" name="Picture 5" descr="bal95588_070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CFBFB"/>
              </a:clrFrom>
              <a:clrTo>
                <a:srgbClr val="FCFBFB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1752600"/>
            <a:ext cx="3505200" cy="420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>
                <a:solidFill>
                  <a:srgbClr val="C00000"/>
                </a:solidFill>
              </a:rPr>
              <a:t>Client/Server Networks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1295400"/>
            <a:ext cx="8077200" cy="5257800"/>
          </a:xfrm>
        </p:spPr>
        <p:txBody>
          <a:bodyPr/>
          <a:lstStyle/>
          <a:p>
            <a:pPr eaLnBrk="1" hangingPunct="1"/>
            <a:r>
              <a:rPr lang="en-US" b="1" dirty="0" smtClean="0"/>
              <a:t>Client</a:t>
            </a:r>
            <a:r>
              <a:rPr lang="en-US" dirty="0" smtClean="0"/>
              <a:t> - A computer that is designed to request information from a server</a:t>
            </a:r>
          </a:p>
          <a:p>
            <a:pPr eaLnBrk="1" hangingPunct="1"/>
            <a:r>
              <a:rPr lang="en-US" b="1" dirty="0" smtClean="0"/>
              <a:t>Server </a:t>
            </a:r>
            <a:r>
              <a:rPr lang="en-US" dirty="0" smtClean="0"/>
              <a:t>- A computer that is dedicated to providing information in response to external requests</a:t>
            </a:r>
            <a:endParaRPr lang="en-US" b="1" dirty="0" smtClean="0"/>
          </a:p>
          <a:p>
            <a:pPr lvl="1" eaLnBrk="1" hangingPunct="1"/>
            <a:r>
              <a:rPr lang="en-US" b="1" dirty="0" smtClean="0"/>
              <a:t>Client/server network </a:t>
            </a:r>
            <a:r>
              <a:rPr lang="en-US" dirty="0" smtClean="0"/>
              <a:t>- Model for applications in which the bulk of the back-end processing takes place on a server, while the front-end processing is handled by the clients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00100"/>
            <a:ext cx="7772400" cy="762000"/>
          </a:xfrm>
        </p:spPr>
        <p:txBody>
          <a:bodyPr/>
          <a:lstStyle/>
          <a:p>
            <a:pPr eaLnBrk="1" hangingPunct="1"/>
            <a:r>
              <a:rPr lang="en-US" dirty="0" smtClean="0"/>
              <a:t>Network Topology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3600" dirty="0" smtClean="0"/>
              <a:t>Network topology is the physical layout of a network. The three different network topology are:</a:t>
            </a:r>
          </a:p>
          <a:p>
            <a:pPr lvl="1" eaLnBrk="1" hangingPunct="1"/>
            <a:r>
              <a:rPr lang="en-US" sz="3600" dirty="0" smtClean="0"/>
              <a:t>Ring</a:t>
            </a:r>
          </a:p>
          <a:p>
            <a:pPr lvl="1" eaLnBrk="1" hangingPunct="1"/>
            <a:r>
              <a:rPr lang="en-US" sz="3600" dirty="0" smtClean="0"/>
              <a:t>Bus</a:t>
            </a:r>
          </a:p>
          <a:p>
            <a:pPr lvl="1" eaLnBrk="1" hangingPunct="1"/>
            <a:r>
              <a:rPr lang="en-US" sz="3600" dirty="0" smtClean="0"/>
              <a:t>Star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Text Box 1026"/>
          <p:cNvSpPr txBox="1">
            <a:spLocks noChangeArrowheads="1"/>
          </p:cNvSpPr>
          <p:nvPr/>
        </p:nvSpPr>
        <p:spPr bwMode="auto">
          <a:xfrm>
            <a:off x="4648200" y="333375"/>
            <a:ext cx="4316413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Cambria" pitchFamily="18" charset="0"/>
              </a:rPr>
              <a:t>Uses an empty data packet called a token and a special protocol called “token ring”. Packets travel around the ring in a clockwise direction. Clients require an empty token to transmit data.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mbria" pitchFamily="18" charset="0"/>
              </a:rPr>
              <a:t>Advantages</a:t>
            </a:r>
          </a:p>
          <a:p>
            <a:pPr algn="just"/>
            <a:r>
              <a:rPr lang="en-US" sz="2400" dirty="0">
                <a:latin typeface="Cambria" pitchFamily="18" charset="0"/>
              </a:rPr>
              <a:t>- no collisions  because all data travels in same direction.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mbria" pitchFamily="18" charset="0"/>
              </a:rPr>
              <a:t>Disadvantages</a:t>
            </a:r>
          </a:p>
          <a:p>
            <a:pPr algn="just"/>
            <a:r>
              <a:rPr lang="en-US" sz="2400" dirty="0">
                <a:latin typeface="Cambria" pitchFamily="18" charset="0"/>
              </a:rPr>
              <a:t>- fails if an individual node in the network fails</a:t>
            </a:r>
            <a:endParaRPr lang="en-AU" sz="2400" dirty="0">
              <a:latin typeface="Cambria" pitchFamily="18" charset="0"/>
            </a:endParaRPr>
          </a:p>
        </p:txBody>
      </p:sp>
      <p:sp>
        <p:nvSpPr>
          <p:cNvPr id="36868" name="Rectangle 1027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49275"/>
            <a:ext cx="2949575" cy="76200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hlink"/>
                </a:solidFill>
              </a:rPr>
              <a:t>Ring</a:t>
            </a:r>
          </a:p>
        </p:txBody>
      </p:sp>
      <p:pic>
        <p:nvPicPr>
          <p:cNvPr id="36869" name="Picture 1028" descr="ring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313" y="1341439"/>
            <a:ext cx="4179887" cy="384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179388" y="3429000"/>
            <a:ext cx="864076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 bus is a form of Ethernet. Nodes linked by a cable known as the bus. Bus transmits in both directions and uses CSMA/CD protocol</a:t>
            </a:r>
          </a:p>
        </p:txBody>
      </p:sp>
      <p:pic>
        <p:nvPicPr>
          <p:cNvPr id="37892" name="Picture 3" descr="bus"/>
          <p:cNvPicPr>
            <a:picLocks noChangeAspect="1" noChangeArrowheads="1"/>
          </p:cNvPicPr>
          <p:nvPr/>
        </p:nvPicPr>
        <p:blipFill>
          <a:blip r:embed="rId3" cstate="print"/>
          <a:srcRect l="1704" t="5180" b="2928"/>
          <a:stretch>
            <a:fillRect/>
          </a:stretch>
        </p:blipFill>
        <p:spPr bwMode="auto">
          <a:xfrm>
            <a:off x="539750" y="836613"/>
            <a:ext cx="8151813" cy="256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8750"/>
            <a:ext cx="7416800" cy="82391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800" smtClean="0"/>
              <a:t>BUS TOPOLOGY</a:t>
            </a:r>
          </a:p>
        </p:txBody>
      </p:sp>
      <p:graphicFrame>
        <p:nvGraphicFramePr>
          <p:cNvPr id="86048" name="Group 32"/>
          <p:cNvGraphicFramePr>
            <a:graphicFrameLocks noGrp="1"/>
          </p:cNvGraphicFramePr>
          <p:nvPr/>
        </p:nvGraphicFramePr>
        <p:xfrm>
          <a:off x="323850" y="4292600"/>
          <a:ext cx="8640763" cy="1800225"/>
        </p:xfrm>
        <a:graphic>
          <a:graphicData uri="http://schemas.openxmlformats.org/drawingml/2006/table">
            <a:tbl>
              <a:tblPr/>
              <a:tblGrid>
                <a:gridCol w="4392613"/>
                <a:gridCol w="4248150"/>
              </a:tblGrid>
              <a:tr h="1800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Advantages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 Easy to set up and maintain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failure of one node does not affect network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Disadvantages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Char char="-"/>
                        <a:tabLst/>
                      </a:pPr>
                      <a:r>
                        <a:rPr kumimoji="0" lang="en-A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Higher rate of data collision than with a star network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Char char="-"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fails if there is any damage to the bus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4800601" y="1125538"/>
            <a:ext cx="401955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ambria" pitchFamily="18" charset="0"/>
              </a:rPr>
              <a:t>All data is sent from one client to another through the server.</a:t>
            </a:r>
          </a:p>
          <a:p>
            <a:endParaRPr lang="en-US" sz="2000" dirty="0">
              <a:latin typeface="Cambria" pitchFamily="18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ambria" pitchFamily="18" charset="0"/>
              </a:rPr>
              <a:t>Advantages</a:t>
            </a:r>
          </a:p>
          <a:p>
            <a:r>
              <a:rPr lang="en-US" sz="2000" dirty="0">
                <a:latin typeface="Cambria" pitchFamily="18" charset="0"/>
              </a:rPr>
              <a:t>- If one client fails no other clients are affected.</a:t>
            </a:r>
          </a:p>
          <a:p>
            <a:endParaRPr lang="en-US" sz="2000" dirty="0">
              <a:latin typeface="Cambria" pitchFamily="18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ambria" pitchFamily="18" charset="0"/>
              </a:rPr>
              <a:t>Disadvantages</a:t>
            </a:r>
          </a:p>
          <a:p>
            <a:r>
              <a:rPr lang="en-US" sz="2000" dirty="0">
                <a:latin typeface="Cambria" pitchFamily="18" charset="0"/>
              </a:rPr>
              <a:t>- If central file server fails the network fails.</a:t>
            </a:r>
            <a:endParaRPr lang="en-AU" sz="2000" dirty="0">
              <a:latin typeface="Cambria" pitchFamily="18" charset="0"/>
            </a:endParaRP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7663"/>
            <a:ext cx="3563938" cy="762000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rgbClr val="CC0099"/>
                </a:solidFill>
              </a:rPr>
              <a:t>Star</a:t>
            </a:r>
          </a:p>
        </p:txBody>
      </p:sp>
      <p:pic>
        <p:nvPicPr>
          <p:cNvPr id="38917" name="Picture 4" descr="sta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825" y="1341439"/>
            <a:ext cx="4168775" cy="338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latin typeface="Times New Roman" pitchFamily="18" charset="0"/>
              </a:rPr>
              <a:t>What is I N T E R N E T  ?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en-US" dirty="0" smtClean="0"/>
              <a:t>A network of networks, joining many government, university and private computers together and providing an infrastructure for the use of E-mail, bulletin boards, file archives, hypertext documents, databases and other computational resources.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internet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Calibri" pitchFamily="34" charset="0"/>
              </a:rPr>
              <a:t>Vinton Cerf is the father of internet. It all started in 1969 when a message was sent over the ARPANET from computer science   Professor Leonard, K. at University of California. </a:t>
            </a:r>
            <a:r>
              <a:rPr lang="en-CA" sz="2800" dirty="0" smtClean="0">
                <a:latin typeface="Calibri" pitchFamily="34" charset="0"/>
              </a:rPr>
              <a:t>Advanced Research Projects Agency </a:t>
            </a:r>
            <a:r>
              <a:rPr lang="en-CA" sz="2800" b="1" dirty="0" smtClean="0">
                <a:latin typeface="Calibri" pitchFamily="34" charset="0"/>
              </a:rPr>
              <a:t>(ARPA) </a:t>
            </a:r>
            <a:r>
              <a:rPr lang="en-CA" sz="2800" dirty="0" smtClean="0">
                <a:latin typeface="Calibri" pitchFamily="34" charset="0"/>
              </a:rPr>
              <a:t>of the US Department of Defence (</a:t>
            </a:r>
            <a:r>
              <a:rPr lang="en-CA" sz="2800" dirty="0" err="1" smtClean="0">
                <a:latin typeface="Calibri" pitchFamily="34" charset="0"/>
              </a:rPr>
              <a:t>DoD</a:t>
            </a:r>
            <a:r>
              <a:rPr lang="en-CA" sz="2800" dirty="0" smtClean="0">
                <a:latin typeface="Calibri" pitchFamily="34" charset="0"/>
              </a:rPr>
              <a:t>) (around 1969) were contracted to bring ARPANET online and it was made publically available.  </a:t>
            </a:r>
            <a:endParaRPr lang="en-US" sz="2800" dirty="0">
              <a:latin typeface="Calibri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latin typeface="Times New Roman" pitchFamily="18" charset="0"/>
              </a:rPr>
              <a:t>Internet Services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Electronic Mail (e-mail)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World Wide Web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Telnet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File Transfer Protocol (FTP)</a:t>
            </a:r>
          </a:p>
          <a:p>
            <a:pPr eaLnBrk="1" hangingPunct="1">
              <a:lnSpc>
                <a:spcPct val="90000"/>
              </a:lnSpc>
              <a:buNone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latin typeface="Times New Roman" pitchFamily="18" charset="0"/>
              </a:rPr>
              <a:t>Electronic Mail (e-Mail)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3886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Distributes e-mail messages and attached files to one or more electronic mailboxes.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Eg:- e-mail addresses</a:t>
            </a:r>
          </a:p>
          <a:p>
            <a:pPr lvl="1" eaLnBrk="1" hangingPunct="1">
              <a:defRPr/>
            </a:pPr>
            <a:r>
              <a:rPr lang="en-US" smtClean="0"/>
              <a:t>thomas@mes.edu.in </a:t>
            </a:r>
          </a:p>
          <a:p>
            <a:pPr lvl="1" eaLnBrk="1" hangingPunct="1">
              <a:defRPr/>
            </a:pPr>
            <a:r>
              <a:rPr lang="en-US" smtClean="0"/>
              <a:t>murugan@mesmarampally.org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latin typeface="Times New Roman" pitchFamily="18" charset="0"/>
              </a:rPr>
              <a:t>Electronic Mail (e-Mail)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1" eaLnBrk="1" hangingPunct="1">
              <a:buFontTx/>
              <a:buNone/>
              <a:defRPr/>
            </a:pPr>
            <a:r>
              <a:rPr lang="en-US" dirty="0" err="1" smtClean="0"/>
              <a:t>thomas</a:t>
            </a:r>
            <a:r>
              <a:rPr lang="en-US" dirty="0" smtClean="0"/>
              <a:t>   @   </a:t>
            </a:r>
            <a:r>
              <a:rPr lang="en-US" dirty="0" err="1" smtClean="0"/>
              <a:t>mes</a:t>
            </a:r>
            <a:r>
              <a:rPr lang="en-US" dirty="0" smtClean="0"/>
              <a:t>   .   </a:t>
            </a:r>
            <a:r>
              <a:rPr lang="en-US" dirty="0" err="1" smtClean="0"/>
              <a:t>edu</a:t>
            </a:r>
            <a:r>
              <a:rPr lang="en-US" dirty="0" smtClean="0"/>
              <a:t>   .    in </a:t>
            </a:r>
          </a:p>
          <a:p>
            <a:pPr lvl="1" eaLnBrk="1" hangingPunct="1">
              <a:buFontTx/>
              <a:buNone/>
              <a:defRPr/>
            </a:pPr>
            <a:endParaRPr lang="en-US" dirty="0" smtClean="0"/>
          </a:p>
          <a:p>
            <a:pPr lvl="1" eaLnBrk="1" hangingPunct="1">
              <a:buFontTx/>
              <a:buNone/>
              <a:defRPr/>
            </a:pPr>
            <a:endParaRPr lang="en-US" sz="1800" dirty="0" smtClean="0">
              <a:solidFill>
                <a:srgbClr val="FFFF00"/>
              </a:solidFill>
            </a:endParaRPr>
          </a:p>
          <a:p>
            <a:pPr lvl="1" eaLnBrk="1" hangingPunct="1">
              <a:buFontTx/>
              <a:buNone/>
              <a:defRPr/>
            </a:pPr>
            <a:endParaRPr lang="en-US" dirty="0" smtClean="0">
              <a:solidFill>
                <a:srgbClr val="FFFF00"/>
              </a:solidFill>
            </a:endParaRPr>
          </a:p>
          <a:p>
            <a:pPr lvl="1" eaLnBrk="1" hangingPunct="1">
              <a:buFontTx/>
              <a:buNone/>
              <a:defRPr/>
            </a:pPr>
            <a:endParaRPr lang="en-US" dirty="0" smtClean="0"/>
          </a:p>
          <a:p>
            <a:pPr lvl="1" eaLnBrk="1" hangingPunct="1">
              <a:buFontTx/>
              <a:buNone/>
              <a:defRPr/>
            </a:pPr>
            <a:endParaRPr lang="en-US" dirty="0" smtClean="0"/>
          </a:p>
          <a:p>
            <a:pPr lvl="1" eaLnBrk="1" hangingPunct="1">
              <a:buFontTx/>
              <a:buNone/>
              <a:defRPr/>
            </a:pPr>
            <a:r>
              <a:rPr lang="en-US" dirty="0" err="1" smtClean="0"/>
              <a:t>murugan</a:t>
            </a:r>
            <a:r>
              <a:rPr lang="en-US" dirty="0" smtClean="0"/>
              <a:t>    @    </a:t>
            </a:r>
            <a:r>
              <a:rPr lang="en-US" dirty="0" err="1" smtClean="0"/>
              <a:t>mesmarampally</a:t>
            </a:r>
            <a:r>
              <a:rPr lang="en-US" dirty="0" smtClean="0"/>
              <a:t>   .    org </a:t>
            </a:r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2971800" y="2622550"/>
            <a:ext cx="13735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Organization</a:t>
            </a:r>
          </a:p>
        </p:txBody>
      </p:sp>
      <p:sp>
        <p:nvSpPr>
          <p:cNvPr id="16390" name="Text Box 8"/>
          <p:cNvSpPr txBox="1">
            <a:spLocks noChangeArrowheads="1"/>
          </p:cNvSpPr>
          <p:nvPr/>
        </p:nvSpPr>
        <p:spPr bwMode="auto">
          <a:xfrm>
            <a:off x="4724400" y="2590800"/>
            <a:ext cx="211487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Type of Organization</a:t>
            </a:r>
          </a:p>
        </p:txBody>
      </p:sp>
      <p:sp>
        <p:nvSpPr>
          <p:cNvPr id="68617" name="Text Box 9"/>
          <p:cNvSpPr txBox="1">
            <a:spLocks noChangeArrowheads="1"/>
          </p:cNvSpPr>
          <p:nvPr/>
        </p:nvSpPr>
        <p:spPr bwMode="auto">
          <a:xfrm>
            <a:off x="609600" y="2605088"/>
            <a:ext cx="16812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Name of Person</a:t>
            </a:r>
          </a:p>
        </p:txBody>
      </p:sp>
      <p:sp>
        <p:nvSpPr>
          <p:cNvPr id="16392" name="Text Box 10"/>
          <p:cNvSpPr txBox="1">
            <a:spLocks noChangeArrowheads="1"/>
          </p:cNvSpPr>
          <p:nvPr/>
        </p:nvSpPr>
        <p:spPr bwMode="auto">
          <a:xfrm>
            <a:off x="7391400" y="2590800"/>
            <a:ext cx="93391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Country</a:t>
            </a:r>
          </a:p>
        </p:txBody>
      </p:sp>
      <p:sp>
        <p:nvSpPr>
          <p:cNvPr id="16393" name="Line 11"/>
          <p:cNvSpPr>
            <a:spLocks noChangeShapeType="1"/>
          </p:cNvSpPr>
          <p:nvPr/>
        </p:nvSpPr>
        <p:spPr bwMode="auto">
          <a:xfrm flipH="1">
            <a:off x="1371600" y="20574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4" name="Line 12"/>
          <p:cNvSpPr>
            <a:spLocks noChangeShapeType="1"/>
          </p:cNvSpPr>
          <p:nvPr/>
        </p:nvSpPr>
        <p:spPr bwMode="auto">
          <a:xfrm flipH="1" flipV="1">
            <a:off x="1524000" y="29718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5" name="Line 13"/>
          <p:cNvSpPr>
            <a:spLocks noChangeShapeType="1"/>
          </p:cNvSpPr>
          <p:nvPr/>
        </p:nvSpPr>
        <p:spPr bwMode="auto">
          <a:xfrm>
            <a:off x="3276600" y="2057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6" name="Line 14"/>
          <p:cNvSpPr>
            <a:spLocks noChangeShapeType="1"/>
          </p:cNvSpPr>
          <p:nvPr/>
        </p:nvSpPr>
        <p:spPr bwMode="auto">
          <a:xfrm flipH="1" flipV="1">
            <a:off x="3048000" y="2971800"/>
            <a:ext cx="1524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7" name="Line 15"/>
          <p:cNvSpPr>
            <a:spLocks noChangeShapeType="1"/>
          </p:cNvSpPr>
          <p:nvPr/>
        </p:nvSpPr>
        <p:spPr bwMode="auto">
          <a:xfrm>
            <a:off x="4495800" y="21336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8" name="Line 16"/>
          <p:cNvSpPr>
            <a:spLocks noChangeShapeType="1"/>
          </p:cNvSpPr>
          <p:nvPr/>
        </p:nvSpPr>
        <p:spPr bwMode="auto">
          <a:xfrm flipH="1" flipV="1">
            <a:off x="4953000" y="2895600"/>
            <a:ext cx="1905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399" name="Line 17"/>
          <p:cNvSpPr>
            <a:spLocks noChangeShapeType="1"/>
          </p:cNvSpPr>
          <p:nvPr/>
        </p:nvSpPr>
        <p:spPr bwMode="auto">
          <a:xfrm>
            <a:off x="6553200" y="2057400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>
                <a:latin typeface="Times New Roman" pitchFamily="18" charset="0"/>
              </a:rPr>
              <a:t>Electronic Mail (e-Mail)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Different e-mail service providers</a:t>
            </a:r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G-Mail</a:t>
            </a:r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Yahoo Mail</a:t>
            </a:r>
          </a:p>
          <a:p>
            <a:pPr lvl="1" eaLnBrk="1" hangingPunct="1">
              <a:defRPr/>
            </a:pPr>
            <a:endParaRPr lang="en-US" smtClean="0"/>
          </a:p>
          <a:p>
            <a:pPr lvl="1" eaLnBrk="1" hangingPunct="1">
              <a:defRPr/>
            </a:pPr>
            <a:r>
              <a:rPr lang="en-US" smtClean="0"/>
              <a:t>Hot Mail</a:t>
            </a:r>
          </a:p>
          <a:p>
            <a:pPr lvl="1" eaLnBrk="1" hangingPunct="1">
              <a:defRPr/>
            </a:pPr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World Wide Web (W </a:t>
            </a:r>
            <a:r>
              <a:rPr lang="en-US" dirty="0" err="1" smtClean="0"/>
              <a:t>W</a:t>
            </a:r>
            <a:r>
              <a:rPr lang="en-US" dirty="0" smtClean="0"/>
              <a:t> </a:t>
            </a:r>
            <a:r>
              <a:rPr lang="en-US" dirty="0" err="1" smtClean="0"/>
              <a:t>W</a:t>
            </a:r>
            <a:r>
              <a:rPr lang="en-US" dirty="0" smtClean="0"/>
              <a:t>)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800" dirty="0" smtClean="0"/>
              <a:t>Most important service provided by Internet.</a:t>
            </a:r>
          </a:p>
          <a:p>
            <a:pPr eaLnBrk="1" hangingPunct="1">
              <a:defRPr/>
            </a:pPr>
            <a:r>
              <a:rPr lang="en-US" sz="2800" dirty="0" smtClean="0"/>
              <a:t>World wide web is the most popular and promising method of organizing and accessing information on the internet </a:t>
            </a:r>
          </a:p>
          <a:p>
            <a:pPr eaLnBrk="1" hangingPunct="1">
              <a:defRPr/>
            </a:pPr>
            <a:r>
              <a:rPr lang="en-US" sz="2800" dirty="0" smtClean="0"/>
              <a:t>An internet-based hypermedia initiative for global information sharing.</a:t>
            </a:r>
          </a:p>
          <a:p>
            <a:pPr eaLnBrk="1" hangingPunct="1">
              <a:defRPr/>
            </a:pPr>
            <a:endParaRPr lang="en-US" sz="2800" dirty="0" smtClean="0">
              <a:solidFill>
                <a:srgbClr val="00FF00"/>
              </a:solidFill>
            </a:endParaRPr>
          </a:p>
          <a:p>
            <a:pPr eaLnBrk="1" hangingPunct="1">
              <a:defRPr/>
            </a:pPr>
            <a:r>
              <a:rPr lang="en-US" sz="2800" dirty="0" smtClean="0"/>
              <a:t>Developed in 1989 by Tim Berners-Lee of the European Particle Physics Lab in Switzerland.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transfer protocol (FTP)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allow user to move file from one computer to another on the internet.</a:t>
            </a:r>
          </a:p>
          <a:p>
            <a:r>
              <a:rPr lang="en-US" dirty="0" smtClean="0"/>
              <a:t>Moving file from a remote computer to one’s own computer is known as downloading where as moving file from one’s own computer to a remote computer is known as uploading.</a:t>
            </a:r>
          </a:p>
          <a:p>
            <a:r>
              <a:rPr lang="en-US" dirty="0" smtClean="0"/>
              <a:t>Anonymous FTP site in a computer allows a user to log in with the user name of anonymous and password that is user’s e-mail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Telnet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Telnet service is an internet service that allow a user to log into another computer somewhere in the internet.</a:t>
            </a:r>
          </a:p>
          <a:p>
            <a:pPr>
              <a:buNone/>
            </a:pPr>
            <a:r>
              <a:rPr lang="en-US" dirty="0" smtClean="0"/>
              <a:t>	Some common uses of telnet service are</a:t>
            </a:r>
          </a:p>
          <a:p>
            <a:r>
              <a:rPr lang="en-US" dirty="0" smtClean="0"/>
              <a:t>Using the computing power of the remote computer</a:t>
            </a:r>
          </a:p>
          <a:p>
            <a:r>
              <a:rPr lang="en-US" dirty="0" smtClean="0"/>
              <a:t>Using the software on the remote computer</a:t>
            </a:r>
          </a:p>
          <a:p>
            <a:r>
              <a:rPr lang="en-US" dirty="0" smtClean="0"/>
              <a:t>Accessing remote computers database or archive</a:t>
            </a:r>
          </a:p>
          <a:p>
            <a:r>
              <a:rPr lang="en-US" dirty="0" smtClean="0"/>
              <a:t>Logging into one’s own computer from another computer.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3160D-0FAD-4044-95F9-D3AD829E2F62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2980</TotalTime>
  <Words>1870</Words>
  <Application>Microsoft Office PowerPoint</Application>
  <PresentationFormat>On-screen Show (4:3)</PresentationFormat>
  <Paragraphs>289</Paragraphs>
  <Slides>37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Equity</vt:lpstr>
      <vt:lpstr>Communication and internet Services</vt:lpstr>
      <vt:lpstr>COMMUNICATION</vt:lpstr>
      <vt:lpstr>Devices required for successful communication</vt:lpstr>
      <vt:lpstr>Devices required for successful communication</vt:lpstr>
      <vt:lpstr>Basic Components</vt:lpstr>
      <vt:lpstr>Transmission Media Speed</vt:lpstr>
      <vt:lpstr> Protocols</vt:lpstr>
      <vt:lpstr>Ethernet</vt:lpstr>
      <vt:lpstr>Carrier Sense Multiple Access/Collision Detection (CSMA/CD)</vt:lpstr>
      <vt:lpstr>TCP/IP</vt:lpstr>
      <vt:lpstr>Communication Concepts </vt:lpstr>
      <vt:lpstr>Analog  and digital transmission</vt:lpstr>
      <vt:lpstr>Serial Transmission</vt:lpstr>
      <vt:lpstr>Parallel Transmission</vt:lpstr>
      <vt:lpstr>Why Not use Parallel Instead of serial?</vt:lpstr>
      <vt:lpstr>Synchronous Vs Asynchronous Transmissions</vt:lpstr>
      <vt:lpstr>Transmission mode</vt:lpstr>
      <vt:lpstr>Slide 18</vt:lpstr>
      <vt:lpstr>Transmission Media</vt:lpstr>
      <vt:lpstr>What is a Network?</vt:lpstr>
      <vt:lpstr>NETWORKS: categorized by size</vt:lpstr>
      <vt:lpstr>Network Architecture</vt:lpstr>
      <vt:lpstr>Peer-to-peer Networks</vt:lpstr>
      <vt:lpstr>Client/Server Networks</vt:lpstr>
      <vt:lpstr>Network Topology</vt:lpstr>
      <vt:lpstr>Ring</vt:lpstr>
      <vt:lpstr>BUS TOPOLOGY</vt:lpstr>
      <vt:lpstr>Star</vt:lpstr>
      <vt:lpstr>What is I N T E R N E T  ?</vt:lpstr>
      <vt:lpstr>History of internet</vt:lpstr>
      <vt:lpstr>Internet Services</vt:lpstr>
      <vt:lpstr>Electronic Mail (e-Mail)</vt:lpstr>
      <vt:lpstr>Electronic Mail (e-Mail)</vt:lpstr>
      <vt:lpstr>Electronic Mail (e-Mail)</vt:lpstr>
      <vt:lpstr>World Wide Web (W W W)</vt:lpstr>
      <vt:lpstr>File transfer protocol (FTP)</vt:lpstr>
      <vt:lpstr>Telnet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and internet Services</dc:title>
  <dc:creator>DELL</dc:creator>
  <cp:lastModifiedBy>DELL</cp:lastModifiedBy>
  <cp:revision>29</cp:revision>
  <dcterms:created xsi:type="dcterms:W3CDTF">2013-07-30T07:35:05Z</dcterms:created>
  <dcterms:modified xsi:type="dcterms:W3CDTF">2014-12-18T14:26:29Z</dcterms:modified>
</cp:coreProperties>
</file>