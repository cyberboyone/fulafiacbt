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6"/>
  </p:handoutMasterIdLst>
  <p:sldIdLst>
    <p:sldId id="256" r:id="rId2"/>
    <p:sldId id="306" r:id="rId3"/>
    <p:sldId id="291" r:id="rId4"/>
    <p:sldId id="257" r:id="rId5"/>
    <p:sldId id="292" r:id="rId6"/>
    <p:sldId id="307" r:id="rId7"/>
    <p:sldId id="294" r:id="rId8"/>
    <p:sldId id="263" r:id="rId9"/>
    <p:sldId id="267" r:id="rId10"/>
    <p:sldId id="268" r:id="rId11"/>
    <p:sldId id="295" r:id="rId12"/>
    <p:sldId id="270" r:id="rId13"/>
    <p:sldId id="271" r:id="rId14"/>
    <p:sldId id="272" r:id="rId15"/>
    <p:sldId id="274" r:id="rId16"/>
    <p:sldId id="298" r:id="rId17"/>
    <p:sldId id="299" r:id="rId18"/>
    <p:sldId id="303" r:id="rId19"/>
    <p:sldId id="275" r:id="rId20"/>
    <p:sldId id="276" r:id="rId21"/>
    <p:sldId id="304" r:id="rId22"/>
    <p:sldId id="305" r:id="rId23"/>
    <p:sldId id="277" r:id="rId24"/>
    <p:sldId id="278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300" r:id="rId34"/>
    <p:sldId id="301" r:id="rId35"/>
  </p:sldIdLst>
  <p:sldSz cx="9144000" cy="6858000" type="screen4x3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-72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BF639-AEE6-4667-B212-D35EBDB983C4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5E5D6-3F11-4F37-B2E2-143E670C92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5377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A80C-FB1E-4F34-9982-5AE346084235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F974-DFE4-43F2-916F-CFB4630FD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98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A80C-FB1E-4F34-9982-5AE346084235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F974-DFE4-43F2-916F-CFB4630FD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384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A80C-FB1E-4F34-9982-5AE346084235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F974-DFE4-43F2-916F-CFB4630FD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723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A80C-FB1E-4F34-9982-5AE346084235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F974-DFE4-43F2-916F-CFB4630FD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306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A80C-FB1E-4F34-9982-5AE346084235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F974-DFE4-43F2-916F-CFB4630FD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2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A80C-FB1E-4F34-9982-5AE346084235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F974-DFE4-43F2-916F-CFB4630FD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49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A80C-FB1E-4F34-9982-5AE346084235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F974-DFE4-43F2-916F-CFB4630FD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2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A80C-FB1E-4F34-9982-5AE346084235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F974-DFE4-43F2-916F-CFB4630FD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744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A80C-FB1E-4F34-9982-5AE346084235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F974-DFE4-43F2-916F-CFB4630FD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931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A80C-FB1E-4F34-9982-5AE346084235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F974-DFE4-43F2-916F-CFB4630FD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070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A80C-FB1E-4F34-9982-5AE346084235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F974-DFE4-43F2-916F-CFB4630FD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345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AA80C-FB1E-4F34-9982-5AE346084235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8F974-DFE4-43F2-916F-CFB4630FD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44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Module 3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just">
              <a:buFont typeface="Arial" pitchFamily="34" charset="0"/>
              <a:buChar char="•"/>
            </a:pPr>
            <a:endParaRPr lang="en-GB" sz="2400" dirty="0">
              <a:solidFill>
                <a:prstClr val="black"/>
              </a:solidFill>
            </a:endParaRPr>
          </a:p>
          <a:p>
            <a:pPr marL="0" lvl="0" indent="0" algn="ctr">
              <a:buNone/>
            </a:pPr>
            <a:r>
              <a:rPr lang="en-GB" sz="2400" dirty="0">
                <a:solidFill>
                  <a:prstClr val="black"/>
                </a:solidFill>
              </a:rPr>
              <a:t>GST 113: Nigerian People and culture </a:t>
            </a:r>
          </a:p>
          <a:p>
            <a:pPr marL="0" lvl="0" indent="0" algn="ctr">
              <a:buNone/>
            </a:pPr>
            <a:r>
              <a:rPr lang="en-GB" sz="2400" dirty="0">
                <a:solidFill>
                  <a:prstClr val="black"/>
                </a:solidFill>
              </a:rPr>
              <a:t>By </a:t>
            </a:r>
          </a:p>
          <a:p>
            <a:pPr marL="0" lvl="0" indent="0" algn="ctr">
              <a:buNone/>
            </a:pPr>
            <a:r>
              <a:rPr lang="en-GB" sz="2400" dirty="0">
                <a:solidFill>
                  <a:prstClr val="black"/>
                </a:solidFill>
              </a:rPr>
              <a:t>Godwin </a:t>
            </a:r>
            <a:r>
              <a:rPr lang="en-GB" sz="2400" dirty="0" err="1">
                <a:solidFill>
                  <a:prstClr val="black"/>
                </a:solidFill>
              </a:rPr>
              <a:t>Ogbeche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  <a:r>
              <a:rPr lang="en-GB" sz="2400" dirty="0" err="1">
                <a:solidFill>
                  <a:prstClr val="black"/>
                </a:solidFill>
              </a:rPr>
              <a:t>Olofu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</a:p>
          <a:p>
            <a:pPr marL="0" lvl="0" indent="0" algn="ctr">
              <a:buNone/>
            </a:pPr>
            <a:r>
              <a:rPr lang="en-GB" sz="2400" dirty="0">
                <a:solidFill>
                  <a:prstClr val="black"/>
                </a:solidFill>
              </a:rPr>
              <a:t>Department of History and International Studies, </a:t>
            </a:r>
          </a:p>
          <a:p>
            <a:pPr marL="0" lvl="0" indent="0" algn="ctr">
              <a:buNone/>
            </a:pPr>
            <a:r>
              <a:rPr lang="en-GB" sz="2400" dirty="0">
                <a:solidFill>
                  <a:prstClr val="black"/>
                </a:solidFill>
              </a:rPr>
              <a:t>Faculty of Arts, Federal University of </a:t>
            </a:r>
            <a:r>
              <a:rPr lang="en-GB" sz="2400" dirty="0" err="1">
                <a:solidFill>
                  <a:prstClr val="black"/>
                </a:solidFill>
              </a:rPr>
              <a:t>Lafia</a:t>
            </a:r>
            <a:endParaRPr lang="en-GB" sz="2400" dirty="0">
              <a:solidFill>
                <a:prstClr val="black"/>
              </a:solidFill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02044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The study shall focuses on the following: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The Pre-colonial period stressing on the nature of Nigerian society prior to colonialism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The colonial period with emphasis on British administration and policies.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The post-colonial era with particular attention on the various forms of administrations in Nigeria after independence and their impacts on the current democratic dispensation.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7067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GB" sz="2200" dirty="0" smtClean="0">
                <a:solidFill>
                  <a:prstClr val="black"/>
                </a:solidFill>
                <a:ea typeface="+mn-ea"/>
                <a:cs typeface="+mn-cs"/>
              </a:rPr>
              <a:t/>
            </a:r>
            <a:br>
              <a:rPr lang="en-GB" sz="2200" dirty="0" smtClean="0">
                <a:solidFill>
                  <a:prstClr val="black"/>
                </a:solidFill>
                <a:ea typeface="+mn-ea"/>
                <a:cs typeface="+mn-cs"/>
              </a:rPr>
            </a:br>
            <a:r>
              <a:rPr lang="en-GB" sz="2200" dirty="0" smtClean="0">
                <a:solidFill>
                  <a:prstClr val="black"/>
                </a:solidFill>
                <a:ea typeface="+mn-ea"/>
                <a:cs typeface="+mn-cs"/>
              </a:rPr>
              <a:t>AIM AND OBJECTIVES </a:t>
            </a:r>
            <a:br>
              <a:rPr lang="en-GB" sz="2200" dirty="0" smtClean="0">
                <a:solidFill>
                  <a:prstClr val="black"/>
                </a:solidFill>
                <a:ea typeface="+mn-ea"/>
                <a:cs typeface="+mn-cs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buFont typeface="Wingdings" pitchFamily="2" charset="2"/>
              <a:buChar char="q"/>
            </a:pPr>
            <a:endParaRPr lang="en-GB" sz="22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2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200" dirty="0" smtClean="0">
                <a:solidFill>
                  <a:prstClr val="black"/>
                </a:solidFill>
              </a:rPr>
              <a:t>The module will expose students </a:t>
            </a:r>
            <a:r>
              <a:rPr lang="en-GB" sz="2200" dirty="0">
                <a:solidFill>
                  <a:prstClr val="black"/>
                </a:solidFill>
              </a:rPr>
              <a:t>to the origin of Nigeria as a political unit.</a:t>
            </a:r>
          </a:p>
          <a:p>
            <a:pPr lvl="0" algn="just">
              <a:buFont typeface="Wingdings" pitchFamily="2" charset="2"/>
              <a:buChar char="q"/>
            </a:pPr>
            <a:endParaRPr lang="en-GB" sz="22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200" dirty="0" smtClean="0">
                <a:solidFill>
                  <a:prstClr val="black"/>
                </a:solidFill>
              </a:rPr>
              <a:t>The </a:t>
            </a:r>
            <a:r>
              <a:rPr lang="en-GB" sz="2200" dirty="0">
                <a:solidFill>
                  <a:prstClr val="black"/>
                </a:solidFill>
              </a:rPr>
              <a:t>emergence of British colonial administration </a:t>
            </a:r>
            <a:r>
              <a:rPr lang="en-GB" sz="2200" dirty="0" smtClean="0">
                <a:solidFill>
                  <a:prstClr val="black"/>
                </a:solidFill>
              </a:rPr>
              <a:t>in Nigeria. </a:t>
            </a:r>
            <a:endParaRPr lang="en-GB" sz="2200" dirty="0">
              <a:solidFill>
                <a:prstClr val="black"/>
              </a:solidFill>
            </a:endParaRPr>
          </a:p>
          <a:p>
            <a:pPr marL="0" lvl="0" indent="0" algn="just">
              <a:buNone/>
            </a:pPr>
            <a:endParaRPr lang="en-GB" sz="22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200" dirty="0" smtClean="0">
                <a:solidFill>
                  <a:prstClr val="black"/>
                </a:solidFill>
              </a:rPr>
              <a:t>The types of administrations in Nigeria since independence</a:t>
            </a:r>
            <a:r>
              <a:rPr lang="en-GB" sz="2200" dirty="0">
                <a:solidFill>
                  <a:prstClr val="black"/>
                </a:solidFill>
              </a:rPr>
              <a:t>. </a:t>
            </a:r>
          </a:p>
          <a:p>
            <a:pPr lvl="0">
              <a:buFont typeface="Wingdings" pitchFamily="2" charset="2"/>
              <a:buChar char="q"/>
            </a:pPr>
            <a:endParaRPr lang="en-GB" dirty="0">
              <a:solidFill>
                <a:prstClr val="black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58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 smtClean="0">
                <a:solidFill>
                  <a:prstClr val="black"/>
                </a:solidFill>
              </a:rPr>
              <a:t>SPECIFIC LEARNING OUTCOME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10000"/>
              </a:lnSpc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lnSpc>
                <a:spcPct val="110000"/>
              </a:lnSpc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lnSpc>
                <a:spcPct val="110000"/>
              </a:lnSpc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To </a:t>
            </a:r>
            <a:r>
              <a:rPr lang="en-GB" sz="2400" dirty="0" smtClean="0">
                <a:solidFill>
                  <a:prstClr val="black"/>
                </a:solidFill>
              </a:rPr>
              <a:t>enable the students find out the nature of the pre-colonial Nigerian society before British colonial rule </a:t>
            </a:r>
          </a:p>
          <a:p>
            <a:pPr lvl="0" algn="just">
              <a:lnSpc>
                <a:spcPct val="110000"/>
              </a:lnSpc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To understand and explain reasons why the British colonised Nigeria </a:t>
            </a:r>
          </a:p>
          <a:p>
            <a:pPr lvl="0" algn="just">
              <a:lnSpc>
                <a:spcPct val="110000"/>
              </a:lnSpc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To account for the amalgamation of 1914 </a:t>
            </a:r>
          </a:p>
          <a:p>
            <a:pPr lvl="0" algn="just">
              <a:lnSpc>
                <a:spcPct val="110000"/>
              </a:lnSpc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To identify the different </a:t>
            </a:r>
            <a:r>
              <a:rPr lang="en-GB" sz="2400" dirty="0">
                <a:solidFill>
                  <a:prstClr val="black"/>
                </a:solidFill>
              </a:rPr>
              <a:t>constitutional developments and </a:t>
            </a:r>
            <a:r>
              <a:rPr lang="en-GB" sz="2400" dirty="0" smtClean="0">
                <a:solidFill>
                  <a:prstClr val="black"/>
                </a:solidFill>
              </a:rPr>
              <a:t>explain its </a:t>
            </a:r>
            <a:r>
              <a:rPr lang="en-GB" sz="2400" dirty="0">
                <a:solidFill>
                  <a:prstClr val="black"/>
                </a:solidFill>
              </a:rPr>
              <a:t>impact on the present day Nigeria  </a:t>
            </a:r>
          </a:p>
          <a:p>
            <a:pPr lvl="0" algn="just">
              <a:lnSpc>
                <a:spcPct val="110000"/>
              </a:lnSpc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To </a:t>
            </a:r>
            <a:r>
              <a:rPr lang="en-GB" sz="2400" dirty="0" smtClean="0">
                <a:solidFill>
                  <a:prstClr val="black"/>
                </a:solidFill>
              </a:rPr>
              <a:t>understand </a:t>
            </a:r>
            <a:r>
              <a:rPr lang="en-GB" sz="2400" dirty="0">
                <a:solidFill>
                  <a:prstClr val="black"/>
                </a:solidFill>
              </a:rPr>
              <a:t>and differentiate between military and civilian rule </a:t>
            </a:r>
            <a:r>
              <a:rPr lang="en-GB" sz="2400" dirty="0" smtClean="0">
                <a:solidFill>
                  <a:prstClr val="black"/>
                </a:solidFill>
              </a:rPr>
              <a:t>in </a:t>
            </a:r>
            <a:r>
              <a:rPr lang="en-GB" sz="2400" dirty="0">
                <a:solidFill>
                  <a:prstClr val="black"/>
                </a:solidFill>
              </a:rPr>
              <a:t>Nigeria </a:t>
            </a:r>
          </a:p>
          <a:p>
            <a:pPr marL="0" lvl="0" indent="0" algn="just">
              <a:buNone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5316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The Pre-Colonial </a:t>
            </a:r>
            <a:r>
              <a:rPr lang="en-GB" dirty="0"/>
              <a:t>E</a:t>
            </a:r>
            <a:r>
              <a:rPr lang="en-GB" dirty="0" smtClean="0"/>
              <a:t>ra 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The pre-colonial period is a period before </a:t>
            </a:r>
            <a:r>
              <a:rPr lang="en-GB" sz="2400" dirty="0">
                <a:solidFill>
                  <a:srgbClr val="000000"/>
                </a:solidFill>
                <a:latin typeface="Book Antiqua"/>
              </a:rPr>
              <a:t>colonial </a:t>
            </a: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rule. </a:t>
            </a:r>
          </a:p>
          <a:p>
            <a:pPr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The period witnessed several independent </a:t>
            </a:r>
            <a:r>
              <a:rPr lang="en-GB" sz="2400" dirty="0">
                <a:solidFill>
                  <a:srgbClr val="000000"/>
                </a:solidFill>
                <a:latin typeface="Book Antiqua"/>
              </a:rPr>
              <a:t>states variously referred to as </a:t>
            </a: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 Empires, kingdoms</a:t>
            </a:r>
            <a:r>
              <a:rPr lang="en-GB" sz="2400" dirty="0">
                <a:solidFill>
                  <a:srgbClr val="000000"/>
                </a:solidFill>
                <a:latin typeface="Book Antiqua"/>
              </a:rPr>
              <a:t>, </a:t>
            </a: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chiefdoms</a:t>
            </a:r>
            <a:r>
              <a:rPr lang="en-GB" sz="2400" dirty="0">
                <a:solidFill>
                  <a:srgbClr val="000000"/>
                </a:solidFill>
                <a:latin typeface="Book Antiqua"/>
              </a:rPr>
              <a:t>, etc. </a:t>
            </a:r>
            <a:endParaRPr lang="en-GB" sz="2400" dirty="0" smtClean="0">
              <a:solidFill>
                <a:srgbClr val="000000"/>
              </a:solidFill>
              <a:latin typeface="Book Antiqua"/>
            </a:endParaRPr>
          </a:p>
          <a:p>
            <a:pPr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The </a:t>
            </a:r>
            <a:r>
              <a:rPr lang="en-GB" sz="2400" dirty="0">
                <a:solidFill>
                  <a:srgbClr val="000000"/>
                </a:solidFill>
                <a:latin typeface="Book Antiqua"/>
              </a:rPr>
              <a:t>politically </a:t>
            </a: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centralised groups were Oyo Empire, Benin Kingdom, </a:t>
            </a:r>
            <a:r>
              <a:rPr lang="en-GB" sz="2400" dirty="0" err="1" smtClean="0">
                <a:solidFill>
                  <a:srgbClr val="000000"/>
                </a:solidFill>
                <a:latin typeface="Book Antiqua"/>
              </a:rPr>
              <a:t>Sokoto</a:t>
            </a: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 Caliphate</a:t>
            </a:r>
            <a:r>
              <a:rPr lang="en-GB" sz="2400" dirty="0">
                <a:solidFill>
                  <a:srgbClr val="000000"/>
                </a:solidFill>
                <a:latin typeface="Book Antiqua"/>
              </a:rPr>
              <a:t>, </a:t>
            </a:r>
            <a:r>
              <a:rPr lang="en-GB" sz="2400" dirty="0" err="1" smtClean="0">
                <a:solidFill>
                  <a:srgbClr val="000000"/>
                </a:solidFill>
                <a:latin typeface="Book Antiqua"/>
              </a:rPr>
              <a:t>Kanem-Borno</a:t>
            </a: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 Empire, etc.</a:t>
            </a:r>
            <a:endParaRPr lang="en-GB" sz="2400" dirty="0">
              <a:solidFill>
                <a:srgbClr val="000000"/>
              </a:solidFill>
              <a:latin typeface="Book Antiqua"/>
            </a:endParaRPr>
          </a:p>
          <a:p>
            <a:pPr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Non-centralised states-Igbo, </a:t>
            </a:r>
            <a:r>
              <a:rPr lang="en-GB" sz="2400" dirty="0" err="1" smtClean="0">
                <a:solidFill>
                  <a:srgbClr val="000000"/>
                </a:solidFill>
                <a:latin typeface="Book Antiqua"/>
              </a:rPr>
              <a:t>Efik</a:t>
            </a: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, </a:t>
            </a:r>
            <a:r>
              <a:rPr lang="en-GB" sz="2400" dirty="0" err="1" smtClean="0">
                <a:solidFill>
                  <a:srgbClr val="000000"/>
                </a:solidFill>
                <a:latin typeface="Book Antiqua"/>
              </a:rPr>
              <a:t>Bekwarra</a:t>
            </a: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, </a:t>
            </a:r>
            <a:r>
              <a:rPr lang="en-GB" sz="2400" dirty="0" err="1" smtClean="0">
                <a:solidFill>
                  <a:srgbClr val="000000"/>
                </a:solidFill>
                <a:latin typeface="Book Antiqua"/>
              </a:rPr>
              <a:t>Tiv</a:t>
            </a: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, </a:t>
            </a:r>
            <a:r>
              <a:rPr lang="en-GB" sz="2400" dirty="0" err="1" smtClean="0">
                <a:solidFill>
                  <a:srgbClr val="000000"/>
                </a:solidFill>
                <a:latin typeface="Book Antiqua"/>
              </a:rPr>
              <a:t>Egon</a:t>
            </a: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 etc. </a:t>
            </a:r>
            <a:endParaRPr lang="en-GB" sz="2400" dirty="0">
              <a:solidFill>
                <a:srgbClr val="000000"/>
              </a:solidFill>
              <a:latin typeface="Book Antiqua"/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srgbClr val="000000"/>
                </a:solidFill>
                <a:latin typeface="Book Antiqua"/>
              </a:rPr>
              <a:t>The different groups  become Nigerians in 1914.</a:t>
            </a:r>
            <a:endParaRPr lang="en-GB" sz="2400" dirty="0">
              <a:solidFill>
                <a:srgbClr val="000000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392109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Inter-group Relations IN Pre-colonial Nigeria Area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GB" dirty="0" smtClean="0"/>
              <a:t>Trade and exchange </a:t>
            </a:r>
          </a:p>
          <a:p>
            <a:pPr>
              <a:buFont typeface="Wingdings" pitchFamily="2" charset="2"/>
              <a:buChar char="q"/>
            </a:pPr>
            <a:r>
              <a:rPr lang="en-GB" dirty="0" smtClean="0"/>
              <a:t> Inter-Marriages </a:t>
            </a:r>
          </a:p>
          <a:p>
            <a:pPr>
              <a:buFont typeface="Wingdings" pitchFamily="2" charset="2"/>
              <a:buChar char="q"/>
            </a:pPr>
            <a:r>
              <a:rPr lang="en-GB" dirty="0" smtClean="0"/>
              <a:t>Exchange of Political ideas </a:t>
            </a:r>
          </a:p>
          <a:p>
            <a:pPr>
              <a:buFont typeface="Wingdings" pitchFamily="2" charset="2"/>
              <a:buChar char="q"/>
            </a:pPr>
            <a:r>
              <a:rPr lang="en-GB" dirty="0" smtClean="0"/>
              <a:t>Exchange of Cultural ties </a:t>
            </a:r>
          </a:p>
          <a:p>
            <a:pPr>
              <a:buFont typeface="Wingdings" pitchFamily="2" charset="2"/>
              <a:buChar char="q"/>
            </a:pPr>
            <a:r>
              <a:rPr lang="en-GB" dirty="0" smtClean="0"/>
              <a:t>Conflict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331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" y="274638"/>
            <a:ext cx="9052560" cy="1143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The Beginning of British Interest in Nigeria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400" dirty="0" smtClean="0"/>
              <a:t>15</a:t>
            </a:r>
            <a:r>
              <a:rPr lang="en-GB" sz="2400" baseline="30000" dirty="0" smtClean="0"/>
              <a:t>th</a:t>
            </a:r>
            <a:r>
              <a:rPr lang="en-GB" sz="2400" dirty="0" smtClean="0"/>
              <a:t> century Contact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 smtClean="0"/>
              <a:t>Abolition of slave  trade  in 1807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1849 establishment </a:t>
            </a:r>
            <a:r>
              <a:rPr lang="en-GB" sz="2400" dirty="0">
                <a:solidFill>
                  <a:prstClr val="black"/>
                </a:solidFill>
              </a:rPr>
              <a:t>of British Consul and appointment of John </a:t>
            </a:r>
            <a:r>
              <a:rPr lang="en-GB" sz="2400" dirty="0" err="1">
                <a:solidFill>
                  <a:prstClr val="black"/>
                </a:solidFill>
              </a:rPr>
              <a:t>Beecroft</a:t>
            </a:r>
            <a:r>
              <a:rPr lang="en-GB" sz="2400" dirty="0">
                <a:solidFill>
                  <a:prstClr val="black"/>
                </a:solidFill>
              </a:rPr>
              <a:t> in charge of the Birth of Benin and Biafra </a:t>
            </a:r>
          </a:p>
          <a:p>
            <a:pPr>
              <a:buFont typeface="Wingdings" pitchFamily="2" charset="2"/>
              <a:buChar char="q"/>
            </a:pPr>
            <a:r>
              <a:rPr lang="en-GB" sz="2400" dirty="0" smtClean="0"/>
              <a:t>The partition of Africa in 1885. </a:t>
            </a:r>
          </a:p>
          <a:p>
            <a:pPr>
              <a:buFont typeface="Wingdings" pitchFamily="2" charset="2"/>
              <a:buChar char="q"/>
            </a:pPr>
            <a:r>
              <a:rPr lang="en-GB" sz="2400" dirty="0" smtClean="0"/>
              <a:t>Annexation of  </a:t>
            </a:r>
            <a:r>
              <a:rPr lang="en-GB" sz="2400" dirty="0"/>
              <a:t>L</a:t>
            </a:r>
            <a:r>
              <a:rPr lang="en-GB" sz="2400" dirty="0" smtClean="0"/>
              <a:t>agos in 1851 and later transformed in to a colony of Britain  in 1862. </a:t>
            </a:r>
          </a:p>
          <a:p>
            <a:pPr>
              <a:buFont typeface="Wingdings" pitchFamily="2" charset="2"/>
              <a:buChar char="q"/>
            </a:pPr>
            <a:r>
              <a:rPr lang="en-GB" sz="2400" dirty="0" smtClean="0"/>
              <a:t>Conquest of  Yoruba land, 1897. </a:t>
            </a:r>
          </a:p>
          <a:p>
            <a:pPr>
              <a:buFont typeface="Wingdings" pitchFamily="2" charset="2"/>
              <a:buChar char="q"/>
            </a:pPr>
            <a:r>
              <a:rPr lang="en-GB" sz="2400" dirty="0" smtClean="0"/>
              <a:t>Conquest of Benin area, 1892. </a:t>
            </a:r>
          </a:p>
          <a:p>
            <a:pPr>
              <a:buFont typeface="Wingdings" pitchFamily="2" charset="2"/>
              <a:buChar char="q"/>
            </a:pPr>
            <a:r>
              <a:rPr lang="en-GB" sz="2400" dirty="0" smtClean="0"/>
              <a:t>The RNC (1886-1889)and the conquest of Northern Nigeria, 1903.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2925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000" dirty="0" smtClean="0">
                <a:solidFill>
                  <a:prstClr val="black"/>
                </a:solidFill>
              </a:rPr>
              <a:t/>
            </a:r>
            <a:br>
              <a:rPr lang="en-GB" sz="2000" dirty="0" smtClean="0">
                <a:solidFill>
                  <a:prstClr val="black"/>
                </a:solidFill>
              </a:rPr>
            </a:br>
            <a:r>
              <a:rPr lang="en-GB" sz="2700" dirty="0">
                <a:solidFill>
                  <a:prstClr val="black"/>
                </a:solidFill>
              </a:rPr>
              <a:t>British Motives for Nigerian Colonisation </a:t>
            </a:r>
            <a:br>
              <a:rPr lang="en-GB" sz="2700" dirty="0">
                <a:solidFill>
                  <a:prstClr val="black"/>
                </a:solidFill>
              </a:rPr>
            </a:br>
            <a:r>
              <a:rPr lang="en-GB" sz="2000" dirty="0" smtClean="0">
                <a:solidFill>
                  <a:prstClr val="black"/>
                </a:solidFill>
              </a:rPr>
              <a:t/>
            </a:r>
            <a:br>
              <a:rPr lang="en-GB" sz="2000" dirty="0" smtClean="0">
                <a:solidFill>
                  <a:prstClr val="black"/>
                </a:solidFill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GB" sz="2800" dirty="0" smtClean="0">
                <a:solidFill>
                  <a:prstClr val="black"/>
                </a:solidFill>
              </a:rPr>
              <a:t>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800" dirty="0" smtClean="0">
                <a:solidFill>
                  <a:prstClr val="black"/>
                </a:solidFill>
              </a:rPr>
              <a:t>The colonial period begins from 1900-1960.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800" dirty="0" smtClean="0">
                <a:solidFill>
                  <a:prstClr val="black"/>
                </a:solidFill>
              </a:rPr>
              <a:t>The Search for  cheap raw materials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800" dirty="0" smtClean="0">
                <a:solidFill>
                  <a:prstClr val="black"/>
                </a:solidFill>
              </a:rPr>
              <a:t>Westernisation/culture drive  </a:t>
            </a:r>
          </a:p>
          <a:p>
            <a:pPr marL="0" lvl="0" indent="0" algn="just">
              <a:buNone/>
            </a:pPr>
            <a:endParaRPr lang="en-GB" sz="2800" dirty="0" smtClean="0">
              <a:solidFill>
                <a:prstClr val="black"/>
              </a:solidFill>
            </a:endParaRPr>
          </a:p>
          <a:p>
            <a:pPr marL="0" lvl="0" indent="0" algn="just">
              <a:buNone/>
            </a:pPr>
            <a:r>
              <a:rPr lang="en-GB" sz="2800" dirty="0" smtClean="0">
                <a:solidFill>
                  <a:prstClr val="black"/>
                </a:solidFill>
              </a:rPr>
              <a:t> </a:t>
            </a:r>
          </a:p>
          <a:p>
            <a:pPr marL="0" lvl="0" indent="0" algn="just">
              <a:buNone/>
            </a:pPr>
            <a:endParaRPr lang="en-GB" sz="2800" dirty="0" smtClean="0">
              <a:solidFill>
                <a:prstClr val="black"/>
              </a:solidFill>
            </a:endParaRPr>
          </a:p>
          <a:p>
            <a:pPr marL="0" lvl="0" indent="0" algn="just">
              <a:buNone/>
            </a:pPr>
            <a:endParaRPr lang="en-GB" sz="2800" dirty="0" smtClean="0">
              <a:solidFill>
                <a:prstClr val="black"/>
              </a:solidFill>
            </a:endParaRP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854713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 smtClean="0">
                <a:solidFill>
                  <a:prstClr val="black"/>
                </a:solidFill>
              </a:rPr>
              <a:t>BRITISH  AMALGAMATION POLICY IN NIGERIA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Amalgamation is the bringing together of the various groups in Nigeria area to form a single polity that became Nigeria in 1914.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The </a:t>
            </a:r>
            <a:r>
              <a:rPr lang="en-GB" sz="2400" dirty="0">
                <a:solidFill>
                  <a:prstClr val="black"/>
                </a:solidFill>
              </a:rPr>
              <a:t>discourse on amalgamation of Nigeria began in 1898 with Lord </a:t>
            </a:r>
            <a:r>
              <a:rPr lang="en-GB" sz="2400" dirty="0" err="1" smtClean="0">
                <a:solidFill>
                  <a:prstClr val="black"/>
                </a:solidFill>
              </a:rPr>
              <a:t>Selborne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  <a:r>
              <a:rPr lang="en-GB" sz="2400" dirty="0" smtClean="0">
                <a:solidFill>
                  <a:prstClr val="black"/>
                </a:solidFill>
              </a:rPr>
              <a:t>and led to: </a:t>
            </a: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The </a:t>
            </a:r>
            <a:r>
              <a:rPr lang="en-GB" sz="2400" dirty="0">
                <a:solidFill>
                  <a:prstClr val="black"/>
                </a:solidFill>
              </a:rPr>
              <a:t>creation of two separate protectorates  </a:t>
            </a:r>
            <a:r>
              <a:rPr lang="en-GB" sz="2400" dirty="0" err="1">
                <a:solidFill>
                  <a:prstClr val="black"/>
                </a:solidFill>
              </a:rPr>
              <a:t>ie</a:t>
            </a:r>
            <a:r>
              <a:rPr lang="en-GB" sz="2400" dirty="0">
                <a:solidFill>
                  <a:prstClr val="black"/>
                </a:solidFill>
              </a:rPr>
              <a:t>, Lagos colony and </a:t>
            </a:r>
            <a:r>
              <a:rPr lang="en-GB" sz="2400" dirty="0" smtClean="0">
                <a:solidFill>
                  <a:prstClr val="black"/>
                </a:solidFill>
              </a:rPr>
              <a:t>Southern protectorate, and Northern protectorate.</a:t>
            </a: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Both Lagos  colony and Southern protectorates were put together to form  Southern protectorate in 1906.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Southern protectorate and Northern protectorate were amalgamated to form a single polity called Nigeria in 1914. </a:t>
            </a: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50360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>
                <a:solidFill>
                  <a:prstClr val="black"/>
                </a:solidFill>
              </a:rPr>
              <a:t>British Reasons for the Amalgamation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Autofit/>
          </a:bodyPr>
          <a:lstStyle/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 Achieve British </a:t>
            </a:r>
            <a:r>
              <a:rPr lang="en-GB" sz="2400" dirty="0">
                <a:solidFill>
                  <a:prstClr val="black"/>
                </a:solidFill>
              </a:rPr>
              <a:t>motive for </a:t>
            </a:r>
            <a:r>
              <a:rPr lang="en-GB" sz="2400" dirty="0" smtClean="0">
                <a:solidFill>
                  <a:prstClr val="black"/>
                </a:solidFill>
              </a:rPr>
              <a:t>colonisation.</a:t>
            </a: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 </a:t>
            </a:r>
            <a:r>
              <a:rPr lang="en-GB" sz="2400" dirty="0">
                <a:solidFill>
                  <a:prstClr val="black"/>
                </a:solidFill>
              </a:rPr>
              <a:t>Efficiency and administrative </a:t>
            </a:r>
            <a:r>
              <a:rPr lang="en-GB" sz="2400" dirty="0" smtClean="0">
                <a:solidFill>
                  <a:prstClr val="black"/>
                </a:solidFill>
              </a:rPr>
              <a:t>convenience.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latin typeface="Times New Roman"/>
                <a:ea typeface="Calibri"/>
                <a:cs typeface="Times New Roman"/>
              </a:rPr>
              <a:t>cheap </a:t>
            </a:r>
            <a:r>
              <a:rPr lang="en-GB" sz="2400" dirty="0">
                <a:latin typeface="Times New Roman"/>
                <a:ea typeface="Calibri"/>
                <a:cs typeface="Times New Roman"/>
              </a:rPr>
              <a:t>and secure source of raw materials for their industries. </a:t>
            </a:r>
            <a:r>
              <a:rPr lang="en-GB" sz="2400" dirty="0" smtClean="0">
                <a:latin typeface="Times New Roman"/>
                <a:ea typeface="Calibri"/>
                <a:cs typeface="Times New Roman"/>
              </a:rPr>
              <a:t>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latin typeface="Times New Roman"/>
                <a:ea typeface="Calibri"/>
                <a:cs typeface="Times New Roman"/>
              </a:rPr>
              <a:t>market </a:t>
            </a:r>
            <a:r>
              <a:rPr lang="en-GB" sz="2400" dirty="0">
                <a:latin typeface="Times New Roman"/>
                <a:ea typeface="Calibri"/>
                <a:cs typeface="Times New Roman"/>
              </a:rPr>
              <a:t>for their manufactured goods</a:t>
            </a:r>
            <a:r>
              <a:rPr lang="en-GB" sz="2400" dirty="0" smtClean="0">
                <a:latin typeface="Times New Roman"/>
                <a:ea typeface="Calibri"/>
                <a:cs typeface="Times New Roman"/>
              </a:rPr>
              <a:t>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manpower </a:t>
            </a:r>
            <a:r>
              <a:rPr lang="en-GB" sz="24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reserve for military and other purposes.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To unify ports</a:t>
            </a:r>
            <a:r>
              <a:rPr lang="en-GB" sz="24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, water ways, roads, railways, and air spaces for transportation and imperial communication systems. 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82427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The Indirect Rule System of Administration in Nigeria </a:t>
            </a:r>
            <a:endParaRPr lang="en-GB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GB" sz="2400" dirty="0" smtClean="0">
                <a:solidFill>
                  <a:prstClr val="black"/>
                </a:solidFill>
              </a:rPr>
              <a:t> </a:t>
            </a: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Reason The </a:t>
            </a:r>
            <a:r>
              <a:rPr lang="en-GB" sz="2400" dirty="0">
                <a:solidFill>
                  <a:prstClr val="black"/>
                </a:solidFill>
              </a:rPr>
              <a:t>presence of few European personnel.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Vastness of the acquired territory.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Lack of fund.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The complex nature of the Nigerian societies.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Language Barriers. </a:t>
            </a: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5184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prstClr val="black"/>
                </a:solidFill>
              </a:rPr>
              <a:t>Colonialism and Constitutional Development in Nigeria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 Constitution is a law that dictates </a:t>
            </a:r>
            <a:r>
              <a:rPr lang="en-GB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 structure of political organisation and leadership </a:t>
            </a:r>
            <a:r>
              <a:rPr lang="en-GB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 a country.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colonial constitutions were: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Sir </a:t>
            </a:r>
            <a:r>
              <a:rPr lang="en-GB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Frederick </a:t>
            </a:r>
            <a:r>
              <a:rPr lang="en-GB" sz="2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Lugard</a:t>
            </a:r>
            <a:r>
              <a:rPr lang="en-GB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Nigerian </a:t>
            </a:r>
            <a:r>
              <a:rPr lang="en-GB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Council </a:t>
            </a:r>
            <a:r>
              <a:rPr lang="en-GB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GB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1914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Sir Hugh Clifford constitution of 1922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Sir Author Richard Constitution of 1946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Macpherson constitution of 1951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Littleton constitution of 1954. </a:t>
            </a: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63328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prstClr val="black"/>
                </a:solidFill>
              </a:rPr>
              <a:t>F</a:t>
            </a:r>
            <a:r>
              <a:rPr lang="en-GB" sz="2800" dirty="0" smtClean="0">
                <a:solidFill>
                  <a:prstClr val="black"/>
                </a:solidFill>
              </a:rPr>
              <a:t>eatures of the Colonial </a:t>
            </a:r>
            <a:r>
              <a:rPr lang="en-GB" sz="2800" dirty="0">
                <a:solidFill>
                  <a:prstClr val="black"/>
                </a:solidFill>
              </a:rPr>
              <a:t>C</a:t>
            </a:r>
            <a:r>
              <a:rPr lang="en-GB" sz="2800" dirty="0" smtClean="0">
                <a:solidFill>
                  <a:prstClr val="black"/>
                </a:solidFill>
              </a:rPr>
              <a:t>onstitutions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Despite the laudable achievements of the constitutions, they failed to meet the aspiration of Nigerians.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Richard constriction laid the foundation for regionalism in Nigeria.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In </a:t>
            </a:r>
            <a:r>
              <a:rPr lang="en-GB" sz="2400" dirty="0">
                <a:solidFill>
                  <a:prstClr val="black"/>
                </a:solidFill>
              </a:rPr>
              <a:t>all, it was the 1954 constitution that laid the foundation for: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Federalism </a:t>
            </a:r>
            <a:r>
              <a:rPr lang="en-GB" sz="2400" dirty="0">
                <a:solidFill>
                  <a:prstClr val="black"/>
                </a:solidFill>
              </a:rPr>
              <a:t>in Nigeria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direct </a:t>
            </a:r>
            <a:r>
              <a:rPr lang="en-GB" sz="2400" dirty="0">
                <a:solidFill>
                  <a:prstClr val="black"/>
                </a:solidFill>
              </a:rPr>
              <a:t>election into the central and regional legislatures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It introduced </a:t>
            </a:r>
            <a:r>
              <a:rPr lang="en-GB" sz="2400" dirty="0" err="1" smtClean="0">
                <a:solidFill>
                  <a:prstClr val="black"/>
                </a:solidFill>
              </a:rPr>
              <a:t>uni</a:t>
            </a:r>
            <a:r>
              <a:rPr lang="en-GB" sz="2400" dirty="0" smtClean="0">
                <a:solidFill>
                  <a:prstClr val="black"/>
                </a:solidFill>
              </a:rPr>
              <a:t>-cameral </a:t>
            </a:r>
            <a:r>
              <a:rPr lang="en-GB" sz="2400" dirty="0">
                <a:solidFill>
                  <a:prstClr val="black"/>
                </a:solidFill>
              </a:rPr>
              <a:t>legislature and the council of ministers at the centre </a:t>
            </a: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37510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prstClr val="black"/>
                </a:solidFill>
              </a:rPr>
              <a:t>T</a:t>
            </a:r>
            <a:r>
              <a:rPr lang="en-GB" sz="2800" dirty="0" smtClean="0">
                <a:solidFill>
                  <a:prstClr val="black"/>
                </a:solidFill>
              </a:rPr>
              <a:t>he Post-Colonial </a:t>
            </a:r>
            <a:r>
              <a:rPr lang="en-GB" sz="2800" dirty="0">
                <a:solidFill>
                  <a:prstClr val="black"/>
                </a:solidFill>
              </a:rPr>
              <a:t>P</a:t>
            </a:r>
            <a:r>
              <a:rPr lang="en-GB" sz="2800" dirty="0" smtClean="0">
                <a:solidFill>
                  <a:prstClr val="black"/>
                </a:solidFill>
              </a:rPr>
              <a:t>eriod and  Developments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Post-colonial period refers to a period when Nigeria </a:t>
            </a:r>
            <a:r>
              <a:rPr lang="en-GB" sz="2400" dirty="0">
                <a:solidFill>
                  <a:prstClr val="black"/>
                </a:solidFill>
              </a:rPr>
              <a:t>gain her independence from the British colonial government in 1960. </a:t>
            </a:r>
            <a:r>
              <a:rPr lang="en-GB" sz="2400" dirty="0" smtClean="0">
                <a:solidFill>
                  <a:prstClr val="black"/>
                </a:solidFill>
              </a:rPr>
              <a:t>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err="1" smtClean="0">
                <a:solidFill>
                  <a:prstClr val="black"/>
                </a:solidFill>
              </a:rPr>
              <a:t>Moudeled</a:t>
            </a:r>
            <a:r>
              <a:rPr lang="en-GB" sz="2400" dirty="0" smtClean="0">
                <a:solidFill>
                  <a:prstClr val="black"/>
                </a:solidFill>
              </a:rPr>
              <a:t> on Britain </a:t>
            </a:r>
            <a:r>
              <a:rPr lang="en-GB" sz="2400" dirty="0">
                <a:solidFill>
                  <a:prstClr val="black"/>
                </a:solidFill>
              </a:rPr>
              <a:t>parliamentary system of </a:t>
            </a:r>
            <a:r>
              <a:rPr lang="en-GB" sz="2400" dirty="0" smtClean="0">
                <a:solidFill>
                  <a:prstClr val="black"/>
                </a:solidFill>
              </a:rPr>
              <a:t>government Sir </a:t>
            </a:r>
            <a:r>
              <a:rPr lang="en-GB" sz="2400" dirty="0" err="1">
                <a:solidFill>
                  <a:prstClr val="black"/>
                </a:solidFill>
              </a:rPr>
              <a:t>Abubakar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  <a:r>
              <a:rPr lang="en-GB" sz="2400" dirty="0" err="1">
                <a:solidFill>
                  <a:prstClr val="black"/>
                </a:solidFill>
              </a:rPr>
              <a:t>Tafawa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  <a:r>
              <a:rPr lang="en-GB" sz="2400" dirty="0" err="1">
                <a:solidFill>
                  <a:prstClr val="black"/>
                </a:solidFill>
              </a:rPr>
              <a:t>Balewa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  <a:r>
              <a:rPr lang="en-GB" sz="2400" dirty="0" smtClean="0">
                <a:solidFill>
                  <a:prstClr val="black"/>
                </a:solidFill>
              </a:rPr>
              <a:t>became the prime </a:t>
            </a:r>
            <a:r>
              <a:rPr lang="en-GB" sz="2400" dirty="0">
                <a:solidFill>
                  <a:prstClr val="black"/>
                </a:solidFill>
              </a:rPr>
              <a:t>minister and Dr </a:t>
            </a:r>
            <a:r>
              <a:rPr lang="en-GB" sz="2400" dirty="0" err="1">
                <a:solidFill>
                  <a:prstClr val="black"/>
                </a:solidFill>
              </a:rPr>
              <a:t>Nnamdi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  <a:r>
              <a:rPr lang="en-GB" sz="2400" dirty="0" err="1">
                <a:solidFill>
                  <a:prstClr val="black"/>
                </a:solidFill>
              </a:rPr>
              <a:t>Azikiwe</a:t>
            </a:r>
            <a:r>
              <a:rPr lang="en-GB" sz="2400" dirty="0">
                <a:solidFill>
                  <a:prstClr val="black"/>
                </a:solidFill>
              </a:rPr>
              <a:t> Governor-General</a:t>
            </a:r>
            <a:r>
              <a:rPr lang="en-GB" sz="2400" dirty="0" smtClean="0">
                <a:solidFill>
                  <a:prstClr val="black"/>
                </a:solidFill>
              </a:rPr>
              <a:t>..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The </a:t>
            </a:r>
            <a:r>
              <a:rPr lang="en-GB" sz="2400" dirty="0">
                <a:solidFill>
                  <a:prstClr val="black"/>
                </a:solidFill>
              </a:rPr>
              <a:t>Queen of Great Britain still remained the head of government in Nigeria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The highest court of the land was privy Council in London  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A federation </a:t>
            </a:r>
            <a:r>
              <a:rPr lang="en-GB" sz="2400" dirty="0">
                <a:solidFill>
                  <a:prstClr val="black"/>
                </a:solidFill>
              </a:rPr>
              <a:t>of 3 Regions and the centre.</a:t>
            </a:r>
          </a:p>
          <a:p>
            <a:pPr marL="0" lvl="0" indent="0" algn="just">
              <a:buNone/>
            </a:pPr>
            <a:endParaRPr lang="en-GB" sz="2400" dirty="0" smtClean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71635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Constitutional Development in Post-colonial Nigeria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just">
              <a:buNone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The Post- colonial  constitution s were: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Independence constitution of 1960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The Republican constitution of 1963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1976 constitution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1999 constitution 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47646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The First Republic Government in Nigeria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>
              <a:buFont typeface="Wingdings" pitchFamily="2" charset="2"/>
              <a:buChar char="q"/>
            </a:pPr>
            <a:endParaRPr lang="en-GB" sz="2400" dirty="0" smtClean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dirty="0">
                <a:solidFill>
                  <a:prstClr val="black"/>
                </a:solidFill>
                <a:latin typeface="Times New Roman"/>
                <a:ea typeface="Calibri"/>
              </a:rPr>
              <a:t>October 1</a:t>
            </a:r>
            <a:r>
              <a:rPr lang="en-GB" baseline="30000" dirty="0">
                <a:solidFill>
                  <a:prstClr val="black"/>
                </a:solidFill>
                <a:latin typeface="Times New Roman"/>
                <a:ea typeface="Calibri"/>
              </a:rPr>
              <a:t>st</a:t>
            </a:r>
            <a:r>
              <a:rPr lang="en-GB" dirty="0">
                <a:solidFill>
                  <a:prstClr val="black"/>
                </a:solidFill>
                <a:latin typeface="Times New Roman"/>
                <a:ea typeface="Calibri"/>
              </a:rPr>
              <a:t>, 1963 when Nigeria became a republic to January 15</a:t>
            </a:r>
            <a:r>
              <a:rPr lang="en-GB" baseline="30000" dirty="0">
                <a:solidFill>
                  <a:prstClr val="black"/>
                </a:solidFill>
                <a:latin typeface="Times New Roman"/>
                <a:ea typeface="Calibri"/>
              </a:rPr>
              <a:t>th</a:t>
            </a:r>
            <a:r>
              <a:rPr lang="en-GB" dirty="0">
                <a:solidFill>
                  <a:prstClr val="black"/>
                </a:solidFill>
                <a:latin typeface="Times New Roman"/>
                <a:ea typeface="Calibri"/>
              </a:rPr>
              <a:t> 1966 when the first military coup took place.</a:t>
            </a:r>
            <a:endParaRPr lang="en-GB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800" dirty="0" smtClean="0">
                <a:solidFill>
                  <a:prstClr val="black"/>
                </a:solidFill>
              </a:rPr>
              <a:t>The Queen of England automatically ceased to be the head of government.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800" dirty="0" smtClean="0">
                <a:solidFill>
                  <a:prstClr val="black"/>
                </a:solidFill>
              </a:rPr>
              <a:t>The Supreme Court of Nigeria was created to replace the Privy-Council.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800" dirty="0" smtClean="0">
                <a:solidFill>
                  <a:prstClr val="black"/>
                </a:solidFill>
              </a:rPr>
              <a:t>Established a federation of one central government and 4 Regional governments-north, east, west and mid-western regions. </a:t>
            </a:r>
          </a:p>
          <a:p>
            <a:pPr marL="0" lvl="0" indent="0" algn="just">
              <a:buNone/>
            </a:pPr>
            <a:endParaRPr lang="en-GB" sz="2400" dirty="0">
              <a:solidFill>
                <a:prstClr val="black"/>
              </a:solidFill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94553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FEATURES OF THE 1976 and 1999 CONSTITUTIONS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endParaRPr lang="en-GB" sz="2400" dirty="0" smtClean="0"/>
          </a:p>
          <a:p>
            <a:pPr>
              <a:buFont typeface="Wingdings" pitchFamily="2" charset="2"/>
              <a:buChar char="q"/>
            </a:pPr>
            <a:r>
              <a:rPr lang="en-GB" sz="2400" dirty="0" smtClean="0"/>
              <a:t>Both are fashioned on the Washington Model which is presidential system of government. </a:t>
            </a:r>
          </a:p>
          <a:p>
            <a:pPr>
              <a:buFont typeface="Wingdings" pitchFamily="2" charset="2"/>
              <a:buChar char="q"/>
            </a:pPr>
            <a:r>
              <a:rPr lang="en-GB" sz="2400" dirty="0" smtClean="0"/>
              <a:t>Provides for an Executive President. </a:t>
            </a:r>
          </a:p>
          <a:p>
            <a:pPr>
              <a:buFont typeface="Wingdings" pitchFamily="2" charset="2"/>
              <a:buChar char="q"/>
            </a:pPr>
            <a:r>
              <a:rPr lang="en-GB" sz="2400" dirty="0" smtClean="0"/>
              <a:t>Unicameral legislature at the state and federal level. </a:t>
            </a:r>
          </a:p>
          <a:p>
            <a:pPr>
              <a:buFont typeface="Wingdings" pitchFamily="2" charset="2"/>
              <a:buChar char="q"/>
            </a:pPr>
            <a:r>
              <a:rPr lang="en-GB" sz="2400" dirty="0" smtClean="0"/>
              <a:t>Incorporated the doctrine of separation of powers. </a:t>
            </a:r>
          </a:p>
          <a:p>
            <a:pPr>
              <a:buFont typeface="Wingdings" pitchFamily="2" charset="2"/>
              <a:buChar char="q"/>
            </a:pPr>
            <a:r>
              <a:rPr lang="en-GB" sz="2400" dirty="0" smtClean="0"/>
              <a:t>Principle of federal  character and fundamental human rights provisions.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8754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T</a:t>
            </a:r>
            <a:r>
              <a:rPr lang="en-GB" dirty="0" smtClean="0"/>
              <a:t>he Collapse of the First Republic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2776"/>
            <a:ext cx="9144000" cy="5445224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GB" sz="2400" dirty="0" smtClean="0"/>
              <a:t>Ethnic Based formation of political parties. </a:t>
            </a:r>
          </a:p>
          <a:p>
            <a:pPr algn="just">
              <a:buFont typeface="Wingdings" pitchFamily="2" charset="2"/>
              <a:buChar char="q"/>
            </a:pPr>
            <a:r>
              <a:rPr lang="en-GB" sz="2400" dirty="0" smtClean="0"/>
              <a:t> Political Rivalries among political leaders arising from the 1959 election. </a:t>
            </a:r>
          </a:p>
          <a:p>
            <a:pPr algn="just">
              <a:buFont typeface="Wingdings" pitchFamily="2" charset="2"/>
              <a:buChar char="q"/>
            </a:pPr>
            <a:r>
              <a:rPr lang="en-GB" sz="2400" dirty="0" smtClean="0"/>
              <a:t>Disagreement arising from the demand for in dependence in 1953 by southern legislatures. </a:t>
            </a:r>
          </a:p>
          <a:p>
            <a:pPr algn="just">
              <a:buFont typeface="Wingdings" pitchFamily="2" charset="2"/>
              <a:buChar char="q"/>
            </a:pPr>
            <a:r>
              <a:rPr lang="en-GB" sz="2400" dirty="0" smtClean="0"/>
              <a:t>1965 Western parliamentary election crisis over leading to the killing of supporters of AG and UPGA. </a:t>
            </a:r>
          </a:p>
          <a:p>
            <a:pPr algn="just">
              <a:buFont typeface="Wingdings" pitchFamily="2" charset="2"/>
              <a:buChar char="q"/>
            </a:pPr>
            <a:r>
              <a:rPr lang="en-GB" sz="2400" dirty="0" smtClean="0"/>
              <a:t>The look warm response of the Prime Minister who belong to Nigerian National Alliance (NNA).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942496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 smtClean="0">
                <a:solidFill>
                  <a:prstClr val="black"/>
                </a:solidFill>
              </a:rPr>
              <a:t>THE FIRST MILITARY  COUP AND MILITARY GOVERNMENTS IN NIGERIA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GB" sz="2400" dirty="0" smtClean="0">
                <a:solidFill>
                  <a:prstClr val="black"/>
                </a:solidFill>
              </a:rPr>
              <a:t>  </a:t>
            </a: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General </a:t>
            </a:r>
            <a:r>
              <a:rPr lang="en-GB" sz="2400" dirty="0" err="1">
                <a:solidFill>
                  <a:prstClr val="black"/>
                </a:solidFill>
              </a:rPr>
              <a:t>Agui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  <a:r>
              <a:rPr lang="en-GB" sz="2400" dirty="0" err="1">
                <a:solidFill>
                  <a:prstClr val="black"/>
                </a:solidFill>
              </a:rPr>
              <a:t>Ironsi</a:t>
            </a:r>
            <a:r>
              <a:rPr lang="en-GB" sz="2400" dirty="0">
                <a:solidFill>
                  <a:prstClr val="black"/>
                </a:solidFill>
              </a:rPr>
              <a:t>, January 16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 to  July 12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 , 1966.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General </a:t>
            </a:r>
            <a:r>
              <a:rPr lang="en-GB" sz="2400" dirty="0" err="1">
                <a:solidFill>
                  <a:prstClr val="black"/>
                </a:solidFill>
              </a:rPr>
              <a:t>Yakubu</a:t>
            </a:r>
            <a:r>
              <a:rPr lang="en-GB" sz="2400" dirty="0">
                <a:solidFill>
                  <a:prstClr val="black"/>
                </a:solidFill>
              </a:rPr>
              <a:t> Gowon August 1</a:t>
            </a:r>
            <a:r>
              <a:rPr lang="en-GB" sz="2400" baseline="30000" dirty="0">
                <a:solidFill>
                  <a:prstClr val="black"/>
                </a:solidFill>
              </a:rPr>
              <a:t>st</a:t>
            </a:r>
            <a:r>
              <a:rPr lang="en-GB" sz="2400" dirty="0">
                <a:solidFill>
                  <a:prstClr val="black"/>
                </a:solidFill>
              </a:rPr>
              <a:t>, 1966 to July 19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, 1975.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General </a:t>
            </a:r>
            <a:r>
              <a:rPr lang="en-GB" sz="2400" dirty="0" err="1">
                <a:solidFill>
                  <a:prstClr val="black"/>
                </a:solidFill>
              </a:rPr>
              <a:t>Murtala</a:t>
            </a:r>
            <a:r>
              <a:rPr lang="en-GB" sz="2400" dirty="0">
                <a:solidFill>
                  <a:prstClr val="black"/>
                </a:solidFill>
              </a:rPr>
              <a:t> Mohammed February 29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 1975 to October 1</a:t>
            </a:r>
            <a:r>
              <a:rPr lang="en-GB" sz="2400" baseline="30000" dirty="0">
                <a:solidFill>
                  <a:prstClr val="black"/>
                </a:solidFill>
              </a:rPr>
              <a:t>st</a:t>
            </a:r>
            <a:r>
              <a:rPr lang="en-GB" sz="2400" dirty="0">
                <a:solidFill>
                  <a:prstClr val="black"/>
                </a:solidFill>
              </a:rPr>
              <a:t>, 1975.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General </a:t>
            </a:r>
            <a:r>
              <a:rPr lang="en-GB" sz="2400" dirty="0" err="1">
                <a:solidFill>
                  <a:prstClr val="black"/>
                </a:solidFill>
              </a:rPr>
              <a:t>Olosengu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  <a:r>
              <a:rPr lang="en-GB" sz="2400" dirty="0" err="1">
                <a:solidFill>
                  <a:prstClr val="black"/>
                </a:solidFill>
              </a:rPr>
              <a:t>Obasenjo</a:t>
            </a:r>
            <a:r>
              <a:rPr lang="en-GB" sz="2400" dirty="0">
                <a:solidFill>
                  <a:prstClr val="black"/>
                </a:solidFill>
              </a:rPr>
              <a:t>  February 13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 1976 to October 1</a:t>
            </a:r>
            <a:r>
              <a:rPr lang="en-GB" sz="2400" baseline="30000" dirty="0">
                <a:solidFill>
                  <a:prstClr val="black"/>
                </a:solidFill>
              </a:rPr>
              <a:t>st</a:t>
            </a:r>
            <a:r>
              <a:rPr lang="en-GB" sz="2400" dirty="0">
                <a:solidFill>
                  <a:prstClr val="black"/>
                </a:solidFill>
              </a:rPr>
              <a:t>, 1979.</a:t>
            </a: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9916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>
                <a:solidFill>
                  <a:prstClr val="black"/>
                </a:solidFill>
              </a:rPr>
              <a:t> </a:t>
            </a:r>
            <a:r>
              <a:rPr lang="en-GB" sz="2000" dirty="0" smtClean="0">
                <a:solidFill>
                  <a:prstClr val="black"/>
                </a:solidFill>
              </a:rPr>
              <a:t>SOME NOTABLE ACHIEVEMENTS UNDER THE FIRST MILITARY REGIMES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ctr">
              <a:buNone/>
            </a:pPr>
            <a:endParaRPr lang="en-GB" sz="20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000" dirty="0">
                <a:solidFill>
                  <a:prstClr val="black"/>
                </a:solidFill>
              </a:rPr>
              <a:t>12 </a:t>
            </a:r>
            <a:r>
              <a:rPr lang="en-GB" sz="2000" dirty="0" smtClean="0">
                <a:solidFill>
                  <a:prstClr val="black"/>
                </a:solidFill>
              </a:rPr>
              <a:t>states in 1967 </a:t>
            </a:r>
            <a:r>
              <a:rPr lang="en-GB" sz="2000" dirty="0">
                <a:solidFill>
                  <a:prstClr val="black"/>
                </a:solidFill>
              </a:rPr>
              <a:t>under the regime of  General </a:t>
            </a:r>
            <a:r>
              <a:rPr lang="en-GB" sz="2000" dirty="0" err="1">
                <a:solidFill>
                  <a:prstClr val="black"/>
                </a:solidFill>
              </a:rPr>
              <a:t>Yakubu</a:t>
            </a:r>
            <a:r>
              <a:rPr lang="en-GB" sz="2000" dirty="0">
                <a:solidFill>
                  <a:prstClr val="black"/>
                </a:solidFill>
              </a:rPr>
              <a:t> Gowon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000" dirty="0" smtClean="0">
                <a:solidFill>
                  <a:prstClr val="black"/>
                </a:solidFill>
              </a:rPr>
              <a:t>Created of Abuja </a:t>
            </a:r>
            <a:r>
              <a:rPr lang="en-GB" sz="2000" dirty="0">
                <a:solidFill>
                  <a:prstClr val="black"/>
                </a:solidFill>
              </a:rPr>
              <a:t>as the Federal Capital </a:t>
            </a:r>
            <a:r>
              <a:rPr lang="en-GB" sz="2000" dirty="0" smtClean="0">
                <a:solidFill>
                  <a:prstClr val="black"/>
                </a:solidFill>
              </a:rPr>
              <a:t>Territory. </a:t>
            </a:r>
            <a:endParaRPr lang="en-GB" sz="20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000" dirty="0">
                <a:solidFill>
                  <a:prstClr val="black"/>
                </a:solidFill>
              </a:rPr>
              <a:t>In 1976</a:t>
            </a:r>
            <a:r>
              <a:rPr lang="en-GB" sz="2000" dirty="0" smtClean="0">
                <a:solidFill>
                  <a:prstClr val="black"/>
                </a:solidFill>
              </a:rPr>
              <a:t>, created Local </a:t>
            </a:r>
            <a:r>
              <a:rPr lang="en-GB" sz="2000" dirty="0">
                <a:solidFill>
                  <a:prstClr val="black"/>
                </a:solidFill>
              </a:rPr>
              <a:t>Government Council </a:t>
            </a:r>
            <a:r>
              <a:rPr lang="en-GB" sz="2000" dirty="0" smtClean="0">
                <a:solidFill>
                  <a:prstClr val="black"/>
                </a:solidFill>
              </a:rPr>
              <a:t>to be led </a:t>
            </a:r>
            <a:r>
              <a:rPr lang="en-GB" sz="2000" dirty="0">
                <a:solidFill>
                  <a:prstClr val="black"/>
                </a:solidFill>
              </a:rPr>
              <a:t>by an elected chairman. </a:t>
            </a:r>
          </a:p>
          <a:p>
            <a:pPr lvl="0">
              <a:buFont typeface="Wingdings" pitchFamily="2" charset="2"/>
              <a:buChar char="q"/>
            </a:pPr>
            <a:r>
              <a:rPr lang="en-GB" sz="2000" dirty="0">
                <a:solidFill>
                  <a:prstClr val="black"/>
                </a:solidFill>
              </a:rPr>
              <a:t>H</a:t>
            </a:r>
            <a:r>
              <a:rPr lang="en-GB" sz="2000" dirty="0" smtClean="0">
                <a:solidFill>
                  <a:prstClr val="black"/>
                </a:solidFill>
              </a:rPr>
              <a:t>anded </a:t>
            </a:r>
            <a:r>
              <a:rPr lang="en-GB" sz="2000" dirty="0">
                <a:solidFill>
                  <a:prstClr val="black"/>
                </a:solidFill>
              </a:rPr>
              <a:t>power to a democratically elected government in 1979</a:t>
            </a:r>
          </a:p>
          <a:p>
            <a:pPr lvl="0" algn="ctr">
              <a:buFont typeface="Wingdings" pitchFamily="2" charset="2"/>
              <a:buChar char="q"/>
            </a:pPr>
            <a:endParaRPr lang="en-GB" sz="2000" dirty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q"/>
            </a:pPr>
            <a:endParaRPr lang="en-GB" sz="2000" dirty="0">
              <a:solidFill>
                <a:prstClr val="black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0323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GB" dirty="0" smtClean="0"/>
              <a:t>The Second Republic Government in Nigeria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q"/>
            </a:pPr>
            <a:endParaRPr lang="en-GB" sz="2400" dirty="0" smtClean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Nigeria </a:t>
            </a:r>
            <a:r>
              <a:rPr lang="en-GB" sz="2400" dirty="0">
                <a:solidFill>
                  <a:prstClr val="black"/>
                </a:solidFill>
              </a:rPr>
              <a:t>had her Second Republic government headed by President </a:t>
            </a:r>
            <a:r>
              <a:rPr lang="en-GB" sz="2400" dirty="0" err="1">
                <a:solidFill>
                  <a:prstClr val="black"/>
                </a:solidFill>
              </a:rPr>
              <a:t>Shehu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  <a:r>
              <a:rPr lang="en-GB" sz="2400" dirty="0" err="1">
                <a:solidFill>
                  <a:prstClr val="black"/>
                </a:solidFill>
              </a:rPr>
              <a:t>Shagari</a:t>
            </a:r>
            <a:r>
              <a:rPr lang="en-GB" sz="2400" dirty="0">
                <a:solidFill>
                  <a:prstClr val="black"/>
                </a:solidFill>
              </a:rPr>
              <a:t>.  </a:t>
            </a:r>
          </a:p>
          <a:p>
            <a:pPr lvl="0">
              <a:buFont typeface="Wingdings" pitchFamily="2" charset="2"/>
              <a:buChar char="q"/>
            </a:pPr>
            <a:endParaRPr lang="en-GB" sz="2400" dirty="0" smtClean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q"/>
            </a:pPr>
            <a:r>
              <a:rPr lang="en-GB" sz="2400" dirty="0" err="1" smtClean="0">
                <a:solidFill>
                  <a:prstClr val="black"/>
                </a:solidFill>
              </a:rPr>
              <a:t>Shagar</a:t>
            </a:r>
            <a:r>
              <a:rPr lang="en-GB" sz="2400" dirty="0" smtClean="0">
                <a:solidFill>
                  <a:prstClr val="black"/>
                </a:solidFill>
              </a:rPr>
              <a:t> </a:t>
            </a:r>
            <a:r>
              <a:rPr lang="en-GB" sz="2400" dirty="0">
                <a:solidFill>
                  <a:prstClr val="black"/>
                </a:solidFill>
              </a:rPr>
              <a:t>ruled from October 1</a:t>
            </a:r>
            <a:r>
              <a:rPr lang="en-GB" sz="2400" baseline="30000" dirty="0">
                <a:solidFill>
                  <a:prstClr val="black"/>
                </a:solidFill>
              </a:rPr>
              <a:t>st</a:t>
            </a:r>
            <a:r>
              <a:rPr lang="en-GB" sz="2400" dirty="0">
                <a:solidFill>
                  <a:prstClr val="black"/>
                </a:solidFill>
              </a:rPr>
              <a:t>, 1979 to  December 31</a:t>
            </a:r>
            <a:r>
              <a:rPr lang="en-GB" sz="2400" baseline="30000" dirty="0">
                <a:solidFill>
                  <a:prstClr val="black"/>
                </a:solidFill>
              </a:rPr>
              <a:t>st</a:t>
            </a:r>
            <a:r>
              <a:rPr lang="en-GB" sz="2400" dirty="0">
                <a:solidFill>
                  <a:prstClr val="black"/>
                </a:solidFill>
              </a:rPr>
              <a:t>, 1983 when the military took over again 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71119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The Collapse of the Second Republic</a:t>
            </a:r>
            <a:endParaRPr lang="en-GB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400" dirty="0">
                <a:latin typeface="Times New Roman"/>
                <a:ea typeface="Calibri"/>
              </a:rPr>
              <a:t>The country was in deep crisis of </a:t>
            </a:r>
            <a:r>
              <a:rPr lang="en-GB" sz="2400" dirty="0" smtClean="0">
                <a:latin typeface="Times New Roman"/>
                <a:ea typeface="Calibri"/>
              </a:rPr>
              <a:t>poverty</a:t>
            </a:r>
          </a:p>
          <a:p>
            <a:pPr>
              <a:buFont typeface="Wingdings" pitchFamily="2" charset="2"/>
              <a:buChar char="q"/>
            </a:pPr>
            <a:r>
              <a:rPr lang="en-GB" sz="2400" dirty="0" smtClean="0">
                <a:latin typeface="Times New Roman"/>
                <a:ea typeface="Calibri"/>
              </a:rPr>
              <a:t>Failing </a:t>
            </a:r>
            <a:r>
              <a:rPr lang="en-GB" sz="2400" dirty="0">
                <a:latin typeface="Times New Roman"/>
                <a:ea typeface="Calibri"/>
              </a:rPr>
              <a:t>economy because the leadership had become so dependent on </a:t>
            </a:r>
            <a:r>
              <a:rPr lang="en-GB" sz="2400" dirty="0" smtClean="0">
                <a:latin typeface="Times New Roman"/>
                <a:ea typeface="Calibri"/>
              </a:rPr>
              <a:t>oil </a:t>
            </a:r>
          </a:p>
          <a:p>
            <a:pPr>
              <a:buFont typeface="Wingdings" pitchFamily="2" charset="2"/>
              <a:buChar char="q"/>
            </a:pPr>
            <a:r>
              <a:rPr lang="en-GB" sz="2400" dirty="0" smtClean="0">
                <a:latin typeface="Times New Roman"/>
                <a:ea typeface="Calibri"/>
              </a:rPr>
              <a:t>Code </a:t>
            </a:r>
            <a:r>
              <a:rPr lang="en-GB" sz="2400" dirty="0">
                <a:latin typeface="Times New Roman"/>
                <a:ea typeface="Calibri"/>
              </a:rPr>
              <a:t>of Conduct Bureau established to fight against corruption remained inactive. </a:t>
            </a:r>
            <a:endParaRPr lang="en-GB" sz="2400" dirty="0" smtClean="0">
              <a:latin typeface="Times New Roman"/>
              <a:ea typeface="Calibri"/>
            </a:endParaRPr>
          </a:p>
          <a:p>
            <a:pPr>
              <a:buFont typeface="Wingdings" pitchFamily="2" charset="2"/>
              <a:buChar char="q"/>
            </a:pPr>
            <a:r>
              <a:rPr lang="en-GB" sz="2400" dirty="0">
                <a:latin typeface="Times New Roman"/>
                <a:ea typeface="Calibri"/>
              </a:rPr>
              <a:t>C</a:t>
            </a:r>
            <a:r>
              <a:rPr lang="en-GB" sz="2400" dirty="0" smtClean="0">
                <a:latin typeface="Times New Roman"/>
                <a:ea typeface="Calibri"/>
              </a:rPr>
              <a:t>orruption </a:t>
            </a:r>
            <a:r>
              <a:rPr lang="en-GB" sz="2400" dirty="0">
                <a:latin typeface="Times New Roman"/>
                <a:ea typeface="Calibri"/>
              </a:rPr>
              <a:t>and embezzlements by any public officers</a:t>
            </a:r>
            <a:r>
              <a:rPr lang="en-GB" sz="2400" dirty="0" smtClean="0">
                <a:latin typeface="Times New Roman"/>
                <a:ea typeface="Calibri"/>
              </a:rPr>
              <a:t>. </a:t>
            </a:r>
          </a:p>
          <a:p>
            <a:pPr>
              <a:buFont typeface="Wingdings" pitchFamily="2" charset="2"/>
              <a:buChar char="q"/>
            </a:pPr>
            <a:r>
              <a:rPr lang="en-GB" sz="2400" dirty="0">
                <a:latin typeface="Times New Roman"/>
                <a:ea typeface="Calibri"/>
              </a:rPr>
              <a:t>inflation was </a:t>
            </a:r>
            <a:r>
              <a:rPr lang="en-GB" sz="2400" dirty="0" smtClean="0">
                <a:latin typeface="Times New Roman"/>
                <a:ea typeface="Calibri"/>
              </a:rPr>
              <a:t>uncontrollable, </a:t>
            </a:r>
          </a:p>
          <a:p>
            <a:pPr>
              <a:buFont typeface="Wingdings" pitchFamily="2" charset="2"/>
              <a:buChar char="q"/>
            </a:pPr>
            <a:r>
              <a:rPr lang="en-GB" sz="2400" dirty="0" smtClean="0">
                <a:latin typeface="Times New Roman"/>
                <a:ea typeface="Calibri"/>
              </a:rPr>
              <a:t>Drastic </a:t>
            </a:r>
            <a:r>
              <a:rPr lang="en-GB" sz="2400" dirty="0">
                <a:latin typeface="Times New Roman"/>
                <a:ea typeface="Calibri"/>
              </a:rPr>
              <a:t>import </a:t>
            </a:r>
            <a:r>
              <a:rPr lang="en-GB" sz="2400" dirty="0" smtClean="0">
                <a:latin typeface="Times New Roman"/>
                <a:ea typeface="Calibri"/>
              </a:rPr>
              <a:t>restrictions which forced </a:t>
            </a:r>
            <a:r>
              <a:rPr lang="en-GB" sz="2400" dirty="0">
                <a:latin typeface="Times New Roman"/>
                <a:ea typeface="Calibri"/>
              </a:rPr>
              <a:t>many factories to close </a:t>
            </a:r>
            <a:r>
              <a:rPr lang="en-GB" sz="2400" dirty="0" smtClean="0">
                <a:latin typeface="Times New Roman"/>
                <a:ea typeface="Calibri"/>
              </a:rPr>
              <a:t>down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9270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>
                <a:solidFill>
                  <a:prstClr val="black"/>
                </a:solidFill>
              </a:rPr>
              <a:t>Nigerian Democratic Republic and  the </a:t>
            </a:r>
            <a:r>
              <a:rPr lang="en-GB" sz="2000" dirty="0" smtClean="0">
                <a:solidFill>
                  <a:prstClr val="black"/>
                </a:solidFill>
              </a:rPr>
              <a:t>Second Military </a:t>
            </a:r>
            <a:r>
              <a:rPr lang="en-GB" sz="2000" dirty="0">
                <a:solidFill>
                  <a:prstClr val="black"/>
                </a:solidFill>
              </a:rPr>
              <a:t>Governments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The </a:t>
            </a:r>
            <a:r>
              <a:rPr lang="en-GB" sz="2400" dirty="0">
                <a:solidFill>
                  <a:prstClr val="black"/>
                </a:solidFill>
              </a:rPr>
              <a:t>military period covers  the regimes of: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 Major-General </a:t>
            </a:r>
            <a:r>
              <a:rPr lang="en-GB" sz="2400" dirty="0" err="1">
                <a:solidFill>
                  <a:prstClr val="black"/>
                </a:solidFill>
              </a:rPr>
              <a:t>Muhammadu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  <a:r>
              <a:rPr lang="en-GB" sz="2400" dirty="0" err="1">
                <a:solidFill>
                  <a:prstClr val="black"/>
                </a:solidFill>
              </a:rPr>
              <a:t>Buhari</a:t>
            </a:r>
            <a:r>
              <a:rPr lang="en-GB" sz="2400" dirty="0">
                <a:solidFill>
                  <a:prstClr val="black"/>
                </a:solidFill>
              </a:rPr>
              <a:t>, December 31</a:t>
            </a:r>
            <a:r>
              <a:rPr lang="en-GB" sz="2400" baseline="30000" dirty="0">
                <a:solidFill>
                  <a:prstClr val="black"/>
                </a:solidFill>
              </a:rPr>
              <a:t>st</a:t>
            </a:r>
            <a:r>
              <a:rPr lang="en-GB" sz="2400" dirty="0">
                <a:solidFill>
                  <a:prstClr val="black"/>
                </a:solidFill>
              </a:rPr>
              <a:t>, 1983 to August 27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, 1985.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General Ibrahim </a:t>
            </a:r>
            <a:r>
              <a:rPr lang="en-GB" sz="2400" dirty="0" err="1">
                <a:solidFill>
                  <a:prstClr val="black"/>
                </a:solidFill>
              </a:rPr>
              <a:t>Badamashi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  <a:r>
              <a:rPr lang="en-GB" sz="2400" dirty="0" err="1">
                <a:solidFill>
                  <a:prstClr val="black"/>
                </a:solidFill>
              </a:rPr>
              <a:t>Babangida</a:t>
            </a:r>
            <a:r>
              <a:rPr lang="en-GB" sz="2400" dirty="0">
                <a:solidFill>
                  <a:prstClr val="black"/>
                </a:solidFill>
              </a:rPr>
              <a:t>, August 27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 , 1985 to August 26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, 1993. 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71981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 smtClean="0">
                <a:solidFill>
                  <a:prstClr val="black"/>
                </a:solidFill>
              </a:rPr>
              <a:t> </a:t>
            </a:r>
            <a:r>
              <a:rPr lang="en-GB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ACHIEVEMENTS UNDER THE SECOND  MILITARY REGIMES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General </a:t>
            </a:r>
            <a:r>
              <a:rPr lang="en-GB" sz="2400" dirty="0" err="1" smtClean="0">
                <a:solidFill>
                  <a:prstClr val="black"/>
                </a:solidFill>
              </a:rPr>
              <a:t>Buhari</a:t>
            </a:r>
            <a:r>
              <a:rPr lang="en-GB" sz="2400" dirty="0" smtClean="0">
                <a:solidFill>
                  <a:prstClr val="black"/>
                </a:solidFill>
              </a:rPr>
              <a:t> War </a:t>
            </a:r>
            <a:r>
              <a:rPr lang="en-GB" sz="2400" dirty="0">
                <a:solidFill>
                  <a:prstClr val="black"/>
                </a:solidFill>
              </a:rPr>
              <a:t>Against Indiscipline (</a:t>
            </a:r>
            <a:r>
              <a:rPr lang="en-GB" sz="2400" dirty="0" smtClean="0">
                <a:solidFill>
                  <a:prstClr val="black"/>
                </a:solidFill>
              </a:rPr>
              <a:t>WAI). 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General </a:t>
            </a:r>
            <a:r>
              <a:rPr lang="en-GB" sz="2400" dirty="0" err="1" smtClean="0">
                <a:solidFill>
                  <a:prstClr val="black"/>
                </a:solidFill>
              </a:rPr>
              <a:t>Babaginda</a:t>
            </a:r>
            <a:r>
              <a:rPr lang="en-GB" sz="2400" dirty="0" smtClean="0">
                <a:solidFill>
                  <a:prstClr val="black"/>
                </a:solidFill>
              </a:rPr>
              <a:t> Structural Adjustment Programme (SAP),  </a:t>
            </a: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National</a:t>
            </a:r>
            <a:r>
              <a:rPr lang="en-GB" sz="2400" dirty="0" smtClean="0">
                <a:solidFill>
                  <a:prstClr val="black"/>
                </a:solidFill>
              </a:rPr>
              <a:t> </a:t>
            </a:r>
            <a:r>
              <a:rPr lang="en-GB" sz="2400" dirty="0">
                <a:solidFill>
                  <a:prstClr val="black"/>
                </a:solidFill>
              </a:rPr>
              <a:t>Directorate of Employment (NDE)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 Directorate for Food, Road and Infrastructure (DFRRI)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Better Life for Rural Dwellers (</a:t>
            </a:r>
            <a:r>
              <a:rPr lang="en-GB" sz="2400" dirty="0" smtClean="0">
                <a:solidFill>
                  <a:prstClr val="black"/>
                </a:solidFill>
              </a:rPr>
              <a:t>BLRD) </a:t>
            </a: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Peoples’ Bank and Community Banks.</a:t>
            </a:r>
          </a:p>
          <a:p>
            <a:pPr algn="just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925655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Interim Administration in Nigeria</a:t>
            </a:r>
            <a:endParaRPr lang="en-GB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2776"/>
            <a:ext cx="9144000" cy="5445224"/>
          </a:xfrm>
        </p:spPr>
        <p:txBody>
          <a:bodyPr>
            <a:normAutofit/>
          </a:bodyPr>
          <a:lstStyle/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M. </a:t>
            </a:r>
            <a:r>
              <a:rPr lang="en-GB" sz="2400" dirty="0">
                <a:solidFill>
                  <a:prstClr val="black"/>
                </a:solidFill>
              </a:rPr>
              <a:t>K.O </a:t>
            </a:r>
            <a:r>
              <a:rPr lang="en-GB" sz="2400" dirty="0" err="1">
                <a:solidFill>
                  <a:prstClr val="black"/>
                </a:solidFill>
              </a:rPr>
              <a:t>Abiola</a:t>
            </a:r>
            <a:r>
              <a:rPr lang="en-GB" sz="2400" dirty="0">
                <a:solidFill>
                  <a:prstClr val="black"/>
                </a:solidFill>
              </a:rPr>
              <a:t> of </a:t>
            </a:r>
            <a:r>
              <a:rPr lang="en-GB" sz="2400" dirty="0" smtClean="0">
                <a:solidFill>
                  <a:prstClr val="black"/>
                </a:solidFill>
              </a:rPr>
              <a:t>Social Democratic Party (SDP) </a:t>
            </a:r>
            <a:r>
              <a:rPr lang="en-GB" sz="2400" dirty="0">
                <a:solidFill>
                  <a:prstClr val="black"/>
                </a:solidFill>
              </a:rPr>
              <a:t>won a decisive victory in the presidential election held in June 12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, 1993 </a:t>
            </a:r>
            <a:r>
              <a:rPr lang="en-GB" sz="2400" dirty="0" smtClean="0">
                <a:solidFill>
                  <a:prstClr val="black"/>
                </a:solidFill>
              </a:rPr>
              <a:t>but </a:t>
            </a:r>
            <a:r>
              <a:rPr lang="en-GB" sz="2400" dirty="0">
                <a:solidFill>
                  <a:prstClr val="black"/>
                </a:solidFill>
              </a:rPr>
              <a:t>the election was annulled by the military.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Bowing to </a:t>
            </a:r>
            <a:r>
              <a:rPr lang="en-GB" sz="2400" dirty="0" smtClean="0">
                <a:solidFill>
                  <a:prstClr val="black"/>
                </a:solidFill>
              </a:rPr>
              <a:t>pressure, </a:t>
            </a:r>
            <a:r>
              <a:rPr lang="en-GB" sz="2400" dirty="0" err="1">
                <a:solidFill>
                  <a:prstClr val="black"/>
                </a:solidFill>
              </a:rPr>
              <a:t>Babaginda</a:t>
            </a:r>
            <a:r>
              <a:rPr lang="en-GB" sz="2400" dirty="0">
                <a:solidFill>
                  <a:prstClr val="black"/>
                </a:solidFill>
              </a:rPr>
              <a:t> stepped aside and an interim Government was put in place and headed by Chief Ernest </a:t>
            </a:r>
            <a:r>
              <a:rPr lang="en-GB" sz="2400" dirty="0" err="1">
                <a:solidFill>
                  <a:prstClr val="black"/>
                </a:solidFill>
              </a:rPr>
              <a:t>Shonikon</a:t>
            </a:r>
            <a:r>
              <a:rPr lang="en-GB" sz="2400" dirty="0">
                <a:solidFill>
                  <a:prstClr val="black"/>
                </a:solidFill>
              </a:rPr>
              <a:t> from August, 1993 to November 17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, 1993.</a:t>
            </a:r>
          </a:p>
          <a:p>
            <a:pPr lvl="0"/>
            <a:endParaRPr lang="en-GB" sz="2400" dirty="0">
              <a:solidFill>
                <a:prstClr val="black"/>
              </a:solidFill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36132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>
                <a:solidFill>
                  <a:prstClr val="black"/>
                </a:solidFill>
              </a:rPr>
              <a:t>The Third Military Regimes in Nigeria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General </a:t>
            </a:r>
            <a:r>
              <a:rPr lang="en-GB" sz="2400" dirty="0" err="1">
                <a:solidFill>
                  <a:prstClr val="black"/>
                </a:solidFill>
              </a:rPr>
              <a:t>Sani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  <a:r>
              <a:rPr lang="en-GB" sz="2400" dirty="0" err="1">
                <a:solidFill>
                  <a:prstClr val="black"/>
                </a:solidFill>
              </a:rPr>
              <a:t>Abacha</a:t>
            </a:r>
            <a:r>
              <a:rPr lang="en-GB" sz="2400" dirty="0">
                <a:solidFill>
                  <a:prstClr val="black"/>
                </a:solidFill>
              </a:rPr>
              <a:t>, </a:t>
            </a:r>
            <a:r>
              <a:rPr lang="en-GB" sz="2400" dirty="0" smtClean="0">
                <a:solidFill>
                  <a:prstClr val="black"/>
                </a:solidFill>
              </a:rPr>
              <a:t>November </a:t>
            </a:r>
            <a:r>
              <a:rPr lang="en-GB" sz="2400" dirty="0">
                <a:solidFill>
                  <a:prstClr val="black"/>
                </a:solidFill>
              </a:rPr>
              <a:t>17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 to June 8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, 1998.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General </a:t>
            </a:r>
            <a:r>
              <a:rPr lang="en-GB" sz="2400" dirty="0" err="1">
                <a:solidFill>
                  <a:prstClr val="black"/>
                </a:solidFill>
              </a:rPr>
              <a:t>Abdullsalami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  <a:r>
              <a:rPr lang="en-GB" sz="2400" dirty="0" err="1">
                <a:solidFill>
                  <a:prstClr val="black"/>
                </a:solidFill>
              </a:rPr>
              <a:t>Abubakar</a:t>
            </a:r>
            <a:r>
              <a:rPr lang="en-GB" sz="2400" dirty="0">
                <a:solidFill>
                  <a:prstClr val="black"/>
                </a:solidFill>
              </a:rPr>
              <a:t>, June 8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, 1998 to May 29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, 1999. 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77023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 smtClean="0">
                <a:solidFill>
                  <a:prstClr val="black"/>
                </a:solidFill>
              </a:rPr>
              <a:t>Some Notable Achievements </a:t>
            </a:r>
            <a:r>
              <a:rPr lang="en-GB" sz="2000" dirty="0">
                <a:solidFill>
                  <a:prstClr val="black"/>
                </a:solidFill>
              </a:rPr>
              <a:t>of the Third Military Regimes  in Nigeria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just">
              <a:buNone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General </a:t>
            </a:r>
            <a:r>
              <a:rPr lang="en-GB" sz="2400" dirty="0" err="1" smtClean="0">
                <a:solidFill>
                  <a:prstClr val="black"/>
                </a:solidFill>
              </a:rPr>
              <a:t>Abdulsallami</a:t>
            </a:r>
            <a:r>
              <a:rPr lang="en-GB" sz="2400" dirty="0" smtClean="0">
                <a:solidFill>
                  <a:prstClr val="black"/>
                </a:solidFill>
              </a:rPr>
              <a:t> return </a:t>
            </a:r>
            <a:r>
              <a:rPr lang="en-GB" sz="2400" dirty="0">
                <a:solidFill>
                  <a:prstClr val="black"/>
                </a:solidFill>
              </a:rPr>
              <a:t>the country to civilian rule  founded under the following institutions: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Independent National Election Commission (INEC),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Election Tribunal were established at the national and state levels,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Political parties were formed,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With a successful election, </a:t>
            </a:r>
            <a:r>
              <a:rPr lang="en-GB" sz="2400" dirty="0" err="1">
                <a:solidFill>
                  <a:prstClr val="black"/>
                </a:solidFill>
              </a:rPr>
              <a:t>Abdusallami</a:t>
            </a:r>
            <a:r>
              <a:rPr lang="en-GB" sz="2400" dirty="0">
                <a:solidFill>
                  <a:prstClr val="black"/>
                </a:solidFill>
              </a:rPr>
              <a:t> handed power to a democratically elected president on May 29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, 1999 which brought in Nigeria’s fourth Republic till date.</a:t>
            </a:r>
          </a:p>
          <a:p>
            <a:pPr lvl="0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23099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>
                <a:solidFill>
                  <a:prstClr val="black"/>
                </a:solidFill>
              </a:rPr>
              <a:t>The Forth Republic Governments in Nigeria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endParaRPr lang="en-GB" sz="2400" dirty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q"/>
            </a:pPr>
            <a:r>
              <a:rPr lang="en-GB" sz="2400" dirty="0" err="1" smtClean="0">
                <a:solidFill>
                  <a:prstClr val="black"/>
                </a:solidFill>
              </a:rPr>
              <a:t>Olusengu</a:t>
            </a:r>
            <a:r>
              <a:rPr lang="en-GB" sz="2400" dirty="0" smtClean="0">
                <a:solidFill>
                  <a:prstClr val="black"/>
                </a:solidFill>
              </a:rPr>
              <a:t> </a:t>
            </a:r>
            <a:r>
              <a:rPr lang="en-GB" sz="2400" dirty="0" err="1">
                <a:solidFill>
                  <a:prstClr val="black"/>
                </a:solidFill>
              </a:rPr>
              <a:t>Obasenjo</a:t>
            </a:r>
            <a:r>
              <a:rPr lang="en-GB" sz="2400" dirty="0">
                <a:solidFill>
                  <a:prstClr val="black"/>
                </a:solidFill>
              </a:rPr>
              <a:t>  on May 29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 smtClean="0">
                <a:solidFill>
                  <a:prstClr val="black"/>
                </a:solidFill>
              </a:rPr>
              <a:t>, 1999 </a:t>
            </a:r>
            <a:r>
              <a:rPr lang="en-GB" sz="2400" dirty="0">
                <a:solidFill>
                  <a:prstClr val="black"/>
                </a:solidFill>
              </a:rPr>
              <a:t>to May 29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, 2007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President </a:t>
            </a:r>
            <a:r>
              <a:rPr lang="en-GB" sz="2400" dirty="0" err="1">
                <a:solidFill>
                  <a:prstClr val="black"/>
                </a:solidFill>
              </a:rPr>
              <a:t>Umaru</a:t>
            </a:r>
            <a:r>
              <a:rPr lang="en-GB" sz="2400" dirty="0">
                <a:solidFill>
                  <a:prstClr val="black"/>
                </a:solidFill>
              </a:rPr>
              <a:t> Musa </a:t>
            </a:r>
            <a:r>
              <a:rPr lang="en-GB" sz="2400" dirty="0" err="1">
                <a:solidFill>
                  <a:prstClr val="black"/>
                </a:solidFill>
              </a:rPr>
              <a:t>Yar</a:t>
            </a:r>
            <a:r>
              <a:rPr lang="en-GB" sz="2400" dirty="0">
                <a:solidFill>
                  <a:prstClr val="black"/>
                </a:solidFill>
              </a:rPr>
              <a:t>; </a:t>
            </a:r>
            <a:r>
              <a:rPr lang="en-GB" sz="2400" dirty="0" err="1">
                <a:solidFill>
                  <a:prstClr val="black"/>
                </a:solidFill>
              </a:rPr>
              <a:t>Adua</a:t>
            </a:r>
            <a:r>
              <a:rPr lang="en-GB" sz="2400" dirty="0">
                <a:solidFill>
                  <a:prstClr val="black"/>
                </a:solidFill>
              </a:rPr>
              <a:t>, May 29, 2007 </a:t>
            </a:r>
            <a:r>
              <a:rPr lang="en-GB" sz="2400" dirty="0" smtClean="0">
                <a:solidFill>
                  <a:prstClr val="black"/>
                </a:solidFill>
              </a:rPr>
              <a:t>to May </a:t>
            </a:r>
            <a:r>
              <a:rPr lang="en-GB" sz="2400" dirty="0">
                <a:solidFill>
                  <a:prstClr val="black"/>
                </a:solidFill>
              </a:rPr>
              <a:t>5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, 2010,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President </a:t>
            </a:r>
            <a:r>
              <a:rPr lang="en-GB" sz="2400" dirty="0" err="1">
                <a:solidFill>
                  <a:prstClr val="black"/>
                </a:solidFill>
              </a:rPr>
              <a:t>Goodluck</a:t>
            </a:r>
            <a:r>
              <a:rPr lang="en-GB" sz="2400" dirty="0">
                <a:solidFill>
                  <a:prstClr val="black"/>
                </a:solidFill>
              </a:rPr>
              <a:t> Jonathan, May 5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, 2010 to May 29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, 2015,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President </a:t>
            </a:r>
            <a:r>
              <a:rPr lang="en-GB" sz="2400" dirty="0" err="1">
                <a:solidFill>
                  <a:prstClr val="black"/>
                </a:solidFill>
              </a:rPr>
              <a:t>Muhammadu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  <a:r>
              <a:rPr lang="en-GB" sz="2400" dirty="0" err="1">
                <a:solidFill>
                  <a:prstClr val="black"/>
                </a:solidFill>
              </a:rPr>
              <a:t>Buhari</a:t>
            </a:r>
            <a:r>
              <a:rPr lang="en-GB" sz="2400" dirty="0">
                <a:solidFill>
                  <a:prstClr val="black"/>
                </a:solidFill>
              </a:rPr>
              <a:t> led from May 29</a:t>
            </a:r>
            <a:r>
              <a:rPr lang="en-GB" sz="2400" baseline="30000" dirty="0">
                <a:solidFill>
                  <a:prstClr val="black"/>
                </a:solidFill>
              </a:rPr>
              <a:t>th</a:t>
            </a:r>
            <a:r>
              <a:rPr lang="en-GB" sz="2400" dirty="0">
                <a:solidFill>
                  <a:prstClr val="black"/>
                </a:solidFill>
              </a:rPr>
              <a:t>, 2015 to </a:t>
            </a:r>
            <a:r>
              <a:rPr lang="en-GB" sz="2400" dirty="0" smtClean="0">
                <a:solidFill>
                  <a:prstClr val="black"/>
                </a:solidFill>
              </a:rPr>
              <a:t>May 29</a:t>
            </a:r>
            <a:r>
              <a:rPr lang="en-GB" sz="2400" baseline="30000" dirty="0" smtClean="0">
                <a:solidFill>
                  <a:prstClr val="black"/>
                </a:solidFill>
              </a:rPr>
              <a:t>th</a:t>
            </a:r>
            <a:r>
              <a:rPr lang="en-GB" sz="2400" dirty="0" smtClean="0">
                <a:solidFill>
                  <a:prstClr val="black"/>
                </a:solidFill>
              </a:rPr>
              <a:t>, 2023 </a:t>
            </a:r>
            <a:r>
              <a:rPr lang="en-GB" sz="2400" dirty="0">
                <a:solidFill>
                  <a:prstClr val="black"/>
                </a:solidFill>
              </a:rPr>
              <a:t>when he successfully handed power to </a:t>
            </a:r>
            <a:r>
              <a:rPr lang="en-GB" sz="2400" dirty="0" smtClean="0">
                <a:solidFill>
                  <a:prstClr val="black"/>
                </a:solidFill>
              </a:rPr>
              <a:t>Senator Ahmed Bola  </a:t>
            </a:r>
            <a:r>
              <a:rPr lang="en-GB" sz="2400" dirty="0" err="1">
                <a:solidFill>
                  <a:prstClr val="black"/>
                </a:solidFill>
              </a:rPr>
              <a:t>Tinubu</a:t>
            </a:r>
            <a:r>
              <a:rPr lang="en-GB" sz="2400" dirty="0">
                <a:solidFill>
                  <a:prstClr val="black"/>
                </a:solidFill>
              </a:rPr>
              <a:t>.</a:t>
            </a:r>
          </a:p>
          <a:p>
            <a:pPr lvl="0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79492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>
                <a:solidFill>
                  <a:prstClr val="black"/>
                </a:solidFill>
              </a:rPr>
              <a:t>Some notable Achievements under the Fourth Republic Governments in Nigeria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GB" sz="2400" dirty="0" err="1">
                <a:solidFill>
                  <a:prstClr val="black"/>
                </a:solidFill>
              </a:rPr>
              <a:t>Obasenjo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 err="1" smtClean="0">
                <a:solidFill>
                  <a:prstClr val="black"/>
                </a:solidFill>
              </a:rPr>
              <a:t>Obasenjo</a:t>
            </a:r>
            <a:r>
              <a:rPr lang="en-GB" sz="2400" dirty="0" smtClean="0">
                <a:solidFill>
                  <a:prstClr val="black"/>
                </a:solidFill>
              </a:rPr>
              <a:t> established </a:t>
            </a:r>
            <a:r>
              <a:rPr lang="en-GB" sz="2400" dirty="0">
                <a:solidFill>
                  <a:prstClr val="black"/>
                </a:solidFill>
              </a:rPr>
              <a:t>the economic and Financial Crime Commission </a:t>
            </a:r>
            <a:r>
              <a:rPr lang="en-GB" sz="2400" dirty="0" smtClean="0">
                <a:solidFill>
                  <a:prstClr val="black"/>
                </a:solidFill>
              </a:rPr>
              <a:t>(EFCC </a:t>
            </a:r>
            <a:r>
              <a:rPr lang="en-GB" sz="2400" dirty="0">
                <a:solidFill>
                  <a:prstClr val="black"/>
                </a:solidFill>
              </a:rPr>
              <a:t>) and Independent Crime  Prevention Commission (ICPC).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He transformed the communication sector through the introduction of the </a:t>
            </a:r>
            <a:r>
              <a:rPr lang="en-GB" sz="2400" dirty="0" smtClean="0">
                <a:solidFill>
                  <a:prstClr val="black"/>
                </a:solidFill>
              </a:rPr>
              <a:t>Global System for Mobil Communication GSMC.</a:t>
            </a:r>
            <a:endParaRPr lang="en-GB" sz="2400" dirty="0">
              <a:solidFill>
                <a:prstClr val="black"/>
              </a:solidFill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11946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GB" sz="2400" dirty="0">
                <a:solidFill>
                  <a:prstClr val="black"/>
                </a:solidFill>
              </a:rPr>
              <a:t>Musa </a:t>
            </a:r>
            <a:r>
              <a:rPr lang="en-GB" sz="2400" dirty="0" err="1">
                <a:solidFill>
                  <a:prstClr val="black"/>
                </a:solidFill>
              </a:rPr>
              <a:t>Yar</a:t>
            </a:r>
            <a:r>
              <a:rPr lang="en-GB" sz="2400" dirty="0">
                <a:solidFill>
                  <a:prstClr val="black"/>
                </a:solidFill>
              </a:rPr>
              <a:t>’ </a:t>
            </a:r>
            <a:r>
              <a:rPr lang="en-GB" sz="2400" dirty="0" err="1">
                <a:solidFill>
                  <a:prstClr val="black"/>
                </a:solidFill>
              </a:rPr>
              <a:t>Adua</a:t>
            </a:r>
            <a:r>
              <a:rPr lang="en-GB" sz="2400" dirty="0">
                <a:solidFill>
                  <a:prstClr val="black"/>
                </a:solidFill>
              </a:rPr>
              <a:t> </a:t>
            </a:r>
          </a:p>
          <a:p>
            <a:pPr marL="0" lvl="0" indent="0" algn="just">
              <a:buNone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He granted Amnesty to Niger Delta Militants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Created Ministry of Niger Delta Affairs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Established Niger Delta Development Commission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His government was committed to Rule of Law. 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His reversal of </a:t>
            </a:r>
            <a:r>
              <a:rPr lang="en-GB" sz="2400" dirty="0" smtClean="0">
                <a:solidFill>
                  <a:prstClr val="black"/>
                </a:solidFill>
              </a:rPr>
              <a:t>fuel price </a:t>
            </a:r>
            <a:r>
              <a:rPr lang="en-GB" sz="2400" dirty="0">
                <a:solidFill>
                  <a:prstClr val="black"/>
                </a:solidFill>
              </a:rPr>
              <a:t>to </a:t>
            </a:r>
            <a:r>
              <a:rPr lang="en-GB" sz="2400" dirty="0" smtClean="0">
                <a:solidFill>
                  <a:prstClr val="black"/>
                </a:solidFill>
              </a:rPr>
              <a:t>65 </a:t>
            </a:r>
            <a:r>
              <a:rPr lang="en-GB" sz="2400" dirty="0">
                <a:solidFill>
                  <a:prstClr val="black"/>
                </a:solidFill>
              </a:rPr>
              <a:t>Naira </a:t>
            </a:r>
            <a:r>
              <a:rPr lang="en-GB" sz="2400" dirty="0" smtClean="0">
                <a:solidFill>
                  <a:prstClr val="black"/>
                </a:solidFill>
              </a:rPr>
              <a:t>per litre that saw </a:t>
            </a:r>
            <a:r>
              <a:rPr lang="en-GB" sz="2400" dirty="0">
                <a:solidFill>
                  <a:prstClr val="black"/>
                </a:solidFill>
              </a:rPr>
              <a:t>the disappearance of long queues at filling stations in Nigeria.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668274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pPr lvl="0">
              <a:spcBef>
                <a:spcPct val="20000"/>
              </a:spcBef>
            </a:pPr>
            <a:r>
              <a:rPr lang="en-GB" sz="2800" dirty="0">
                <a:solidFill>
                  <a:prstClr val="black"/>
                </a:solidFill>
                <a:ea typeface="+mn-ea"/>
                <a:cs typeface="+mn-cs"/>
              </a:rPr>
              <a:t>President </a:t>
            </a:r>
            <a:r>
              <a:rPr lang="en-GB" sz="2800" dirty="0" err="1">
                <a:solidFill>
                  <a:prstClr val="black"/>
                </a:solidFill>
                <a:ea typeface="+mn-ea"/>
                <a:cs typeface="+mn-cs"/>
              </a:rPr>
              <a:t>Goodluck</a:t>
            </a:r>
            <a:r>
              <a:rPr lang="en-GB" sz="2800" dirty="0">
                <a:solidFill>
                  <a:prstClr val="black"/>
                </a:solidFill>
                <a:ea typeface="+mn-ea"/>
                <a:cs typeface="+mn-cs"/>
              </a:rPr>
              <a:t> Jonathan and General </a:t>
            </a:r>
            <a:r>
              <a:rPr lang="en-GB" sz="2800" dirty="0" err="1">
                <a:solidFill>
                  <a:prstClr val="black"/>
                </a:solidFill>
                <a:ea typeface="+mn-ea"/>
                <a:cs typeface="+mn-cs"/>
              </a:rPr>
              <a:t>Muhammadu</a:t>
            </a:r>
            <a:r>
              <a:rPr lang="en-GB" sz="2800" dirty="0">
                <a:solidFill>
                  <a:prstClr val="black"/>
                </a:solidFill>
                <a:ea typeface="+mn-ea"/>
                <a:cs typeface="+mn-cs"/>
              </a:rPr>
              <a:t> </a:t>
            </a:r>
            <a:r>
              <a:rPr lang="en-GB" sz="2800" dirty="0" err="1">
                <a:solidFill>
                  <a:prstClr val="black"/>
                </a:solidFill>
                <a:ea typeface="+mn-ea"/>
                <a:cs typeface="+mn-cs"/>
              </a:rPr>
              <a:t>Buhari</a:t>
            </a:r>
            <a:r>
              <a:rPr lang="en-GB" sz="2800" dirty="0">
                <a:solidFill>
                  <a:prstClr val="black"/>
                </a:solidFill>
                <a:ea typeface="+mn-ea"/>
                <a:cs typeface="+mn-cs"/>
              </a:rPr>
              <a:t>  </a:t>
            </a:r>
            <a:br>
              <a:rPr lang="en-GB" sz="2800" dirty="0">
                <a:solidFill>
                  <a:prstClr val="black"/>
                </a:solidFill>
                <a:ea typeface="+mn-ea"/>
                <a:cs typeface="+mn-cs"/>
              </a:rPr>
            </a:b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The Two governments made frantic efforts to combat corruption and insecurity in Nigeria with no positive result because corruption is fighting back.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73763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prstClr val="black"/>
                </a:solidFill>
              </a:rPr>
              <a:t>Learning Outcome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Autofit/>
          </a:bodyPr>
          <a:lstStyle/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At the end of the  </a:t>
            </a:r>
            <a:r>
              <a:rPr lang="en-GB" sz="2400" dirty="0" smtClean="0">
                <a:solidFill>
                  <a:prstClr val="black"/>
                </a:solidFill>
              </a:rPr>
              <a:t>module, </a:t>
            </a:r>
            <a:r>
              <a:rPr lang="en-GB" sz="2400" dirty="0">
                <a:solidFill>
                  <a:prstClr val="black"/>
                </a:solidFill>
              </a:rPr>
              <a:t>students should: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Narrate </a:t>
            </a:r>
            <a:r>
              <a:rPr lang="en-GB" sz="2400" dirty="0" smtClean="0">
                <a:solidFill>
                  <a:prstClr val="black"/>
                </a:solidFill>
              </a:rPr>
              <a:t>on British </a:t>
            </a:r>
            <a:r>
              <a:rPr lang="en-GB" sz="2400" dirty="0">
                <a:solidFill>
                  <a:prstClr val="black"/>
                </a:solidFill>
              </a:rPr>
              <a:t>conquest and subsequent colonisation of Nigeria.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 Provide reasons for the </a:t>
            </a:r>
            <a:r>
              <a:rPr lang="en-GB" sz="2400" dirty="0" smtClean="0">
                <a:solidFill>
                  <a:prstClr val="black"/>
                </a:solidFill>
              </a:rPr>
              <a:t>introduction of indirect rule system of administration in Nigeria.</a:t>
            </a:r>
            <a:endParaRPr lang="en-GB" sz="2400" dirty="0">
              <a:solidFill>
                <a:prstClr val="black"/>
              </a:solidFill>
            </a:endParaRP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Explain the different constitutional developments in Nigeria and their implications on the current socio-political situation in Nigeria</a:t>
            </a:r>
          </a:p>
          <a:p>
            <a:pPr lvl="0" algn="just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Within the present democratic dispensations, differentiate between military rule, parliamentary and presidential  administrations in Nigeria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Increase understanding on the pre-colonial socio-political organisation of Nigeria.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>
                <a:solidFill>
                  <a:prstClr val="black"/>
                </a:solidFill>
              </a:rPr>
              <a:t>Establish the various achievements recorded by the military regimes in Nigeria</a:t>
            </a:r>
            <a:r>
              <a:rPr lang="en-GB" sz="2400" dirty="0" smtClean="0">
                <a:solidFill>
                  <a:prstClr val="black"/>
                </a:solidFill>
              </a:rPr>
              <a:t>. </a:t>
            </a:r>
          </a:p>
          <a:p>
            <a:pPr lvl="0">
              <a:buFont typeface="Wingdings" pitchFamily="2" charset="2"/>
              <a:buChar char="q"/>
            </a:pPr>
            <a:r>
              <a:rPr lang="en-GB" sz="2400" dirty="0" smtClean="0">
                <a:solidFill>
                  <a:prstClr val="black"/>
                </a:solidFill>
              </a:rPr>
              <a:t>Identify the agents responsible for the colonisation of Nigeria.</a:t>
            </a:r>
            <a:endParaRPr lang="en-GB" sz="2400" dirty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q"/>
            </a:pPr>
            <a:endParaRPr lang="en-GB" sz="2400" dirty="0">
              <a:solidFill>
                <a:prstClr val="black"/>
              </a:solidFill>
            </a:endParaRPr>
          </a:p>
          <a:p>
            <a:pPr lvl="0"/>
            <a:endParaRPr lang="en-GB" sz="2400" dirty="0">
              <a:solidFill>
                <a:prstClr val="black"/>
              </a:solidFill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875201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endParaRPr lang="en-GB" sz="2400" dirty="0" smtClean="0"/>
          </a:p>
          <a:p>
            <a:pPr marL="0" indent="0" algn="just">
              <a:buNone/>
            </a:pPr>
            <a:r>
              <a:rPr lang="en-GB" sz="2400" dirty="0" smtClean="0"/>
              <a:t>This study have examine the events, developments and the changes in the </a:t>
            </a:r>
            <a:r>
              <a:rPr lang="en-GB" sz="2400" dirty="0"/>
              <a:t>N</a:t>
            </a:r>
            <a:r>
              <a:rPr lang="en-GB" sz="2400" dirty="0" smtClean="0"/>
              <a:t>igeria area in the pre-colonial, colonial and the post-colonial periods of her history. </a:t>
            </a:r>
            <a:r>
              <a:rPr lang="en-GB" sz="2400" dirty="0">
                <a:latin typeface="Book Antiqua"/>
              </a:rPr>
              <a:t>The territories that later became Nigeria comprised different states with sovereign status</a:t>
            </a:r>
            <a:r>
              <a:rPr lang="en-GB" sz="2400" dirty="0" smtClean="0">
                <a:latin typeface="Book Antiqua"/>
              </a:rPr>
              <a:t>. The relations between the various groups in the pre-colonial times was quite mutual and peaceful though with relative conflicts over scarce resources. The </a:t>
            </a:r>
            <a:r>
              <a:rPr lang="en-GB" sz="2400" dirty="0">
                <a:latin typeface="Book Antiqua"/>
              </a:rPr>
              <a:t>credit for the amalgamation and emergence of Nigeria in its present form goes to </a:t>
            </a:r>
            <a:r>
              <a:rPr lang="en-GB" sz="2400" dirty="0" smtClean="0">
                <a:latin typeface="Book Antiqua"/>
              </a:rPr>
              <a:t>the British</a:t>
            </a:r>
            <a:r>
              <a:rPr lang="en-GB" sz="2400" dirty="0">
                <a:latin typeface="Book Antiqua"/>
              </a:rPr>
              <a:t>. </a:t>
            </a:r>
            <a:r>
              <a:rPr lang="en-GB" sz="2400" dirty="0" smtClean="0">
                <a:latin typeface="Book Antiqua"/>
              </a:rPr>
              <a:t>The granting of independence to Nigeria by the British in 1960 ushered in a new era in the history of Nigeria with a lots of consequences.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905118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End of Lecture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964488" cy="5257800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 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dirty="0" smtClean="0"/>
              <a:t>THANK YOU FOR LISTENING. </a:t>
            </a:r>
          </a:p>
          <a:p>
            <a:pPr marL="0" indent="0" algn="ctr">
              <a:buNone/>
            </a:pPr>
            <a:r>
              <a:rPr lang="en-GB" dirty="0" smtClean="0"/>
              <a:t>SEE YOU IN THE NEXT CLASS.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0693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</TotalTime>
  <Words>1916</Words>
  <Application>Microsoft Office PowerPoint</Application>
  <PresentationFormat>On-screen Show (4:3)</PresentationFormat>
  <Paragraphs>233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Module 3</vt:lpstr>
      <vt:lpstr>Introduction</vt:lpstr>
      <vt:lpstr> AIM AND OBJECTIVES  </vt:lpstr>
      <vt:lpstr>SPECIFIC LEARNING OUTCOME</vt:lpstr>
      <vt:lpstr>The Pre-Colonial Era  </vt:lpstr>
      <vt:lpstr>Inter-group Relations IN Pre-colonial Nigeria Area</vt:lpstr>
      <vt:lpstr>The Beginning of British Interest in Nigeria</vt:lpstr>
      <vt:lpstr> British Motives for Nigerian Colonisation   </vt:lpstr>
      <vt:lpstr>BRITISH  AMALGAMATION POLICY IN NIGERIA </vt:lpstr>
      <vt:lpstr>British Reasons for the Amalgamation</vt:lpstr>
      <vt:lpstr>The Indirect Rule System of Administration in Nigeria </vt:lpstr>
      <vt:lpstr>Colonialism and Constitutional Development in Nigeria</vt:lpstr>
      <vt:lpstr>Features of the Colonial Constitutions</vt:lpstr>
      <vt:lpstr>The Post-Colonial Period and  Developments</vt:lpstr>
      <vt:lpstr>Constitutional Development in Post-colonial Nigeria</vt:lpstr>
      <vt:lpstr>The First Republic Government in Nigeria</vt:lpstr>
      <vt:lpstr>FEATURES OF THE 1976 and 1999 CONSTITUTIONS</vt:lpstr>
      <vt:lpstr>The Collapse of the First Republic</vt:lpstr>
      <vt:lpstr>THE FIRST MILITARY  COUP AND MILITARY GOVERNMENTS IN NIGERIA</vt:lpstr>
      <vt:lpstr> SOME NOTABLE ACHIEVEMENTS UNDER THE FIRST MILITARY REGIMES</vt:lpstr>
      <vt:lpstr>The Second Republic Government in Nigeria</vt:lpstr>
      <vt:lpstr>The Collapse of the Second Republic</vt:lpstr>
      <vt:lpstr>Nigerian Democratic Republic and  the Second Military Governments</vt:lpstr>
      <vt:lpstr> ACHIEVEMENTS UNDER THE SECOND  MILITARY REGIMES</vt:lpstr>
      <vt:lpstr>Interim Administration in Nigeria</vt:lpstr>
      <vt:lpstr>The Third Military Regimes in Nigeria</vt:lpstr>
      <vt:lpstr>Some Notable Achievements of the Third Military Regimes  in Nigeria</vt:lpstr>
      <vt:lpstr>The Forth Republic Governments in Nigeria</vt:lpstr>
      <vt:lpstr>Some notable Achievements under the Fourth Republic Governments in Nigeria</vt:lpstr>
      <vt:lpstr>PowerPoint Presentation</vt:lpstr>
      <vt:lpstr>President Goodluck Jonathan and General Muhammadu Buhari   </vt:lpstr>
      <vt:lpstr>Learning Outcome</vt:lpstr>
      <vt:lpstr>SUMARRY</vt:lpstr>
      <vt:lpstr>End of Lecture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The Evolution of Nigeria as a Political Unit</dc:title>
  <dc:creator>MR OLOFU</dc:creator>
  <cp:lastModifiedBy>MR OLOFU</cp:lastModifiedBy>
  <cp:revision>78</cp:revision>
  <cp:lastPrinted>2023-06-14T08:38:49Z</cp:lastPrinted>
  <dcterms:created xsi:type="dcterms:W3CDTF">2023-05-30T08:08:29Z</dcterms:created>
  <dcterms:modified xsi:type="dcterms:W3CDTF">2023-06-20T08:36:32Z</dcterms:modified>
</cp:coreProperties>
</file>