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88" r:id="rId2"/>
    <p:sldId id="289" r:id="rId3"/>
    <p:sldId id="291" r:id="rId4"/>
    <p:sldId id="290" r:id="rId5"/>
    <p:sldId id="313" r:id="rId6"/>
    <p:sldId id="292" r:id="rId7"/>
    <p:sldId id="293" r:id="rId8"/>
    <p:sldId id="294" r:id="rId9"/>
    <p:sldId id="295" r:id="rId10"/>
    <p:sldId id="296" r:id="rId11"/>
    <p:sldId id="297" r:id="rId12"/>
    <p:sldId id="298" r:id="rId13"/>
    <p:sldId id="299" r:id="rId14"/>
    <p:sldId id="300" r:id="rId15"/>
    <p:sldId id="301" r:id="rId16"/>
    <p:sldId id="302" r:id="rId17"/>
    <p:sldId id="303" r:id="rId18"/>
    <p:sldId id="304" r:id="rId19"/>
    <p:sldId id="305" r:id="rId20"/>
    <p:sldId id="306" r:id="rId21"/>
    <p:sldId id="307" r:id="rId22"/>
    <p:sldId id="308" r:id="rId23"/>
    <p:sldId id="309" r:id="rId24"/>
    <p:sldId id="310" r:id="rId25"/>
    <p:sldId id="311" r:id="rId26"/>
    <p:sldId id="312" r:id="rId27"/>
    <p:sldId id="314"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26"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727"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CB5B8F-45BA-4431-AE8D-55DE4AB0B139}" type="datetimeFigureOut">
              <a:rPr lang="en-US" smtClean="0"/>
              <a:t>7/10/2023</a:t>
            </a:fld>
            <a:endParaRPr lang="en-US"/>
          </a:p>
        </p:txBody>
      </p:sp>
      <p:sp>
        <p:nvSpPr>
          <p:cNvPr id="1048728"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729"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0"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731"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CEDA65-65A7-4D31-9CD0-2B5181E5531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Slide Image Placeholder 1"/>
          <p:cNvSpPr>
            <a:spLocks noGrp="1" noRot="1" noChangeAspect="1"/>
          </p:cNvSpPr>
          <p:nvPr>
            <p:ph type="sldImg"/>
          </p:nvPr>
        </p:nvSpPr>
        <p:spPr/>
      </p:sp>
      <p:sp>
        <p:nvSpPr>
          <p:cNvPr id="1048612" name="Notes Placeholder 2"/>
          <p:cNvSpPr>
            <a:spLocks noGrp="1"/>
          </p:cNvSpPr>
          <p:nvPr>
            <p:ph type="body" idx="1"/>
          </p:nvPr>
        </p:nvSpPr>
        <p:spPr/>
        <p:txBody>
          <a:bodyPr>
            <a:normAutofit/>
          </a:bodyPr>
          <a:lstStyle/>
          <a:p>
            <a:r>
              <a:rPr lang="en-US" dirty="0"/>
              <a:t> </a:t>
            </a:r>
          </a:p>
        </p:txBody>
      </p:sp>
      <p:sp>
        <p:nvSpPr>
          <p:cNvPr id="1048613" name="Slide Number Placeholder 3"/>
          <p:cNvSpPr>
            <a:spLocks noGrp="1"/>
          </p:cNvSpPr>
          <p:nvPr>
            <p:ph type="sldNum" sz="quarter" idx="10"/>
          </p:nvPr>
        </p:nvSpPr>
        <p:spPr/>
        <p:txBody>
          <a:bodyPr/>
          <a:lstStyle/>
          <a:p>
            <a:fld id="{CECEDA65-65A7-4D31-9CD0-2B5181E55312}" type="slidenum">
              <a:rPr lang="en-US" smtClean="0"/>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CEDA65-65A7-4D31-9CD0-2B5181E55312}" type="slidenum">
              <a:rPr lang="en-US" smtClean="0"/>
              <a:t>5</a:t>
            </a:fld>
            <a:endParaRPr lang="en-US"/>
          </a:p>
        </p:txBody>
      </p:sp>
    </p:spTree>
    <p:extLst>
      <p:ext uri="{BB962C8B-B14F-4D97-AF65-F5344CB8AC3E}">
        <p14:creationId xmlns:p14="http://schemas.microsoft.com/office/powerpoint/2010/main" val="4028228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Slide Image Placeholder 1"/>
          <p:cNvSpPr>
            <a:spLocks noGrp="1" noRot="1" noChangeAspect="1"/>
          </p:cNvSpPr>
          <p:nvPr>
            <p:ph type="sldImg"/>
          </p:nvPr>
        </p:nvSpPr>
        <p:spPr/>
      </p:sp>
      <p:sp>
        <p:nvSpPr>
          <p:cNvPr id="1048627" name="Notes Placeholder 2"/>
          <p:cNvSpPr>
            <a:spLocks noGrp="1"/>
          </p:cNvSpPr>
          <p:nvPr>
            <p:ph type="body" idx="1"/>
          </p:nvPr>
        </p:nvSpPr>
        <p:spPr/>
        <p:txBody>
          <a:bodyPr>
            <a:normAutofit/>
          </a:bodyPr>
          <a:lstStyle/>
          <a:p>
            <a:endParaRPr lang="en-US" dirty="0"/>
          </a:p>
        </p:txBody>
      </p:sp>
      <p:sp>
        <p:nvSpPr>
          <p:cNvPr id="1048628" name="Slide Number Placeholder 3"/>
          <p:cNvSpPr>
            <a:spLocks noGrp="1"/>
          </p:cNvSpPr>
          <p:nvPr>
            <p:ph type="sldNum" sz="quarter" idx="10"/>
          </p:nvPr>
        </p:nvSpPr>
        <p:spPr/>
        <p:txBody>
          <a:bodyPr/>
          <a:lstStyle/>
          <a:p>
            <a:fld id="{CECEDA65-65A7-4D31-9CD0-2B5181E55312}" type="slidenum">
              <a:rPr lang="en-US" smtClean="0"/>
              <a:t>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Slide Image Placeholder 1"/>
          <p:cNvSpPr>
            <a:spLocks noGrp="1" noRot="1" noChangeAspect="1"/>
          </p:cNvSpPr>
          <p:nvPr>
            <p:ph type="sldImg"/>
          </p:nvPr>
        </p:nvSpPr>
        <p:spPr/>
      </p:sp>
      <p:sp>
        <p:nvSpPr>
          <p:cNvPr id="1048634" name="Notes Placeholder 2"/>
          <p:cNvSpPr>
            <a:spLocks noGrp="1"/>
          </p:cNvSpPr>
          <p:nvPr>
            <p:ph type="body" idx="1"/>
          </p:nvPr>
        </p:nvSpPr>
        <p:spPr/>
        <p:txBody>
          <a:bodyPr>
            <a:normAutofit/>
          </a:bodyPr>
          <a:lstStyle/>
          <a:p>
            <a:endParaRPr lang="en-US" dirty="0"/>
          </a:p>
        </p:txBody>
      </p:sp>
      <p:sp>
        <p:nvSpPr>
          <p:cNvPr id="1048635" name="Slide Number Placeholder 3"/>
          <p:cNvSpPr>
            <a:spLocks noGrp="1"/>
          </p:cNvSpPr>
          <p:nvPr>
            <p:ph type="sldNum" sz="quarter" idx="10"/>
          </p:nvPr>
        </p:nvSpPr>
        <p:spPr/>
        <p:txBody>
          <a:bodyPr/>
          <a:lstStyle/>
          <a:p>
            <a:fld id="{CECEDA65-65A7-4D31-9CD0-2B5181E55312}" type="slidenum">
              <a:rPr lang="en-US" smtClean="0"/>
              <a:t>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0" name="Slide Image Placeholder 1"/>
          <p:cNvSpPr>
            <a:spLocks noGrp="1" noRot="1" noChangeAspect="1"/>
          </p:cNvSpPr>
          <p:nvPr>
            <p:ph type="sldImg"/>
          </p:nvPr>
        </p:nvSpPr>
        <p:spPr/>
      </p:sp>
      <p:sp>
        <p:nvSpPr>
          <p:cNvPr id="1048641" name="Notes Placeholder 2"/>
          <p:cNvSpPr>
            <a:spLocks noGrp="1"/>
          </p:cNvSpPr>
          <p:nvPr>
            <p:ph type="body" idx="1"/>
          </p:nvPr>
        </p:nvSpPr>
        <p:spPr/>
        <p:txBody>
          <a:bodyPr>
            <a:normAutofit/>
          </a:bodyPr>
          <a:lstStyle/>
          <a:p>
            <a:endParaRPr lang="en-US" dirty="0"/>
          </a:p>
        </p:txBody>
      </p:sp>
      <p:sp>
        <p:nvSpPr>
          <p:cNvPr id="1048642" name="Slide Number Placeholder 3"/>
          <p:cNvSpPr>
            <a:spLocks noGrp="1"/>
          </p:cNvSpPr>
          <p:nvPr>
            <p:ph type="sldNum" sz="quarter" idx="10"/>
          </p:nvPr>
        </p:nvSpPr>
        <p:spPr/>
        <p:txBody>
          <a:bodyPr/>
          <a:lstStyle/>
          <a:p>
            <a:fld id="{CECEDA65-65A7-4D31-9CD0-2B5181E55312}" type="slidenum">
              <a:rPr lang="en-US" smtClean="0"/>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Slide Image Placeholder 1"/>
          <p:cNvSpPr>
            <a:spLocks noGrp="1" noRot="1" noChangeAspect="1"/>
          </p:cNvSpPr>
          <p:nvPr>
            <p:ph type="sldImg"/>
          </p:nvPr>
        </p:nvSpPr>
        <p:spPr/>
      </p:sp>
      <p:sp>
        <p:nvSpPr>
          <p:cNvPr id="1048662" name="Notes Placeholder 2"/>
          <p:cNvSpPr>
            <a:spLocks noGrp="1"/>
          </p:cNvSpPr>
          <p:nvPr>
            <p:ph type="body" idx="1"/>
          </p:nvPr>
        </p:nvSpPr>
        <p:spPr/>
        <p:txBody>
          <a:bodyPr>
            <a:normAutofit/>
          </a:bodyPr>
          <a:lstStyle/>
          <a:p>
            <a:endParaRPr lang="en-US" dirty="0"/>
          </a:p>
        </p:txBody>
      </p:sp>
      <p:sp>
        <p:nvSpPr>
          <p:cNvPr id="1048663" name="Slide Number Placeholder 3"/>
          <p:cNvSpPr>
            <a:spLocks noGrp="1"/>
          </p:cNvSpPr>
          <p:nvPr>
            <p:ph type="sldNum" sz="quarter" idx="10"/>
          </p:nvPr>
        </p:nvSpPr>
        <p:spPr/>
        <p:txBody>
          <a:bodyPr/>
          <a:lstStyle/>
          <a:p>
            <a:fld id="{CECEDA65-65A7-4D31-9CD0-2B5181E55312}" type="slidenum">
              <a:rPr lang="en-US" smtClean="0"/>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48593"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594"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en-US"/>
              <a:t>Click to edit Master title style</a:t>
            </a:r>
          </a:p>
        </p:txBody>
      </p:sp>
      <p:sp>
        <p:nvSpPr>
          <p:cNvPr id="1048595"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grpSp>
        <p:nvGrpSpPr>
          <p:cNvPr id="42" name="Group 1"/>
          <p:cNvGrpSpPr/>
          <p:nvPr/>
        </p:nvGrpSpPr>
        <p:grpSpPr>
          <a:xfrm>
            <a:off x="-3765" y="4953000"/>
            <a:ext cx="9147765" cy="1912088"/>
            <a:chOff x="-3765" y="4832896"/>
            <a:chExt cx="9147765" cy="2032192"/>
          </a:xfrm>
        </p:grpSpPr>
        <p:sp>
          <p:nvSpPr>
            <p:cNvPr id="1048596" name="Freeform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48597" name="Freeform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48598"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3145729" name="Straight Connector 11"/>
            <p:cNvCxnSpPr>
              <a:cxnSpLocks/>
            </p:cNvCxnSpPr>
            <p:nvPr/>
          </p:nvCxnSpPr>
          <p:spPr>
            <a:xfrm>
              <a:off x="-3765" y="4880373"/>
              <a:ext cx="9147765" cy="839943"/>
            </a:xfrm>
            <a:prstGeom prst="line">
              <a:avLst/>
            </a:prstGeom>
            <a:noFill/>
            <a:ln w="12065" cap="flat" cmpd="sng" algn="ctr">
              <a:gradFill>
                <a:gsLst>
                  <a:gs pos="15000">
                    <a:schemeClr val="accent1">
                      <a:shade val="40000"/>
                      <a:satMod val="110000"/>
                    </a:schemeClr>
                  </a:gs>
                  <a:gs pos="45000">
                    <a:schemeClr val="accent1">
                      <a:tint val="7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1048599" name="Date Placeholder 29"/>
          <p:cNvSpPr>
            <a:spLocks noGrp="1"/>
          </p:cNvSpPr>
          <p:nvPr>
            <p:ph type="dt" sz="half" idx="10"/>
          </p:nvPr>
        </p:nvSpPr>
        <p:spPr/>
        <p:txBody>
          <a:bodyPr/>
          <a:lstStyle>
            <a:lvl1pPr>
              <a:defRPr>
                <a:solidFill>
                  <a:srgbClr val="FFFFFF"/>
                </a:solidFill>
              </a:defRPr>
            </a:lvl1pPr>
          </a:lstStyle>
          <a:p>
            <a:fld id="{1D8BD707-D9CF-40AE-B4C6-C98DA3205C09}" type="datetimeFigureOut">
              <a:rPr lang="en-US" smtClean="0"/>
              <a:t>7/10/2023</a:t>
            </a:fld>
            <a:endParaRPr lang="en-US"/>
          </a:p>
        </p:txBody>
      </p:sp>
      <p:sp>
        <p:nvSpPr>
          <p:cNvPr id="1048600" name="Footer Placeholder 18"/>
          <p:cNvSpPr>
            <a:spLocks noGrp="1"/>
          </p:cNvSpPr>
          <p:nvPr>
            <p:ph type="ftr" sz="quarter" idx="11"/>
          </p:nvPr>
        </p:nvSpPr>
        <p:spPr/>
        <p:txBody>
          <a:bodyPr/>
          <a:lstStyle>
            <a:lvl1pPr>
              <a:defRPr>
                <a:solidFill>
                  <a:schemeClr val="accent1">
                    <a:tint val="20000"/>
                  </a:schemeClr>
                </a:solidFill>
              </a:defRPr>
            </a:lvl1pPr>
          </a:lstStyle>
          <a:p>
            <a:endParaRPr lang="en-US"/>
          </a:p>
        </p:txBody>
      </p:sp>
      <p:sp>
        <p:nvSpPr>
          <p:cNvPr id="1048601" name="Slide Number Placeholder 2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04"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05" name="Date Placeholder 3"/>
          <p:cNvSpPr>
            <a:spLocks noGrp="1"/>
          </p:cNvSpPr>
          <p:nvPr>
            <p:ph type="dt" sz="half" idx="10"/>
          </p:nvPr>
        </p:nvSpPr>
        <p:spPr/>
        <p:txBody>
          <a:bodyPr/>
          <a:lstStyle/>
          <a:p>
            <a:fld id="{1D8BD707-D9CF-40AE-B4C6-C98DA3205C09}" type="datetimeFigureOut">
              <a:rPr lang="en-US" smtClean="0"/>
              <a:t>7/10/2023</a:t>
            </a:fld>
            <a:endParaRPr lang="en-US"/>
          </a:p>
        </p:txBody>
      </p:sp>
      <p:sp>
        <p:nvSpPr>
          <p:cNvPr id="1048606" name="Footer Placeholder 4"/>
          <p:cNvSpPr>
            <a:spLocks noGrp="1"/>
          </p:cNvSpPr>
          <p:nvPr>
            <p:ph type="ftr" sz="quarter" idx="11"/>
          </p:nvPr>
        </p:nvSpPr>
        <p:spPr/>
        <p:txBody>
          <a:bodyPr/>
          <a:lstStyle/>
          <a:p>
            <a:endParaRPr lang="en-US"/>
          </a:p>
        </p:txBody>
      </p:sp>
      <p:sp>
        <p:nvSpPr>
          <p:cNvPr id="1048607"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1048608"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1048584"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n-US"/>
              <a:t>Click to edit Master title style</a:t>
            </a:r>
          </a:p>
        </p:txBody>
      </p:sp>
      <p:sp>
        <p:nvSpPr>
          <p:cNvPr id="1048585"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048586" name="Date Placeholder 3"/>
          <p:cNvSpPr>
            <a:spLocks noGrp="1"/>
          </p:cNvSpPr>
          <p:nvPr>
            <p:ph type="dt" sz="half" idx="10"/>
          </p:nvPr>
        </p:nvSpPr>
        <p:spPr/>
        <p:txBody>
          <a:bodyPr/>
          <a:lstStyle/>
          <a:p>
            <a:fld id="{1D8BD707-D9CF-40AE-B4C6-C98DA3205C09}" type="datetimeFigureOut">
              <a:rPr lang="en-US" smtClean="0"/>
              <a:t>7/10/2023</a:t>
            </a:fld>
            <a:endParaRPr lang="en-US"/>
          </a:p>
        </p:txBody>
      </p:sp>
      <p:sp>
        <p:nvSpPr>
          <p:cNvPr id="1048587" name="Footer Placeholder 4"/>
          <p:cNvSpPr>
            <a:spLocks noGrp="1"/>
          </p:cNvSpPr>
          <p:nvPr>
            <p:ph type="ftr" sz="quarter" idx="11"/>
          </p:nvPr>
        </p:nvSpPr>
        <p:spPr/>
        <p:txBody>
          <a:bodyPr/>
          <a:lstStyle/>
          <a:p>
            <a:endParaRPr lang="en-US"/>
          </a:p>
        </p:txBody>
      </p:sp>
      <p:sp>
        <p:nvSpPr>
          <p:cNvPr id="1048588"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1048589"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048590"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104870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0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05" name="Date Placeholder 4"/>
          <p:cNvSpPr>
            <a:spLocks noGrp="1"/>
          </p:cNvSpPr>
          <p:nvPr>
            <p:ph type="dt" sz="half" idx="10"/>
          </p:nvPr>
        </p:nvSpPr>
        <p:spPr/>
        <p:txBody>
          <a:bodyPr/>
          <a:lstStyle/>
          <a:p>
            <a:fld id="{1D8BD707-D9CF-40AE-B4C6-C98DA3205C09}" type="datetimeFigureOut">
              <a:rPr lang="en-US" smtClean="0"/>
              <a:t>7/10/2023</a:t>
            </a:fld>
            <a:endParaRPr lang="en-US"/>
          </a:p>
        </p:txBody>
      </p:sp>
      <p:sp>
        <p:nvSpPr>
          <p:cNvPr id="1048706" name="Footer Placeholder 5"/>
          <p:cNvSpPr>
            <a:spLocks noGrp="1"/>
          </p:cNvSpPr>
          <p:nvPr>
            <p:ph type="ftr" sz="quarter" idx="11"/>
          </p:nvPr>
        </p:nvSpPr>
        <p:spPr/>
        <p:txBody>
          <a:bodyPr/>
          <a:lstStyle/>
          <a:p>
            <a:endParaRPr lang="en-US"/>
          </a:p>
        </p:txBody>
      </p:sp>
      <p:sp>
        <p:nvSpPr>
          <p:cNvPr id="1048707" name="Slide Number Placeholder 6"/>
          <p:cNvSpPr>
            <a:spLocks noGrp="1"/>
          </p:cNvSpPr>
          <p:nvPr>
            <p:ph type="sldNum" sz="quarter" idx="12"/>
          </p:nvPr>
        </p:nvSpPr>
        <p:spPr/>
        <p:txBody>
          <a:bodyPr/>
          <a:lstStyle/>
          <a:p>
            <a:fld id="{B6F15528-21DE-4FAA-801E-634DDDAF4B2B}" type="slidenum">
              <a:rPr lang="en-US" smtClean="0"/>
              <a:t>‹#›</a:t>
            </a:fld>
            <a:endParaRPr lang="en-US"/>
          </a:p>
        </p:txBody>
      </p:sp>
      <p:sp>
        <p:nvSpPr>
          <p:cNvPr id="104870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1048709" name="Title 1"/>
          <p:cNvSpPr>
            <a:spLocks noGrp="1"/>
          </p:cNvSpPr>
          <p:nvPr>
            <p:ph type="title"/>
          </p:nvPr>
        </p:nvSpPr>
        <p:spPr>
          <a:xfrm>
            <a:off x="457200" y="273050"/>
            <a:ext cx="8229600" cy="1143000"/>
          </a:xfrm>
        </p:spPr>
        <p:txBody>
          <a:bodyPr anchor="ctr"/>
          <a:lstStyle/>
          <a:p>
            <a:r>
              <a:rPr kumimoji="0" lang="en-US"/>
              <a:t>Click to edit Master title style</a:t>
            </a:r>
          </a:p>
        </p:txBody>
      </p:sp>
      <p:sp>
        <p:nvSpPr>
          <p:cNvPr id="1048710"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048711"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048712"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13"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14" name="Date Placeholder 6"/>
          <p:cNvSpPr>
            <a:spLocks noGrp="1"/>
          </p:cNvSpPr>
          <p:nvPr>
            <p:ph type="dt" sz="half" idx="10"/>
          </p:nvPr>
        </p:nvSpPr>
        <p:spPr/>
        <p:txBody>
          <a:bodyPr/>
          <a:lstStyle/>
          <a:p>
            <a:fld id="{1D8BD707-D9CF-40AE-B4C6-C98DA3205C09}" type="datetimeFigureOut">
              <a:rPr lang="en-US" smtClean="0"/>
              <a:t>7/10/2023</a:t>
            </a:fld>
            <a:endParaRPr lang="en-US"/>
          </a:p>
        </p:txBody>
      </p:sp>
      <p:sp>
        <p:nvSpPr>
          <p:cNvPr id="1048715" name="Footer Placeholder 7"/>
          <p:cNvSpPr>
            <a:spLocks noGrp="1"/>
          </p:cNvSpPr>
          <p:nvPr>
            <p:ph type="ftr" sz="quarter" idx="11"/>
          </p:nvPr>
        </p:nvSpPr>
        <p:spPr/>
        <p:txBody>
          <a:bodyPr/>
          <a:lstStyle/>
          <a:p>
            <a:endParaRPr lang="en-US"/>
          </a:p>
        </p:txBody>
      </p:sp>
      <p:sp>
        <p:nvSpPr>
          <p:cNvPr id="1048716"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1048678" name="Date Placeholder 2"/>
          <p:cNvSpPr>
            <a:spLocks noGrp="1"/>
          </p:cNvSpPr>
          <p:nvPr>
            <p:ph type="dt" sz="half" idx="10"/>
          </p:nvPr>
        </p:nvSpPr>
        <p:spPr/>
        <p:txBody>
          <a:bodyPr/>
          <a:lstStyle/>
          <a:p>
            <a:fld id="{1D8BD707-D9CF-40AE-B4C6-C98DA3205C09}" type="datetimeFigureOut">
              <a:rPr lang="en-US" smtClean="0"/>
              <a:t>7/10/2023</a:t>
            </a:fld>
            <a:endParaRPr lang="en-US"/>
          </a:p>
        </p:txBody>
      </p:sp>
      <p:sp>
        <p:nvSpPr>
          <p:cNvPr id="1048679" name="Footer Placeholder 3"/>
          <p:cNvSpPr>
            <a:spLocks noGrp="1"/>
          </p:cNvSpPr>
          <p:nvPr>
            <p:ph type="ftr" sz="quarter" idx="11"/>
          </p:nvPr>
        </p:nvSpPr>
        <p:spPr/>
        <p:txBody>
          <a:bodyPr/>
          <a:lstStyle/>
          <a:p>
            <a:endParaRPr lang="en-US"/>
          </a:p>
        </p:txBody>
      </p:sp>
      <p:sp>
        <p:nvSpPr>
          <p:cNvPr id="1048680" name="Slide Number Placeholder 4"/>
          <p:cNvSpPr>
            <a:spLocks noGrp="1"/>
          </p:cNvSpPr>
          <p:nvPr>
            <p:ph type="sldNum" sz="quarter" idx="12"/>
          </p:nvPr>
        </p:nvSpPr>
        <p:spPr/>
        <p:txBody>
          <a:bodyPr/>
          <a:lstStyle/>
          <a:p>
            <a:fld id="{B6F15528-21DE-4FAA-801E-634DDDAF4B2B}" type="slidenum">
              <a:rPr lang="en-US" smtClean="0"/>
              <a:t>‹#›</a:t>
            </a:fld>
            <a:endParaRPr lang="en-US"/>
          </a:p>
        </p:txBody>
      </p:sp>
      <p:sp>
        <p:nvSpPr>
          <p:cNvPr id="1048681"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17" name="Date Placeholder 1"/>
          <p:cNvSpPr>
            <a:spLocks noGrp="1"/>
          </p:cNvSpPr>
          <p:nvPr>
            <p:ph type="dt" sz="half" idx="10"/>
          </p:nvPr>
        </p:nvSpPr>
        <p:spPr/>
        <p:txBody>
          <a:bodyPr/>
          <a:lstStyle/>
          <a:p>
            <a:fld id="{1D8BD707-D9CF-40AE-B4C6-C98DA3205C09}" type="datetimeFigureOut">
              <a:rPr lang="en-US" smtClean="0"/>
              <a:t>7/10/2023</a:t>
            </a:fld>
            <a:endParaRPr lang="en-US"/>
          </a:p>
        </p:txBody>
      </p:sp>
      <p:sp>
        <p:nvSpPr>
          <p:cNvPr id="1048718" name="Footer Placeholder 2"/>
          <p:cNvSpPr>
            <a:spLocks noGrp="1"/>
          </p:cNvSpPr>
          <p:nvPr>
            <p:ph type="ftr" sz="quarter" idx="11"/>
          </p:nvPr>
        </p:nvSpPr>
        <p:spPr/>
        <p:txBody>
          <a:bodyPr/>
          <a:lstStyle/>
          <a:p>
            <a:endParaRPr lang="en-US"/>
          </a:p>
        </p:txBody>
      </p:sp>
      <p:sp>
        <p:nvSpPr>
          <p:cNvPr id="1048719"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1048720"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en-US"/>
              <a:t>Click to edit Master title style</a:t>
            </a:r>
          </a:p>
        </p:txBody>
      </p:sp>
      <p:sp>
        <p:nvSpPr>
          <p:cNvPr id="1048721"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1048722"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23"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t>7/10/2023</a:t>
            </a:fld>
            <a:endParaRPr lang="en-US"/>
          </a:p>
        </p:txBody>
      </p:sp>
      <p:sp>
        <p:nvSpPr>
          <p:cNvPr id="1048724" name="Footer Placeholder 5"/>
          <p:cNvSpPr>
            <a:spLocks noGrp="1"/>
          </p:cNvSpPr>
          <p:nvPr>
            <p:ph type="ftr" sz="quarter" idx="11"/>
          </p:nvPr>
        </p:nvSpPr>
        <p:spPr/>
        <p:txBody>
          <a:bodyPr/>
          <a:lstStyle/>
          <a:p>
            <a:endParaRPr lang="en-US"/>
          </a:p>
        </p:txBody>
      </p:sp>
      <p:sp>
        <p:nvSpPr>
          <p:cNvPr id="1048725"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1048687"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48688"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en-US"/>
              <a:t>Click icon to add picture</a:t>
            </a:r>
            <a:endParaRPr kumimoji="0" lang="en-US" dirty="0"/>
          </a:p>
        </p:txBody>
      </p:sp>
      <p:sp>
        <p:nvSpPr>
          <p:cNvPr id="1048689" name="Date Placeholder 4"/>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t>7/10/2023</a:t>
            </a:fld>
            <a:endParaRPr lang="en-US"/>
          </a:p>
        </p:txBody>
      </p:sp>
      <p:sp>
        <p:nvSpPr>
          <p:cNvPr id="1048690"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en-US"/>
          </a:p>
        </p:txBody>
      </p:sp>
      <p:sp>
        <p:nvSpPr>
          <p:cNvPr id="1048691" name="Slide Number Placeholder 6"/>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t>‹#›</a:t>
            </a:fld>
            <a:endParaRPr lang="en-US"/>
          </a:p>
        </p:txBody>
      </p:sp>
      <p:sp>
        <p:nvSpPr>
          <p:cNvPr id="104869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en-US"/>
              <a:t>Click to edit Master title style</a:t>
            </a:r>
          </a:p>
        </p:txBody>
      </p:sp>
      <p:sp>
        <p:nvSpPr>
          <p:cNvPr id="1048693" name="Freeform 7"/>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48694" name="Freeform 8"/>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48695" name="Right Triangle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3145743" name="Straight Connector 10"/>
          <p:cNvCxnSpPr>
            <a:cxnSpLocks/>
          </p:cNvCxnSpPr>
          <p:nvPr/>
        </p:nvCxnSpPr>
        <p:spPr>
          <a:xfrm>
            <a:off x="-9237" y="5787738"/>
            <a:ext cx="3405509" cy="1084383"/>
          </a:xfrm>
          <a:prstGeom prst="line">
            <a:avLst/>
          </a:prstGeom>
          <a:noFill/>
          <a:ln w="12065" cap="flat" cmpd="sng" algn="ctr">
            <a:gradFill>
              <a:gsLst>
                <a:gs pos="15000">
                  <a:schemeClr val="accent1">
                    <a:shade val="40000"/>
                    <a:satMod val="110000"/>
                  </a:schemeClr>
                </a:gs>
                <a:gs pos="45000">
                  <a:schemeClr val="accent1">
                    <a:tint val="7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048696"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048697"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98" name="Title 1"/>
          <p:cNvSpPr>
            <a:spLocks noGrp="1"/>
          </p:cNvSpPr>
          <p:nvPr>
            <p:ph type="title"/>
          </p:nvPr>
        </p:nvSpPr>
        <p:spPr/>
        <p:txBody>
          <a:bodyPr/>
          <a:lstStyle/>
          <a:p>
            <a:r>
              <a:rPr kumimoji="0" lang="en-US"/>
              <a:t>Click to edit Master title style</a:t>
            </a:r>
          </a:p>
        </p:txBody>
      </p:sp>
      <p:sp>
        <p:nvSpPr>
          <p:cNvPr id="1048699"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00" name="Date Placeholder 3"/>
          <p:cNvSpPr>
            <a:spLocks noGrp="1"/>
          </p:cNvSpPr>
          <p:nvPr>
            <p:ph type="dt" sz="half" idx="10"/>
          </p:nvPr>
        </p:nvSpPr>
        <p:spPr/>
        <p:txBody>
          <a:bodyPr/>
          <a:lstStyle/>
          <a:p>
            <a:fld id="{1D8BD707-D9CF-40AE-B4C6-C98DA3205C09}" type="datetimeFigureOut">
              <a:rPr lang="en-US" smtClean="0"/>
              <a:t>7/10/2023</a:t>
            </a:fld>
            <a:endParaRPr lang="en-US"/>
          </a:p>
        </p:txBody>
      </p:sp>
      <p:sp>
        <p:nvSpPr>
          <p:cNvPr id="1048701" name="Footer Placeholder 4"/>
          <p:cNvSpPr>
            <a:spLocks noGrp="1"/>
          </p:cNvSpPr>
          <p:nvPr>
            <p:ph type="ftr" sz="quarter" idx="11"/>
          </p:nvPr>
        </p:nvSpPr>
        <p:spPr/>
        <p:txBody>
          <a:bodyPr/>
          <a:lstStyle/>
          <a:p>
            <a:endParaRPr lang="en-US"/>
          </a:p>
        </p:txBody>
      </p:sp>
      <p:sp>
        <p:nvSpPr>
          <p:cNvPr id="1048702"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8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104868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84" name="Date Placeholder 3"/>
          <p:cNvSpPr>
            <a:spLocks noGrp="1"/>
          </p:cNvSpPr>
          <p:nvPr>
            <p:ph type="dt" sz="half" idx="10"/>
          </p:nvPr>
        </p:nvSpPr>
        <p:spPr/>
        <p:txBody>
          <a:bodyPr/>
          <a:lstStyle/>
          <a:p>
            <a:fld id="{1D8BD707-D9CF-40AE-B4C6-C98DA3205C09}" type="datetimeFigureOut">
              <a:rPr lang="en-US" smtClean="0"/>
              <a:t>7/10/2023</a:t>
            </a:fld>
            <a:endParaRPr lang="en-US"/>
          </a:p>
        </p:txBody>
      </p:sp>
      <p:sp>
        <p:nvSpPr>
          <p:cNvPr id="1048685" name="Footer Placeholder 4"/>
          <p:cNvSpPr>
            <a:spLocks noGrp="1"/>
          </p:cNvSpPr>
          <p:nvPr>
            <p:ph type="ftr" sz="quarter" idx="11"/>
          </p:nvPr>
        </p:nvSpPr>
        <p:spPr/>
        <p:txBody>
          <a:bodyPr/>
          <a:lstStyle/>
          <a:p>
            <a:endParaRPr lang="en-US"/>
          </a:p>
        </p:txBody>
      </p:sp>
      <p:sp>
        <p:nvSpPr>
          <p:cNvPr id="104868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Freeform 12"/>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48577" name="Freeform 11"/>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48578" name="Right Triangle 13"/>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3145728" name="Straight Connector 14"/>
          <p:cNvCxnSpPr>
            <a:cxnSpLocks/>
          </p:cNvCxnSpPr>
          <p:nvPr/>
        </p:nvCxnSpPr>
        <p:spPr>
          <a:xfrm>
            <a:off x="-9237" y="5787738"/>
            <a:ext cx="3405509" cy="1084383"/>
          </a:xfrm>
          <a:prstGeom prst="line">
            <a:avLst/>
          </a:prstGeom>
          <a:noFill/>
          <a:ln w="12065" cap="flat" cmpd="sng" algn="ctr">
            <a:gradFill>
              <a:gsLst>
                <a:gs pos="15000">
                  <a:schemeClr val="accent1">
                    <a:shade val="40000"/>
                    <a:satMod val="110000"/>
                  </a:schemeClr>
                </a:gs>
                <a:gs pos="45000">
                  <a:schemeClr val="accent1">
                    <a:tint val="7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04857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104858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48581"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1D8BD707-D9CF-40AE-B4C6-C98DA3205C09}" type="datetimeFigureOut">
              <a:rPr lang="en-US" smtClean="0"/>
              <a:t>7/10/2023</a:t>
            </a:fld>
            <a:endParaRPr lang="en-US"/>
          </a:p>
        </p:txBody>
      </p:sp>
      <p:sp>
        <p:nvSpPr>
          <p:cNvPr id="104858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en-US"/>
          </a:p>
        </p:txBody>
      </p:sp>
      <p:sp>
        <p:nvSpPr>
          <p:cNvPr id="1048583"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Title 1"/>
          <p:cNvSpPr>
            <a:spLocks noGrp="1"/>
          </p:cNvSpPr>
          <p:nvPr>
            <p:ph type="title"/>
          </p:nvPr>
        </p:nvSpPr>
        <p:spPr/>
        <p:txBody>
          <a:bodyPr>
            <a:normAutofit/>
          </a:bodyPr>
          <a:lstStyle/>
          <a:p>
            <a:pPr algn="ctr"/>
            <a:r>
              <a:rPr sz="6600"/>
              <a:t>GST 113</a:t>
            </a:r>
            <a:endParaRPr lang="en-US" sz="6600" dirty="0"/>
          </a:p>
        </p:txBody>
      </p:sp>
      <p:sp>
        <p:nvSpPr>
          <p:cNvPr id="1048592" name="Text Placeholder 2"/>
          <p:cNvSpPr>
            <a:spLocks noGrp="1"/>
          </p:cNvSpPr>
          <p:nvPr>
            <p:ph type="body" idx="1"/>
          </p:nvPr>
        </p:nvSpPr>
        <p:spPr/>
        <p:txBody>
          <a:bodyPr>
            <a:noAutofit/>
          </a:bodyPr>
          <a:lstStyle/>
          <a:p>
            <a:pPr algn="ctr"/>
            <a:r>
              <a:rPr lang="en-US" sz="4800" dirty="0">
                <a:latin typeface="Impact" pitchFamily="34" charset="0"/>
              </a:rPr>
              <a:t>NIGERIA PEOPLE AND CULTURE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ctrTitle"/>
          </p:nvPr>
        </p:nvSpPr>
        <p:spPr/>
        <p:txBody>
          <a:bodyPr/>
          <a:lstStyle/>
          <a:p>
            <a:r>
              <a:rPr lang="en-US" dirty="0">
                <a:solidFill>
                  <a:schemeClr val="accent2"/>
                </a:solidFill>
              </a:rPr>
              <a:t>1. MODULE ONE:</a:t>
            </a:r>
          </a:p>
        </p:txBody>
      </p:sp>
      <p:sp>
        <p:nvSpPr>
          <p:cNvPr id="1048603" name="Subtitle 2"/>
          <p:cNvSpPr>
            <a:spLocks noGrp="1"/>
          </p:cNvSpPr>
          <p:nvPr>
            <p:ph type="subTitle" idx="1"/>
          </p:nvPr>
        </p:nvSpPr>
        <p:spPr/>
        <p:txBody>
          <a:bodyPr>
            <a:noAutofit/>
          </a:bodyPr>
          <a:lstStyle/>
          <a:p>
            <a:r>
              <a:rPr lang="en-US" sz="4000" b="1" dirty="0"/>
              <a:t>THE NIGERIA AREA AND THE COMPOSITION OF ITS PEOPLE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Content Placeholder 1"/>
          <p:cNvSpPr>
            <a:spLocks noGrp="1"/>
          </p:cNvSpPr>
          <p:nvPr>
            <p:ph idx="1"/>
          </p:nvPr>
        </p:nvSpPr>
        <p:spPr/>
        <p:txBody>
          <a:bodyPr/>
          <a:lstStyle/>
          <a:p>
            <a:pPr algn="just">
              <a:buNone/>
            </a:pPr>
            <a:r>
              <a:rPr lang="en-US" dirty="0"/>
              <a:t>	Nigeria is an artificial creation of the British consequent upon the Berlin conference of 1884/1885. it came into its present form after the successful amalgamation of the Northern and Southern protectorate by Lord </a:t>
            </a:r>
            <a:r>
              <a:rPr lang="en-US" dirty="0" err="1"/>
              <a:t>Lugard</a:t>
            </a:r>
            <a:r>
              <a:rPr lang="en-US" dirty="0"/>
              <a:t> in 1914.</a:t>
            </a:r>
            <a:r>
              <a:rPr lang="en-US" sz="2800" baseline="30000" dirty="0"/>
              <a:t> 1</a:t>
            </a:r>
            <a:endParaRPr lang="en-US" dirty="0"/>
          </a:p>
          <a:p>
            <a:pPr algn="just">
              <a:buNone/>
            </a:pPr>
            <a:endParaRPr lang="en-US" dirty="0"/>
          </a:p>
        </p:txBody>
      </p:sp>
      <p:sp>
        <p:nvSpPr>
          <p:cNvPr id="1048615" name="Title 2"/>
          <p:cNvSpPr>
            <a:spLocks noGrp="1"/>
          </p:cNvSpPr>
          <p:nvPr>
            <p:ph type="title"/>
          </p:nvPr>
        </p:nvSpPr>
        <p:spPr/>
        <p:txBody>
          <a:bodyPr/>
          <a:lstStyle/>
          <a:p>
            <a:pPr algn="r"/>
            <a:r>
              <a:rPr lang="en-US" dirty="0">
                <a:solidFill>
                  <a:schemeClr val="accent2"/>
                </a:solidFill>
              </a:rPr>
              <a:t>1.2 – INTRODUCTION:</a:t>
            </a:r>
          </a:p>
        </p:txBody>
      </p:sp>
      <p:sp>
        <p:nvSpPr>
          <p:cNvPr id="1048616" name="Rectangle 4"/>
          <p:cNvSpPr/>
          <p:nvPr/>
        </p:nvSpPr>
        <p:spPr>
          <a:xfrm>
            <a:off x="1066800" y="5562600"/>
            <a:ext cx="8001000" cy="6096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aseline="30000" dirty="0"/>
              <a:t>1</a:t>
            </a:r>
            <a:r>
              <a:rPr lang="en-US" sz="1400" dirty="0"/>
              <a:t>Okpeh O. and </a:t>
            </a:r>
            <a:r>
              <a:rPr lang="en-US" sz="1400" dirty="0" err="1"/>
              <a:t>Ugbegilis</a:t>
            </a:r>
            <a:r>
              <a:rPr lang="en-US" sz="1400" dirty="0"/>
              <a:t> I. “</a:t>
            </a:r>
            <a:r>
              <a:rPr lang="en-US" sz="1400" i="1" dirty="0"/>
              <a:t>Themes on Nigerian History, People and Cultures”,</a:t>
            </a:r>
            <a:r>
              <a:rPr lang="en-US" sz="1400" dirty="0"/>
              <a:t> </a:t>
            </a:r>
          </a:p>
          <a:p>
            <a:r>
              <a:rPr lang="en-US" sz="1400" dirty="0"/>
              <a:t>Ibadan Vast Publishers,  2013:12</a:t>
            </a:r>
          </a:p>
        </p:txBody>
      </p:sp>
      <p:cxnSp>
        <p:nvCxnSpPr>
          <p:cNvPr id="3145730" name="Straight Connector 8"/>
          <p:cNvCxnSpPr>
            <a:cxnSpLocks/>
          </p:cNvCxnSpPr>
          <p:nvPr/>
        </p:nvCxnSpPr>
        <p:spPr>
          <a:xfrm>
            <a:off x="990600" y="5561012"/>
            <a:ext cx="7848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2"/>
          <p:cNvSpPr>
            <a:spLocks noGrp="1"/>
          </p:cNvSpPr>
          <p:nvPr>
            <p:ph type="title"/>
          </p:nvPr>
        </p:nvSpPr>
        <p:spPr/>
        <p:txBody>
          <a:bodyPr/>
          <a:lstStyle/>
          <a:p>
            <a:pPr algn="r"/>
            <a:r>
              <a:rPr lang="en-US" dirty="0">
                <a:solidFill>
                  <a:schemeClr val="accent2"/>
                </a:solidFill>
              </a:rPr>
              <a:t>1.1 – AIM AND OBJECTIVES:</a:t>
            </a:r>
          </a:p>
        </p:txBody>
      </p:sp>
      <p:sp>
        <p:nvSpPr>
          <p:cNvPr id="1048610" name="Content Placeholder 3"/>
          <p:cNvSpPr>
            <a:spLocks noGrp="1"/>
          </p:cNvSpPr>
          <p:nvPr>
            <p:ph idx="1"/>
          </p:nvPr>
        </p:nvSpPr>
        <p:spPr>
          <a:xfrm>
            <a:off x="457200" y="1143000"/>
            <a:ext cx="8229600" cy="4843272"/>
          </a:xfrm>
        </p:spPr>
        <p:txBody>
          <a:bodyPr>
            <a:noAutofit/>
          </a:bodyPr>
          <a:lstStyle/>
          <a:p>
            <a:pPr marL="109728" indent="0" algn="just">
              <a:buNone/>
            </a:pPr>
            <a:r>
              <a:rPr lang="en-US" sz="1800" dirty="0"/>
              <a:t>critical  this study is to engage students on the discussion of Nigeria as an entity and the composition of its people especially the various ethnic groups which makes up the population of the nation and their pre-colonial political systems before contact with the British.</a:t>
            </a:r>
          </a:p>
          <a:p>
            <a:pPr algn="just">
              <a:buNone/>
            </a:pPr>
            <a:endParaRPr lang="en-US" sz="1800" dirty="0"/>
          </a:p>
          <a:p>
            <a:pPr algn="just"/>
            <a:r>
              <a:rPr lang="en-US" sz="1800" dirty="0"/>
              <a:t>However, it is expected that at the end of the study, students should be able to achieve the following;</a:t>
            </a:r>
          </a:p>
          <a:p>
            <a:pPr marL="566928" indent="-457200" algn="just">
              <a:buFont typeface="+mj-lt"/>
              <a:buAutoNum type="arabicPeriod"/>
            </a:pPr>
            <a:r>
              <a:rPr lang="en-US" sz="1800" dirty="0"/>
              <a:t>To be able to discuss the geographical location, climatic and vegetative cover of the Nigeria area.</a:t>
            </a:r>
          </a:p>
          <a:p>
            <a:pPr marL="566928" indent="-457200" algn="just">
              <a:buFont typeface="+mj-lt"/>
              <a:buAutoNum type="arabicPeriod"/>
            </a:pPr>
            <a:r>
              <a:rPr lang="en-US" sz="1800" dirty="0"/>
              <a:t>Also, they should be able to know the various ethnic groups found in the Nigeria area and where they are geographically located.</a:t>
            </a:r>
          </a:p>
          <a:p>
            <a:pPr marL="566928" indent="-457200" algn="just">
              <a:buFont typeface="+mj-lt"/>
              <a:buAutoNum type="arabicPeriod"/>
            </a:pPr>
            <a:r>
              <a:rPr lang="en-US" sz="1800" dirty="0"/>
              <a:t>As well as the nature of the inter-group relations that existed amongst the people.</a:t>
            </a:r>
          </a:p>
          <a:p>
            <a:pPr marL="566928" indent="-457200" algn="just">
              <a:buFont typeface="+mj-lt"/>
              <a:buAutoNum type="arabicPeriod"/>
            </a:pPr>
            <a:r>
              <a:rPr lang="en-US" sz="1800" dirty="0"/>
              <a:t>To also look at the progression of Nigeria States since the pre-colonial era and the various indigenous political system in existence before the advent of British colonialist.</a:t>
            </a:r>
          </a:p>
          <a:p>
            <a:pPr algn="just"/>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buFont typeface="Wingdings" panose="05000000000000000000" pitchFamily="2" charset="2"/>
              <a:buChar char="Ø"/>
            </a:pPr>
            <a:r>
              <a:rPr lang="en-US" dirty="0"/>
              <a:t>To discuss the geographical location, and the climatic and vegetation of Nigeria.</a:t>
            </a:r>
          </a:p>
          <a:p>
            <a:pPr algn="just">
              <a:buFont typeface="Wingdings" panose="05000000000000000000" pitchFamily="2" charset="2"/>
              <a:buChar char="Ø"/>
            </a:pPr>
            <a:r>
              <a:rPr lang="en-US" dirty="0"/>
              <a:t>To know the various ethnic groups found in the Nigeria area and where they are located.</a:t>
            </a:r>
          </a:p>
          <a:p>
            <a:pPr algn="just">
              <a:buFont typeface="Wingdings" panose="05000000000000000000" pitchFamily="2" charset="2"/>
              <a:buChar char="Ø"/>
            </a:pPr>
            <a:r>
              <a:rPr lang="en-US" dirty="0"/>
              <a:t>To extrapolate the progression of Nigeria state since the pre-colonial era and the various indigenous political systems in existence before the advent of colonialism.</a:t>
            </a:r>
          </a:p>
        </p:txBody>
      </p:sp>
      <p:sp>
        <p:nvSpPr>
          <p:cNvPr id="3" name="Title 2"/>
          <p:cNvSpPr>
            <a:spLocks noGrp="1"/>
          </p:cNvSpPr>
          <p:nvPr>
            <p:ph type="title"/>
          </p:nvPr>
        </p:nvSpPr>
        <p:spPr/>
        <p:txBody>
          <a:bodyPr/>
          <a:lstStyle/>
          <a:p>
            <a:pPr algn="ctr"/>
            <a:r>
              <a:rPr lang="en-US" dirty="0"/>
              <a:t>LEARNING OUTCOME.</a:t>
            </a:r>
          </a:p>
        </p:txBody>
      </p:sp>
    </p:spTree>
    <p:extLst>
      <p:ext uri="{BB962C8B-B14F-4D97-AF65-F5344CB8AC3E}">
        <p14:creationId xmlns:p14="http://schemas.microsoft.com/office/powerpoint/2010/main" val="2165508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Content Placeholder 1"/>
          <p:cNvSpPr>
            <a:spLocks noGrp="1"/>
          </p:cNvSpPr>
          <p:nvPr>
            <p:ph idx="1"/>
          </p:nvPr>
        </p:nvSpPr>
        <p:spPr/>
        <p:txBody>
          <a:bodyPr>
            <a:normAutofit fontScale="87500"/>
          </a:bodyPr>
          <a:lstStyle/>
          <a:p>
            <a:pPr algn="just"/>
            <a:r>
              <a:rPr lang="en-US" sz="2000" dirty="0"/>
              <a:t>The Nigeria area and the composition of its people.</a:t>
            </a:r>
          </a:p>
          <a:p>
            <a:pPr algn="just">
              <a:buFont typeface="Wingdings" pitchFamily="2" charset="2"/>
              <a:buChar char="§"/>
            </a:pPr>
            <a:r>
              <a:rPr lang="en-US" sz="2000" dirty="0"/>
              <a:t>The Region </a:t>
            </a:r>
          </a:p>
          <a:p>
            <a:pPr algn="just">
              <a:buFont typeface="Wingdings" pitchFamily="2" charset="2"/>
              <a:buChar char="§"/>
            </a:pPr>
            <a:r>
              <a:rPr lang="en-US" sz="2000" dirty="0"/>
              <a:t>The People</a:t>
            </a:r>
          </a:p>
          <a:p>
            <a:pPr algn="just"/>
            <a:r>
              <a:rPr lang="en-US" sz="2000" dirty="0"/>
              <a:t>Evolution of Nigerian State during the Pre-colonial period. </a:t>
            </a:r>
          </a:p>
          <a:p>
            <a:pPr algn="just"/>
            <a:r>
              <a:rPr lang="en-US" sz="2000" dirty="0"/>
              <a:t>Pre-Colonial Political System in Nigeria before contact with Europe.</a:t>
            </a:r>
          </a:p>
          <a:p>
            <a:pPr algn="just"/>
            <a:r>
              <a:rPr lang="en-US" sz="2000" dirty="0"/>
              <a:t>Politics  and Governance in Pre-Colonial Northern States.</a:t>
            </a:r>
          </a:p>
          <a:p>
            <a:pPr marL="566928" indent="-457200" algn="just">
              <a:buFont typeface="Wingdings" pitchFamily="2" charset="2"/>
              <a:buChar char="§"/>
            </a:pPr>
            <a:r>
              <a:rPr lang="en-US" sz="2000" dirty="0"/>
              <a:t>Governance in Hausa Land</a:t>
            </a:r>
          </a:p>
          <a:p>
            <a:pPr marL="566928" indent="-457200" algn="just">
              <a:buFont typeface="Wingdings" pitchFamily="2" charset="2"/>
              <a:buChar char="§"/>
            </a:pPr>
            <a:r>
              <a:rPr lang="en-US" sz="2000" dirty="0"/>
              <a:t>Political Organization of Hausa States. </a:t>
            </a:r>
          </a:p>
          <a:p>
            <a:pPr marL="566928" indent="-457200" algn="just">
              <a:buFont typeface="Wingdings" pitchFamily="2" charset="2"/>
              <a:buChar char="§"/>
            </a:pPr>
            <a:r>
              <a:rPr lang="en-US" sz="2000" dirty="0"/>
              <a:t>Governance in </a:t>
            </a:r>
            <a:r>
              <a:rPr lang="en-US" sz="2000" dirty="0" err="1"/>
              <a:t>Sokoto</a:t>
            </a:r>
            <a:r>
              <a:rPr lang="en-US" sz="2000" dirty="0"/>
              <a:t> Caliphate.</a:t>
            </a:r>
          </a:p>
          <a:p>
            <a:pPr marL="566928" indent="-457200" algn="just">
              <a:buFont typeface="Wingdings" pitchFamily="2" charset="2"/>
              <a:buChar char="§"/>
            </a:pPr>
            <a:r>
              <a:rPr lang="en-US" sz="2000" dirty="0"/>
              <a:t>Brief History of </a:t>
            </a:r>
            <a:r>
              <a:rPr lang="en-US" sz="2000" dirty="0" err="1"/>
              <a:t>Usman</a:t>
            </a:r>
            <a:r>
              <a:rPr lang="en-US" sz="2000" dirty="0"/>
              <a:t> </a:t>
            </a:r>
            <a:r>
              <a:rPr lang="en-US" sz="2000" dirty="0" err="1"/>
              <a:t>Danfodio</a:t>
            </a:r>
            <a:r>
              <a:rPr lang="en-US" sz="2000" dirty="0"/>
              <a:t>.</a:t>
            </a:r>
          </a:p>
          <a:p>
            <a:pPr marL="566928" indent="-457200" algn="just">
              <a:buFont typeface="Wingdings" pitchFamily="2" charset="2"/>
              <a:buChar char="§"/>
            </a:pPr>
            <a:r>
              <a:rPr lang="en-US" sz="2000" dirty="0"/>
              <a:t>The administration of the caliphate.</a:t>
            </a:r>
          </a:p>
          <a:p>
            <a:pPr marL="566928" indent="-457200" algn="just">
              <a:buFont typeface="Wingdings" pitchFamily="2" charset="2"/>
              <a:buChar char="§"/>
            </a:pPr>
            <a:r>
              <a:rPr lang="en-US" sz="2000" dirty="0"/>
              <a:t>Governance in the </a:t>
            </a:r>
            <a:r>
              <a:rPr lang="en-US" sz="2000" dirty="0" err="1"/>
              <a:t>Jukun</a:t>
            </a:r>
            <a:r>
              <a:rPr lang="en-US" sz="2000" dirty="0"/>
              <a:t> Kingdom.</a:t>
            </a:r>
          </a:p>
          <a:p>
            <a:pPr algn="just"/>
            <a:r>
              <a:rPr lang="en-US" sz="2000" dirty="0"/>
              <a:t>Politics and Governance in Pre-Colonial South-Western Nigeria.</a:t>
            </a:r>
          </a:p>
          <a:p>
            <a:pPr algn="just">
              <a:buFont typeface="Wingdings" pitchFamily="2" charset="2"/>
              <a:buChar char="§"/>
            </a:pPr>
            <a:r>
              <a:rPr lang="en-US" sz="2000" dirty="0"/>
              <a:t>Governance in Oyo Empire.</a:t>
            </a:r>
          </a:p>
          <a:p>
            <a:pPr algn="just">
              <a:buFont typeface="Wingdings" pitchFamily="2" charset="2"/>
              <a:buChar char="Ø"/>
            </a:pPr>
            <a:r>
              <a:rPr lang="en-US" sz="2000" dirty="0"/>
              <a:t>Exercises.</a:t>
            </a:r>
          </a:p>
        </p:txBody>
      </p:sp>
      <p:sp>
        <p:nvSpPr>
          <p:cNvPr id="1048618" name="Title 2"/>
          <p:cNvSpPr>
            <a:spLocks noGrp="1"/>
          </p:cNvSpPr>
          <p:nvPr>
            <p:ph type="title"/>
          </p:nvPr>
        </p:nvSpPr>
        <p:spPr/>
        <p:txBody>
          <a:bodyPr/>
          <a:lstStyle/>
          <a:p>
            <a:pPr algn="r"/>
            <a:r>
              <a:rPr lang="en-US" dirty="0">
                <a:solidFill>
                  <a:srgbClr val="C00000"/>
                </a:solidFill>
              </a:rPr>
              <a:t>COURSE OUTLINE: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
          <p:cNvSpPr>
            <a:spLocks noGrp="1"/>
          </p:cNvSpPr>
          <p:nvPr>
            <p:ph type="ctrTitle"/>
          </p:nvPr>
        </p:nvSpPr>
        <p:spPr>
          <a:xfrm>
            <a:off x="685800" y="228600"/>
            <a:ext cx="7772400" cy="990599"/>
          </a:xfrm>
        </p:spPr>
        <p:txBody>
          <a:bodyPr>
            <a:noAutofit/>
          </a:bodyPr>
          <a:lstStyle/>
          <a:p>
            <a:r>
              <a:rPr lang="en-US" sz="3200" dirty="0">
                <a:solidFill>
                  <a:schemeClr val="accent2"/>
                </a:solidFill>
              </a:rPr>
              <a:t>1.3 – THE NIGERIA AREA AND THE COMPOSITION OF ITS PEOPLE  </a:t>
            </a:r>
          </a:p>
        </p:txBody>
      </p:sp>
      <p:sp>
        <p:nvSpPr>
          <p:cNvPr id="1048620" name="Subtitle 2"/>
          <p:cNvSpPr>
            <a:spLocks noGrp="1"/>
          </p:cNvSpPr>
          <p:nvPr>
            <p:ph type="subTitle" idx="1"/>
          </p:nvPr>
        </p:nvSpPr>
        <p:spPr>
          <a:xfrm>
            <a:off x="685800" y="1143000"/>
            <a:ext cx="7772400" cy="3886200"/>
          </a:xfrm>
        </p:spPr>
        <p:txBody>
          <a:bodyPr>
            <a:normAutofit fontScale="96296"/>
          </a:bodyPr>
          <a:lstStyle/>
          <a:p>
            <a:r>
              <a:rPr lang="en-US" b="1" dirty="0">
                <a:solidFill>
                  <a:schemeClr val="tx1"/>
                </a:solidFill>
              </a:rPr>
              <a:t>THE REGION</a:t>
            </a:r>
          </a:p>
          <a:p>
            <a:pPr algn="just"/>
            <a:r>
              <a:rPr lang="en-US" dirty="0">
                <a:solidFill>
                  <a:schemeClr val="tx1"/>
                </a:solidFill>
              </a:rPr>
              <a:t>Nigeria lies between latitude 4 N and 14 N and longitude 3 E and 15 E. Nigeria is Africa most populous country and has a great diversity. Covers a total area of 923, 773sqkm.</a:t>
            </a:r>
          </a:p>
          <a:p>
            <a:pPr algn="just"/>
            <a:r>
              <a:rPr lang="en-US" dirty="0">
                <a:solidFill>
                  <a:schemeClr val="tx1"/>
                </a:solidFill>
              </a:rPr>
              <a:t>Nigeria is bounded in the West by the Republic of Benin,  in the North by Niger Republic, in the East by the Republic of Cameroon and in the South by the Gulf of Guinea. </a:t>
            </a:r>
            <a:r>
              <a:rPr lang="en-US" sz="2800" baseline="30000" dirty="0"/>
              <a:t>2</a:t>
            </a:r>
            <a:endParaRPr lang="en-US" dirty="0">
              <a:solidFill>
                <a:schemeClr val="tx1"/>
              </a:solidFill>
            </a:endParaRPr>
          </a:p>
          <a:p>
            <a:pPr algn="just"/>
            <a:endParaRPr lang="en-US" dirty="0">
              <a:solidFill>
                <a:schemeClr val="tx1"/>
              </a:solidFill>
            </a:endParaRPr>
          </a:p>
        </p:txBody>
      </p:sp>
      <p:sp>
        <p:nvSpPr>
          <p:cNvPr id="1048621" name="Rectangle 5"/>
          <p:cNvSpPr/>
          <p:nvPr/>
        </p:nvSpPr>
        <p:spPr>
          <a:xfrm>
            <a:off x="685800" y="5867400"/>
            <a:ext cx="8001000" cy="6096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dirty="0"/>
              <a:t> </a:t>
            </a:r>
            <a:r>
              <a:rPr lang="en-US" sz="1400" baseline="30000" dirty="0"/>
              <a:t>2 </a:t>
            </a:r>
            <a:r>
              <a:rPr lang="en-US" sz="1400" dirty="0" err="1"/>
              <a:t>Obaro</a:t>
            </a:r>
            <a:r>
              <a:rPr lang="en-US" sz="1400" dirty="0"/>
              <a:t> I.  </a:t>
            </a:r>
            <a:r>
              <a:rPr lang="en-US" sz="1400" i="1" dirty="0"/>
              <a:t>“Groundwork of Nigeria History”</a:t>
            </a:r>
            <a:r>
              <a:rPr lang="en-US" sz="1400" dirty="0"/>
              <a:t>.  Nigeria: Heinemann Education  Books, 1976: 7.</a:t>
            </a:r>
          </a:p>
        </p:txBody>
      </p:sp>
      <p:cxnSp>
        <p:nvCxnSpPr>
          <p:cNvPr id="3145731" name="Straight Connector 7"/>
          <p:cNvCxnSpPr>
            <a:cxnSpLocks/>
          </p:cNvCxnSpPr>
          <p:nvPr/>
        </p:nvCxnSpPr>
        <p:spPr>
          <a:xfrm>
            <a:off x="609600" y="5865812"/>
            <a:ext cx="7848600" cy="158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Content Placeholder 1"/>
          <p:cNvSpPr>
            <a:spLocks noGrp="1"/>
          </p:cNvSpPr>
          <p:nvPr>
            <p:ph idx="1"/>
          </p:nvPr>
        </p:nvSpPr>
        <p:spPr>
          <a:xfrm>
            <a:off x="457200" y="685800"/>
            <a:ext cx="8229600" cy="5321491"/>
          </a:xfrm>
        </p:spPr>
        <p:txBody>
          <a:bodyPr>
            <a:normAutofit/>
          </a:bodyPr>
          <a:lstStyle/>
          <a:p>
            <a:pPr algn="just">
              <a:buNone/>
            </a:pPr>
            <a:r>
              <a:rPr lang="en-US" sz="2400" dirty="0"/>
              <a:t>  Before 1914, the present day Nigeria was made up of Kingdoms, empires, ethnic groups and nationalities. Indeed there are more than 200 distinct ethnic groups in Nigeria with distinct customs, traditions and languages. </a:t>
            </a:r>
          </a:p>
          <a:p>
            <a:pPr algn="just">
              <a:buNone/>
            </a:pPr>
            <a:r>
              <a:rPr lang="en-US" sz="2400" dirty="0"/>
              <a:t>  The larger ones are the </a:t>
            </a:r>
            <a:r>
              <a:rPr lang="en-US" sz="2400" dirty="0" err="1"/>
              <a:t>Yorubas</a:t>
            </a:r>
            <a:r>
              <a:rPr lang="en-US" sz="2400" dirty="0"/>
              <a:t>, Hausas, </a:t>
            </a:r>
            <a:r>
              <a:rPr lang="en-US" sz="2400" dirty="0" err="1"/>
              <a:t>Igbos</a:t>
            </a:r>
            <a:r>
              <a:rPr lang="en-US" sz="2400" dirty="0"/>
              <a:t>. Other prominent ones are the Edo, Ibibio, Kanuri, </a:t>
            </a:r>
            <a:r>
              <a:rPr lang="en-US" sz="2400" dirty="0" err="1"/>
              <a:t>Tiv</a:t>
            </a:r>
            <a:r>
              <a:rPr lang="en-US" sz="2400" dirty="0"/>
              <a:t>, </a:t>
            </a:r>
            <a:r>
              <a:rPr lang="en-US" sz="2400" dirty="0" err="1"/>
              <a:t>Idoma</a:t>
            </a:r>
            <a:r>
              <a:rPr lang="en-US" sz="2400" dirty="0"/>
              <a:t>, </a:t>
            </a:r>
            <a:r>
              <a:rPr lang="en-US" sz="2400" dirty="0" err="1"/>
              <a:t>Nupe</a:t>
            </a:r>
            <a:r>
              <a:rPr lang="en-US" sz="2400" dirty="0"/>
              <a:t>, </a:t>
            </a:r>
            <a:r>
              <a:rPr lang="en-US" sz="2400" dirty="0" err="1"/>
              <a:t>Eggon</a:t>
            </a:r>
            <a:r>
              <a:rPr lang="en-US" sz="2400" dirty="0"/>
              <a:t>, e.t.c.</a:t>
            </a:r>
            <a:r>
              <a:rPr lang="en-US" sz="2400" baseline="30000" dirty="0"/>
              <a:t>3 </a:t>
            </a:r>
            <a:r>
              <a:rPr lang="en-US" sz="2400" dirty="0"/>
              <a:t>The contact and interaction among these ethnic groups brought several changes and transformations to their economic and socio-political institutions. </a:t>
            </a:r>
          </a:p>
        </p:txBody>
      </p:sp>
      <p:sp>
        <p:nvSpPr>
          <p:cNvPr id="1048623" name="Title 2"/>
          <p:cNvSpPr>
            <a:spLocks noGrp="1"/>
          </p:cNvSpPr>
          <p:nvPr>
            <p:ph type="title"/>
          </p:nvPr>
        </p:nvSpPr>
        <p:spPr>
          <a:xfrm>
            <a:off x="457200" y="274638"/>
            <a:ext cx="8229600" cy="487362"/>
          </a:xfrm>
        </p:spPr>
        <p:txBody>
          <a:bodyPr>
            <a:normAutofit fontScale="90000"/>
          </a:bodyPr>
          <a:lstStyle/>
          <a:p>
            <a:pPr algn="r"/>
            <a:r>
              <a:rPr lang="en-US" sz="2800" dirty="0">
                <a:solidFill>
                  <a:schemeClr val="tx1"/>
                </a:solidFill>
              </a:rPr>
              <a:t>THE PEOPLE</a:t>
            </a:r>
          </a:p>
        </p:txBody>
      </p:sp>
      <p:grpSp>
        <p:nvGrpSpPr>
          <p:cNvPr id="52" name="Group 4"/>
          <p:cNvGrpSpPr/>
          <p:nvPr/>
        </p:nvGrpSpPr>
        <p:grpSpPr>
          <a:xfrm>
            <a:off x="762000" y="5486400"/>
            <a:ext cx="8153400" cy="685800"/>
            <a:chOff x="914400" y="5334000"/>
            <a:chExt cx="8153400" cy="685800"/>
          </a:xfrm>
        </p:grpSpPr>
        <p:sp>
          <p:nvSpPr>
            <p:cNvPr id="1048624" name="Rectangle 5"/>
            <p:cNvSpPr/>
            <p:nvPr/>
          </p:nvSpPr>
          <p:spPr>
            <a:xfrm>
              <a:off x="1066800" y="5410200"/>
              <a:ext cx="8001000" cy="6096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dirty="0" err="1"/>
                <a:t>Okpeh</a:t>
              </a:r>
              <a:r>
                <a:rPr lang="en-US" sz="1400" dirty="0"/>
                <a:t> O. and </a:t>
              </a:r>
              <a:r>
                <a:rPr lang="en-US" sz="1400" dirty="0" err="1"/>
                <a:t>Ugbegilis</a:t>
              </a:r>
              <a:r>
                <a:rPr lang="en-US" sz="1400" dirty="0"/>
                <a:t> I. “</a:t>
              </a:r>
              <a:r>
                <a:rPr lang="en-US" sz="1400" i="1" dirty="0"/>
                <a:t>Themes on Nigerian History, People and Cultures”,</a:t>
              </a:r>
            </a:p>
            <a:p>
              <a:r>
                <a:rPr lang="en-US" sz="1400" dirty="0"/>
                <a:t>Ibadan Vast Publishers,  2013.</a:t>
              </a:r>
            </a:p>
          </p:txBody>
        </p:sp>
        <p:sp>
          <p:nvSpPr>
            <p:cNvPr id="1048625" name="Rectangle 6"/>
            <p:cNvSpPr/>
            <p:nvPr/>
          </p:nvSpPr>
          <p:spPr>
            <a:xfrm>
              <a:off x="914400" y="5334000"/>
              <a:ext cx="381000" cy="457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3</a:t>
              </a:r>
            </a:p>
          </p:txBody>
        </p:sp>
      </p:grpSp>
      <p:cxnSp>
        <p:nvCxnSpPr>
          <p:cNvPr id="3145732" name="Straight Connector 7"/>
          <p:cNvCxnSpPr>
            <a:cxnSpLocks/>
          </p:cNvCxnSpPr>
          <p:nvPr/>
        </p:nvCxnSpPr>
        <p:spPr>
          <a:xfrm>
            <a:off x="838200" y="5561012"/>
            <a:ext cx="7848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Content Placeholder 1"/>
          <p:cNvSpPr>
            <a:spLocks noGrp="1"/>
          </p:cNvSpPr>
          <p:nvPr>
            <p:ph idx="1"/>
          </p:nvPr>
        </p:nvSpPr>
        <p:spPr>
          <a:xfrm>
            <a:off x="457200" y="1219200"/>
            <a:ext cx="8229600" cy="4525963"/>
          </a:xfrm>
        </p:spPr>
        <p:txBody>
          <a:bodyPr>
            <a:noAutofit/>
          </a:bodyPr>
          <a:lstStyle/>
          <a:p>
            <a:pPr algn="just"/>
            <a:r>
              <a:rPr lang="en-US" sz="1800" dirty="0"/>
              <a:t>What we describe today as Nigeria did not exist as one entity during the Pre-colonial period. What existed then were various types of state organization at various stages of development. These includes; </a:t>
            </a:r>
            <a:r>
              <a:rPr lang="en-US" sz="1800" dirty="0" err="1"/>
              <a:t>Sokoto</a:t>
            </a:r>
            <a:r>
              <a:rPr lang="en-US" sz="1800" dirty="0"/>
              <a:t> caliphate, Oyo empire, </a:t>
            </a:r>
            <a:r>
              <a:rPr lang="en-US" sz="1800" dirty="0" err="1"/>
              <a:t>Binin</a:t>
            </a:r>
            <a:r>
              <a:rPr lang="en-US" sz="1800" dirty="0"/>
              <a:t> kingdom, </a:t>
            </a:r>
            <a:r>
              <a:rPr lang="en-US" sz="1800" dirty="0" err="1"/>
              <a:t>Jukun</a:t>
            </a:r>
            <a:r>
              <a:rPr lang="en-US" sz="1800" dirty="0"/>
              <a:t> empire, Igbo society. There were also clan/village organizations which was dominant socio-political set up in the middle belt and the South Eastern part of Nigeria.</a:t>
            </a:r>
          </a:p>
          <a:p>
            <a:pPr algn="just">
              <a:buNone/>
            </a:pPr>
            <a:endParaRPr lang="en-US" sz="1800" dirty="0"/>
          </a:p>
          <a:p>
            <a:pPr algn="just"/>
            <a:r>
              <a:rPr lang="en-US" sz="1800" dirty="0"/>
              <a:t>At the beginning of the 19</a:t>
            </a:r>
            <a:r>
              <a:rPr lang="en-US" sz="1800" baseline="30000" dirty="0"/>
              <a:t>th</a:t>
            </a:r>
            <a:r>
              <a:rPr lang="en-US" sz="1800" dirty="0"/>
              <a:t> Century, all the various groups were confronted by </a:t>
            </a:r>
            <a:r>
              <a:rPr lang="en-US" sz="1800" dirty="0" err="1"/>
              <a:t>Usman</a:t>
            </a:r>
            <a:r>
              <a:rPr lang="en-US" sz="1800" dirty="0"/>
              <a:t> Dan </a:t>
            </a:r>
            <a:r>
              <a:rPr lang="en-US" sz="1800" dirty="0" err="1"/>
              <a:t>Fodio</a:t>
            </a:r>
            <a:r>
              <a:rPr lang="en-US" sz="1800" dirty="0"/>
              <a:t> Jihad, </a:t>
            </a:r>
            <a:r>
              <a:rPr lang="en-US" sz="1800" dirty="0" err="1"/>
              <a:t>Kanem</a:t>
            </a:r>
            <a:r>
              <a:rPr lang="en-US" sz="1800" dirty="0"/>
              <a:t> </a:t>
            </a:r>
            <a:r>
              <a:rPr lang="en-US" sz="1800" dirty="0" err="1"/>
              <a:t>Borno</a:t>
            </a:r>
            <a:r>
              <a:rPr lang="en-US" sz="1800" dirty="0"/>
              <a:t> was battling with attacks coming from the Rebels from Sudan, Oyo empire too was faced with rebellion between </a:t>
            </a:r>
            <a:r>
              <a:rPr lang="en-US" sz="1800" dirty="0" err="1"/>
              <a:t>Kankanfor</a:t>
            </a:r>
            <a:r>
              <a:rPr lang="en-US" sz="1800" dirty="0"/>
              <a:t> </a:t>
            </a:r>
            <a:r>
              <a:rPr lang="en-US" sz="1800" dirty="0" err="1"/>
              <a:t>Afoja</a:t>
            </a:r>
            <a:r>
              <a:rPr lang="en-US" sz="1800" dirty="0"/>
              <a:t> and the </a:t>
            </a:r>
            <a:r>
              <a:rPr lang="en-US" sz="1800" dirty="0" err="1"/>
              <a:t>Alaafin</a:t>
            </a:r>
            <a:r>
              <a:rPr lang="en-US" sz="1800" dirty="0"/>
              <a:t>. A situation that witnessed a general confusion and civil war in Yoruba land for over eighty years.</a:t>
            </a:r>
            <a:r>
              <a:rPr lang="en-US" sz="1800" baseline="30000" dirty="0"/>
              <a:t>4 </a:t>
            </a:r>
            <a:r>
              <a:rPr lang="en-US" sz="1800" dirty="0"/>
              <a:t>Meanwhile, there are uncertainties in areas like the middle belt and the South Eastern States arising from the activities of the Slave trade.</a:t>
            </a:r>
          </a:p>
        </p:txBody>
      </p:sp>
      <p:sp>
        <p:nvSpPr>
          <p:cNvPr id="1048630" name="Title 2"/>
          <p:cNvSpPr>
            <a:spLocks noGrp="1"/>
          </p:cNvSpPr>
          <p:nvPr>
            <p:ph type="title"/>
          </p:nvPr>
        </p:nvSpPr>
        <p:spPr/>
        <p:txBody>
          <a:bodyPr>
            <a:noAutofit/>
          </a:bodyPr>
          <a:lstStyle/>
          <a:p>
            <a:pPr algn="r"/>
            <a:r>
              <a:rPr lang="en-US" sz="2800" dirty="0">
                <a:solidFill>
                  <a:schemeClr val="accent2"/>
                </a:solidFill>
              </a:rPr>
              <a:t>EVOLUTION OF NIGERIAN STATES DURING THE PRE-COLONIAL PERIOD</a:t>
            </a:r>
          </a:p>
        </p:txBody>
      </p:sp>
      <p:grpSp>
        <p:nvGrpSpPr>
          <p:cNvPr id="56" name="Group 4"/>
          <p:cNvGrpSpPr/>
          <p:nvPr/>
        </p:nvGrpSpPr>
        <p:grpSpPr>
          <a:xfrm>
            <a:off x="1524000" y="5715000"/>
            <a:ext cx="8153400" cy="685800"/>
            <a:chOff x="914400" y="5334000"/>
            <a:chExt cx="8153400" cy="685800"/>
          </a:xfrm>
        </p:grpSpPr>
        <p:sp>
          <p:nvSpPr>
            <p:cNvPr id="1048631" name="Rectangle 5"/>
            <p:cNvSpPr/>
            <p:nvPr/>
          </p:nvSpPr>
          <p:spPr>
            <a:xfrm>
              <a:off x="1066800" y="5410200"/>
              <a:ext cx="8001000" cy="6096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dirty="0" err="1">
                  <a:solidFill>
                    <a:schemeClr val="tx1"/>
                  </a:solidFill>
                </a:rPr>
                <a:t>Okpeh</a:t>
              </a:r>
              <a:r>
                <a:rPr lang="en-US" sz="1400" dirty="0">
                  <a:solidFill>
                    <a:schemeClr val="tx1"/>
                  </a:solidFill>
                </a:rPr>
                <a:t> O. and </a:t>
              </a:r>
              <a:r>
                <a:rPr lang="en-US" sz="1400" dirty="0" err="1">
                  <a:solidFill>
                    <a:schemeClr val="tx1"/>
                  </a:solidFill>
                </a:rPr>
                <a:t>Ugbegilis</a:t>
              </a:r>
              <a:r>
                <a:rPr lang="en-US" sz="1400" dirty="0">
                  <a:solidFill>
                    <a:schemeClr val="tx1"/>
                  </a:solidFill>
                </a:rPr>
                <a:t> I. “</a:t>
              </a:r>
              <a:r>
                <a:rPr lang="en-US" sz="1400" i="1" dirty="0">
                  <a:solidFill>
                    <a:schemeClr val="tx1"/>
                  </a:solidFill>
                </a:rPr>
                <a:t>Themes on Nigerian History, People and Cultures”,</a:t>
              </a:r>
              <a:r>
                <a:rPr lang="en-US" sz="1400" dirty="0">
                  <a:solidFill>
                    <a:schemeClr val="tx1"/>
                  </a:solidFill>
                </a:rPr>
                <a:t> </a:t>
              </a:r>
            </a:p>
            <a:p>
              <a:r>
                <a:rPr lang="en-US" sz="1400" dirty="0">
                  <a:solidFill>
                    <a:schemeClr val="tx1"/>
                  </a:solidFill>
                </a:rPr>
                <a:t>Ibadan Vast Publishers,  2013.</a:t>
              </a:r>
            </a:p>
          </p:txBody>
        </p:sp>
        <p:sp>
          <p:nvSpPr>
            <p:cNvPr id="1048632" name="Rectangle 6"/>
            <p:cNvSpPr/>
            <p:nvPr/>
          </p:nvSpPr>
          <p:spPr>
            <a:xfrm>
              <a:off x="914400" y="5334000"/>
              <a:ext cx="381000" cy="457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4</a:t>
              </a:r>
            </a:p>
          </p:txBody>
        </p:sp>
      </p:grpSp>
      <p:cxnSp>
        <p:nvCxnSpPr>
          <p:cNvPr id="3145733" name="Straight Connector 7"/>
          <p:cNvCxnSpPr>
            <a:cxnSpLocks/>
          </p:cNvCxnSpPr>
          <p:nvPr/>
        </p:nvCxnSpPr>
        <p:spPr>
          <a:xfrm>
            <a:off x="914400" y="5789612"/>
            <a:ext cx="7848600" cy="158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itle 1"/>
          <p:cNvSpPr>
            <a:spLocks noGrp="1"/>
          </p:cNvSpPr>
          <p:nvPr>
            <p:ph type="ctrTitle"/>
          </p:nvPr>
        </p:nvSpPr>
        <p:spPr>
          <a:xfrm>
            <a:off x="685800" y="1219201"/>
            <a:ext cx="7772400" cy="2363162"/>
          </a:xfrm>
        </p:spPr>
        <p:txBody>
          <a:bodyPr>
            <a:normAutofit fontScale="90000"/>
          </a:bodyPr>
          <a:lstStyle/>
          <a:p>
            <a:r>
              <a:rPr lang="en-US" dirty="0">
                <a:solidFill>
                  <a:srgbClr val="C00000"/>
                </a:solidFill>
              </a:rPr>
              <a:t>PRECOLONIAL POLITICAL SYSTEM IN NIGERIA BEFORE CONTACT WITH EUROPE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Content Placeholder 1"/>
          <p:cNvSpPr>
            <a:spLocks noGrp="1"/>
          </p:cNvSpPr>
          <p:nvPr>
            <p:ph idx="1"/>
          </p:nvPr>
        </p:nvSpPr>
        <p:spPr>
          <a:xfrm>
            <a:off x="228600" y="1417637"/>
            <a:ext cx="8458200" cy="3992563"/>
          </a:xfrm>
        </p:spPr>
        <p:txBody>
          <a:bodyPr>
            <a:noAutofit/>
          </a:bodyPr>
          <a:lstStyle/>
          <a:p>
            <a:pPr algn="just">
              <a:buNone/>
            </a:pPr>
            <a:r>
              <a:rPr lang="en-US" sz="1600" dirty="0"/>
              <a:t>Situated between the Kanuri in the East and the Songhai in the West, stretching from the Niger-Benue junction to the desert South of </a:t>
            </a:r>
            <a:r>
              <a:rPr lang="en-US" sz="1600" dirty="0" err="1"/>
              <a:t>Agades</a:t>
            </a:r>
            <a:r>
              <a:rPr lang="en-US" sz="1600" dirty="0"/>
              <a:t> is the home of the Hausa speaking people of Central Sudan. They are called Hausa people because they are not of one tribe. </a:t>
            </a:r>
          </a:p>
          <a:p>
            <a:pPr algn="just">
              <a:buNone/>
            </a:pPr>
            <a:r>
              <a:rPr lang="en-US" sz="1600" dirty="0"/>
              <a:t>However, one of the theories of the Hausa people is that they came about as a result of several waves of invaders from the North and East who interacted and mixed up with the original inhabitants of the area who were known as </a:t>
            </a:r>
            <a:r>
              <a:rPr lang="en-US" sz="1600" dirty="0" err="1"/>
              <a:t>GwaiGwai</a:t>
            </a:r>
            <a:r>
              <a:rPr lang="en-US" sz="1600" dirty="0"/>
              <a:t> who were subsequently invaded and conquered by the Sao. Then came the </a:t>
            </a:r>
            <a:r>
              <a:rPr lang="en-US" sz="1600" dirty="0" err="1"/>
              <a:t>Zaghwa</a:t>
            </a:r>
            <a:r>
              <a:rPr lang="en-US" sz="1600" dirty="0"/>
              <a:t> who started the formation of Hausa lands and finally the Berbers from North Africa who were fleeing from Arab pressures after 7</a:t>
            </a:r>
            <a:r>
              <a:rPr lang="en-US" sz="1600" baseline="30000" dirty="0"/>
              <a:t>th</a:t>
            </a:r>
            <a:r>
              <a:rPr lang="en-US" sz="1600" dirty="0"/>
              <a:t> C</a:t>
            </a:r>
            <a:r>
              <a:rPr lang="en-US" sz="1600" baseline="30000" dirty="0"/>
              <a:t>.</a:t>
            </a:r>
            <a:r>
              <a:rPr lang="en-US" sz="1600" dirty="0"/>
              <a:t> A.D</a:t>
            </a:r>
            <a:r>
              <a:rPr lang="en-US" sz="1600" baseline="30000" dirty="0"/>
              <a:t>5</a:t>
            </a:r>
          </a:p>
          <a:p>
            <a:pPr algn="just">
              <a:buNone/>
            </a:pPr>
            <a:r>
              <a:rPr lang="en-US" sz="1600" dirty="0"/>
              <a:t>Important to talk about is one of the most populous legend of the Hausa States, that talked about the founding of the Hausa States called “Hausa </a:t>
            </a:r>
            <a:r>
              <a:rPr lang="en-US" sz="1600" dirty="0" err="1"/>
              <a:t>Bakwai</a:t>
            </a:r>
            <a:r>
              <a:rPr lang="en-US" sz="1600" dirty="0"/>
              <a:t>” comprising; </a:t>
            </a:r>
            <a:r>
              <a:rPr lang="en-US" sz="1600" dirty="0" err="1"/>
              <a:t>Daura</a:t>
            </a:r>
            <a:r>
              <a:rPr lang="en-US" sz="1600" dirty="0"/>
              <a:t>, Kano, </a:t>
            </a:r>
            <a:r>
              <a:rPr lang="en-US" sz="1600" dirty="0" err="1"/>
              <a:t>Rano</a:t>
            </a:r>
            <a:r>
              <a:rPr lang="en-US" sz="1600" dirty="0"/>
              <a:t>, Zaria, </a:t>
            </a:r>
            <a:r>
              <a:rPr lang="en-US" sz="1600" dirty="0" err="1"/>
              <a:t>Katsina</a:t>
            </a:r>
            <a:r>
              <a:rPr lang="en-US" sz="1600" dirty="0"/>
              <a:t>, </a:t>
            </a:r>
            <a:r>
              <a:rPr lang="en-US" sz="1600" dirty="0" err="1"/>
              <a:t>Biram</a:t>
            </a:r>
            <a:r>
              <a:rPr lang="en-US" sz="1600" dirty="0"/>
              <a:t> and </a:t>
            </a:r>
            <a:r>
              <a:rPr lang="en-US" sz="1600" dirty="0" err="1"/>
              <a:t>Gobir</a:t>
            </a:r>
            <a:r>
              <a:rPr lang="en-US" sz="1600" dirty="0"/>
              <a:t>. Also, the forming of the illegitimate Hausa states known as “</a:t>
            </a:r>
            <a:r>
              <a:rPr lang="en-US" sz="1600" dirty="0" err="1"/>
              <a:t>Banza</a:t>
            </a:r>
            <a:r>
              <a:rPr lang="en-US" sz="1600" dirty="0"/>
              <a:t> </a:t>
            </a:r>
            <a:r>
              <a:rPr lang="en-US" sz="1600" dirty="0" err="1"/>
              <a:t>Bakwai</a:t>
            </a:r>
            <a:r>
              <a:rPr lang="en-US" sz="1600" dirty="0"/>
              <a:t>” comprising; </a:t>
            </a:r>
            <a:r>
              <a:rPr lang="en-US" sz="1600" dirty="0" err="1"/>
              <a:t>Zamfara</a:t>
            </a:r>
            <a:r>
              <a:rPr lang="en-US" sz="1600" dirty="0"/>
              <a:t>, </a:t>
            </a:r>
            <a:r>
              <a:rPr lang="en-US" sz="1600" dirty="0" err="1"/>
              <a:t>Kebbi</a:t>
            </a:r>
            <a:r>
              <a:rPr lang="en-US" sz="1600" dirty="0"/>
              <a:t>, </a:t>
            </a:r>
            <a:r>
              <a:rPr lang="en-US" sz="1600" dirty="0" err="1"/>
              <a:t>Nupe</a:t>
            </a:r>
            <a:r>
              <a:rPr lang="en-US" sz="1600" dirty="0"/>
              <a:t>,  </a:t>
            </a:r>
            <a:r>
              <a:rPr lang="en-US" sz="1600" dirty="0" err="1"/>
              <a:t>Gwari</a:t>
            </a:r>
            <a:r>
              <a:rPr lang="en-US" sz="1600" dirty="0"/>
              <a:t>, </a:t>
            </a:r>
            <a:r>
              <a:rPr lang="en-US" sz="1600" dirty="0" err="1"/>
              <a:t>Yauri</a:t>
            </a:r>
            <a:r>
              <a:rPr lang="en-US" sz="1600" dirty="0"/>
              <a:t>, </a:t>
            </a:r>
            <a:r>
              <a:rPr lang="en-US" sz="1600" dirty="0" err="1"/>
              <a:t>Kwararafa</a:t>
            </a:r>
            <a:r>
              <a:rPr lang="en-US" sz="1600" dirty="0"/>
              <a:t> and Ilorin.</a:t>
            </a:r>
            <a:r>
              <a:rPr lang="en-US" sz="1600" baseline="30000" dirty="0"/>
              <a:t> 6</a:t>
            </a:r>
          </a:p>
        </p:txBody>
      </p:sp>
      <p:sp>
        <p:nvSpPr>
          <p:cNvPr id="1048638" name="Title 2"/>
          <p:cNvSpPr>
            <a:spLocks noGrp="1"/>
          </p:cNvSpPr>
          <p:nvPr>
            <p:ph type="title"/>
          </p:nvPr>
        </p:nvSpPr>
        <p:spPr>
          <a:xfrm>
            <a:off x="457200" y="274638"/>
            <a:ext cx="8458200" cy="1143000"/>
          </a:xfrm>
        </p:spPr>
        <p:txBody>
          <a:bodyPr>
            <a:noAutofit/>
          </a:bodyPr>
          <a:lstStyle/>
          <a:p>
            <a:pPr algn="r"/>
            <a:r>
              <a:rPr lang="en-US" sz="2800" dirty="0">
                <a:solidFill>
                  <a:srgbClr val="C00000"/>
                </a:solidFill>
              </a:rPr>
              <a:t>POLITICS AND GOVERNANCE IN PRE-COLONIAL NORTHERN NIGERIA</a:t>
            </a:r>
            <a:br>
              <a:rPr lang="en-US" sz="2800" dirty="0">
                <a:solidFill>
                  <a:srgbClr val="C00000"/>
                </a:solidFill>
              </a:rPr>
            </a:br>
            <a:r>
              <a:rPr lang="en-US" sz="2800" dirty="0">
                <a:solidFill>
                  <a:srgbClr val="C00000"/>
                </a:solidFill>
              </a:rPr>
              <a:t>- </a:t>
            </a:r>
            <a:r>
              <a:rPr lang="en-US" sz="2000" dirty="0">
                <a:solidFill>
                  <a:srgbClr val="C00000"/>
                </a:solidFill>
              </a:rPr>
              <a:t>GOVERNANCE IN HAUSA LAND</a:t>
            </a:r>
          </a:p>
        </p:txBody>
      </p:sp>
      <p:sp>
        <p:nvSpPr>
          <p:cNvPr id="1048639" name="Rectangle 4"/>
          <p:cNvSpPr/>
          <p:nvPr/>
        </p:nvSpPr>
        <p:spPr>
          <a:xfrm>
            <a:off x="1447800" y="5791200"/>
            <a:ext cx="7552346"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aseline="30000" dirty="0"/>
              <a:t>5</a:t>
            </a:r>
            <a:r>
              <a:rPr lang="en-US" sz="1400" dirty="0"/>
              <a:t>Eluwa, G.I.C et.al, “A History of Nigeria for Schools and Colleges”, Onitsha: Africana </a:t>
            </a:r>
          </a:p>
          <a:p>
            <a:r>
              <a:rPr lang="en-US" sz="1400" dirty="0"/>
              <a:t>              – First Publishers Ltd. 1988:31</a:t>
            </a:r>
          </a:p>
          <a:p>
            <a:r>
              <a:rPr lang="en-US" sz="1400" baseline="30000" dirty="0"/>
              <a:t>6</a:t>
            </a:r>
            <a:r>
              <a:rPr lang="en-US" sz="1400" dirty="0"/>
              <a:t> S. </a:t>
            </a:r>
            <a:r>
              <a:rPr lang="en-US" sz="1400" dirty="0" err="1"/>
              <a:t>Abubakar</a:t>
            </a:r>
            <a:r>
              <a:rPr lang="en-US" sz="1400" dirty="0"/>
              <a:t> “The Established </a:t>
            </a:r>
            <a:r>
              <a:rPr lang="en-US" sz="1400" dirty="0" err="1"/>
              <a:t>Sokoto</a:t>
            </a:r>
            <a:r>
              <a:rPr lang="en-US" sz="1400" dirty="0"/>
              <a:t>  Caliphate, The Emirate and their Neighbors” -             </a:t>
            </a:r>
          </a:p>
          <a:p>
            <a:r>
              <a:rPr lang="en-US" sz="1400" dirty="0"/>
              <a:t>                Groundwork of Nigeria History in </a:t>
            </a:r>
            <a:r>
              <a:rPr lang="en-US" sz="1400" dirty="0" err="1"/>
              <a:t>Obaro</a:t>
            </a:r>
            <a:r>
              <a:rPr lang="en-US" sz="1400" dirty="0"/>
              <a:t> </a:t>
            </a:r>
            <a:r>
              <a:rPr lang="en-US" sz="1400" dirty="0" err="1"/>
              <a:t>Ikime</a:t>
            </a:r>
            <a:r>
              <a:rPr lang="en-US" sz="1400" dirty="0"/>
              <a:t>. Nigeria: Heinemann </a:t>
            </a:r>
          </a:p>
          <a:p>
            <a:r>
              <a:rPr lang="en-US" sz="1400" dirty="0"/>
              <a:t>                            Education Book, 1976.</a:t>
            </a:r>
          </a:p>
          <a:p>
            <a:endParaRPr lang="en-US" sz="1400" dirty="0"/>
          </a:p>
        </p:txBody>
      </p:sp>
      <p:cxnSp>
        <p:nvCxnSpPr>
          <p:cNvPr id="3145734" name="Straight Connector 6"/>
          <p:cNvCxnSpPr>
            <a:cxnSpLocks/>
          </p:cNvCxnSpPr>
          <p:nvPr/>
        </p:nvCxnSpPr>
        <p:spPr>
          <a:xfrm>
            <a:off x="1143000" y="5530532"/>
            <a:ext cx="7848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Subtitle 2"/>
          <p:cNvSpPr>
            <a:spLocks noGrp="1"/>
          </p:cNvSpPr>
          <p:nvPr>
            <p:ph type="subTitle" idx="1"/>
          </p:nvPr>
        </p:nvSpPr>
        <p:spPr>
          <a:xfrm>
            <a:off x="685800" y="228600"/>
            <a:ext cx="7772400" cy="4582711"/>
          </a:xfrm>
        </p:spPr>
        <p:txBody>
          <a:bodyPr>
            <a:normAutofit/>
          </a:bodyPr>
          <a:lstStyle/>
          <a:p>
            <a:pPr algn="just"/>
            <a:r>
              <a:rPr lang="en-US" sz="2000" dirty="0"/>
              <a:t>Prior to the formation of Hausa states, the people lived in Hamlets and villages which later developed into town (</a:t>
            </a:r>
            <a:r>
              <a:rPr lang="en-US" sz="2000" dirty="0" err="1"/>
              <a:t>Gari</a:t>
            </a:r>
            <a:r>
              <a:rPr lang="en-US" sz="2000" dirty="0"/>
              <a:t>), which in  turn grew into smaller cities. The factors that aided the growth of these villages into </a:t>
            </a:r>
            <a:r>
              <a:rPr lang="en-US" sz="2000" dirty="0" err="1"/>
              <a:t>Gari</a:t>
            </a:r>
            <a:r>
              <a:rPr lang="en-US" sz="2000" dirty="0"/>
              <a:t> and </a:t>
            </a:r>
            <a:r>
              <a:rPr lang="en-US" sz="2000" dirty="0" err="1"/>
              <a:t>Birine</a:t>
            </a:r>
            <a:r>
              <a:rPr lang="en-US" sz="2000" dirty="0"/>
              <a:t> includes;</a:t>
            </a:r>
          </a:p>
          <a:p>
            <a:pPr marL="514350" indent="-514350" algn="just">
              <a:buFont typeface="+mj-lt"/>
              <a:buAutoNum type="arabicPeriod"/>
            </a:pPr>
            <a:r>
              <a:rPr lang="en-US" sz="2000" dirty="0"/>
              <a:t>Able leadership.</a:t>
            </a:r>
          </a:p>
          <a:p>
            <a:pPr marL="514350" indent="-514350" algn="just">
              <a:buFont typeface="+mj-lt"/>
              <a:buAutoNum type="arabicPeriod"/>
            </a:pPr>
            <a:r>
              <a:rPr lang="en-US" sz="2000" dirty="0"/>
              <a:t>Agricultural activities. </a:t>
            </a:r>
            <a:r>
              <a:rPr lang="en-US" sz="2000" dirty="0" err="1"/>
              <a:t>Eg</a:t>
            </a:r>
            <a:r>
              <a:rPr lang="en-US" sz="2000" dirty="0"/>
              <a:t>, Farming and trading.</a:t>
            </a:r>
          </a:p>
          <a:p>
            <a:pPr marL="514350" indent="-514350" algn="just">
              <a:buFont typeface="+mj-lt"/>
              <a:buAutoNum type="arabicPeriod"/>
            </a:pPr>
            <a:r>
              <a:rPr lang="en-US" sz="2000" dirty="0"/>
              <a:t>Fertile land.</a:t>
            </a:r>
          </a:p>
          <a:p>
            <a:pPr marL="514350" indent="-514350" algn="just">
              <a:buFont typeface="+mj-lt"/>
              <a:buAutoNum type="arabicPeriod"/>
            </a:pPr>
            <a:r>
              <a:rPr lang="en-US" sz="2000" dirty="0"/>
              <a:t>Presence of iron ore which aided blacksmithing.</a:t>
            </a:r>
          </a:p>
          <a:p>
            <a:pPr marL="514350" indent="-514350" algn="just">
              <a:buFont typeface="+mj-lt"/>
              <a:buAutoNum type="arabicPeriod"/>
            </a:pPr>
            <a:r>
              <a:rPr lang="en-US" sz="2000" dirty="0"/>
              <a:t>Some of the </a:t>
            </a:r>
            <a:r>
              <a:rPr lang="en-US" sz="2000" dirty="0" err="1"/>
              <a:t>Birine</a:t>
            </a:r>
            <a:r>
              <a:rPr lang="en-US" sz="2000" dirty="0"/>
              <a:t> were situated along trade routes.</a:t>
            </a:r>
          </a:p>
          <a:p>
            <a:pPr marL="514350" indent="-514350" algn="just">
              <a:buFont typeface="+mj-lt"/>
              <a:buAutoNum type="arabicPeriod"/>
            </a:pPr>
            <a:r>
              <a:rPr lang="en-US" sz="2000" dirty="0"/>
              <a:t>Most  of the </a:t>
            </a:r>
            <a:r>
              <a:rPr lang="en-US" sz="2000" dirty="0" err="1"/>
              <a:t>Birine</a:t>
            </a:r>
            <a:r>
              <a:rPr lang="en-US" sz="2000" dirty="0"/>
              <a:t> were walled and gave the cities security.</a:t>
            </a:r>
          </a:p>
          <a:p>
            <a:pPr marL="514350" indent="-514350" algn="just">
              <a:buFont typeface="+mj-lt"/>
              <a:buAutoNum type="arabicPeriod"/>
            </a:pPr>
            <a:endParaRPr lang="en-US" sz="2000" dirty="0"/>
          </a:p>
          <a:p>
            <a:pPr algn="just"/>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Content Placeholder 1"/>
          <p:cNvSpPr>
            <a:spLocks noGrp="1"/>
          </p:cNvSpPr>
          <p:nvPr>
            <p:ph idx="1"/>
          </p:nvPr>
        </p:nvSpPr>
        <p:spPr/>
        <p:txBody>
          <a:bodyPr>
            <a:normAutofit fontScale="62778" lnSpcReduction="20000"/>
          </a:bodyPr>
          <a:lstStyle/>
          <a:p>
            <a:pPr marL="624078" indent="-514350" algn="just">
              <a:spcBef>
                <a:spcPts val="600"/>
              </a:spcBef>
              <a:spcAft>
                <a:spcPts val="600"/>
              </a:spcAft>
              <a:buFont typeface="+mj-lt"/>
              <a:buAutoNum type="arabicPeriod"/>
            </a:pPr>
            <a:r>
              <a:rPr lang="en-US" dirty="0"/>
              <a:t>Each state was rule by a </a:t>
            </a:r>
            <a:r>
              <a:rPr lang="en-US" dirty="0" err="1"/>
              <a:t>Sarki</a:t>
            </a:r>
            <a:r>
              <a:rPr lang="en-US" dirty="0"/>
              <a:t> or king who was the religious, political and judicial leader of the people.</a:t>
            </a:r>
          </a:p>
          <a:p>
            <a:pPr marL="624078" indent="-514350" algn="just">
              <a:spcBef>
                <a:spcPts val="600"/>
              </a:spcBef>
              <a:spcAft>
                <a:spcPts val="600"/>
              </a:spcAft>
              <a:buFont typeface="+mj-lt"/>
              <a:buAutoNum type="arabicPeriod"/>
            </a:pPr>
            <a:r>
              <a:rPr lang="en-US" dirty="0"/>
              <a:t>He was assisted by a council of state.</a:t>
            </a:r>
          </a:p>
          <a:p>
            <a:pPr marL="624078" indent="-514350" algn="just">
              <a:spcBef>
                <a:spcPts val="600"/>
              </a:spcBef>
              <a:spcAft>
                <a:spcPts val="600"/>
              </a:spcAft>
              <a:buFont typeface="+mj-lt"/>
              <a:buAutoNum type="arabicPeriod"/>
            </a:pPr>
            <a:r>
              <a:rPr lang="en-US" dirty="0"/>
              <a:t>The lesser units outside the Capital were administrated by district heads.</a:t>
            </a:r>
          </a:p>
          <a:p>
            <a:pPr marL="624078" indent="-514350" algn="just">
              <a:spcBef>
                <a:spcPts val="600"/>
              </a:spcBef>
              <a:spcAft>
                <a:spcPts val="600"/>
              </a:spcAft>
              <a:buFont typeface="+mj-lt"/>
              <a:buAutoNum type="arabicPeriod"/>
            </a:pPr>
            <a:r>
              <a:rPr lang="en-US" dirty="0"/>
              <a:t>With the introduction of Islam into Hausa land, the following institutions were introduced;</a:t>
            </a:r>
          </a:p>
          <a:p>
            <a:pPr marL="624078" indent="-514350" algn="just">
              <a:spcBef>
                <a:spcPts val="600"/>
              </a:spcBef>
              <a:spcAft>
                <a:spcPts val="600"/>
              </a:spcAft>
              <a:buFont typeface="Arial" pitchFamily="34" charset="0"/>
              <a:buChar char="•"/>
            </a:pPr>
            <a:r>
              <a:rPr lang="en-US" dirty="0" err="1"/>
              <a:t>Madawaki</a:t>
            </a:r>
            <a:r>
              <a:rPr lang="en-US" dirty="0"/>
              <a:t> (Commander of the army)</a:t>
            </a:r>
          </a:p>
          <a:p>
            <a:pPr marL="624078" indent="-514350" algn="just">
              <a:spcBef>
                <a:spcPts val="600"/>
              </a:spcBef>
              <a:spcAft>
                <a:spcPts val="600"/>
              </a:spcAft>
              <a:buFont typeface="Arial" pitchFamily="34" charset="0"/>
              <a:buChar char="•"/>
            </a:pPr>
            <a:r>
              <a:rPr lang="en-US" dirty="0" err="1"/>
              <a:t>Dogari</a:t>
            </a:r>
            <a:r>
              <a:rPr lang="en-US" dirty="0"/>
              <a:t> (head of the Kings body guard)</a:t>
            </a:r>
          </a:p>
          <a:p>
            <a:pPr marL="624078" indent="-514350" algn="just">
              <a:spcBef>
                <a:spcPts val="600"/>
              </a:spcBef>
              <a:spcAft>
                <a:spcPts val="600"/>
              </a:spcAft>
              <a:buFont typeface="Arial" pitchFamily="34" charset="0"/>
              <a:buChar char="•"/>
            </a:pPr>
            <a:r>
              <a:rPr lang="en-US" dirty="0" err="1"/>
              <a:t>Sarki</a:t>
            </a:r>
            <a:r>
              <a:rPr lang="en-US" dirty="0"/>
              <a:t> </a:t>
            </a:r>
            <a:r>
              <a:rPr lang="en-US" dirty="0" err="1"/>
              <a:t>yau</a:t>
            </a:r>
            <a:r>
              <a:rPr lang="en-US" dirty="0"/>
              <a:t>(chief of police)</a:t>
            </a:r>
          </a:p>
          <a:p>
            <a:pPr marL="624078" indent="-514350" algn="just">
              <a:spcBef>
                <a:spcPts val="600"/>
              </a:spcBef>
              <a:spcAft>
                <a:spcPts val="600"/>
              </a:spcAft>
              <a:buFont typeface="Arial" pitchFamily="34" charset="0"/>
              <a:buChar char="•"/>
            </a:pPr>
            <a:r>
              <a:rPr lang="en-US" dirty="0" err="1"/>
              <a:t>Galadima</a:t>
            </a:r>
            <a:r>
              <a:rPr lang="en-US" dirty="0"/>
              <a:t> (High official of the Royal Council).</a:t>
            </a:r>
          </a:p>
          <a:p>
            <a:pPr marL="624078" indent="-514350" algn="just">
              <a:spcBef>
                <a:spcPts val="600"/>
              </a:spcBef>
              <a:spcAft>
                <a:spcPts val="600"/>
              </a:spcAft>
              <a:buFont typeface="+mj-lt"/>
              <a:buAutoNum type="arabicPeriod" startAt="5"/>
            </a:pPr>
            <a:r>
              <a:rPr lang="en-US" dirty="0"/>
              <a:t>The judiciary was controlled by the chief alkali and learned judges. In  Hausa land the rulers were called </a:t>
            </a:r>
            <a:r>
              <a:rPr lang="en-US" dirty="0" err="1"/>
              <a:t>Sarauta</a:t>
            </a:r>
            <a:r>
              <a:rPr lang="en-US" dirty="0"/>
              <a:t>, while the commoners were known as </a:t>
            </a:r>
            <a:r>
              <a:rPr lang="en-US" dirty="0" err="1"/>
              <a:t>Talakawa</a:t>
            </a:r>
            <a:r>
              <a:rPr lang="en-US" dirty="0"/>
              <a:t>.</a:t>
            </a:r>
          </a:p>
        </p:txBody>
      </p:sp>
      <p:sp>
        <p:nvSpPr>
          <p:cNvPr id="1048645" name="Title 2"/>
          <p:cNvSpPr>
            <a:spLocks noGrp="1"/>
          </p:cNvSpPr>
          <p:nvPr>
            <p:ph type="title"/>
          </p:nvPr>
        </p:nvSpPr>
        <p:spPr/>
        <p:txBody>
          <a:bodyPr>
            <a:noAutofit/>
          </a:bodyPr>
          <a:lstStyle/>
          <a:p>
            <a:pPr algn="r"/>
            <a:r>
              <a:rPr lang="en-US" sz="3200" dirty="0">
                <a:solidFill>
                  <a:srgbClr val="C00000"/>
                </a:solidFill>
              </a:rPr>
              <a:t>POLITICAL ORGANIZATION OF HAUSA STATES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Content Placeholder 1"/>
          <p:cNvSpPr>
            <a:spLocks noGrp="1"/>
          </p:cNvSpPr>
          <p:nvPr>
            <p:ph idx="1"/>
          </p:nvPr>
        </p:nvSpPr>
        <p:spPr>
          <a:xfrm>
            <a:off x="457200" y="1143000"/>
            <a:ext cx="8229600" cy="4864291"/>
          </a:xfrm>
        </p:spPr>
        <p:txBody>
          <a:bodyPr>
            <a:normAutofit/>
          </a:bodyPr>
          <a:lstStyle/>
          <a:p>
            <a:pPr algn="just">
              <a:buNone/>
            </a:pPr>
            <a:r>
              <a:rPr lang="en-US" sz="2800" dirty="0"/>
              <a:t>The area which later became the </a:t>
            </a:r>
            <a:r>
              <a:rPr lang="en-US" sz="2800" dirty="0" err="1"/>
              <a:t>Sokoto</a:t>
            </a:r>
            <a:r>
              <a:rPr lang="en-US" sz="2800" dirty="0"/>
              <a:t> Caliphate were exclusively the Jurisdiction of Hausa land. However,  the caliphate united the Hausa states politically for the first time in their history. It should be noted that </a:t>
            </a:r>
            <a:r>
              <a:rPr lang="en-US" sz="2800" dirty="0" err="1"/>
              <a:t>Usman</a:t>
            </a:r>
            <a:r>
              <a:rPr lang="en-US" sz="2800" dirty="0"/>
              <a:t> Dan </a:t>
            </a:r>
            <a:r>
              <a:rPr lang="en-US" sz="2800" dirty="0" err="1"/>
              <a:t>Fodio</a:t>
            </a:r>
            <a:r>
              <a:rPr lang="en-US" sz="2800" dirty="0"/>
              <a:t> had migrated from the Senegal region to Hausa land before embarking on his Jihad in April 1804 with the first Skirmishes taking place at </a:t>
            </a:r>
            <a:r>
              <a:rPr lang="en-US" sz="2800" dirty="0" err="1"/>
              <a:t>Tabkin</a:t>
            </a:r>
            <a:r>
              <a:rPr lang="en-US" sz="2800" dirty="0"/>
              <a:t> </a:t>
            </a:r>
            <a:r>
              <a:rPr lang="en-US" sz="2800" dirty="0" err="1"/>
              <a:t>Kwoto</a:t>
            </a:r>
            <a:r>
              <a:rPr lang="en-US" sz="2800" dirty="0"/>
              <a:t> Gobir.</a:t>
            </a:r>
            <a:r>
              <a:rPr lang="en-US" sz="2800" baseline="30000" dirty="0"/>
              <a:t>7</a:t>
            </a:r>
          </a:p>
          <a:p>
            <a:pPr algn="just">
              <a:buNone/>
            </a:pPr>
            <a:r>
              <a:rPr lang="en-US" sz="2800" dirty="0"/>
              <a:t>  </a:t>
            </a:r>
          </a:p>
        </p:txBody>
      </p:sp>
      <p:sp>
        <p:nvSpPr>
          <p:cNvPr id="1048647" name="Title 2"/>
          <p:cNvSpPr>
            <a:spLocks noGrp="1"/>
          </p:cNvSpPr>
          <p:nvPr>
            <p:ph type="title"/>
          </p:nvPr>
        </p:nvSpPr>
        <p:spPr>
          <a:xfrm>
            <a:off x="457200" y="274638"/>
            <a:ext cx="8229600" cy="792162"/>
          </a:xfrm>
        </p:spPr>
        <p:txBody>
          <a:bodyPr>
            <a:normAutofit fontScale="90000"/>
          </a:bodyPr>
          <a:lstStyle/>
          <a:p>
            <a:pPr algn="r"/>
            <a:r>
              <a:rPr lang="en-US" dirty="0">
                <a:solidFill>
                  <a:srgbClr val="C00000"/>
                </a:solidFill>
              </a:rPr>
              <a:t>GOVERNANCE IN SOKOTO CALIPHATE</a:t>
            </a:r>
          </a:p>
        </p:txBody>
      </p:sp>
      <p:sp>
        <p:nvSpPr>
          <p:cNvPr id="1048648" name="Rectangle 4"/>
          <p:cNvSpPr/>
          <p:nvPr/>
        </p:nvSpPr>
        <p:spPr>
          <a:xfrm>
            <a:off x="1286854" y="5562600"/>
            <a:ext cx="7552346"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aseline="30000" dirty="0"/>
              <a:t>7 </a:t>
            </a:r>
            <a:r>
              <a:rPr lang="en-US" sz="1400" dirty="0"/>
              <a:t>S. </a:t>
            </a:r>
            <a:r>
              <a:rPr lang="en-US" sz="1400" dirty="0" err="1"/>
              <a:t>Abubakar</a:t>
            </a:r>
            <a:r>
              <a:rPr lang="en-US" sz="1400" dirty="0"/>
              <a:t> “The Established </a:t>
            </a:r>
            <a:r>
              <a:rPr lang="en-US" sz="1400" dirty="0" err="1"/>
              <a:t>Sokoto</a:t>
            </a:r>
            <a:r>
              <a:rPr lang="en-US" sz="1400" dirty="0"/>
              <a:t>  Caliphate, The Emirate and their Neighbors” -             </a:t>
            </a:r>
          </a:p>
          <a:p>
            <a:r>
              <a:rPr lang="en-US" sz="1400" dirty="0"/>
              <a:t>                Groundwork of Nigeria History in </a:t>
            </a:r>
            <a:r>
              <a:rPr lang="en-US" sz="1400" dirty="0" err="1"/>
              <a:t>Obaro</a:t>
            </a:r>
            <a:r>
              <a:rPr lang="en-US" sz="1400" dirty="0"/>
              <a:t> </a:t>
            </a:r>
            <a:r>
              <a:rPr lang="en-US" sz="1400" dirty="0" err="1"/>
              <a:t>Ikime</a:t>
            </a:r>
            <a:r>
              <a:rPr lang="en-US" sz="1400" dirty="0"/>
              <a:t>. Nigeria: Heinemann </a:t>
            </a:r>
          </a:p>
          <a:p>
            <a:r>
              <a:rPr lang="en-US" sz="1400" dirty="0"/>
              <a:t>                 Education Book, 1976.</a:t>
            </a:r>
          </a:p>
        </p:txBody>
      </p:sp>
      <p:cxnSp>
        <p:nvCxnSpPr>
          <p:cNvPr id="3145735" name="Straight Connector 7"/>
          <p:cNvCxnSpPr>
            <a:cxnSpLocks/>
          </p:cNvCxnSpPr>
          <p:nvPr/>
        </p:nvCxnSpPr>
        <p:spPr>
          <a:xfrm>
            <a:off x="838200" y="5638800"/>
            <a:ext cx="7848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Content Placeholder 1"/>
          <p:cNvSpPr>
            <a:spLocks noGrp="1"/>
          </p:cNvSpPr>
          <p:nvPr>
            <p:ph idx="1"/>
          </p:nvPr>
        </p:nvSpPr>
        <p:spPr/>
        <p:txBody>
          <a:bodyPr>
            <a:normAutofit lnSpcReduction="10000"/>
          </a:bodyPr>
          <a:lstStyle/>
          <a:p>
            <a:pPr algn="just"/>
            <a:r>
              <a:rPr lang="en-US" sz="2800" dirty="0" err="1"/>
              <a:t>Usman</a:t>
            </a:r>
            <a:r>
              <a:rPr lang="en-US" sz="2800" dirty="0"/>
              <a:t> Dan </a:t>
            </a:r>
            <a:r>
              <a:rPr lang="en-US" sz="2800" dirty="0" err="1"/>
              <a:t>Fodio</a:t>
            </a:r>
            <a:r>
              <a:rPr lang="en-US" sz="2800" dirty="0"/>
              <a:t> was born at </a:t>
            </a:r>
            <a:r>
              <a:rPr lang="en-US" sz="2800" dirty="0" err="1"/>
              <a:t>Marata</a:t>
            </a:r>
            <a:r>
              <a:rPr lang="en-US" sz="2800" dirty="0"/>
              <a:t> </a:t>
            </a:r>
            <a:r>
              <a:rPr lang="en-US" sz="2800" dirty="0" err="1"/>
              <a:t>Gobir</a:t>
            </a:r>
            <a:r>
              <a:rPr lang="en-US" sz="2800" dirty="0"/>
              <a:t> in December 1754, he was vastly educated in Islamic studies of grammar, law, theology and prosody. He traveled extensively and passed through the hands of radical Islamic terrorists from whom he gained his inspiration. Armed with is dogged determination to purify Islam, his first moves were peaceful but persuasive and his charismatic disposition gained him large followership.</a:t>
            </a:r>
          </a:p>
          <a:p>
            <a:endParaRPr lang="en-US" dirty="0"/>
          </a:p>
        </p:txBody>
      </p:sp>
      <p:sp>
        <p:nvSpPr>
          <p:cNvPr id="1048650" name="Title 2"/>
          <p:cNvSpPr>
            <a:spLocks noGrp="1"/>
          </p:cNvSpPr>
          <p:nvPr>
            <p:ph type="title"/>
          </p:nvPr>
        </p:nvSpPr>
        <p:spPr/>
        <p:txBody>
          <a:bodyPr>
            <a:noAutofit/>
          </a:bodyPr>
          <a:lstStyle/>
          <a:p>
            <a:pPr algn="r"/>
            <a:r>
              <a:rPr lang="en-US" sz="3200" dirty="0">
                <a:solidFill>
                  <a:srgbClr val="C00000"/>
                </a:solidFill>
              </a:rPr>
              <a:t>BRIEF HISTORY OF USMAN DAN FODIO.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Content Placeholder 1"/>
          <p:cNvSpPr>
            <a:spLocks noGrp="1"/>
          </p:cNvSpPr>
          <p:nvPr>
            <p:ph idx="1"/>
          </p:nvPr>
        </p:nvSpPr>
        <p:spPr>
          <a:xfrm>
            <a:off x="457200" y="381000"/>
            <a:ext cx="8229600" cy="5626291"/>
          </a:xfrm>
        </p:spPr>
        <p:txBody>
          <a:bodyPr>
            <a:normAutofit fontScale="92500" lnSpcReduction="10000"/>
          </a:bodyPr>
          <a:lstStyle/>
          <a:p>
            <a:pPr algn="just"/>
            <a:r>
              <a:rPr lang="en-US" sz="2800" dirty="0" err="1"/>
              <a:t>Danfodio’s</a:t>
            </a:r>
            <a:r>
              <a:rPr lang="en-US" sz="2800" dirty="0"/>
              <a:t> influence made the King of </a:t>
            </a:r>
            <a:r>
              <a:rPr lang="en-US" sz="2800" dirty="0" err="1"/>
              <a:t>Gobir</a:t>
            </a:r>
            <a:r>
              <a:rPr lang="en-US" sz="2800" dirty="0"/>
              <a:t>; </a:t>
            </a:r>
            <a:r>
              <a:rPr lang="en-US" sz="2800" dirty="0" err="1"/>
              <a:t>Nafata</a:t>
            </a:r>
            <a:r>
              <a:rPr lang="en-US" sz="2800" dirty="0"/>
              <a:t>, gave him a job to educate his children. But, his growing influence and open condemnation of the corrupt practices of the king turned them against him and they sought to curtail his activities but he was uncompromising.</a:t>
            </a:r>
          </a:p>
          <a:p>
            <a:pPr algn="just"/>
            <a:r>
              <a:rPr lang="en-US" sz="2800" dirty="0" err="1"/>
              <a:t>Nafata’s</a:t>
            </a:r>
            <a:r>
              <a:rPr lang="en-US" sz="2800" dirty="0"/>
              <a:t> successor; </a:t>
            </a:r>
            <a:r>
              <a:rPr lang="en-US" sz="2800" dirty="0" err="1"/>
              <a:t>Yunfa</a:t>
            </a:r>
            <a:r>
              <a:rPr lang="en-US" sz="2800" dirty="0"/>
              <a:t> sought to destroy </a:t>
            </a:r>
            <a:r>
              <a:rPr lang="en-US" sz="2800" dirty="0" err="1"/>
              <a:t>Danfodio</a:t>
            </a:r>
            <a:r>
              <a:rPr lang="en-US" sz="2800" dirty="0"/>
              <a:t>, and he fled from </a:t>
            </a:r>
            <a:r>
              <a:rPr lang="en-US" sz="2800" dirty="0" err="1"/>
              <a:t>Degel</a:t>
            </a:r>
            <a:r>
              <a:rPr lang="en-US" sz="2800" dirty="0"/>
              <a:t> to </a:t>
            </a:r>
            <a:r>
              <a:rPr lang="en-US" sz="2800" dirty="0" err="1"/>
              <a:t>Gudu</a:t>
            </a:r>
            <a:r>
              <a:rPr lang="en-US" sz="2800" dirty="0"/>
              <a:t>, thus, performing the </a:t>
            </a:r>
            <a:r>
              <a:rPr lang="en-US" sz="2800" dirty="0" err="1"/>
              <a:t>Hijira</a:t>
            </a:r>
            <a:r>
              <a:rPr lang="en-US" sz="2800" dirty="0"/>
              <a:t>. While there, he gathered large followership who proclaimed him Amir Al-</a:t>
            </a:r>
            <a:r>
              <a:rPr lang="en-US" sz="2800" dirty="0" err="1"/>
              <a:t>Mumini</a:t>
            </a:r>
            <a:r>
              <a:rPr lang="en-US" sz="2800" dirty="0"/>
              <a:t> (commander of the faithful) and with whom he declared the Jihad on all unbelievers inn the whole of Northern Nigeria.</a:t>
            </a:r>
            <a:r>
              <a:rPr lang="en-US" sz="2800" baseline="30000" dirty="0"/>
              <a:t>8</a:t>
            </a:r>
          </a:p>
          <a:p>
            <a:pPr algn="just"/>
            <a:endParaRPr lang="en-US" dirty="0"/>
          </a:p>
        </p:txBody>
      </p:sp>
      <p:sp>
        <p:nvSpPr>
          <p:cNvPr id="1048652" name="Rectangle 3"/>
          <p:cNvSpPr/>
          <p:nvPr/>
        </p:nvSpPr>
        <p:spPr>
          <a:xfrm>
            <a:off x="1447800" y="5791200"/>
            <a:ext cx="7552346"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aseline="30000" dirty="0"/>
              <a:t>8 </a:t>
            </a:r>
            <a:r>
              <a:rPr lang="en-US" sz="1400" dirty="0"/>
              <a:t>S. </a:t>
            </a:r>
            <a:r>
              <a:rPr lang="en-US" sz="1400" dirty="0" err="1"/>
              <a:t>Abubakar</a:t>
            </a:r>
            <a:r>
              <a:rPr lang="en-US" sz="1400" dirty="0"/>
              <a:t> “The Established </a:t>
            </a:r>
            <a:r>
              <a:rPr lang="en-US" sz="1400" dirty="0" err="1"/>
              <a:t>Sokoto</a:t>
            </a:r>
            <a:r>
              <a:rPr lang="en-US" sz="1400" dirty="0"/>
              <a:t>  Caliphate, The Emirate and their Neighbors” -             </a:t>
            </a:r>
          </a:p>
          <a:p>
            <a:r>
              <a:rPr lang="en-US" sz="1400" dirty="0"/>
              <a:t>                Groundwork of Nigeria History in </a:t>
            </a:r>
            <a:r>
              <a:rPr lang="en-US" sz="1400" dirty="0" err="1"/>
              <a:t>Obaro</a:t>
            </a:r>
            <a:r>
              <a:rPr lang="en-US" sz="1400" dirty="0"/>
              <a:t> </a:t>
            </a:r>
            <a:r>
              <a:rPr lang="en-US" sz="1400" dirty="0" err="1"/>
              <a:t>Ikime</a:t>
            </a:r>
            <a:r>
              <a:rPr lang="en-US" sz="1400" dirty="0"/>
              <a:t>. Nigeria: Heinemann </a:t>
            </a:r>
          </a:p>
          <a:p>
            <a:r>
              <a:rPr lang="en-US" sz="1400" dirty="0"/>
              <a:t>                 Education books, 1976.</a:t>
            </a:r>
          </a:p>
        </p:txBody>
      </p:sp>
      <p:cxnSp>
        <p:nvCxnSpPr>
          <p:cNvPr id="3145736" name="Straight Connector 4"/>
          <p:cNvCxnSpPr>
            <a:cxnSpLocks/>
          </p:cNvCxnSpPr>
          <p:nvPr/>
        </p:nvCxnSpPr>
        <p:spPr>
          <a:xfrm>
            <a:off x="1066800" y="5835332"/>
            <a:ext cx="7848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Content Placeholder 1"/>
          <p:cNvSpPr>
            <a:spLocks noGrp="1"/>
          </p:cNvSpPr>
          <p:nvPr>
            <p:ph idx="1"/>
          </p:nvPr>
        </p:nvSpPr>
        <p:spPr>
          <a:xfrm>
            <a:off x="457200" y="914400"/>
            <a:ext cx="8229600" cy="5092891"/>
          </a:xfrm>
        </p:spPr>
        <p:txBody>
          <a:bodyPr>
            <a:normAutofit lnSpcReduction="10000"/>
          </a:bodyPr>
          <a:lstStyle/>
          <a:p>
            <a:pPr algn="just">
              <a:buNone/>
            </a:pPr>
            <a:r>
              <a:rPr lang="en-US" sz="1800" dirty="0"/>
              <a:t>The Caliphate is an Islamic centralized or unitary political set up under the leadership of a caliph appointed by the entire </a:t>
            </a:r>
            <a:r>
              <a:rPr lang="en-US" sz="1800" dirty="0" err="1"/>
              <a:t>muslim</a:t>
            </a:r>
            <a:r>
              <a:rPr lang="en-US" sz="1800" dirty="0"/>
              <a:t> community. The caliph exercised so much authority and control. He appoints officials  to govern the provinces on his behalf as laid down by the Islamic </a:t>
            </a:r>
            <a:r>
              <a:rPr lang="en-US" sz="1800" dirty="0" err="1"/>
              <a:t>Sharia</a:t>
            </a:r>
            <a:r>
              <a:rPr lang="en-US" sz="1800" dirty="0"/>
              <a:t> law.</a:t>
            </a:r>
          </a:p>
          <a:p>
            <a:pPr algn="just">
              <a:buNone/>
            </a:pPr>
            <a:r>
              <a:rPr lang="en-US" sz="1800" dirty="0"/>
              <a:t>In its early stage, the authority of the caliphate was derived from the influence and charisma of </a:t>
            </a:r>
            <a:r>
              <a:rPr lang="en-US" sz="1800" dirty="0" err="1"/>
              <a:t>Usman</a:t>
            </a:r>
            <a:r>
              <a:rPr lang="en-US" sz="1800" dirty="0"/>
              <a:t> </a:t>
            </a:r>
            <a:r>
              <a:rPr lang="en-US" sz="1800" dirty="0" err="1"/>
              <a:t>Danfodio</a:t>
            </a:r>
            <a:r>
              <a:rPr lang="en-US" sz="1800" dirty="0"/>
              <a:t>. By 1812, he divided it into two units having his son; </a:t>
            </a:r>
            <a:r>
              <a:rPr lang="en-US" sz="1800" dirty="0" err="1"/>
              <a:t>Muhammed</a:t>
            </a:r>
            <a:r>
              <a:rPr lang="en-US" sz="1800" dirty="0"/>
              <a:t> Bello, in charge of the Eastern section with </a:t>
            </a:r>
            <a:r>
              <a:rPr lang="en-US" sz="1800" dirty="0" err="1"/>
              <a:t>Sokoto</a:t>
            </a:r>
            <a:r>
              <a:rPr lang="en-US" sz="1800" dirty="0"/>
              <a:t> as its headquarter and to </a:t>
            </a:r>
            <a:r>
              <a:rPr lang="en-US" sz="1800" dirty="0" err="1"/>
              <a:t>Abdullahi</a:t>
            </a:r>
            <a:r>
              <a:rPr lang="en-US" sz="1800" dirty="0"/>
              <a:t> his brother he gave the Western section with </a:t>
            </a:r>
            <a:r>
              <a:rPr lang="en-US" sz="1800" dirty="0" err="1"/>
              <a:t>Gwandu</a:t>
            </a:r>
            <a:r>
              <a:rPr lang="en-US" sz="1800" dirty="0"/>
              <a:t> as its headquarter. Local commanders who had received flags from </a:t>
            </a:r>
            <a:r>
              <a:rPr lang="en-US" sz="1800" dirty="0" err="1"/>
              <a:t>Danfodio</a:t>
            </a:r>
            <a:r>
              <a:rPr lang="en-US" sz="1800" dirty="0"/>
              <a:t> and gained control of their areas became Emirs (a provincial governor of the Caliph) and are expected to be loyal to the Caliph. Hence, an Emirs’ first obligation is to administer his emirate according to Islamic principles. Each Emir was supervised regularly by a top official either from </a:t>
            </a:r>
            <a:r>
              <a:rPr lang="en-US" sz="1800" dirty="0" err="1"/>
              <a:t>Sokoto</a:t>
            </a:r>
            <a:r>
              <a:rPr lang="en-US" sz="1800" dirty="0"/>
              <a:t> or </a:t>
            </a:r>
            <a:r>
              <a:rPr lang="en-US" sz="1800" dirty="0" err="1"/>
              <a:t>Gwandu</a:t>
            </a:r>
            <a:r>
              <a:rPr lang="en-US" sz="1800" dirty="0"/>
              <a:t> depending of which of the capital the emirate was under. These supervisors acted as direct link between the emirate and the caliph and also as the instrument for the exercise of the caliph’s authority. </a:t>
            </a:r>
            <a:r>
              <a:rPr lang="en-US" sz="1800" baseline="30000" dirty="0"/>
              <a:t>9</a:t>
            </a:r>
          </a:p>
        </p:txBody>
      </p:sp>
      <p:sp>
        <p:nvSpPr>
          <p:cNvPr id="1048654" name="Title 2"/>
          <p:cNvSpPr>
            <a:spLocks noGrp="1"/>
          </p:cNvSpPr>
          <p:nvPr>
            <p:ph type="title"/>
          </p:nvPr>
        </p:nvSpPr>
        <p:spPr>
          <a:xfrm>
            <a:off x="457200" y="228600"/>
            <a:ext cx="8229600" cy="762000"/>
          </a:xfrm>
        </p:spPr>
        <p:txBody>
          <a:bodyPr>
            <a:normAutofit/>
          </a:bodyPr>
          <a:lstStyle/>
          <a:p>
            <a:pPr algn="r"/>
            <a:r>
              <a:rPr lang="en-US" sz="2800" dirty="0">
                <a:solidFill>
                  <a:srgbClr val="C00000"/>
                </a:solidFill>
              </a:rPr>
              <a:t>THE  ADMINISTRATION OF THE CALIPHATE</a:t>
            </a:r>
          </a:p>
        </p:txBody>
      </p:sp>
      <p:sp>
        <p:nvSpPr>
          <p:cNvPr id="1048655" name="Rectangle 3"/>
          <p:cNvSpPr/>
          <p:nvPr/>
        </p:nvSpPr>
        <p:spPr>
          <a:xfrm>
            <a:off x="1515454" y="5760720"/>
            <a:ext cx="7552346"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aseline="30000" dirty="0"/>
              <a:t>9 </a:t>
            </a:r>
            <a:r>
              <a:rPr lang="en-US" sz="1400" dirty="0"/>
              <a:t>S. </a:t>
            </a:r>
            <a:r>
              <a:rPr lang="en-US" sz="1400" dirty="0" err="1"/>
              <a:t>Abubakar</a:t>
            </a:r>
            <a:r>
              <a:rPr lang="en-US" sz="1400" dirty="0"/>
              <a:t> “The Established </a:t>
            </a:r>
            <a:r>
              <a:rPr lang="en-US" sz="1400" dirty="0" err="1"/>
              <a:t>Sokoto</a:t>
            </a:r>
            <a:r>
              <a:rPr lang="en-US" sz="1400" dirty="0"/>
              <a:t>  Caliphate, The Emirate and their Neighbors” -             </a:t>
            </a:r>
          </a:p>
          <a:p>
            <a:r>
              <a:rPr lang="en-US" sz="1400" dirty="0"/>
              <a:t>                Groundwork of Nigeria History in </a:t>
            </a:r>
            <a:r>
              <a:rPr lang="en-US" sz="1400" dirty="0" err="1"/>
              <a:t>Obaro</a:t>
            </a:r>
            <a:r>
              <a:rPr lang="en-US" sz="1400" dirty="0"/>
              <a:t> </a:t>
            </a:r>
            <a:r>
              <a:rPr lang="en-US" sz="1400" dirty="0" err="1"/>
              <a:t>Ikime</a:t>
            </a:r>
            <a:r>
              <a:rPr lang="en-US" sz="1400" dirty="0"/>
              <a:t>. Nigeria: </a:t>
            </a:r>
            <a:r>
              <a:rPr lang="en-US" sz="1400" dirty="0" err="1"/>
              <a:t>Heinmann</a:t>
            </a:r>
            <a:endParaRPr lang="en-US" sz="1400" dirty="0"/>
          </a:p>
          <a:p>
            <a:r>
              <a:rPr lang="en-US" sz="1400" dirty="0"/>
              <a:t>                 Education Books, 1976.</a:t>
            </a:r>
          </a:p>
        </p:txBody>
      </p:sp>
      <p:cxnSp>
        <p:nvCxnSpPr>
          <p:cNvPr id="3145737" name="Straight Connector 4"/>
          <p:cNvCxnSpPr>
            <a:cxnSpLocks/>
          </p:cNvCxnSpPr>
          <p:nvPr/>
        </p:nvCxnSpPr>
        <p:spPr>
          <a:xfrm>
            <a:off x="1066800" y="5835332"/>
            <a:ext cx="7848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Content Placeholder 1"/>
          <p:cNvSpPr>
            <a:spLocks noGrp="1"/>
          </p:cNvSpPr>
          <p:nvPr>
            <p:ph idx="1"/>
          </p:nvPr>
        </p:nvSpPr>
        <p:spPr>
          <a:xfrm>
            <a:off x="457200" y="152400"/>
            <a:ext cx="8229600" cy="5854891"/>
          </a:xfrm>
        </p:spPr>
        <p:txBody>
          <a:bodyPr>
            <a:normAutofit/>
          </a:bodyPr>
          <a:lstStyle/>
          <a:p>
            <a:pPr algn="just">
              <a:buNone/>
            </a:pPr>
            <a:r>
              <a:rPr lang="en-US" sz="1800" dirty="0"/>
              <a:t>The nomination of anybody to be an emir was usually the duty of the emirate king makers council but it still has to be confirmed by the Caliph who could depose the Emir. An Emir had to visit </a:t>
            </a:r>
            <a:r>
              <a:rPr lang="en-US" sz="1800" dirty="0" err="1"/>
              <a:t>Sokoto</a:t>
            </a:r>
            <a:r>
              <a:rPr lang="en-US" sz="1800" dirty="0"/>
              <a:t> on appointment of a new caliph and occasionally. He also had to send annual tributes and soldiers to aid </a:t>
            </a:r>
            <a:r>
              <a:rPr lang="en-US" sz="1800" dirty="0" err="1"/>
              <a:t>Sokoto</a:t>
            </a:r>
            <a:r>
              <a:rPr lang="en-US" sz="1800" dirty="0"/>
              <a:t> in its annual dry season raid against its enemies. </a:t>
            </a:r>
          </a:p>
          <a:p>
            <a:pPr algn="just">
              <a:buNone/>
            </a:pPr>
            <a:r>
              <a:rPr lang="en-US" sz="1800" dirty="0"/>
              <a:t>However, each Emirate was largely autonomous and apart from giving guidance, the Caliph did not interfere with the day to day administration of the Emirs but it was the duty of the Caliph to settle disputes between and within the Emirates.</a:t>
            </a:r>
          </a:p>
          <a:p>
            <a:pPr algn="just">
              <a:buNone/>
            </a:pPr>
            <a:r>
              <a:rPr lang="en-US" sz="1800" dirty="0"/>
              <a:t>The Emirs were assisted in administration by a number of officials. The most important were;</a:t>
            </a:r>
          </a:p>
          <a:p>
            <a:pPr marL="452628" indent="-342900" algn="just">
              <a:buFont typeface="+mj-lt"/>
              <a:buAutoNum type="arabicPeriod"/>
            </a:pPr>
            <a:r>
              <a:rPr lang="en-US" sz="1800" dirty="0"/>
              <a:t>The </a:t>
            </a:r>
            <a:r>
              <a:rPr lang="en-US" sz="1800" dirty="0" err="1"/>
              <a:t>Waziri</a:t>
            </a:r>
            <a:r>
              <a:rPr lang="en-US" sz="1800" dirty="0"/>
              <a:t> – Prime minister</a:t>
            </a:r>
          </a:p>
          <a:p>
            <a:pPr marL="452628" indent="-342900" algn="just">
              <a:buFont typeface="+mj-lt"/>
              <a:buAutoNum type="arabicPeriod"/>
            </a:pPr>
            <a:r>
              <a:rPr lang="en-US" sz="1800" dirty="0" err="1"/>
              <a:t>Madawaki</a:t>
            </a:r>
            <a:r>
              <a:rPr lang="en-US" sz="1800" dirty="0"/>
              <a:t> </a:t>
            </a:r>
            <a:r>
              <a:rPr lang="en-US" sz="1800" dirty="0" err="1"/>
              <a:t>Sarkin</a:t>
            </a:r>
            <a:r>
              <a:rPr lang="en-US" sz="1800" dirty="0"/>
              <a:t> </a:t>
            </a:r>
            <a:r>
              <a:rPr lang="en-US" sz="1800" dirty="0" err="1"/>
              <a:t>Yaki</a:t>
            </a:r>
            <a:r>
              <a:rPr lang="en-US" sz="1800" dirty="0"/>
              <a:t> – Commander of the army</a:t>
            </a:r>
          </a:p>
          <a:p>
            <a:pPr marL="452628" indent="-342900" algn="just">
              <a:buFont typeface="+mj-lt"/>
              <a:buAutoNum type="arabicPeriod"/>
            </a:pPr>
            <a:r>
              <a:rPr lang="en-US" sz="1800" dirty="0"/>
              <a:t>Alkali – Chief judge </a:t>
            </a:r>
          </a:p>
          <a:p>
            <a:pPr marL="452628" indent="-342900" algn="just">
              <a:buFont typeface="+mj-lt"/>
              <a:buAutoNum type="arabicPeriod"/>
            </a:pPr>
            <a:r>
              <a:rPr lang="en-US" sz="1800" dirty="0" err="1"/>
              <a:t>Ajiya</a:t>
            </a:r>
            <a:r>
              <a:rPr lang="en-US" sz="1800" dirty="0"/>
              <a:t> – Treasurer</a:t>
            </a:r>
            <a:r>
              <a:rPr lang="en-US" sz="1800" baseline="30000" dirty="0"/>
              <a:t>10</a:t>
            </a:r>
          </a:p>
          <a:p>
            <a:pPr marL="452628" indent="-342900" algn="just">
              <a:buNone/>
            </a:pPr>
            <a:r>
              <a:rPr lang="en-US" sz="1800" dirty="0"/>
              <a:t>Generally, the system of government in </a:t>
            </a:r>
            <a:r>
              <a:rPr lang="en-US" sz="1800" dirty="0" err="1"/>
              <a:t>Sokoto</a:t>
            </a:r>
            <a:r>
              <a:rPr lang="en-US" sz="1800" dirty="0"/>
              <a:t> Caliphate was centralized and hierarchical which the British utilized when they introduced the indirect rule in Nigeria.</a:t>
            </a:r>
          </a:p>
        </p:txBody>
      </p:sp>
      <p:sp>
        <p:nvSpPr>
          <p:cNvPr id="1048657" name="Rectangle 3"/>
          <p:cNvSpPr/>
          <p:nvPr/>
        </p:nvSpPr>
        <p:spPr>
          <a:xfrm>
            <a:off x="1515454" y="5791200"/>
            <a:ext cx="7552346"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aseline="30000" dirty="0"/>
              <a:t>10 </a:t>
            </a:r>
            <a:r>
              <a:rPr lang="en-US" sz="1400" dirty="0"/>
              <a:t>S. </a:t>
            </a:r>
            <a:r>
              <a:rPr lang="en-US" sz="1400" dirty="0" err="1"/>
              <a:t>Abubakar</a:t>
            </a:r>
            <a:r>
              <a:rPr lang="en-US" sz="1400" dirty="0"/>
              <a:t> “The Established </a:t>
            </a:r>
            <a:r>
              <a:rPr lang="en-US" sz="1400" dirty="0" err="1"/>
              <a:t>Sokoto</a:t>
            </a:r>
            <a:r>
              <a:rPr lang="en-US" sz="1400" dirty="0"/>
              <a:t>  Caliphate, The Emirate and their Neighbors” -             Groundwork of Nigeria History in </a:t>
            </a:r>
            <a:r>
              <a:rPr lang="en-US" sz="1400" dirty="0" err="1"/>
              <a:t>Obaro</a:t>
            </a:r>
            <a:r>
              <a:rPr lang="en-US" sz="1400" dirty="0"/>
              <a:t> </a:t>
            </a:r>
            <a:r>
              <a:rPr lang="en-US" sz="1400" dirty="0" err="1"/>
              <a:t>Ikime</a:t>
            </a:r>
            <a:r>
              <a:rPr lang="en-US" sz="1400" dirty="0"/>
              <a:t>. Nigeria: Heinemann</a:t>
            </a:r>
          </a:p>
          <a:p>
            <a:r>
              <a:rPr lang="en-US" sz="1400" dirty="0"/>
              <a:t>               Education Book, 1976.</a:t>
            </a:r>
          </a:p>
        </p:txBody>
      </p:sp>
      <p:cxnSp>
        <p:nvCxnSpPr>
          <p:cNvPr id="3145738" name="Straight Connector 4"/>
          <p:cNvCxnSpPr>
            <a:cxnSpLocks/>
          </p:cNvCxnSpPr>
          <p:nvPr/>
        </p:nvCxnSpPr>
        <p:spPr>
          <a:xfrm>
            <a:off x="1066800" y="5865812"/>
            <a:ext cx="7848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8" name="Content Placeholder 1"/>
          <p:cNvSpPr>
            <a:spLocks noGrp="1"/>
          </p:cNvSpPr>
          <p:nvPr>
            <p:ph idx="1"/>
          </p:nvPr>
        </p:nvSpPr>
        <p:spPr>
          <a:xfrm>
            <a:off x="457200" y="685800"/>
            <a:ext cx="8229600" cy="5321491"/>
          </a:xfrm>
        </p:spPr>
        <p:txBody>
          <a:bodyPr>
            <a:normAutofit fontScale="92500"/>
          </a:bodyPr>
          <a:lstStyle/>
          <a:p>
            <a:pPr algn="just">
              <a:buNone/>
            </a:pPr>
            <a:r>
              <a:rPr lang="en-US" sz="1800" dirty="0"/>
              <a:t>The history of the </a:t>
            </a:r>
            <a:r>
              <a:rPr lang="en-US" sz="1800" dirty="0" err="1"/>
              <a:t>Jukun</a:t>
            </a:r>
            <a:r>
              <a:rPr lang="en-US" sz="1800" dirty="0"/>
              <a:t> people is quite unique. Their political-cultural influences had spread beyond their ethnic borders. The </a:t>
            </a:r>
            <a:r>
              <a:rPr lang="en-US" sz="1800" dirty="0" err="1"/>
              <a:t>Jukun</a:t>
            </a:r>
            <a:r>
              <a:rPr lang="en-US" sz="1800" dirty="0"/>
              <a:t> established the famous </a:t>
            </a:r>
            <a:r>
              <a:rPr lang="en-US" sz="1800" dirty="0" err="1"/>
              <a:t>Kwararafa</a:t>
            </a:r>
            <a:r>
              <a:rPr lang="en-US" sz="1800" dirty="0"/>
              <a:t> empire whose power and influence had been greatly felt in </a:t>
            </a:r>
            <a:r>
              <a:rPr lang="en-US" sz="1800" dirty="0" err="1"/>
              <a:t>Borno</a:t>
            </a:r>
            <a:r>
              <a:rPr lang="en-US" sz="1800" dirty="0"/>
              <a:t> and the Hausa city states for more than two centuries. Their cultural influences appear to have dominated, particularly in the late 18</a:t>
            </a:r>
            <a:r>
              <a:rPr lang="en-US" sz="1800" baseline="30000" dirty="0"/>
              <a:t>th</a:t>
            </a:r>
            <a:r>
              <a:rPr lang="en-US" sz="1800" dirty="0"/>
              <a:t> and 19</a:t>
            </a:r>
            <a:r>
              <a:rPr lang="en-US" sz="1800" baseline="30000" dirty="0"/>
              <a:t>th</a:t>
            </a:r>
            <a:r>
              <a:rPr lang="en-US" sz="1800" dirty="0"/>
              <a:t> centuries, the upland and low land areas of the central Plateau  of Northern Nigeria.</a:t>
            </a:r>
            <a:r>
              <a:rPr lang="en-US" sz="1800" baseline="30000" dirty="0"/>
              <a:t>11</a:t>
            </a:r>
            <a:r>
              <a:rPr lang="en-US" sz="1800" dirty="0"/>
              <a:t> </a:t>
            </a:r>
          </a:p>
          <a:p>
            <a:pPr algn="just">
              <a:buNone/>
            </a:pPr>
            <a:r>
              <a:rPr lang="en-US" sz="1800" dirty="0"/>
              <a:t>Traditions of origin of the people show that they came into their present location from a place further to the North. It is strongly believed that at least a section of the </a:t>
            </a:r>
            <a:r>
              <a:rPr lang="en-US" sz="1800" dirty="0" err="1"/>
              <a:t>Jukun</a:t>
            </a:r>
            <a:r>
              <a:rPr lang="en-US" sz="1800" dirty="0"/>
              <a:t> were </a:t>
            </a:r>
            <a:r>
              <a:rPr lang="en-US" sz="1800" dirty="0" err="1"/>
              <a:t>amonng</a:t>
            </a:r>
            <a:r>
              <a:rPr lang="en-US" sz="1800" dirty="0"/>
              <a:t> the early inhabitants of the Chad basin. They eventually moved from there and settled in the </a:t>
            </a:r>
            <a:r>
              <a:rPr lang="en-US" sz="1800" dirty="0" err="1"/>
              <a:t>Gongola</a:t>
            </a:r>
            <a:r>
              <a:rPr lang="en-US" sz="1800" dirty="0"/>
              <a:t> valley which was suggested to be by 13</a:t>
            </a:r>
            <a:r>
              <a:rPr lang="en-US" sz="1800" baseline="30000" dirty="0"/>
              <a:t>th</a:t>
            </a:r>
            <a:r>
              <a:rPr lang="en-US" sz="1800" dirty="0"/>
              <a:t> century. They were all established in the </a:t>
            </a:r>
            <a:r>
              <a:rPr lang="en-US" sz="1800" dirty="0" err="1"/>
              <a:t>Gongola</a:t>
            </a:r>
            <a:r>
              <a:rPr lang="en-US" sz="1800" dirty="0"/>
              <a:t> basin early towns of </a:t>
            </a:r>
            <a:r>
              <a:rPr lang="en-US" sz="1800" dirty="0" err="1"/>
              <a:t>Alagira</a:t>
            </a:r>
            <a:r>
              <a:rPr lang="en-US" sz="1800" dirty="0"/>
              <a:t>, </a:t>
            </a:r>
            <a:r>
              <a:rPr lang="en-US" sz="1800" dirty="0" err="1"/>
              <a:t>Kalanu</a:t>
            </a:r>
            <a:r>
              <a:rPr lang="en-US" sz="1800" dirty="0"/>
              <a:t>, </a:t>
            </a:r>
            <a:r>
              <a:rPr lang="en-US" sz="1800" dirty="0" err="1"/>
              <a:t>Zalingo-Shani</a:t>
            </a:r>
            <a:r>
              <a:rPr lang="en-US" sz="1800" dirty="0"/>
              <a:t>, </a:t>
            </a:r>
            <a:r>
              <a:rPr lang="en-US" sz="1800" dirty="0" err="1"/>
              <a:t>Dutse-Bina</a:t>
            </a:r>
            <a:r>
              <a:rPr lang="en-US" sz="1800" dirty="0"/>
              <a:t>. This suggests that the </a:t>
            </a:r>
            <a:r>
              <a:rPr lang="en-US" sz="1800" dirty="0" err="1"/>
              <a:t>Gongola</a:t>
            </a:r>
            <a:r>
              <a:rPr lang="en-US" sz="1800" dirty="0"/>
              <a:t>-upper Benue area was the first major base of the </a:t>
            </a:r>
            <a:r>
              <a:rPr lang="en-US" sz="1800" dirty="0" err="1"/>
              <a:t>Jukun</a:t>
            </a:r>
            <a:r>
              <a:rPr lang="en-US" sz="1800" dirty="0"/>
              <a:t> people.</a:t>
            </a:r>
          </a:p>
          <a:p>
            <a:pPr algn="just">
              <a:buNone/>
            </a:pPr>
            <a:r>
              <a:rPr lang="en-US" sz="1800" dirty="0"/>
              <a:t>Before the 16</a:t>
            </a:r>
            <a:r>
              <a:rPr lang="en-US" sz="1800" baseline="30000" dirty="0"/>
              <a:t>th</a:t>
            </a:r>
            <a:r>
              <a:rPr lang="en-US" sz="1800" dirty="0"/>
              <a:t> century, the </a:t>
            </a:r>
            <a:r>
              <a:rPr lang="en-US" sz="1800" dirty="0" err="1"/>
              <a:t>Jukun</a:t>
            </a:r>
            <a:r>
              <a:rPr lang="en-US" sz="1800" dirty="0"/>
              <a:t> lacked centralized authority, but before the 16</a:t>
            </a:r>
            <a:r>
              <a:rPr lang="en-US" sz="1800" baseline="30000" dirty="0"/>
              <a:t>th</a:t>
            </a:r>
            <a:r>
              <a:rPr lang="en-US" sz="1800" dirty="0"/>
              <a:t> century, they developed a powerful state by building up a formidable military class based on well trained and equipped cavalry force.</a:t>
            </a:r>
          </a:p>
        </p:txBody>
      </p:sp>
      <p:sp>
        <p:nvSpPr>
          <p:cNvPr id="1048659" name="Title 2"/>
          <p:cNvSpPr>
            <a:spLocks noGrp="1"/>
          </p:cNvSpPr>
          <p:nvPr>
            <p:ph type="title"/>
          </p:nvPr>
        </p:nvSpPr>
        <p:spPr>
          <a:xfrm>
            <a:off x="457200" y="152400"/>
            <a:ext cx="8229600" cy="715962"/>
          </a:xfrm>
        </p:spPr>
        <p:txBody>
          <a:bodyPr>
            <a:noAutofit/>
          </a:bodyPr>
          <a:lstStyle/>
          <a:p>
            <a:pPr algn="r"/>
            <a:r>
              <a:rPr lang="en-US" sz="3200" dirty="0">
                <a:solidFill>
                  <a:srgbClr val="C00000"/>
                </a:solidFill>
              </a:rPr>
              <a:t>GOVERNANCE IN THE JUKUN KINGDOM</a:t>
            </a:r>
          </a:p>
        </p:txBody>
      </p:sp>
      <p:sp>
        <p:nvSpPr>
          <p:cNvPr id="1048660" name="Rectangle 3"/>
          <p:cNvSpPr/>
          <p:nvPr/>
        </p:nvSpPr>
        <p:spPr>
          <a:xfrm>
            <a:off x="1515454" y="5654040"/>
            <a:ext cx="7552346"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aseline="30000" dirty="0"/>
              <a:t>11 </a:t>
            </a:r>
            <a:r>
              <a:rPr lang="en-US" sz="1400" dirty="0" err="1"/>
              <a:t>Eluwa</a:t>
            </a:r>
            <a:r>
              <a:rPr lang="en-US" sz="1400" dirty="0"/>
              <a:t>, G.I.C et.al, “</a:t>
            </a:r>
            <a:r>
              <a:rPr lang="en-US" sz="1400" i="1" dirty="0"/>
              <a:t>A History of Nigeria for Schools and Colleges”,</a:t>
            </a:r>
            <a:r>
              <a:rPr lang="en-US" sz="1400" dirty="0"/>
              <a:t> Onitsha: Africana </a:t>
            </a:r>
          </a:p>
          <a:p>
            <a:r>
              <a:rPr lang="en-US" sz="1400" dirty="0"/>
              <a:t>  – First Publishers Ltd. 1988: 37</a:t>
            </a:r>
          </a:p>
        </p:txBody>
      </p:sp>
      <p:cxnSp>
        <p:nvCxnSpPr>
          <p:cNvPr id="3145739" name="Straight Connector 4"/>
          <p:cNvCxnSpPr>
            <a:cxnSpLocks/>
          </p:cNvCxnSpPr>
          <p:nvPr/>
        </p:nvCxnSpPr>
        <p:spPr>
          <a:xfrm>
            <a:off x="1066800" y="5791200"/>
            <a:ext cx="7848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Content Placeholder 1"/>
          <p:cNvSpPr>
            <a:spLocks noGrp="1"/>
          </p:cNvSpPr>
          <p:nvPr>
            <p:ph idx="1"/>
          </p:nvPr>
        </p:nvSpPr>
        <p:spPr>
          <a:xfrm>
            <a:off x="457200" y="228600"/>
            <a:ext cx="8229600" cy="5778691"/>
          </a:xfrm>
        </p:spPr>
        <p:txBody>
          <a:bodyPr>
            <a:normAutofit/>
          </a:bodyPr>
          <a:lstStyle/>
          <a:p>
            <a:pPr algn="just">
              <a:buNone/>
            </a:pPr>
            <a:r>
              <a:rPr lang="en-US" sz="1800" dirty="0"/>
              <a:t>By the end of the 18</a:t>
            </a:r>
            <a:r>
              <a:rPr lang="en-US" sz="1800" baseline="30000" dirty="0"/>
              <a:t>th</a:t>
            </a:r>
            <a:r>
              <a:rPr lang="en-US" sz="1800" dirty="0"/>
              <a:t> century, the </a:t>
            </a:r>
            <a:r>
              <a:rPr lang="en-US" sz="1800" dirty="0" err="1"/>
              <a:t>Kwararafa</a:t>
            </a:r>
            <a:r>
              <a:rPr lang="en-US" sz="1800" dirty="0"/>
              <a:t> empire seems to have disappeared and reasons for this sudden collapse are not yet clear. The </a:t>
            </a:r>
            <a:r>
              <a:rPr lang="en-US" sz="1800" dirty="0" err="1"/>
              <a:t>Jukun</a:t>
            </a:r>
            <a:r>
              <a:rPr lang="en-US" sz="1800" dirty="0"/>
              <a:t> later moved to settle  in the middle Benue region which became their new home. Their first capital was </a:t>
            </a:r>
            <a:r>
              <a:rPr lang="en-US" sz="1800" dirty="0" err="1"/>
              <a:t>Bepi</a:t>
            </a:r>
            <a:r>
              <a:rPr lang="en-US" sz="1800" dirty="0"/>
              <a:t> and then </a:t>
            </a:r>
            <a:r>
              <a:rPr lang="en-US" sz="1800" dirty="0" err="1"/>
              <a:t>Puje</a:t>
            </a:r>
            <a:r>
              <a:rPr lang="en-US" sz="1800" dirty="0"/>
              <a:t>, and later on </a:t>
            </a:r>
            <a:r>
              <a:rPr lang="en-US" sz="1800" dirty="0" err="1"/>
              <a:t>Wukari</a:t>
            </a:r>
            <a:r>
              <a:rPr lang="en-US" sz="1800" dirty="0"/>
              <a:t> which remained the capital for a long time. </a:t>
            </a:r>
            <a:r>
              <a:rPr lang="en-US" sz="1800" dirty="0" err="1"/>
              <a:t>Wukari</a:t>
            </a:r>
            <a:r>
              <a:rPr lang="en-US" sz="1800" dirty="0"/>
              <a:t> the new capital and </a:t>
            </a:r>
            <a:r>
              <a:rPr lang="en-US" sz="1800" dirty="0" err="1"/>
              <a:t>Jukun</a:t>
            </a:r>
            <a:r>
              <a:rPr lang="en-US" sz="1800" dirty="0"/>
              <a:t> center became more of a spiritual than a political base with emphasis being placed on religion as the basis of authority of the new  </a:t>
            </a:r>
            <a:r>
              <a:rPr lang="en-US" sz="1800" dirty="0" err="1"/>
              <a:t>Jukun</a:t>
            </a:r>
            <a:r>
              <a:rPr lang="en-US" sz="1800" dirty="0"/>
              <a:t> rulers. However, the empire reached its highest peak and glory during the 17</a:t>
            </a:r>
            <a:r>
              <a:rPr lang="en-US" sz="1800" baseline="30000" dirty="0"/>
              <a:t>th</a:t>
            </a:r>
            <a:r>
              <a:rPr lang="en-US" sz="1800" dirty="0"/>
              <a:t> century. </a:t>
            </a:r>
            <a:r>
              <a:rPr lang="en-US" sz="1800" baseline="30000" dirty="0"/>
              <a:t>12</a:t>
            </a:r>
          </a:p>
          <a:p>
            <a:pPr algn="just">
              <a:buNone/>
            </a:pPr>
            <a:endParaRPr lang="en-US" sz="1800" baseline="30000" dirty="0"/>
          </a:p>
          <a:p>
            <a:pPr algn="just">
              <a:buNone/>
            </a:pPr>
            <a:r>
              <a:rPr lang="en-US" sz="1800" dirty="0"/>
              <a:t>Political governance in pre-colonial period amongst the </a:t>
            </a:r>
            <a:r>
              <a:rPr lang="en-US" sz="1800" dirty="0" err="1"/>
              <a:t>Jukun</a:t>
            </a:r>
            <a:r>
              <a:rPr lang="en-US" sz="1800" dirty="0"/>
              <a:t> people revolved around the </a:t>
            </a:r>
            <a:r>
              <a:rPr lang="en-US" sz="1800" dirty="0" err="1"/>
              <a:t>Aku</a:t>
            </a:r>
            <a:r>
              <a:rPr lang="en-US" sz="1800" dirty="0"/>
              <a:t> (king). The position of the </a:t>
            </a:r>
            <a:r>
              <a:rPr lang="en-US" sz="1800" dirty="0" err="1"/>
              <a:t>Aku</a:t>
            </a:r>
            <a:r>
              <a:rPr lang="en-US" sz="1800" dirty="0"/>
              <a:t> was not only political but also religious. A situation that made scholars referred to it as Theocracy. The </a:t>
            </a:r>
            <a:r>
              <a:rPr lang="en-US" sz="1800" dirty="0" err="1"/>
              <a:t>Aku</a:t>
            </a:r>
            <a:r>
              <a:rPr lang="en-US" sz="1800" dirty="0"/>
              <a:t> was divinely appointed and considered to be  a representative of the gods on earth and was an intermediary between the people and the ancestors. He was not to be seen in public and communication to and from him was through a chain of officials.  </a:t>
            </a:r>
          </a:p>
          <a:p>
            <a:pPr algn="just">
              <a:buNone/>
            </a:pPr>
            <a:endParaRPr lang="en-US" sz="1800" dirty="0"/>
          </a:p>
        </p:txBody>
      </p:sp>
      <p:sp>
        <p:nvSpPr>
          <p:cNvPr id="1048665" name="Rectangle 3"/>
          <p:cNvSpPr/>
          <p:nvPr/>
        </p:nvSpPr>
        <p:spPr>
          <a:xfrm>
            <a:off x="1515454" y="5486400"/>
            <a:ext cx="7552346"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aseline="30000" dirty="0"/>
              <a:t>12 </a:t>
            </a:r>
            <a:r>
              <a:rPr lang="en-US" sz="1400" dirty="0" err="1"/>
              <a:t>Eluwa</a:t>
            </a:r>
            <a:r>
              <a:rPr lang="en-US" sz="1400" dirty="0"/>
              <a:t>, G.I.C et.al, “</a:t>
            </a:r>
            <a:r>
              <a:rPr lang="en-US" sz="1400" i="1" dirty="0"/>
              <a:t>A History of Nigeria for Schools and Colleges”,</a:t>
            </a:r>
            <a:r>
              <a:rPr lang="en-US" sz="1400" dirty="0"/>
              <a:t> Onitsha: Africana </a:t>
            </a:r>
          </a:p>
          <a:p>
            <a:r>
              <a:rPr lang="en-US" sz="1400" dirty="0"/>
              <a:t>  – First Publishers Ltd. 1988: 37</a:t>
            </a:r>
          </a:p>
        </p:txBody>
      </p:sp>
      <p:cxnSp>
        <p:nvCxnSpPr>
          <p:cNvPr id="3145740" name="Straight Connector 4"/>
          <p:cNvCxnSpPr>
            <a:cxnSpLocks/>
          </p:cNvCxnSpPr>
          <p:nvPr/>
        </p:nvCxnSpPr>
        <p:spPr>
          <a:xfrm>
            <a:off x="1066800" y="5623560"/>
            <a:ext cx="7848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6" name="Content Placeholder 1"/>
          <p:cNvSpPr>
            <a:spLocks noGrp="1"/>
          </p:cNvSpPr>
          <p:nvPr>
            <p:ph idx="1"/>
          </p:nvPr>
        </p:nvSpPr>
        <p:spPr>
          <a:xfrm>
            <a:off x="457200" y="228600"/>
            <a:ext cx="8229600" cy="5778691"/>
          </a:xfrm>
        </p:spPr>
        <p:txBody>
          <a:bodyPr>
            <a:noAutofit/>
          </a:bodyPr>
          <a:lstStyle/>
          <a:p>
            <a:pPr algn="just">
              <a:buNone/>
            </a:pPr>
            <a:r>
              <a:rPr lang="en-US" sz="1700" dirty="0"/>
              <a:t>Next to the </a:t>
            </a:r>
            <a:r>
              <a:rPr lang="en-US" sz="1700" dirty="0" err="1"/>
              <a:t>Aku</a:t>
            </a:r>
            <a:r>
              <a:rPr lang="en-US" sz="1700" dirty="0"/>
              <a:t> in the chain of power is the Patrician class under the </a:t>
            </a:r>
            <a:r>
              <a:rPr lang="en-US" sz="1700" dirty="0" err="1"/>
              <a:t>Abo</a:t>
            </a:r>
            <a:r>
              <a:rPr lang="en-US" sz="1700" dirty="0"/>
              <a:t> who was the prime minister. State officials were drawn from this class and they are to advise the </a:t>
            </a:r>
            <a:r>
              <a:rPr lang="en-US" sz="1700" dirty="0" err="1"/>
              <a:t>Aku</a:t>
            </a:r>
            <a:r>
              <a:rPr lang="en-US" sz="1700" dirty="0"/>
              <a:t> on matters that affects the state. There was also a powerful class of court priest who were involved in the government because they represent the ancestors’ spirit. </a:t>
            </a:r>
          </a:p>
          <a:p>
            <a:pPr algn="just">
              <a:buNone/>
            </a:pPr>
            <a:r>
              <a:rPr lang="en-US" sz="1700" dirty="0"/>
              <a:t>Similar to </a:t>
            </a:r>
            <a:r>
              <a:rPr lang="en-US" sz="1700" dirty="0" err="1"/>
              <a:t>Wukari</a:t>
            </a:r>
            <a:r>
              <a:rPr lang="en-US" sz="1700" dirty="0"/>
              <a:t> the state capital, each </a:t>
            </a:r>
            <a:r>
              <a:rPr lang="en-US" sz="1700" dirty="0" err="1"/>
              <a:t>Jukun</a:t>
            </a:r>
            <a:r>
              <a:rPr lang="en-US" sz="1700" dirty="0"/>
              <a:t> chiefdom has its own chief advised by counselors made up of elders and religion dignitaries equivalent to that of the </a:t>
            </a:r>
            <a:r>
              <a:rPr lang="en-US" sz="1700" dirty="0" err="1"/>
              <a:t>Abo</a:t>
            </a:r>
            <a:r>
              <a:rPr lang="en-US" sz="1700" dirty="0"/>
              <a:t> of </a:t>
            </a:r>
            <a:r>
              <a:rPr lang="en-US" sz="1700" dirty="0" err="1"/>
              <a:t>Wukari</a:t>
            </a:r>
            <a:r>
              <a:rPr lang="en-US" sz="1700" dirty="0"/>
              <a:t>. The chief’s title was </a:t>
            </a:r>
            <a:r>
              <a:rPr lang="en-US" sz="1700" dirty="0" err="1"/>
              <a:t>Wuru</a:t>
            </a:r>
            <a:r>
              <a:rPr lang="en-US" sz="1700" dirty="0"/>
              <a:t> at Kona, </a:t>
            </a:r>
            <a:r>
              <a:rPr lang="en-US" sz="1700" dirty="0" err="1"/>
              <a:t>Kekeru</a:t>
            </a:r>
            <a:r>
              <a:rPr lang="en-US" sz="1700" dirty="0"/>
              <a:t> at </a:t>
            </a:r>
            <a:r>
              <a:rPr lang="en-US" sz="1700" dirty="0" err="1"/>
              <a:t>Gwona</a:t>
            </a:r>
            <a:r>
              <a:rPr lang="en-US" sz="1700" dirty="0"/>
              <a:t> and </a:t>
            </a:r>
            <a:r>
              <a:rPr lang="en-US" sz="1700" dirty="0" err="1"/>
              <a:t>Senzo</a:t>
            </a:r>
            <a:r>
              <a:rPr lang="en-US" sz="1700" dirty="0"/>
              <a:t> at Dampor.etc. All these chiefdoms acknowledged the religious and political headship of the </a:t>
            </a:r>
            <a:r>
              <a:rPr lang="en-US" sz="1700" dirty="0" err="1"/>
              <a:t>Aku</a:t>
            </a:r>
            <a:r>
              <a:rPr lang="en-US" sz="1700" dirty="0"/>
              <a:t> at Wukari.</a:t>
            </a:r>
            <a:r>
              <a:rPr lang="en-US" sz="1700" baseline="30000" dirty="0"/>
              <a:t>13</a:t>
            </a:r>
          </a:p>
          <a:p>
            <a:pPr algn="just">
              <a:buNone/>
            </a:pPr>
            <a:r>
              <a:rPr lang="en-US" sz="1700" dirty="0"/>
              <a:t>The type of political arrangement that held together the multi ethnic composition of the </a:t>
            </a:r>
            <a:r>
              <a:rPr lang="en-US" sz="1700" dirty="0" err="1"/>
              <a:t>Kwararafa</a:t>
            </a:r>
            <a:r>
              <a:rPr lang="en-US" sz="1700" dirty="0"/>
              <a:t>  state is known as confederacy. This was due to the fact that the various entities were united in their opposition to Islam. They did this by pooling resources to fight external wars as the need arose and probably recognized and paid tributes to a common monarch.  As a result of the inability of the </a:t>
            </a:r>
            <a:r>
              <a:rPr lang="en-US" sz="1700" dirty="0" err="1"/>
              <a:t>Jukun</a:t>
            </a:r>
            <a:r>
              <a:rPr lang="en-US" sz="1700" dirty="0"/>
              <a:t> kingdom  to remain tightly knit into a unitary political system, </a:t>
            </a:r>
            <a:r>
              <a:rPr lang="en-US" sz="1700" dirty="0" err="1"/>
              <a:t>Kwararafa</a:t>
            </a:r>
            <a:r>
              <a:rPr lang="en-US" sz="1700" dirty="0"/>
              <a:t> disintegrated as the centre weakened and the forces of </a:t>
            </a:r>
            <a:r>
              <a:rPr lang="en-US" sz="1700" dirty="0" err="1"/>
              <a:t>Sokoto</a:t>
            </a:r>
            <a:r>
              <a:rPr lang="en-US" sz="1700" dirty="0"/>
              <a:t> and later imperialist Britain took over control of the area in the 19</a:t>
            </a:r>
            <a:r>
              <a:rPr lang="en-US" sz="1700" baseline="30000" dirty="0"/>
              <a:t>th</a:t>
            </a:r>
            <a:r>
              <a:rPr lang="en-US" sz="1700" dirty="0"/>
              <a:t> century. </a:t>
            </a:r>
            <a:r>
              <a:rPr lang="en-US" sz="1700" baseline="30000" dirty="0"/>
              <a:t>14</a:t>
            </a:r>
          </a:p>
        </p:txBody>
      </p:sp>
      <p:sp>
        <p:nvSpPr>
          <p:cNvPr id="1048667" name="Rectangle 4"/>
          <p:cNvSpPr/>
          <p:nvPr/>
        </p:nvSpPr>
        <p:spPr>
          <a:xfrm>
            <a:off x="1524000" y="5699760"/>
            <a:ext cx="7552346"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aseline="30000" dirty="0"/>
              <a:t>13</a:t>
            </a:r>
            <a:r>
              <a:rPr lang="en-US" sz="1400" dirty="0"/>
              <a:t> </a:t>
            </a:r>
            <a:r>
              <a:rPr lang="en-US" sz="1400" dirty="0" err="1"/>
              <a:t>Tseror</a:t>
            </a:r>
            <a:r>
              <a:rPr lang="en-US" sz="1400" dirty="0"/>
              <a:t>, Timothy, “HIS III Undergraduate Lecture </a:t>
            </a:r>
            <a:r>
              <a:rPr lang="en-US" sz="1400"/>
              <a:t>Notes” Department of History, </a:t>
            </a:r>
            <a:endParaRPr lang="en-US" sz="1400" dirty="0"/>
          </a:p>
          <a:p>
            <a:r>
              <a:rPr lang="en-US" sz="1400" dirty="0"/>
              <a:t>               University of </a:t>
            </a:r>
            <a:r>
              <a:rPr lang="en-US" sz="1400" dirty="0" err="1"/>
              <a:t>Jos</a:t>
            </a:r>
            <a:r>
              <a:rPr lang="en-US" sz="1400" dirty="0"/>
              <a:t>, 2001.</a:t>
            </a:r>
          </a:p>
          <a:p>
            <a:r>
              <a:rPr lang="en-US" sz="1400" baseline="30000" dirty="0"/>
              <a:t>14 </a:t>
            </a:r>
            <a:r>
              <a:rPr lang="en-US" sz="1400" dirty="0" err="1"/>
              <a:t>Uzoigwe</a:t>
            </a:r>
            <a:r>
              <a:rPr lang="en-US" sz="1400" dirty="0"/>
              <a:t> G.N and R.A </a:t>
            </a:r>
            <a:r>
              <a:rPr lang="en-US" sz="1400" dirty="0" err="1"/>
              <a:t>Akindele</a:t>
            </a:r>
            <a:r>
              <a:rPr lang="en-US" sz="1400" dirty="0"/>
              <a:t> (ed.) , “Foundations  of Nigerian Federalism: Pre-</a:t>
            </a:r>
          </a:p>
          <a:p>
            <a:r>
              <a:rPr lang="en-US" sz="1400" dirty="0"/>
              <a:t>                colonial Antecedents” Nigeria : Institute of Governance and Social </a:t>
            </a:r>
          </a:p>
          <a:p>
            <a:r>
              <a:rPr lang="en-US" sz="1400" dirty="0"/>
              <a:t>                                 Research,  2001.</a:t>
            </a:r>
          </a:p>
        </p:txBody>
      </p:sp>
      <p:cxnSp>
        <p:nvCxnSpPr>
          <p:cNvPr id="3145741" name="Straight Connector 7"/>
          <p:cNvCxnSpPr>
            <a:cxnSpLocks/>
          </p:cNvCxnSpPr>
          <p:nvPr/>
        </p:nvCxnSpPr>
        <p:spPr>
          <a:xfrm>
            <a:off x="1143000" y="5562600"/>
            <a:ext cx="7848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Content Placeholder 1"/>
          <p:cNvSpPr>
            <a:spLocks noGrp="1"/>
          </p:cNvSpPr>
          <p:nvPr>
            <p:ph idx="1"/>
          </p:nvPr>
        </p:nvSpPr>
        <p:spPr>
          <a:xfrm>
            <a:off x="457200" y="2027237"/>
            <a:ext cx="8229600" cy="4525963"/>
          </a:xfrm>
        </p:spPr>
        <p:txBody>
          <a:bodyPr/>
          <a:lstStyle/>
          <a:p>
            <a:pPr algn="just">
              <a:buNone/>
            </a:pPr>
            <a:r>
              <a:rPr lang="en-US" dirty="0"/>
              <a:t>Similarly, governance and politics in pre-colonial South-Western Nigeria would take into cognizance the hierarchical nature  of Oyo empire and the Igbo society.  This is with a view to expose the subsequent applicability or otherwise of colonial policies in the South – Western part of the country. </a:t>
            </a:r>
          </a:p>
        </p:txBody>
      </p:sp>
      <p:sp>
        <p:nvSpPr>
          <p:cNvPr id="1048669" name="Title 2"/>
          <p:cNvSpPr>
            <a:spLocks noGrp="1"/>
          </p:cNvSpPr>
          <p:nvPr>
            <p:ph type="title"/>
          </p:nvPr>
        </p:nvSpPr>
        <p:spPr>
          <a:xfrm>
            <a:off x="457200" y="685800"/>
            <a:ext cx="8229600" cy="1143000"/>
          </a:xfrm>
        </p:spPr>
        <p:txBody>
          <a:bodyPr>
            <a:noAutofit/>
          </a:bodyPr>
          <a:lstStyle/>
          <a:p>
            <a:pPr algn="r"/>
            <a:r>
              <a:rPr lang="en-US" sz="3600" dirty="0">
                <a:solidFill>
                  <a:srgbClr val="C00000"/>
                </a:solidFill>
              </a:rPr>
              <a:t>POLITICS AND GOVERNANCE IN PRE – COLONIAL SOUTH-WESTERN NIGERIA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0" name="Content Placeholder 1"/>
          <p:cNvSpPr>
            <a:spLocks noGrp="1"/>
          </p:cNvSpPr>
          <p:nvPr>
            <p:ph idx="1"/>
          </p:nvPr>
        </p:nvSpPr>
        <p:spPr>
          <a:xfrm>
            <a:off x="457200" y="1066800"/>
            <a:ext cx="8229600" cy="4940491"/>
          </a:xfrm>
        </p:spPr>
        <p:txBody>
          <a:bodyPr>
            <a:normAutofit fontScale="92500"/>
          </a:bodyPr>
          <a:lstStyle/>
          <a:p>
            <a:pPr algn="just">
              <a:buNone/>
            </a:pPr>
            <a:r>
              <a:rPr lang="en-US" sz="1800" dirty="0"/>
              <a:t>Oyo empire had a semi-centralized system of government almost similar to that of </a:t>
            </a:r>
            <a:r>
              <a:rPr lang="en-US" sz="1800" dirty="0" err="1"/>
              <a:t>Kanem</a:t>
            </a:r>
            <a:r>
              <a:rPr lang="en-US" sz="1800" dirty="0"/>
              <a:t> </a:t>
            </a:r>
            <a:r>
              <a:rPr lang="en-US" sz="1800" dirty="0" err="1"/>
              <a:t>Borno</a:t>
            </a:r>
            <a:r>
              <a:rPr lang="en-US" sz="1800" dirty="0"/>
              <a:t>. The Government of the capital or metropolitan area of Oyo was in the hand of the </a:t>
            </a:r>
            <a:r>
              <a:rPr lang="en-US" sz="1800" dirty="0" err="1"/>
              <a:t>Alaafin</a:t>
            </a:r>
            <a:r>
              <a:rPr lang="en-US" sz="1800" dirty="0"/>
              <a:t> and his council of seven (7) called the </a:t>
            </a:r>
            <a:r>
              <a:rPr lang="en-US" sz="1800" dirty="0" err="1"/>
              <a:t>Oyomesi</a:t>
            </a:r>
            <a:r>
              <a:rPr lang="en-US" sz="1800" dirty="0"/>
              <a:t>. The </a:t>
            </a:r>
            <a:r>
              <a:rPr lang="en-US" sz="1800" dirty="0" err="1"/>
              <a:t>Oyomesi</a:t>
            </a:r>
            <a:r>
              <a:rPr lang="en-US" sz="1800" dirty="0"/>
              <a:t> were leaders of the seven (7) wards into which the capital was divided . The </a:t>
            </a:r>
            <a:r>
              <a:rPr lang="en-US" sz="1800" dirty="0" err="1"/>
              <a:t>Bashorun</a:t>
            </a:r>
            <a:r>
              <a:rPr lang="en-US" sz="1800" dirty="0"/>
              <a:t> or prime minister was the most powerful amongst the </a:t>
            </a:r>
            <a:r>
              <a:rPr lang="en-US" sz="1800" dirty="0" err="1"/>
              <a:t>Oyomesi</a:t>
            </a:r>
            <a:r>
              <a:rPr lang="en-US" sz="1800" dirty="0"/>
              <a:t>. It was he who could inform the </a:t>
            </a:r>
            <a:r>
              <a:rPr lang="en-US" sz="1800" dirty="0" err="1"/>
              <a:t>Alaafin</a:t>
            </a:r>
            <a:r>
              <a:rPr lang="en-US" sz="1800" dirty="0"/>
              <a:t> of the people’s decision.</a:t>
            </a:r>
          </a:p>
          <a:p>
            <a:pPr algn="just">
              <a:buNone/>
            </a:pPr>
            <a:r>
              <a:rPr lang="en-US" sz="1800" dirty="0"/>
              <a:t>The </a:t>
            </a:r>
            <a:r>
              <a:rPr lang="en-US" sz="1800" dirty="0" err="1"/>
              <a:t>Oyomesi</a:t>
            </a:r>
            <a:r>
              <a:rPr lang="en-US" sz="1800" dirty="0"/>
              <a:t> in the pre-colonial Oyo empire performed the following functions;</a:t>
            </a:r>
          </a:p>
          <a:p>
            <a:pPr marL="452628" indent="-342900" algn="just">
              <a:buFont typeface="+mj-lt"/>
              <a:buAutoNum type="arabicPeriod"/>
            </a:pPr>
            <a:r>
              <a:rPr lang="en-US" sz="1800" dirty="0"/>
              <a:t>They elected a new </a:t>
            </a:r>
            <a:r>
              <a:rPr lang="en-US" sz="1800" dirty="0" err="1"/>
              <a:t>Alaafin</a:t>
            </a:r>
            <a:r>
              <a:rPr lang="en-US" sz="1800" dirty="0"/>
              <a:t> from amongst members of the royal family.</a:t>
            </a:r>
          </a:p>
          <a:p>
            <a:pPr marL="452628" indent="-342900" algn="just">
              <a:buFont typeface="+mj-lt"/>
              <a:buAutoNum type="arabicPeriod"/>
            </a:pPr>
            <a:r>
              <a:rPr lang="en-US" sz="1800" dirty="0"/>
              <a:t>The </a:t>
            </a:r>
            <a:r>
              <a:rPr lang="en-US" sz="1800" dirty="0" err="1"/>
              <a:t>Oyomesi</a:t>
            </a:r>
            <a:r>
              <a:rPr lang="en-US" sz="1800" dirty="0"/>
              <a:t> also checked the powers of the </a:t>
            </a:r>
            <a:r>
              <a:rPr lang="en-US" sz="1800" dirty="0" err="1"/>
              <a:t>Alaafin</a:t>
            </a:r>
            <a:r>
              <a:rPr lang="en-US" sz="1800" dirty="0"/>
              <a:t> who could not act without their authority in matters of state policy.  </a:t>
            </a:r>
          </a:p>
          <a:p>
            <a:pPr marL="452628" indent="-342900" algn="just">
              <a:buFont typeface="+mj-lt"/>
              <a:buAutoNum type="arabicPeriod"/>
            </a:pPr>
            <a:r>
              <a:rPr lang="en-US" sz="1800" dirty="0"/>
              <a:t>If an </a:t>
            </a:r>
            <a:r>
              <a:rPr lang="en-US" sz="1800" dirty="0" err="1"/>
              <a:t>Alaafin</a:t>
            </a:r>
            <a:r>
              <a:rPr lang="en-US" sz="1800" dirty="0"/>
              <a:t> became tyrannical over his people, the </a:t>
            </a:r>
            <a:r>
              <a:rPr lang="en-US" sz="1800" dirty="0" err="1"/>
              <a:t>Oyomesi</a:t>
            </a:r>
            <a:r>
              <a:rPr lang="en-US" sz="1800" dirty="0"/>
              <a:t> would force  him to commit suicide by presenting him with an empty calabash or parrots eggs which signified that his people had rejected him.</a:t>
            </a:r>
          </a:p>
          <a:p>
            <a:pPr marL="452628" indent="-342900" algn="just">
              <a:buFont typeface="+mj-lt"/>
              <a:buAutoNum type="arabicPeriod"/>
            </a:pPr>
            <a:r>
              <a:rPr lang="en-US" sz="1800" dirty="0"/>
              <a:t>Apart from the king makers, the </a:t>
            </a:r>
            <a:r>
              <a:rPr lang="en-US" sz="1800" dirty="0" err="1"/>
              <a:t>Oyomesi</a:t>
            </a:r>
            <a:r>
              <a:rPr lang="en-US" sz="1800" dirty="0"/>
              <a:t> also performed legislative, executive and judicial functions.</a:t>
            </a:r>
          </a:p>
        </p:txBody>
      </p:sp>
      <p:sp>
        <p:nvSpPr>
          <p:cNvPr id="1048671" name="Title 2"/>
          <p:cNvSpPr>
            <a:spLocks noGrp="1"/>
          </p:cNvSpPr>
          <p:nvPr>
            <p:ph type="title"/>
          </p:nvPr>
        </p:nvSpPr>
        <p:spPr/>
        <p:txBody>
          <a:bodyPr/>
          <a:lstStyle/>
          <a:p>
            <a:pPr algn="r"/>
            <a:r>
              <a:rPr lang="en-US" dirty="0">
                <a:solidFill>
                  <a:srgbClr val="C00000"/>
                </a:solidFill>
              </a:rPr>
              <a:t>GOVERNANCE IN OYO EMPIRE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2" name="Content Placeholder 1"/>
          <p:cNvSpPr>
            <a:spLocks noGrp="1"/>
          </p:cNvSpPr>
          <p:nvPr>
            <p:ph idx="1"/>
          </p:nvPr>
        </p:nvSpPr>
        <p:spPr>
          <a:xfrm>
            <a:off x="457200" y="304800"/>
            <a:ext cx="8229600" cy="5702491"/>
          </a:xfrm>
        </p:spPr>
        <p:txBody>
          <a:bodyPr>
            <a:normAutofit/>
          </a:bodyPr>
          <a:lstStyle/>
          <a:p>
            <a:pPr algn="just">
              <a:buNone/>
            </a:pPr>
            <a:r>
              <a:rPr lang="en-US" sz="2000" dirty="0"/>
              <a:t>A non-hereditary class of military officials whose leader is the Are-</a:t>
            </a:r>
            <a:r>
              <a:rPr lang="en-US" sz="2000" dirty="0" err="1"/>
              <a:t>Ona</a:t>
            </a:r>
            <a:r>
              <a:rPr lang="en-US" sz="2000" dirty="0"/>
              <a:t>-</a:t>
            </a:r>
            <a:r>
              <a:rPr lang="en-US" sz="2000" dirty="0" err="1"/>
              <a:t>Kankanfo</a:t>
            </a:r>
            <a:r>
              <a:rPr lang="en-US" sz="2000" dirty="0"/>
              <a:t> (Commander-in-Chief) of the Oyo Army also played an important part in the political governance of Oyo. </a:t>
            </a:r>
          </a:p>
          <a:p>
            <a:pPr algn="just">
              <a:buNone/>
            </a:pPr>
            <a:r>
              <a:rPr lang="en-US" sz="2000" dirty="0" err="1"/>
              <a:t>Ogboni</a:t>
            </a:r>
            <a:r>
              <a:rPr lang="en-US" sz="2000" dirty="0"/>
              <a:t> cult, a secret society of freemen known for their age and experience and who were also the social, political and religious leaders of the state checked activities of both the </a:t>
            </a:r>
            <a:r>
              <a:rPr lang="en-US" sz="2000" dirty="0" err="1"/>
              <a:t>Alaafin</a:t>
            </a:r>
            <a:r>
              <a:rPr lang="en-US" sz="2000" dirty="0"/>
              <a:t> and </a:t>
            </a:r>
            <a:r>
              <a:rPr lang="en-US" sz="2000" dirty="0" err="1"/>
              <a:t>Oyomesi</a:t>
            </a:r>
            <a:r>
              <a:rPr lang="en-US" sz="2000" dirty="0"/>
              <a:t>.  </a:t>
            </a:r>
          </a:p>
          <a:p>
            <a:pPr algn="just">
              <a:buNone/>
            </a:pPr>
            <a:r>
              <a:rPr lang="en-US" sz="2000" dirty="0" err="1"/>
              <a:t>Obas</a:t>
            </a:r>
            <a:r>
              <a:rPr lang="en-US" sz="2000" dirty="0"/>
              <a:t> (Minor Kings) ruled the rest of Yoruba land  outside the capital which were divided into provinces or chiefdoms. The </a:t>
            </a:r>
            <a:r>
              <a:rPr lang="en-US" sz="2000" dirty="0" err="1"/>
              <a:t>Obas</a:t>
            </a:r>
            <a:r>
              <a:rPr lang="en-US" sz="2000" dirty="0"/>
              <a:t> enjoyed a large measure of internal autonomy except in the following instances; they allowed central control in respect of their external affairs, revenue collection, </a:t>
            </a:r>
            <a:r>
              <a:rPr lang="en-US" sz="2000" dirty="0" err="1"/>
              <a:t>millitary</a:t>
            </a:r>
            <a:r>
              <a:rPr lang="en-US" sz="2000" dirty="0"/>
              <a:t> levies and appeals to the </a:t>
            </a:r>
            <a:r>
              <a:rPr lang="en-US" sz="2000" dirty="0" err="1"/>
              <a:t>Alaafin’s</a:t>
            </a:r>
            <a:r>
              <a:rPr lang="en-US" sz="2000" dirty="0"/>
              <a:t> court in matters of dispute between one Oba and another.</a:t>
            </a:r>
            <a:r>
              <a:rPr lang="en-US" sz="2000" baseline="30000" dirty="0"/>
              <a:t>15</a:t>
            </a:r>
            <a:r>
              <a:rPr lang="en-US" sz="2000" dirty="0"/>
              <a:t> Below the </a:t>
            </a:r>
            <a:r>
              <a:rPr lang="en-US" sz="2000" dirty="0" err="1"/>
              <a:t>Obas</a:t>
            </a:r>
            <a:r>
              <a:rPr lang="en-US" sz="2000" dirty="0"/>
              <a:t> were the </a:t>
            </a:r>
            <a:r>
              <a:rPr lang="en-US" sz="2000" dirty="0" err="1"/>
              <a:t>Ilaris</a:t>
            </a:r>
            <a:r>
              <a:rPr lang="en-US" sz="2000" dirty="0"/>
              <a:t> (Viceroys) who ensured that obligations of taxes and military levies are obeyed by the </a:t>
            </a:r>
            <a:r>
              <a:rPr lang="en-US" sz="2000" dirty="0" err="1"/>
              <a:t>Obas</a:t>
            </a:r>
            <a:r>
              <a:rPr lang="en-US" sz="2000" dirty="0"/>
              <a:t>. </a:t>
            </a:r>
          </a:p>
        </p:txBody>
      </p:sp>
      <p:sp>
        <p:nvSpPr>
          <p:cNvPr id="1048673" name="Rectangle 4"/>
          <p:cNvSpPr/>
          <p:nvPr/>
        </p:nvSpPr>
        <p:spPr>
          <a:xfrm>
            <a:off x="1591654" y="5562600"/>
            <a:ext cx="7552346"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aseline="30000" dirty="0"/>
              <a:t>15</a:t>
            </a:r>
            <a:r>
              <a:rPr lang="en-US" sz="1400" dirty="0"/>
              <a:t>Onwubiko, K.B.C, “History of West Africa, A.D 1000 – 1800” Onitsha - Nigeria: </a:t>
            </a:r>
            <a:r>
              <a:rPr lang="en-US" sz="1400" dirty="0" err="1"/>
              <a:t>Africanna</a:t>
            </a:r>
            <a:r>
              <a:rPr lang="en-US" sz="1400" dirty="0"/>
              <a:t> – FEP Publishers Ltd. 1967 : 137 – 138.</a:t>
            </a:r>
          </a:p>
        </p:txBody>
      </p:sp>
      <p:cxnSp>
        <p:nvCxnSpPr>
          <p:cNvPr id="3145742" name="Straight Connector 7"/>
          <p:cNvCxnSpPr>
            <a:cxnSpLocks/>
          </p:cNvCxnSpPr>
          <p:nvPr/>
        </p:nvCxnSpPr>
        <p:spPr>
          <a:xfrm>
            <a:off x="990600" y="5713412"/>
            <a:ext cx="7848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Content Placeholder 1"/>
          <p:cNvSpPr>
            <a:spLocks noGrp="1"/>
          </p:cNvSpPr>
          <p:nvPr>
            <p:ph idx="1"/>
          </p:nvPr>
        </p:nvSpPr>
        <p:spPr/>
        <p:txBody>
          <a:bodyPr/>
          <a:lstStyle/>
          <a:p>
            <a:pPr algn="just">
              <a:buNone/>
            </a:pPr>
            <a:r>
              <a:rPr lang="en-US" dirty="0"/>
              <a:t>Discuss :</a:t>
            </a:r>
          </a:p>
          <a:p>
            <a:pPr algn="just"/>
            <a:r>
              <a:rPr lang="en-US" dirty="0"/>
              <a:t>Governance in Pre-Colonial Igbo Society.</a:t>
            </a:r>
          </a:p>
          <a:p>
            <a:pPr algn="just"/>
            <a:r>
              <a:rPr lang="en-US" dirty="0"/>
              <a:t>Governance in </a:t>
            </a:r>
            <a:r>
              <a:rPr lang="en-US" dirty="0" err="1"/>
              <a:t>Kanem</a:t>
            </a:r>
            <a:r>
              <a:rPr lang="en-US" dirty="0"/>
              <a:t> – </a:t>
            </a:r>
            <a:r>
              <a:rPr lang="en-US" dirty="0" err="1"/>
              <a:t>Borno</a:t>
            </a:r>
            <a:r>
              <a:rPr lang="en-US" dirty="0"/>
              <a:t> (Kanuri) Empire.</a:t>
            </a:r>
          </a:p>
          <a:p>
            <a:pPr algn="just"/>
            <a:r>
              <a:rPr lang="en-US" dirty="0"/>
              <a:t>Governance in </a:t>
            </a:r>
            <a:r>
              <a:rPr lang="en-US" dirty="0" err="1"/>
              <a:t>Nupe</a:t>
            </a:r>
            <a:r>
              <a:rPr lang="en-US" dirty="0"/>
              <a:t> Kingdom.</a:t>
            </a:r>
          </a:p>
        </p:txBody>
      </p:sp>
      <p:sp>
        <p:nvSpPr>
          <p:cNvPr id="1048675" name="Title 2"/>
          <p:cNvSpPr>
            <a:spLocks noGrp="1"/>
          </p:cNvSpPr>
          <p:nvPr>
            <p:ph type="title"/>
          </p:nvPr>
        </p:nvSpPr>
        <p:spPr/>
        <p:txBody>
          <a:bodyPr/>
          <a:lstStyle/>
          <a:p>
            <a:pPr algn="r"/>
            <a:r>
              <a:rPr lang="en-US" dirty="0">
                <a:solidFill>
                  <a:srgbClr val="C00000"/>
                </a:solidFill>
              </a:rPr>
              <a:t>EXERCISES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6" name="Content Placeholder 1"/>
          <p:cNvSpPr>
            <a:spLocks noGrp="1"/>
          </p:cNvSpPr>
          <p:nvPr>
            <p:ph idx="1"/>
          </p:nvPr>
        </p:nvSpPr>
        <p:spPr/>
        <p:txBody>
          <a:bodyPr>
            <a:normAutofit fontScale="94444" lnSpcReduction="10000"/>
          </a:bodyPr>
          <a:lstStyle/>
          <a:p>
            <a:pPr algn="just">
              <a:buNone/>
            </a:pPr>
            <a:r>
              <a:rPr lang="en-US" sz="1800" dirty="0" err="1"/>
              <a:t>Eluwa</a:t>
            </a:r>
            <a:r>
              <a:rPr lang="en-US" sz="1800" dirty="0"/>
              <a:t>, G.I.C, et.al </a:t>
            </a:r>
            <a:r>
              <a:rPr lang="en-US" sz="1800" i="1" dirty="0"/>
              <a:t>“A History of Nigeria for Schools and Colleges”</a:t>
            </a:r>
            <a:r>
              <a:rPr lang="en-US" sz="1800" dirty="0"/>
              <a:t>, Onitsha: </a:t>
            </a:r>
            <a:r>
              <a:rPr lang="en-US" sz="1800" dirty="0" err="1"/>
              <a:t>Africanna</a:t>
            </a:r>
            <a:r>
              <a:rPr lang="en-US" sz="1800" dirty="0"/>
              <a:t> – First publishers Ltd. 1988.</a:t>
            </a:r>
          </a:p>
          <a:p>
            <a:pPr algn="just">
              <a:buNone/>
            </a:pPr>
            <a:r>
              <a:rPr lang="en-US" sz="1800" dirty="0" err="1"/>
              <a:t>Obaro</a:t>
            </a:r>
            <a:r>
              <a:rPr lang="en-US" sz="1800" dirty="0"/>
              <a:t> I. </a:t>
            </a:r>
            <a:r>
              <a:rPr lang="en-US" sz="1800" i="1" dirty="0"/>
              <a:t>“Groundwork of Nigeria History”</a:t>
            </a:r>
            <a:r>
              <a:rPr lang="en-US" sz="1800" dirty="0"/>
              <a:t> Nigeria: Heinemann Education Book, 1976.</a:t>
            </a:r>
          </a:p>
          <a:p>
            <a:pPr algn="just">
              <a:buNone/>
            </a:pPr>
            <a:r>
              <a:rPr lang="en-US" sz="1800" dirty="0" err="1"/>
              <a:t>Okpeh</a:t>
            </a:r>
            <a:r>
              <a:rPr lang="en-US" sz="1800" dirty="0"/>
              <a:t> O. and </a:t>
            </a:r>
            <a:r>
              <a:rPr lang="en-US" sz="1800" dirty="0" err="1"/>
              <a:t>Ugbegilis</a:t>
            </a:r>
            <a:r>
              <a:rPr lang="en-US" sz="1800" dirty="0"/>
              <a:t> I. </a:t>
            </a:r>
            <a:r>
              <a:rPr lang="en-US" sz="1800" i="1" dirty="0"/>
              <a:t>“Themes on Nigeria History, People and Cultures”, </a:t>
            </a:r>
            <a:r>
              <a:rPr lang="en-US" sz="1800" dirty="0"/>
              <a:t>Ibadan Vast Publishers, 2013.  </a:t>
            </a:r>
          </a:p>
          <a:p>
            <a:pPr algn="just">
              <a:buNone/>
            </a:pPr>
            <a:r>
              <a:rPr lang="en-US" sz="1800" dirty="0" err="1"/>
              <a:t>Onwubiko</a:t>
            </a:r>
            <a:r>
              <a:rPr lang="en-US" sz="1800" dirty="0"/>
              <a:t>, K.B.C </a:t>
            </a:r>
            <a:r>
              <a:rPr lang="en-US" sz="1800" i="1" dirty="0"/>
              <a:t>“History of West </a:t>
            </a:r>
            <a:r>
              <a:rPr lang="en-US" sz="1800" i="1" dirty="0" err="1"/>
              <a:t>Africa:A.D</a:t>
            </a:r>
            <a:r>
              <a:rPr lang="en-US" sz="1800" i="1" dirty="0"/>
              <a:t> 1000 – 1800” </a:t>
            </a:r>
            <a:r>
              <a:rPr lang="en-US" sz="1800" dirty="0"/>
              <a:t>Onitsha – Nigeria: </a:t>
            </a:r>
            <a:r>
              <a:rPr lang="en-US" sz="1800" dirty="0" err="1"/>
              <a:t>Africanna</a:t>
            </a:r>
            <a:r>
              <a:rPr lang="en-US" sz="1800" dirty="0"/>
              <a:t> – FEP Publishers Ltd. 1967.</a:t>
            </a:r>
          </a:p>
          <a:p>
            <a:pPr algn="just">
              <a:buNone/>
            </a:pPr>
            <a:r>
              <a:rPr lang="en-US" sz="1800" dirty="0"/>
              <a:t>S. </a:t>
            </a:r>
            <a:r>
              <a:rPr lang="en-US" sz="1800" dirty="0" err="1"/>
              <a:t>Abubakar</a:t>
            </a:r>
            <a:r>
              <a:rPr lang="en-US" sz="1800" dirty="0"/>
              <a:t> </a:t>
            </a:r>
            <a:r>
              <a:rPr lang="en-US" sz="1800" i="1" dirty="0"/>
              <a:t>“The Established </a:t>
            </a:r>
            <a:r>
              <a:rPr lang="en-US" sz="1800" i="1" dirty="0" err="1"/>
              <a:t>Sokoto</a:t>
            </a:r>
            <a:r>
              <a:rPr lang="en-US" sz="1800" i="1" dirty="0"/>
              <a:t> Caliphate, the Emirate and their Neighbors”</a:t>
            </a:r>
            <a:r>
              <a:rPr lang="en-US" sz="1800" dirty="0"/>
              <a:t> – Groundwork of Nigeria History in </a:t>
            </a:r>
            <a:r>
              <a:rPr lang="en-US" sz="1800" dirty="0" err="1"/>
              <a:t>Obaro</a:t>
            </a:r>
            <a:r>
              <a:rPr lang="en-US" sz="1800" dirty="0"/>
              <a:t> </a:t>
            </a:r>
            <a:r>
              <a:rPr lang="en-US" sz="1800" dirty="0" err="1"/>
              <a:t>Ikime</a:t>
            </a:r>
            <a:r>
              <a:rPr lang="en-US" sz="1800" dirty="0"/>
              <a:t>, Nigeria: Heinemann Education Book, 1976.</a:t>
            </a:r>
          </a:p>
          <a:p>
            <a:pPr algn="just">
              <a:buNone/>
            </a:pPr>
            <a:r>
              <a:rPr lang="en-US" sz="1800" dirty="0" err="1"/>
              <a:t>Tseror</a:t>
            </a:r>
            <a:r>
              <a:rPr lang="en-US" sz="1800" dirty="0"/>
              <a:t>, Timothy “HIS III Undergraduate Lecture Note” Department of History. University of </a:t>
            </a:r>
            <a:r>
              <a:rPr lang="en-US" sz="1800" dirty="0" err="1"/>
              <a:t>Jos</a:t>
            </a:r>
            <a:r>
              <a:rPr lang="en-US" sz="1800" dirty="0"/>
              <a:t>, 2001.</a:t>
            </a:r>
          </a:p>
          <a:p>
            <a:pPr algn="just">
              <a:buNone/>
            </a:pPr>
            <a:r>
              <a:rPr lang="en-US" sz="1800" dirty="0" err="1"/>
              <a:t>Uzoigwe</a:t>
            </a:r>
            <a:r>
              <a:rPr lang="en-US" sz="1800" dirty="0"/>
              <a:t>, G.N and R.A. </a:t>
            </a:r>
            <a:r>
              <a:rPr lang="en-US" sz="1800" dirty="0" err="1"/>
              <a:t>Akindele</a:t>
            </a:r>
            <a:r>
              <a:rPr lang="en-US" sz="1800" dirty="0"/>
              <a:t> (ed.) </a:t>
            </a:r>
            <a:r>
              <a:rPr lang="en-US" sz="1800" i="1" dirty="0"/>
              <a:t>“Foundations of Nigerian Federalism: Pre-Colonial Antecedents”</a:t>
            </a:r>
            <a:r>
              <a:rPr lang="en-US" sz="1800" dirty="0"/>
              <a:t> Nigeria: Institute of Governance and Social Research,  200. </a:t>
            </a:r>
          </a:p>
          <a:p>
            <a:pPr algn="just">
              <a:buNone/>
            </a:pPr>
            <a:endParaRPr lang="en-US" sz="1800" dirty="0"/>
          </a:p>
        </p:txBody>
      </p:sp>
      <p:sp>
        <p:nvSpPr>
          <p:cNvPr id="1048677" name="Title 2"/>
          <p:cNvSpPr>
            <a:spLocks noGrp="1"/>
          </p:cNvSpPr>
          <p:nvPr>
            <p:ph type="title"/>
          </p:nvPr>
        </p:nvSpPr>
        <p:spPr/>
        <p:txBody>
          <a:bodyPr/>
          <a:lstStyle/>
          <a:p>
            <a:r>
              <a:rPr lang="en-US" dirty="0">
                <a:solidFill>
                  <a:srgbClr val="C00000"/>
                </a:solidFill>
              </a:rPr>
              <a:t>BIBLIOGRAPHY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533400"/>
            <a:ext cx="8382000" cy="6019800"/>
          </a:xfrm>
        </p:spPr>
        <p:txBody>
          <a:bodyPr>
            <a:noAutofit/>
          </a:bodyPr>
          <a:lstStyle/>
          <a:p>
            <a:pPr algn="ctr"/>
            <a:r>
              <a:rPr lang="en-US" sz="13800" dirty="0"/>
              <a:t>Thank You </a:t>
            </a:r>
          </a:p>
        </p:txBody>
      </p:sp>
    </p:spTree>
    <p:extLst>
      <p:ext uri="{BB962C8B-B14F-4D97-AF65-F5344CB8AC3E}">
        <p14:creationId xmlns:p14="http://schemas.microsoft.com/office/powerpoint/2010/main" val="15904248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3500</Words>
  <Application>Microsoft Office PowerPoint</Application>
  <PresentationFormat>On-screen Show (4:3)</PresentationFormat>
  <Paragraphs>163</Paragraphs>
  <Slides>27</Slides>
  <Notes>6</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Concourse</vt:lpstr>
      <vt:lpstr>GST 113</vt:lpstr>
      <vt:lpstr>1. MODULE ONE:</vt:lpstr>
      <vt:lpstr>1.2 – INTRODUCTION:</vt:lpstr>
      <vt:lpstr>1.1 – AIM AND OBJECTIVES:</vt:lpstr>
      <vt:lpstr>LEARNING OUTCOME.</vt:lpstr>
      <vt:lpstr>COURSE OUTLINE:</vt:lpstr>
      <vt:lpstr>1.3 – THE NIGERIA AREA AND THE COMPOSITION OF ITS PEOPLE  </vt:lpstr>
      <vt:lpstr>THE PEOPLE</vt:lpstr>
      <vt:lpstr>EVOLUTION OF NIGERIAN STATES DURING THE PRE-COLONIAL PERIOD</vt:lpstr>
      <vt:lpstr>PRECOLONIAL POLITICAL SYSTEM IN NIGERIA BEFORE CONTACT WITH EUROPE</vt:lpstr>
      <vt:lpstr>POLITICS AND GOVERNANCE IN PRE-COLONIAL NORTHERN NIGERIA - GOVERNANCE IN HAUSA LAND</vt:lpstr>
      <vt:lpstr>PowerPoint Presentation</vt:lpstr>
      <vt:lpstr>POLITICAL ORGANIZATION OF HAUSA STATES</vt:lpstr>
      <vt:lpstr>GOVERNANCE IN SOKOTO CALIPHATE</vt:lpstr>
      <vt:lpstr>BRIEF HISTORY OF USMAN DAN FODIO.</vt:lpstr>
      <vt:lpstr>PowerPoint Presentation</vt:lpstr>
      <vt:lpstr>THE  ADMINISTRATION OF THE CALIPHATE</vt:lpstr>
      <vt:lpstr>PowerPoint Presentation</vt:lpstr>
      <vt:lpstr>GOVERNANCE IN THE JUKUN KINGDOM</vt:lpstr>
      <vt:lpstr>PowerPoint Presentation</vt:lpstr>
      <vt:lpstr>PowerPoint Presentation</vt:lpstr>
      <vt:lpstr>POLITICS AND GOVERNANCE IN PRE – COLONIAL SOUTH-WESTERN NIGERIA</vt:lpstr>
      <vt:lpstr>GOVERNANCE IN OYO EMPIRE</vt:lpstr>
      <vt:lpstr>PowerPoint Presentation</vt:lpstr>
      <vt:lpstr>EXERCISES</vt:lpstr>
      <vt:lpstr>BIBLIOGRAPHY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GST  113</dc:title>
  <dc:creator>USE</dc:creator>
  <cp:lastModifiedBy>godwinolofu076@gmail.com</cp:lastModifiedBy>
  <cp:revision>4</cp:revision>
  <dcterms:created xsi:type="dcterms:W3CDTF">2006-08-15T22:00:00Z</dcterms:created>
  <dcterms:modified xsi:type="dcterms:W3CDTF">2023-07-10T18:04:38Z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14371564bfe04efa84fd62aa0253201e</vt:lpwstr>
  </property>
</Properties>
</file>