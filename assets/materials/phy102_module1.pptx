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0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4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82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8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1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9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9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93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75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AB94D-A9BE-4695-A546-1F95CC9727BA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D6D33-25C3-40F2-BA72-1548021AD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9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8468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26677"/>
            <a:ext cx="9607062" cy="2435469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Course Title: 		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Electricity &amp; Magnetism</a:t>
            </a:r>
          </a:p>
          <a:p>
            <a:pPr algn="l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Course Code: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PHYS 102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Unit: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	3 CU</a:t>
            </a:r>
            <a:br>
              <a:rPr 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Lecturer: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		ABUBAKAR ABDULKADIR</a:t>
            </a:r>
            <a:endParaRPr lang="en-US" sz="3600" dirty="0" smtClean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6921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Outline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DC Circuits Theory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Current Voltage and Resistance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215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Circuit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section you should be able to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 a simple electrical circuit and its components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Circuit Theory</a:t>
            </a:r>
          </a:p>
          <a:p>
            <a:pPr lvl="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for current (I), quantity of charge (Q) or time (t) using the equation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I=Q/t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Ohms law</a:t>
            </a:r>
          </a:p>
          <a:p>
            <a:pPr lvl="0"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Law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how the electrical current in a circuit is related to the voltage applied to the circuit and it's resistance.</a:t>
            </a:r>
          </a:p>
          <a:p>
            <a:pPr lvl="0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values for current (I), voltage (V) or resistance (R) using Ohm's law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337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Circuit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Objectives</a:t>
            </a:r>
            <a:endParaRPr lang="en-US" dirty="0"/>
          </a:p>
          <a:p>
            <a:r>
              <a:rPr lang="en-US" dirty="0"/>
              <a:t>Learn to </a:t>
            </a:r>
            <a:r>
              <a:rPr lang="en-US" u="sng" dirty="0"/>
              <a:t>define</a:t>
            </a:r>
            <a:r>
              <a:rPr lang="en-US" dirty="0"/>
              <a:t> what an </a:t>
            </a:r>
            <a:r>
              <a:rPr lang="en-US" dirty="0" smtClean="0"/>
              <a:t>Electric Circuit is.</a:t>
            </a:r>
          </a:p>
          <a:p>
            <a:r>
              <a:rPr lang="en-US" dirty="0" smtClean="0"/>
              <a:t>Explain </a:t>
            </a:r>
            <a:r>
              <a:rPr lang="en-US" dirty="0"/>
              <a:t>the basic </a:t>
            </a:r>
            <a:r>
              <a:rPr lang="en-US" u="sng" dirty="0"/>
              <a:t>components</a:t>
            </a:r>
            <a:r>
              <a:rPr lang="en-US" dirty="0"/>
              <a:t> of an electric </a:t>
            </a:r>
            <a:r>
              <a:rPr lang="en-US" dirty="0" smtClean="0"/>
              <a:t>circuit </a:t>
            </a:r>
          </a:p>
          <a:p>
            <a:r>
              <a:rPr lang="en-US" dirty="0"/>
              <a:t>D</a:t>
            </a:r>
            <a:r>
              <a:rPr lang="en-US" dirty="0" smtClean="0"/>
              <a:t>iscover the </a:t>
            </a:r>
            <a:r>
              <a:rPr lang="en-US" u="sng" dirty="0" smtClean="0"/>
              <a:t>types</a:t>
            </a:r>
            <a:r>
              <a:rPr lang="en-US" dirty="0" smtClean="0"/>
              <a:t> </a:t>
            </a:r>
            <a:r>
              <a:rPr lang="en-US" dirty="0"/>
              <a:t>of electric </a:t>
            </a:r>
            <a:r>
              <a:rPr lang="en-US" dirty="0" smtClean="0"/>
              <a:t>circuits.</a:t>
            </a:r>
            <a:endParaRPr lang="en-US" dirty="0" smtClean="0"/>
          </a:p>
          <a:p>
            <a:r>
              <a:rPr lang="en-US" dirty="0" smtClean="0"/>
              <a:t>How </a:t>
            </a:r>
            <a:r>
              <a:rPr lang="en-US" dirty="0"/>
              <a:t>Do Electric Circuits </a:t>
            </a:r>
            <a:r>
              <a:rPr lang="en-US" u="sng" dirty="0"/>
              <a:t>Work</a:t>
            </a:r>
            <a:r>
              <a:rPr lang="en-US" dirty="0" smtClean="0"/>
              <a:t>?</a:t>
            </a:r>
          </a:p>
          <a:p>
            <a:pPr lvl="0"/>
            <a:r>
              <a:rPr lang="en-US" dirty="0"/>
              <a:t>Explain what electrical current is.</a:t>
            </a:r>
          </a:p>
          <a:p>
            <a:pPr lvl="0"/>
            <a:r>
              <a:rPr lang="en-US" dirty="0"/>
              <a:t>Explain what is meant by the terms charge and charged particle.</a:t>
            </a:r>
          </a:p>
          <a:p>
            <a:pPr lvl="0"/>
            <a:r>
              <a:rPr lang="en-US" dirty="0" smtClean="0"/>
              <a:t>Measurement of current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6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2682"/>
          </a:xfrm>
        </p:spPr>
        <p:txBody>
          <a:bodyPr/>
          <a:lstStyle/>
          <a:p>
            <a:pPr algn="ctr"/>
            <a:r>
              <a:rPr lang="en-US" b="1" dirty="0"/>
              <a:t>What is an Electric Circuit?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184"/>
            <a:ext cx="10515600" cy="5073161"/>
          </a:xfrm>
        </p:spPr>
        <p:txBody>
          <a:bodyPr/>
          <a:lstStyle/>
          <a:p>
            <a:r>
              <a:rPr lang="en-US" dirty="0" smtClean="0"/>
              <a:t>Definition 					3 Major Components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1934554"/>
            <a:ext cx="49471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/>
              <a:t>In electronics, a </a:t>
            </a:r>
            <a:r>
              <a:rPr lang="en-US" sz="2000" dirty="0" smtClean="0">
                <a:solidFill>
                  <a:srgbClr val="FF0000"/>
                </a:solidFill>
              </a:rPr>
              <a:t>circuit</a:t>
            </a:r>
            <a:r>
              <a:rPr lang="en-US" sz="2000" dirty="0" smtClean="0"/>
              <a:t> is a complete circular path or a loop that electricity flows through.</a:t>
            </a:r>
            <a:endParaRPr lang="en-US" sz="2000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08" y="3015234"/>
            <a:ext cx="2512842" cy="1667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2265" y="2008369"/>
            <a:ext cx="43346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voltage</a:t>
            </a:r>
            <a:r>
              <a:rPr lang="en-US" sz="2000" dirty="0" smtClean="0">
                <a:cs typeface="Times New Roman" panose="02020603050405020304" pitchFamily="18" charset="0"/>
              </a:rPr>
              <a:t> </a:t>
            </a:r>
            <a:r>
              <a:rPr lang="en-US" sz="2000" dirty="0">
                <a:cs typeface="Times New Roman" panose="02020603050405020304" pitchFamily="18" charset="0"/>
              </a:rPr>
              <a:t>source (to supply energy</a:t>
            </a:r>
            <a:r>
              <a:rPr lang="en-US" sz="2000" dirty="0" smtClean="0">
                <a:cs typeface="Times New Roman" panose="02020603050405020304" pitchFamily="18" charset="0"/>
              </a:rPr>
              <a:t>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cs typeface="Times New Roman" panose="02020603050405020304" pitchFamily="18" charset="0"/>
              </a:rPr>
              <a:t>he </a:t>
            </a:r>
            <a:r>
              <a:rPr 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load</a:t>
            </a:r>
            <a:r>
              <a:rPr lang="en-US" sz="2000" dirty="0">
                <a:cs typeface="Times New Roman" panose="02020603050405020304" pitchFamily="18" charset="0"/>
              </a:rPr>
              <a:t> (device that uses energy) 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conductive path ways </a:t>
            </a:r>
            <a:r>
              <a:rPr lang="en-US" sz="2000" dirty="0" smtClean="0">
                <a:cs typeface="Times New Roman" panose="02020603050405020304" pitchFamily="18" charset="0"/>
              </a:rPr>
              <a:t>through </a:t>
            </a:r>
            <a:r>
              <a:rPr lang="en-US" sz="2000" dirty="0">
                <a:cs typeface="Times New Roman" panose="02020603050405020304" pitchFamily="18" charset="0"/>
              </a:rPr>
              <a:t>which the current flow. 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cs typeface="Times New Roman" panose="02020603050405020304" pitchFamily="18" charset="0"/>
              </a:rPr>
              <a:t>Other components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Times New Roman" panose="02020603050405020304" pitchFamily="18" charset="0"/>
              </a:rPr>
              <a:t>a </a:t>
            </a:r>
            <a:r>
              <a:rPr lang="en-US" sz="2000" dirty="0">
                <a:cs typeface="Times New Roman" panose="02020603050405020304" pitchFamily="18" charset="0"/>
              </a:rPr>
              <a:t>switch to turn on or off a circuit</a:t>
            </a:r>
            <a:r>
              <a:rPr lang="en-US" sz="2000" dirty="0" smtClean="0"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Times New Roman" panose="02020603050405020304" pitchFamily="18" charset="0"/>
              </a:rPr>
              <a:t>resistors</a:t>
            </a:r>
            <a:r>
              <a:rPr lang="en-US" sz="2000" dirty="0">
                <a:cs typeface="Times New Roman" panose="02020603050405020304" pitchFamily="18" charset="0"/>
              </a:rPr>
              <a:t>, </a:t>
            </a:r>
            <a:endParaRPr lang="en-US" sz="2000" dirty="0" smtClean="0"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Times New Roman" panose="02020603050405020304" pitchFamily="18" charset="0"/>
              </a:rPr>
              <a:t>capacitors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Times New Roman" panose="02020603050405020304" pitchFamily="18" charset="0"/>
              </a:rPr>
              <a:t>inductors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6516" y="5228096"/>
            <a:ext cx="9857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A complete or </a:t>
            </a:r>
            <a:r>
              <a:rPr lang="en-US" sz="2000" u="sng" dirty="0"/>
              <a:t>closed circuit</a:t>
            </a:r>
            <a:r>
              <a:rPr lang="en-US" sz="2000" dirty="0"/>
              <a:t> is formed when current flows continuously in the circuit. However, any break on the circuit that stops the flow of current creates an </a:t>
            </a:r>
            <a:r>
              <a:rPr lang="en-US" sz="2000" u="sng" dirty="0"/>
              <a:t>open circuit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693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</a:t>
            </a:r>
            <a:r>
              <a:rPr lang="en-US" b="1" dirty="0" smtClean="0"/>
              <a:t>ypes of Electric Circuits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392"/>
            <a:ext cx="10515600" cy="510833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Electric circuit are classified based on the direction of current with each </a:t>
            </a:r>
            <a:r>
              <a:rPr lang="en-US" dirty="0"/>
              <a:t>one </a:t>
            </a:r>
            <a:r>
              <a:rPr lang="en-US" dirty="0" smtClean="0"/>
              <a:t>having </a:t>
            </a:r>
            <a:r>
              <a:rPr lang="en-US" dirty="0"/>
              <a:t>its advantages and can be used for a specific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265040"/>
            <a:ext cx="5791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</a:rPr>
              <a:t>DC Circuits </a:t>
            </a:r>
            <a:r>
              <a:rPr lang="en-US" sz="2000" dirty="0" smtClean="0"/>
              <a:t>(Characteristics)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Current flow in one direction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It is commonly found in low-voltage </a:t>
            </a:r>
            <a:r>
              <a:rPr lang="en-US" sz="2000" dirty="0" smtClean="0"/>
              <a:t>applications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 usually </a:t>
            </a:r>
            <a:r>
              <a:rPr lang="en-US" sz="2000" dirty="0"/>
              <a:t>powered by a </a:t>
            </a:r>
            <a:r>
              <a:rPr lang="en-US" sz="2000" dirty="0" smtClean="0"/>
              <a:t>battery.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A </a:t>
            </a:r>
            <a:r>
              <a:rPr lang="en-US" sz="2000" dirty="0"/>
              <a:t>simple circuit containing a </a:t>
            </a:r>
            <a:r>
              <a:rPr lang="en-US" sz="2000" dirty="0" smtClean="0"/>
              <a:t>light bulb, </a:t>
            </a:r>
            <a:r>
              <a:rPr lang="en-US" sz="2000" dirty="0"/>
              <a:t>a switch, and a battery is an example of a DC circuit. </a:t>
            </a:r>
            <a:endParaRPr lang="en-US" sz="20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371" y="4204032"/>
            <a:ext cx="3496775" cy="20391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9546" y="2426677"/>
            <a:ext cx="41060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</a:rPr>
              <a:t>AC Circuits </a:t>
            </a:r>
            <a:r>
              <a:rPr lang="en-US" sz="2000" dirty="0" smtClean="0"/>
              <a:t>(Characteristics)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E</a:t>
            </a:r>
            <a:r>
              <a:rPr lang="en-US" sz="2000" dirty="0" smtClean="0"/>
              <a:t>lectricity </a:t>
            </a:r>
            <a:r>
              <a:rPr lang="en-US" sz="2000" dirty="0"/>
              <a:t>flows back and forth in both </a:t>
            </a:r>
            <a:r>
              <a:rPr lang="en-US" sz="2000" dirty="0" smtClean="0"/>
              <a:t>directions.</a:t>
            </a:r>
          </a:p>
          <a:p>
            <a:pPr algn="just"/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usually </a:t>
            </a:r>
            <a:r>
              <a:rPr lang="en-US" sz="2000" dirty="0"/>
              <a:t>switching 60 times a second</a:t>
            </a:r>
            <a:r>
              <a:rPr lang="en-US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3231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50631"/>
            <a:ext cx="10515600" cy="7825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How do Electric Circuits Work?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692"/>
            <a:ext cx="10515600" cy="492869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happens when the circuit is switched on? (i.e. when the switch is closed.)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329961"/>
            <a:ext cx="623081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u="sng" dirty="0"/>
              <a:t>Electrons</a:t>
            </a:r>
            <a:r>
              <a:rPr lang="en-US" sz="2000" dirty="0"/>
              <a:t> begin to </a:t>
            </a:r>
            <a:r>
              <a:rPr lang="en-US" sz="2000" u="sng" dirty="0"/>
              <a:t>flow</a:t>
            </a:r>
            <a:r>
              <a:rPr lang="en-US" sz="2000" dirty="0"/>
              <a:t> around the circuit. </a:t>
            </a:r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They </a:t>
            </a:r>
            <a:r>
              <a:rPr lang="en-US" sz="2000" dirty="0"/>
              <a:t>travel from the </a:t>
            </a:r>
            <a:r>
              <a:rPr lang="en-US" sz="2000" u="sng" dirty="0"/>
              <a:t>negative terminal</a:t>
            </a:r>
            <a:r>
              <a:rPr lang="en-US" sz="2000" dirty="0"/>
              <a:t> of the battery to the </a:t>
            </a:r>
            <a:r>
              <a:rPr lang="en-US" sz="2000" u="sng" dirty="0"/>
              <a:t>positive </a:t>
            </a:r>
            <a:r>
              <a:rPr lang="en-US" sz="2000" u="sng" dirty="0" smtClean="0"/>
              <a:t>terminal</a:t>
            </a:r>
            <a:r>
              <a:rPr lang="en-US" sz="2000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Passing through the </a:t>
            </a:r>
            <a:r>
              <a:rPr lang="en-US" sz="2000" u="sng" dirty="0" smtClean="0"/>
              <a:t>wires</a:t>
            </a:r>
            <a:r>
              <a:rPr lang="en-US" sz="2000" dirty="0" smtClean="0"/>
              <a:t>, the </a:t>
            </a:r>
            <a:r>
              <a:rPr lang="en-US" sz="2000" u="sng" dirty="0"/>
              <a:t>switch contacts</a:t>
            </a:r>
            <a:r>
              <a:rPr lang="en-US" sz="2000" dirty="0"/>
              <a:t> and the </a:t>
            </a:r>
            <a:r>
              <a:rPr lang="en-US" sz="2000" u="sng" dirty="0"/>
              <a:t>filament of the bulb</a:t>
            </a:r>
            <a:r>
              <a:rPr lang="en-US" sz="2000" dirty="0"/>
              <a:t> in the circuit. </a:t>
            </a:r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When </a:t>
            </a:r>
            <a:r>
              <a:rPr lang="en-US" sz="2000" dirty="0"/>
              <a:t>they arrive at the positive terminal of the battery, a </a:t>
            </a:r>
            <a:r>
              <a:rPr lang="en-US" sz="2000" u="sng" dirty="0"/>
              <a:t>chemical reaction</a:t>
            </a:r>
            <a:r>
              <a:rPr lang="en-US" sz="2000" dirty="0"/>
              <a:t>, causes the electrons to be transferred through the battery, back to the negative </a:t>
            </a:r>
            <a:r>
              <a:rPr lang="en-US" sz="2000" dirty="0" smtClean="0"/>
              <a:t>terminal.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This </a:t>
            </a:r>
            <a:r>
              <a:rPr lang="en-US" sz="2000" dirty="0"/>
              <a:t>process keeps current flowing through the </a:t>
            </a:r>
            <a:r>
              <a:rPr lang="en-US" sz="2000" dirty="0" smtClean="0"/>
              <a:t>circuit.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until </a:t>
            </a:r>
            <a:r>
              <a:rPr lang="en-US" sz="2000" dirty="0"/>
              <a:t>the battery is discharged, i.e., when all of the </a:t>
            </a:r>
            <a:r>
              <a:rPr lang="en-US" sz="2000" u="sng" dirty="0"/>
              <a:t>chemical energy is used up</a:t>
            </a:r>
            <a:r>
              <a:rPr lang="en-US" sz="2000" dirty="0"/>
              <a:t> and the chemical reactions stop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532" y="4092721"/>
            <a:ext cx="2161296" cy="196088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986" y="2206342"/>
            <a:ext cx="2512842" cy="166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07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3383"/>
          </a:xfrm>
        </p:spPr>
        <p:txBody>
          <a:bodyPr/>
          <a:lstStyle/>
          <a:p>
            <a:pPr algn="ctr"/>
            <a:r>
              <a:rPr lang="en-US" dirty="0"/>
              <a:t>E</a:t>
            </a:r>
            <a:r>
              <a:rPr lang="en-US" dirty="0" smtClean="0"/>
              <a:t>lectrical Current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3146"/>
            <a:ext cx="10515600" cy="474381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What’s </a:t>
            </a:r>
            <a:r>
              <a:rPr lang="en-US" dirty="0"/>
              <a:t>electrical </a:t>
            </a:r>
            <a:r>
              <a:rPr lang="en-US" dirty="0" smtClean="0"/>
              <a:t>curre</a:t>
            </a:r>
            <a:r>
              <a:rPr lang="en-US" dirty="0"/>
              <a:t>nt</a:t>
            </a:r>
            <a:r>
              <a:rPr lang="en-US" dirty="0" smtClean="0"/>
              <a:t>? 			Measurement of current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199" y="2048608"/>
            <a:ext cx="52284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An </a:t>
            </a:r>
            <a:r>
              <a:rPr lang="en-US" sz="2000" u="sng" dirty="0"/>
              <a:t>electric current</a:t>
            </a:r>
            <a:r>
              <a:rPr lang="en-US" sz="2000" dirty="0"/>
              <a:t> is a flow of particles (electrons) through wires and components.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Electrical </a:t>
            </a:r>
            <a:r>
              <a:rPr lang="en-US" sz="2000" dirty="0"/>
              <a:t>current is a measure of the rate at which </a:t>
            </a:r>
            <a:r>
              <a:rPr lang="en-US" sz="2000" u="sng" dirty="0"/>
              <a:t>charge flows</a:t>
            </a:r>
            <a:r>
              <a:rPr lang="en-US" sz="2000" dirty="0"/>
              <a:t> around a </a:t>
            </a:r>
            <a:r>
              <a:rPr lang="en-US" sz="2000" dirty="0" smtClean="0"/>
              <a:t>circuit.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In a closed circuit, every electron (particles) carries a small packet of electrical charge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A particle </a:t>
            </a:r>
            <a:r>
              <a:rPr lang="en-US" sz="2000" dirty="0"/>
              <a:t>which possesses electrical charge is called a </a:t>
            </a:r>
            <a:r>
              <a:rPr lang="en-US" sz="2000" u="sng" dirty="0"/>
              <a:t>charged particle</a:t>
            </a:r>
            <a:r>
              <a:rPr lang="en-US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251331" y="2020045"/>
            <a:ext cx="51024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Current</a:t>
            </a:r>
            <a:r>
              <a:rPr lang="en-US" sz="2000" dirty="0"/>
              <a:t> (I), is a measure of the </a:t>
            </a:r>
            <a:r>
              <a:rPr lang="en-US" sz="2000" dirty="0" smtClean="0"/>
              <a:t>quantity, </a:t>
            </a:r>
            <a:r>
              <a:rPr lang="en-US" sz="2000" dirty="0"/>
              <a:t>of </a:t>
            </a:r>
            <a:r>
              <a:rPr lang="en-US" sz="2000" dirty="0" smtClean="0">
                <a:solidFill>
                  <a:srgbClr val="FF0000"/>
                </a:solidFill>
              </a:rPr>
              <a:t>charge</a:t>
            </a:r>
            <a:r>
              <a:rPr lang="en-US" sz="2000" dirty="0" smtClean="0"/>
              <a:t>,</a:t>
            </a:r>
            <a:r>
              <a:rPr lang="en-US" sz="2000" dirty="0"/>
              <a:t> (Q</a:t>
            </a:r>
            <a:r>
              <a:rPr lang="en-US" sz="2000" dirty="0" smtClean="0"/>
              <a:t>), </a:t>
            </a:r>
            <a:r>
              <a:rPr lang="en-US" sz="2000" dirty="0"/>
              <a:t>that passes a point in the circuit, in a </a:t>
            </a:r>
            <a:r>
              <a:rPr lang="en-US" sz="2000" dirty="0">
                <a:solidFill>
                  <a:srgbClr val="FF0000"/>
                </a:solidFill>
              </a:rPr>
              <a:t>time</a:t>
            </a:r>
            <a:r>
              <a:rPr lang="en-US" sz="2000" dirty="0"/>
              <a:t> (t) of one second</a:t>
            </a:r>
            <a:r>
              <a:rPr lang="en-US" sz="2000" dirty="0" smtClean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The equation of the motion of this charge is given by;</a:t>
            </a:r>
          </a:p>
          <a:p>
            <a:pPr algn="just"/>
            <a:r>
              <a:rPr lang="en-US" sz="2000" dirty="0" smtClean="0"/>
              <a:t>		</a:t>
            </a:r>
            <a:r>
              <a:rPr lang="en-US" sz="2000" b="1" dirty="0" smtClean="0"/>
              <a:t>I </a:t>
            </a:r>
            <a:r>
              <a:rPr lang="en-US" sz="2000" b="1" dirty="0"/>
              <a:t>= </a:t>
            </a:r>
            <a:r>
              <a:rPr lang="en-US" sz="2000" b="1" dirty="0" smtClean="0"/>
              <a:t>Q/t</a:t>
            </a:r>
            <a:endParaRPr lang="en-US" sz="2000" dirty="0"/>
          </a:p>
          <a:p>
            <a:pPr algn="just"/>
            <a:r>
              <a:rPr lang="en-US" sz="2000" b="1" dirty="0" smtClean="0"/>
              <a:t>I</a:t>
            </a:r>
            <a:r>
              <a:rPr lang="en-US" sz="2000" dirty="0" smtClean="0"/>
              <a:t> current </a:t>
            </a:r>
            <a:r>
              <a:rPr lang="en-US" sz="2000" dirty="0"/>
              <a:t>measured in Amps (A).</a:t>
            </a:r>
          </a:p>
          <a:p>
            <a:pPr algn="just"/>
            <a:r>
              <a:rPr lang="en-US" sz="2000" b="1" dirty="0"/>
              <a:t>Q</a:t>
            </a:r>
            <a:r>
              <a:rPr lang="en-US" sz="2000" dirty="0"/>
              <a:t> T</a:t>
            </a:r>
            <a:r>
              <a:rPr lang="en-US" sz="2000" dirty="0" smtClean="0"/>
              <a:t>otal </a:t>
            </a:r>
            <a:r>
              <a:rPr lang="en-US" sz="2000" dirty="0"/>
              <a:t>charge measured in Coulombs (C).</a:t>
            </a:r>
          </a:p>
          <a:p>
            <a:pPr algn="just"/>
            <a:r>
              <a:rPr lang="en-US" sz="2000" dirty="0"/>
              <a:t> </a:t>
            </a:r>
            <a:r>
              <a:rPr lang="en-US" sz="2000" b="1" dirty="0"/>
              <a:t>t</a:t>
            </a:r>
            <a:r>
              <a:rPr lang="en-US" sz="2000" dirty="0"/>
              <a:t> is the time taken for the charge, to flow past a point in a circuit, measured in seconds (s).</a:t>
            </a:r>
          </a:p>
          <a:p>
            <a:pPr algn="just"/>
            <a:r>
              <a:rPr lang="en-US" sz="2000" dirty="0"/>
              <a:t>1 Amp = 1 coulomb per sec,     1A = 1Cs</a:t>
            </a:r>
            <a:r>
              <a:rPr lang="en-US" sz="2000" baseline="30000" dirty="0"/>
              <a:t>-1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864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3770"/>
            <a:ext cx="105156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Theory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78170"/>
            <a:ext cx="10515600" cy="499879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D.C. Theory </a:t>
            </a:r>
            <a:r>
              <a:rPr lang="en-US" u="sng" dirty="0"/>
              <a:t>involves the analysis of electrical circuits</a:t>
            </a:r>
            <a:r>
              <a:rPr lang="en-US" dirty="0"/>
              <a:t>, consisting of voltage sources (such as batteries), conductors and components called </a:t>
            </a:r>
            <a:r>
              <a:rPr lang="en-US" dirty="0" smtClean="0"/>
              <a:t>resistors. By the end of the section we should be able to achieve the following  objectives;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2831123"/>
            <a:ext cx="8675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solidFill>
                  <a:srgbClr val="FF0000"/>
                </a:solidFill>
              </a:rPr>
              <a:t>Objectives</a:t>
            </a:r>
            <a:endParaRPr lang="en-US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lean the fundamental nature of voltage, current and resistance.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state the basic circuit laws (Ohm's Law and Kirchhoff’s law) showing the relationship between voltage, current and resistance.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To Learn techniques for adding resistors together when connected in series or parallel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444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837"/>
          </a:xfrm>
        </p:spPr>
        <p:txBody>
          <a:bodyPr/>
          <a:lstStyle/>
          <a:p>
            <a:pPr algn="ctr"/>
            <a:r>
              <a:rPr lang="en-US" b="1" dirty="0" smtClean="0"/>
              <a:t>Voltage, Current &amp; Resistance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8508"/>
            <a:ext cx="10515600" cy="5310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voltage, current and </a:t>
            </a:r>
            <a:r>
              <a:rPr lang="en-US" sz="3200" dirty="0" smtClean="0"/>
              <a:t>resistance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749670"/>
            <a:ext cx="546588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</a:rPr>
              <a:t>Voltage</a:t>
            </a:r>
            <a:r>
              <a:rPr lang="en-US" sz="2000" dirty="0" smtClean="0"/>
              <a:t> (characteristics)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It is the pressure </a:t>
            </a:r>
            <a:r>
              <a:rPr lang="en-US" sz="2000" dirty="0" smtClean="0"/>
              <a:t>from the power source (battery) of the electric circuit that </a:t>
            </a:r>
            <a:r>
              <a:rPr lang="en-US" sz="2000" dirty="0"/>
              <a:t>pushes </a:t>
            </a:r>
            <a:r>
              <a:rPr lang="en-US" sz="2000" dirty="0" smtClean="0"/>
              <a:t>the electrons (charged particles) through </a:t>
            </a:r>
            <a:r>
              <a:rPr lang="en-US" sz="2000" dirty="0"/>
              <a:t>a conducting loop, enabling them to do work such as illuminating a </a:t>
            </a:r>
            <a:r>
              <a:rPr lang="en-US" sz="2000" dirty="0" smtClean="0"/>
              <a:t>light.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Voltage causes current to flow in an electrical </a:t>
            </a:r>
            <a:r>
              <a:rPr lang="en-US" sz="2000" dirty="0" smtClean="0"/>
              <a:t>circuit.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larger the voltage is, then the larger the current will </a:t>
            </a:r>
            <a:r>
              <a:rPr lang="en-US" sz="2000" dirty="0" smtClean="0"/>
              <a:t>be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algn="just"/>
            <a:r>
              <a:rPr lang="en-US" sz="2000" dirty="0" smtClean="0"/>
              <a:t>Example: A 6V battery will produce more current in the same circuit, than a 1.5V battery would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796455" y="1380338"/>
            <a:ext cx="45573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</a:rPr>
              <a:t>Resistance</a:t>
            </a:r>
            <a:r>
              <a:rPr lang="en-US" sz="2000" dirty="0" smtClean="0"/>
              <a:t> of a material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A measure of how </a:t>
            </a:r>
            <a:r>
              <a:rPr lang="en-US" sz="2000" dirty="0"/>
              <a:t>well a material resists current </a:t>
            </a:r>
            <a:r>
              <a:rPr lang="en-US" sz="2000" dirty="0" smtClean="0"/>
              <a:t>flow.</a:t>
            </a:r>
          </a:p>
          <a:p>
            <a:pPr algn="just"/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M</a:t>
            </a:r>
            <a:r>
              <a:rPr lang="en-US" sz="2000" dirty="0" smtClean="0"/>
              <a:t>easured in units called Ohms (Ω). </a:t>
            </a:r>
          </a:p>
          <a:p>
            <a:pPr algn="just"/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copper wires in the circuit will typically have a resistance of less than 1Ω, while the </a:t>
            </a:r>
            <a:r>
              <a:rPr lang="en-US" sz="2000" dirty="0" err="1"/>
              <a:t>p.v.c</a:t>
            </a:r>
            <a:r>
              <a:rPr lang="en-US" sz="2000" dirty="0"/>
              <a:t> insulation, will have a resistance of several Meg-ohms, (M Ω) (millions of ohms</a:t>
            </a:r>
            <a:r>
              <a:rPr lang="en-US" sz="2000" dirty="0" smtClean="0"/>
              <a:t>).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796455" y="5077695"/>
            <a:ext cx="4248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Current</a:t>
            </a:r>
          </a:p>
          <a:p>
            <a:r>
              <a:rPr lang="en-US" sz="2000" dirty="0"/>
              <a:t>A</a:t>
            </a:r>
            <a:r>
              <a:rPr lang="en-US" sz="2000" dirty="0" smtClean="0"/>
              <a:t>lready Treated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659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3657"/>
          </a:xfrm>
        </p:spPr>
        <p:txBody>
          <a:bodyPr/>
          <a:lstStyle/>
          <a:p>
            <a:pPr algn="ctr"/>
            <a:r>
              <a:rPr lang="en-US" b="1" dirty="0"/>
              <a:t>Ohm's Law and Kirchhoff’s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88782"/>
            <a:ext cx="10855570" cy="50944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Ohm's </a:t>
            </a:r>
            <a:r>
              <a:rPr lang="en-US" dirty="0" smtClean="0"/>
              <a:t>Law</a:t>
            </a:r>
            <a:r>
              <a:rPr lang="en-US" dirty="0"/>
              <a:t> </a:t>
            </a:r>
            <a:r>
              <a:rPr lang="en-US" dirty="0" smtClean="0"/>
              <a:t>							Kirchhoff’s </a:t>
            </a:r>
            <a:r>
              <a:rPr lang="en-US" dirty="0"/>
              <a:t>law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38199" y="1828690"/>
            <a:ext cx="4894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</a:rPr>
              <a:t>Statement</a:t>
            </a:r>
            <a:r>
              <a:rPr lang="en-US" sz="2000" dirty="0" smtClean="0"/>
              <a:t>: the electric current flowing through a conductor(wire) between two points is directly proportional to the voltage across the two points </a:t>
            </a:r>
          </a:p>
          <a:p>
            <a:pPr algn="just"/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36765" y="2715749"/>
            <a:ext cx="1013680" cy="2014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8200" y="4229675"/>
                <a:ext cx="4894384" cy="2072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The equation is given by;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𝒐𝒓𝑬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𝑰𝒓</m:t>
                    </m:r>
                  </m:oMath>
                </a14:m>
                <a:r>
                  <a:rPr lang="en-US" sz="2000" b="1" dirty="0" smtClean="0"/>
                  <a:t> 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sz="2000" b="1" dirty="0" smtClean="0"/>
                  <a:t> or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000" b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𝑽</m:t>
                        </m:r>
                      </m:num>
                      <m:den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𝑰</m:t>
                        </m:r>
                      </m:den>
                    </m:f>
                  </m:oMath>
                </a14:m>
                <a:endParaRPr lang="en-US" sz="2000" b="1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sz="2000" dirty="0" smtClean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Gives </a:t>
                </a:r>
                <a:r>
                  <a:rPr lang="en-US" sz="2000" dirty="0"/>
                  <a:t>a relationship between voltage, (V or E), current and resistance in an electric circuit</a:t>
                </a:r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29675"/>
                <a:ext cx="4894384" cy="2072875"/>
              </a:xfrm>
              <a:prstGeom prst="rect">
                <a:avLst/>
              </a:prstGeom>
              <a:blipFill rotWithShape="0">
                <a:blip r:embed="rId3"/>
                <a:stretch>
                  <a:fillRect l="-1122" t="-1765" r="-1372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956788" y="1828690"/>
            <a:ext cx="5397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Current law </a:t>
            </a:r>
            <a:r>
              <a:rPr lang="en-US" dirty="0" smtClean="0"/>
              <a:t>(1</a:t>
            </a:r>
            <a:r>
              <a:rPr lang="en-US" baseline="30000" dirty="0" smtClean="0"/>
              <a:t>st</a:t>
            </a:r>
            <a:r>
              <a:rPr lang="en-US" dirty="0" smtClean="0"/>
              <a:t> Law) states that the current flowing into a node ( or a junction) </a:t>
            </a:r>
            <a:r>
              <a:rPr lang="en-US" u="sng" dirty="0" smtClean="0"/>
              <a:t>must</a:t>
            </a:r>
            <a:r>
              <a:rPr lang="en-US" dirty="0" smtClean="0"/>
              <a:t> be equal to the current flowing out of it. </a:t>
            </a:r>
            <a:r>
              <a:rPr lang="en-US" dirty="0"/>
              <a:t>T</a:t>
            </a:r>
            <a:r>
              <a:rPr lang="en-US" dirty="0" smtClean="0"/>
              <a:t>his is a consequence of charge conservation.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7" y="3029019"/>
            <a:ext cx="1088779" cy="9671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56787" y="4106309"/>
            <a:ext cx="53970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Voltage law</a:t>
            </a:r>
            <a:r>
              <a:rPr lang="en-US" dirty="0"/>
              <a:t> (2</a:t>
            </a:r>
            <a:r>
              <a:rPr lang="en-US" baseline="30000" dirty="0"/>
              <a:t>nd</a:t>
            </a:r>
            <a:r>
              <a:rPr lang="en-US" dirty="0"/>
              <a:t> Law) states that in a complete loop within a circuit, the sum of all voltages across components which supply electrical energy ( such as cell or generator) must be equal to the sum of all voltages across the other components in the same loop. This is a consequence of both charge conservation and the conservation of energy.</a:t>
            </a:r>
          </a:p>
          <a:p>
            <a:pPr algn="just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397" y="3084087"/>
            <a:ext cx="1179633" cy="9671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391431" y="2912183"/>
                <a:ext cx="337075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Total current in the wire will be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431" y="2912183"/>
                <a:ext cx="3370754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630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233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744"/>
          </a:xfrm>
        </p:spPr>
        <p:txBody>
          <a:bodyPr/>
          <a:lstStyle/>
          <a:p>
            <a:pPr algn="ctr"/>
            <a:r>
              <a:rPr lang="en-US" dirty="0" smtClean="0"/>
              <a:t>Arrangement of Resistors in Circuits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9715"/>
            <a:ext cx="10515600" cy="493724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Series and Parallel arrangement 		Combined resistance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4285399"/>
            <a:ext cx="4533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When </a:t>
            </a:r>
            <a:r>
              <a:rPr lang="en-US" sz="2000" dirty="0"/>
              <a:t>resistors are connected end to end they are </a:t>
            </a:r>
            <a:r>
              <a:rPr lang="en-US" sz="2000" dirty="0" smtClean="0"/>
              <a:t>said </a:t>
            </a:r>
            <a:r>
              <a:rPr lang="en-US" sz="2000" dirty="0"/>
              <a:t>to be in series</a:t>
            </a:r>
            <a:r>
              <a:rPr lang="en-US" sz="2000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current passing through resistor is same </a:t>
            </a:r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 err="1"/>
              <a:t>p.d</a:t>
            </a:r>
            <a:r>
              <a:rPr lang="en-US" sz="2000" dirty="0"/>
              <a:t> across each resistor is different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640927"/>
            <a:ext cx="250287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Resistors in series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633" y="2318035"/>
            <a:ext cx="3060089" cy="17915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49108" y="1640927"/>
                <a:ext cx="508195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/>
                  <a:t>According to Kirchhoff’s voltage law, the voltage of the </a:t>
                </a:r>
                <a:r>
                  <a:rPr lang="en-US" sz="2000" dirty="0" err="1"/>
                  <a:t>e.m.f</a:t>
                </a:r>
                <a:r>
                  <a:rPr lang="en-US" sz="2000" dirty="0"/>
                  <a:t>. is equal to the sum of the voltage drops across each resistor</a:t>
                </a:r>
                <a:r>
                  <a:rPr lang="en-US" sz="2000" dirty="0" smtClean="0"/>
                  <a:t>.</a:t>
                </a:r>
              </a:p>
              <a:p>
                <a:pPr algn="just"/>
                <a:endParaRPr lang="en-US" sz="2000" dirty="0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just"/>
                <a:r>
                  <a:rPr lang="en-US" sz="2000" dirty="0"/>
                  <a:t>According to Ohm's </a:t>
                </a:r>
                <a:r>
                  <a:rPr lang="en-US" sz="2000" dirty="0" smtClean="0"/>
                  <a:t>law;</a:t>
                </a:r>
              </a:p>
              <a:p>
                <a:pPr algn="just"/>
                <a:endParaRPr lang="en-US" sz="2000" dirty="0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just"/>
                <a:r>
                  <a:rPr lang="en-US" sz="2000" dirty="0" smtClean="0"/>
                  <a:t>Therefore </a:t>
                </a:r>
                <a:r>
                  <a:rPr lang="en-US" sz="2000" dirty="0"/>
                  <a:t>the combined resistance will be</a:t>
                </a:r>
                <a:r>
                  <a:rPr lang="en-US" sz="2000" dirty="0" smtClean="0"/>
                  <a:t>;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just"/>
                <a:endParaRPr lang="en-US" sz="2000" dirty="0" smtClean="0"/>
              </a:p>
              <a:p>
                <a:pPr algn="just"/>
                <a:r>
                  <a:rPr lang="en-US" sz="2000" dirty="0" smtClean="0"/>
                  <a:t>Generally, for n resistors we can write;</a:t>
                </a:r>
              </a:p>
              <a:p>
                <a:pPr algn="just"/>
                <a:endParaRPr lang="en-US" sz="2000" dirty="0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108" y="1640927"/>
                <a:ext cx="5081954" cy="4401205"/>
              </a:xfrm>
              <a:prstGeom prst="rect">
                <a:avLst/>
              </a:prstGeom>
              <a:blipFill rotWithShape="0">
                <a:blip r:embed="rId3"/>
                <a:stretch>
                  <a:fillRect l="-1199" t="-693" r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82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0820"/>
          </a:xfrm>
        </p:spPr>
        <p:txBody>
          <a:bodyPr>
            <a:normAutofit fontScale="90000"/>
          </a:bodyPr>
          <a:lstStyle/>
          <a:p>
            <a:pPr algn="ctr"/>
            <a:r>
              <a:rPr lang="en-US" i="1" dirty="0" err="1" smtClean="0"/>
              <a:t>Cont</a:t>
            </a:r>
            <a:r>
              <a:rPr lang="en-US" i="1" dirty="0" smtClean="0"/>
              <a:t>…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5946"/>
            <a:ext cx="10515600" cy="542485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Series and Parallel </a:t>
            </a:r>
            <a:r>
              <a:rPr lang="en-US" dirty="0" smtClean="0"/>
              <a:t>arrangement	</a:t>
            </a:r>
            <a:r>
              <a:rPr lang="en-US" dirty="0"/>
              <a:t> </a:t>
            </a:r>
            <a:r>
              <a:rPr lang="en-US" dirty="0" smtClean="0"/>
              <a:t>		Combined </a:t>
            </a:r>
            <a:r>
              <a:rPr lang="en-US" dirty="0"/>
              <a:t>resistance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1466523"/>
            <a:ext cx="2221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Resistors in Parallel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033576"/>
            <a:ext cx="3285392" cy="17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735" y="4131292"/>
            <a:ext cx="54658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When resistors are connected </a:t>
            </a:r>
            <a:r>
              <a:rPr lang="en-US" sz="2000" dirty="0" smtClean="0"/>
              <a:t>side by side so that their corresponding ends meet at two common points, they </a:t>
            </a:r>
            <a:r>
              <a:rPr lang="en-US" sz="2000" dirty="0"/>
              <a:t>are said to be in </a:t>
            </a:r>
            <a:r>
              <a:rPr lang="en-US" sz="2000" dirty="0" smtClean="0"/>
              <a:t>parallel.</a:t>
            </a:r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 err="1"/>
              <a:t>p.d</a:t>
            </a:r>
            <a:r>
              <a:rPr lang="en-US" sz="2000" dirty="0"/>
              <a:t> across the resistors is the same but the current through each resistor is </a:t>
            </a:r>
            <a:r>
              <a:rPr lang="en-US" sz="2000" dirty="0" smtClean="0"/>
              <a:t>different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444762" y="1425189"/>
                <a:ext cx="4909038" cy="4120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/>
                  <a:t>According to Kirchhoff’s current law, the sum of the currents flowing out of the junction (and through each resistor), is equal to the current flowing into the junction.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000" b="1" dirty="0" smtClean="0"/>
              </a:p>
              <a:p>
                <a:pPr algn="just"/>
                <a:endParaRPr lang="en-US" sz="2000" b="1" dirty="0" smtClean="0"/>
              </a:p>
              <a:p>
                <a:pPr algn="just"/>
                <a:r>
                  <a:rPr lang="en-US" sz="2000" dirty="0"/>
                  <a:t>According to Ohm's law</a:t>
                </a:r>
                <a:r>
                  <a:rPr lang="en-US" sz="2000" dirty="0" smtClean="0"/>
                  <a:t>;</a:t>
                </a:r>
              </a:p>
              <a:p>
                <a:pPr algn="just"/>
                <a:endParaRPr lang="en-US" sz="2000" dirty="0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 smtClean="0"/>
              </a:p>
              <a:p>
                <a:pPr algn="just"/>
                <a:r>
                  <a:rPr lang="en-US" sz="2000" dirty="0" smtClean="0"/>
                  <a:t>Therefore the combined resistance will be;</a:t>
                </a:r>
                <a:endParaRPr lang="en-US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b>
                          </m:sSub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b="1" dirty="0" smtClean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762" y="1425189"/>
                <a:ext cx="4909038" cy="4120295"/>
              </a:xfrm>
              <a:prstGeom prst="rect">
                <a:avLst/>
              </a:prstGeom>
              <a:blipFill rotWithShape="0">
                <a:blip r:embed="rId3"/>
                <a:stretch>
                  <a:fillRect l="-1241" t="-888" r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523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1145</Words>
  <Application>Microsoft Office PowerPoint</Application>
  <PresentationFormat>Widescreen</PresentationFormat>
  <Paragraphs>139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MODULE 1</vt:lpstr>
      <vt:lpstr>Outline </vt:lpstr>
      <vt:lpstr>DC Circuit</vt:lpstr>
      <vt:lpstr>Electrical Circuit</vt:lpstr>
      <vt:lpstr>What is an Electric Circuit?</vt:lpstr>
      <vt:lpstr>Types of Electric Circuits</vt:lpstr>
      <vt:lpstr> How do Electric Circuits Work? </vt:lpstr>
      <vt:lpstr>Electrical Current</vt:lpstr>
      <vt:lpstr> DC Circuit Theory </vt:lpstr>
      <vt:lpstr>Voltage, Current &amp; Resistance</vt:lpstr>
      <vt:lpstr>Ohm's Law and Kirchhoff’s law</vt:lpstr>
      <vt:lpstr>Arrangement of Resistors in Circuits</vt:lpstr>
      <vt:lpstr>Cont…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User</dc:creator>
  <cp:lastModifiedBy>User</cp:lastModifiedBy>
  <cp:revision>48</cp:revision>
  <dcterms:created xsi:type="dcterms:W3CDTF">2024-08-10T06:26:57Z</dcterms:created>
  <dcterms:modified xsi:type="dcterms:W3CDTF">2024-08-15T06:01:02Z</dcterms:modified>
</cp:coreProperties>
</file>